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48" r:id="rId2"/>
  </p:sldMasterIdLst>
  <p:notesMasterIdLst>
    <p:notesMasterId r:id="rId19"/>
  </p:notesMasterIdLst>
  <p:sldIdLst>
    <p:sldId id="1827" r:id="rId3"/>
    <p:sldId id="1814" r:id="rId4"/>
    <p:sldId id="2443" r:id="rId5"/>
    <p:sldId id="2434" r:id="rId6"/>
    <p:sldId id="1843" r:id="rId7"/>
    <p:sldId id="2442" r:id="rId8"/>
    <p:sldId id="2452" r:id="rId9"/>
    <p:sldId id="2454" r:id="rId10"/>
    <p:sldId id="2459" r:id="rId11"/>
    <p:sldId id="2460" r:id="rId12"/>
    <p:sldId id="2456" r:id="rId13"/>
    <p:sldId id="2457" r:id="rId14"/>
    <p:sldId id="2451" r:id="rId15"/>
    <p:sldId id="2450" r:id="rId16"/>
    <p:sldId id="2447" r:id="rId17"/>
    <p:sldId id="242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3A01D"/>
    <a:srgbClr val="4472C4"/>
    <a:srgbClr val="ED7D31"/>
    <a:srgbClr val="0E100D"/>
    <a:srgbClr val="CC93CA"/>
    <a:srgbClr val="FFFFFF"/>
    <a:srgbClr val="F3B5F4"/>
    <a:srgbClr val="7FC1DD"/>
    <a:srgbClr val="FDDD51"/>
    <a:srgbClr val="AC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9" autoAdjust="0"/>
    <p:restoredTop sz="88871" autoAdjust="0"/>
  </p:normalViewPr>
  <p:slideViewPr>
    <p:cSldViewPr snapToGrid="0">
      <p:cViewPr varScale="1">
        <p:scale>
          <a:sx n="98" d="100"/>
          <a:sy n="98" d="100"/>
        </p:scale>
        <p:origin x="276" y="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92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F6E25A-B3D6-0642-A12C-D7878380EBD2}" type="datetimeFigureOut">
              <a:rPr kumimoji="1" lang="zh-CN" altLang="en-US" smtClean="0"/>
              <a:t>2025/12/15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154B1-2FE7-2C40-9A46-2D9422D3E60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9456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45446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46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10EB-261D-DBEF-10CF-06DC98F3B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2613D9-3DFF-EC1E-A20D-1AFC1CD24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D2893B-FBA1-790C-44A8-3B3AFEA01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7D628-9D0D-016F-437F-1689AAAD7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159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52AD-5307-93C5-93CF-A1647440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F4CA24-0503-85F0-52D0-CA4A6F681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A6184-8353-5C19-DCDB-2C672CC428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11E21-00A0-0B44-3CBE-FA72F2C26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9220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GEEP</a:t>
            </a:r>
            <a:r>
              <a:rPr lang="zh-CN" altLang="en-US" dirty="0"/>
              <a:t>（</a:t>
            </a:r>
            <a:r>
              <a:rPr lang="en-US" altLang="zh-CN" dirty="0"/>
              <a:t>Gaussian Expansion of Electrostatic Potential</a:t>
            </a:r>
            <a:r>
              <a:rPr lang="zh-CN" altLang="en-US" dirty="0"/>
              <a:t>）是</a:t>
            </a:r>
            <a:r>
              <a:rPr lang="en-US" altLang="zh-CN" dirty="0"/>
              <a:t>CP2K</a:t>
            </a:r>
            <a:r>
              <a:rPr lang="zh-CN" altLang="en-US" dirty="0"/>
              <a:t>中</a:t>
            </a:r>
            <a:r>
              <a:rPr lang="en-US" altLang="zh-CN" dirty="0"/>
              <a:t>QM/MM</a:t>
            </a:r>
            <a:r>
              <a:rPr lang="zh-CN" altLang="en-US" dirty="0"/>
              <a:t>耦合的一种方法。  </a:t>
            </a:r>
            <a:r>
              <a:rPr lang="en-US" altLang="zh-CN" dirty="0"/>
              <a:t>QM/MM</a:t>
            </a:r>
            <a:r>
              <a:rPr lang="zh-CN" altLang="en-US" dirty="0"/>
              <a:t>耦合的问题  在</a:t>
            </a:r>
            <a:r>
              <a:rPr lang="en-US" altLang="zh-CN" dirty="0"/>
              <a:t>QM/MM</a:t>
            </a:r>
            <a:r>
              <a:rPr lang="zh-CN" altLang="en-US" dirty="0"/>
              <a:t>模拟中，</a:t>
            </a:r>
            <a:r>
              <a:rPr lang="en-US" altLang="zh-CN" dirty="0"/>
              <a:t>QM</a:t>
            </a:r>
            <a:r>
              <a:rPr lang="zh-CN" altLang="en-US" dirty="0"/>
              <a:t>区域和</a:t>
            </a:r>
            <a:r>
              <a:rPr lang="en-US" altLang="zh-CN" dirty="0"/>
              <a:t>MM</a:t>
            </a:r>
            <a:r>
              <a:rPr lang="zh-CN" altLang="en-US" dirty="0"/>
              <a:t>区域的静电相互作用是最关键的：  </a:t>
            </a:r>
            <a:r>
              <a:rPr lang="en-US" altLang="zh-CN" dirty="0"/>
              <a:t>- QM</a:t>
            </a:r>
            <a:r>
              <a:rPr lang="zh-CN" altLang="en-US" dirty="0"/>
              <a:t>区的电子密度是连续分布的  </a:t>
            </a:r>
            <a:r>
              <a:rPr lang="en-US" altLang="zh-CN" dirty="0"/>
              <a:t>- MM</a:t>
            </a:r>
            <a:r>
              <a:rPr lang="zh-CN" altLang="en-US" dirty="0"/>
              <a:t>区的电荷是点电荷  如何高效计算两者之间的静电作用？  </a:t>
            </a:r>
            <a:r>
              <a:rPr lang="en-US" altLang="zh-CN" dirty="0"/>
              <a:t>GEEP</a:t>
            </a:r>
            <a:r>
              <a:rPr lang="zh-CN" altLang="en-US" dirty="0"/>
              <a:t>的解决方案  将</a:t>
            </a:r>
            <a:r>
              <a:rPr lang="en-US" altLang="zh-CN" dirty="0"/>
              <a:t>MM</a:t>
            </a:r>
            <a:r>
              <a:rPr lang="zh-CN" altLang="en-US" dirty="0"/>
              <a:t>区的点电荷产生的静电势展开为一系列高斯函数的叠加：  </a:t>
            </a:r>
            <a:r>
              <a:rPr lang="en-US" altLang="zh-CN" dirty="0"/>
              <a:t>$$  V_{\text{MM}}(\</a:t>
            </a:r>
            <a:r>
              <a:rPr lang="en-US" altLang="zh-CN" dirty="0" err="1"/>
              <a:t>mathbf</a:t>
            </a:r>
            <a:r>
              <a:rPr lang="en-US" altLang="zh-CN" dirty="0"/>
              <a:t>{r}) \</a:t>
            </a:r>
            <a:r>
              <a:rPr lang="en-US" altLang="zh-CN" dirty="0" err="1"/>
              <a:t>approx</a:t>
            </a:r>
            <a:r>
              <a:rPr lang="en-US" altLang="zh-CN" dirty="0"/>
              <a:t> \sum_{</a:t>
            </a:r>
            <a:r>
              <a:rPr lang="en-US" altLang="zh-CN" dirty="0" err="1"/>
              <a:t>i</a:t>
            </a:r>
            <a:r>
              <a:rPr lang="en-US" altLang="zh-CN" dirty="0"/>
              <a:t>=1}^{N_{\text{Gauss}}} </a:t>
            </a:r>
            <a:r>
              <a:rPr lang="en-US" altLang="zh-CN" dirty="0" err="1"/>
              <a:t>c_i</a:t>
            </a:r>
            <a:r>
              <a:rPr lang="en-US" altLang="zh-CN" dirty="0"/>
              <a:t>  \text{Erf}(r/</a:t>
            </a:r>
            <a:r>
              <a:rPr lang="en-US" altLang="zh-CN" dirty="0" err="1"/>
              <a:t>r_c</a:t>
            </a:r>
            <a:r>
              <a:rPr lang="en-US" altLang="zh-CN" dirty="0"/>
              <a:t>) / r  $$  - </a:t>
            </a:r>
            <a:r>
              <a:rPr lang="zh-CN" altLang="en-US" dirty="0"/>
              <a:t>优点</a:t>
            </a:r>
            <a:r>
              <a:rPr lang="en-US" altLang="zh-CN" dirty="0"/>
              <a:t>1</a:t>
            </a:r>
            <a:r>
              <a:rPr lang="zh-CN" altLang="en-US" dirty="0"/>
              <a:t>：高斯函数的积分在</a:t>
            </a:r>
            <a:r>
              <a:rPr lang="en-US" altLang="zh-CN" dirty="0"/>
              <a:t>DFT</a:t>
            </a:r>
            <a:r>
              <a:rPr lang="zh-CN" altLang="en-US" dirty="0"/>
              <a:t>中可以解析计算，速度快  </a:t>
            </a:r>
            <a:r>
              <a:rPr lang="en-US" altLang="zh-CN" dirty="0"/>
              <a:t>- </a:t>
            </a:r>
            <a:r>
              <a:rPr lang="zh-CN" altLang="en-US" dirty="0"/>
              <a:t>优点</a:t>
            </a:r>
            <a:r>
              <a:rPr lang="en-US" altLang="zh-CN" dirty="0"/>
              <a:t>2</a:t>
            </a:r>
            <a:r>
              <a:rPr lang="zh-CN" altLang="en-US" dirty="0"/>
              <a:t>：支持周期性边界条件（</a:t>
            </a:r>
            <a:r>
              <a:rPr lang="en-US" altLang="zh-CN" dirty="0"/>
              <a:t>PBC</a:t>
            </a:r>
            <a:r>
              <a:rPr lang="zh-CN" altLang="en-US" dirty="0"/>
              <a:t>），适合溶剂化体系  </a:t>
            </a:r>
            <a:r>
              <a:rPr lang="en-US" altLang="zh-CN" dirty="0"/>
              <a:t>- </a:t>
            </a:r>
            <a:r>
              <a:rPr lang="zh-CN" altLang="en-US" dirty="0"/>
              <a:t>优点</a:t>
            </a:r>
            <a:r>
              <a:rPr lang="en-US" altLang="zh-CN" dirty="0"/>
              <a:t>3</a:t>
            </a:r>
            <a:r>
              <a:rPr lang="zh-CN" altLang="en-US" dirty="0"/>
              <a:t>：可以同时计算</a:t>
            </a:r>
            <a:r>
              <a:rPr lang="en-US" altLang="zh-CN" dirty="0"/>
              <a:t>QM-QM</a:t>
            </a:r>
            <a:r>
              <a:rPr lang="zh-CN" altLang="en-US" dirty="0"/>
              <a:t>和</a:t>
            </a:r>
            <a:r>
              <a:rPr lang="en-US" altLang="zh-CN" dirty="0"/>
              <a:t>QM-MM</a:t>
            </a:r>
            <a:r>
              <a:rPr lang="zh-CN" altLang="en-US" dirty="0"/>
              <a:t>的相互作用力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55279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659EE-A5E1-0636-BA07-1D4E2932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CDF0F7-8673-0515-DAA3-DAF0580E7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E1427F-E667-D7AC-D847-98437D152A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8B9A98-ADF7-93F6-68E7-32421E48A5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388181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3937A-2453-9798-A0AA-7F63D8BE4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156895-ADFE-189A-4327-939FC6795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9DA78B-D3FF-FC4C-657F-B163A4861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F92B4B-1BC7-4EF6-5220-0CDE5BA376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678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881C1-CDB4-81A5-506C-6B5A5E67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8181B4-F15D-0EA8-612D-7E913AA67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347896-F360-1E1F-D0B3-4B19A65F13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17382-2EED-5BBA-83B3-19B3C4312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65542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DDFF-C743-E6FB-F175-F68706995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CF54C0-9720-79F6-002F-AB4AB8FF1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4BCD06-DC90-4107-0ADD-EF7D579CB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43480-7561-05D9-7AAC-E914F6128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9036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DD21-8984-3CEB-8068-8C93AC98E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1EEEC2-0494-EC82-E92C-AA7690014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B12DE1B-2736-769E-3538-715A277BF0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9CA599-BA9D-0C09-8DB9-7E88D2A782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3344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DFF7-ED3F-965A-D6EB-05B84EF03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5573B9-1BC5-C6E4-BC6D-3B97C1ABD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66095C-CCA6-9E2A-F973-B885F313F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3C1433-EC6D-604B-671C-3557CFE57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91402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DF2BC-A485-9DF0-61C2-6590288D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03DADA-D32B-535C-9959-9CAF43D96A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43364C-C4D1-47CE-58A8-478CBD5A3F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FC9468-B8E7-2136-5FA4-15944973C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83856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C4D6A-A6EB-DC61-5FC2-BCB01D5B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4AD7D4-C539-F1A8-708F-D3F01CE09C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19B2D4-0230-2D56-EFDF-19FF1DAAB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C29E70-5D49-5A1A-16F1-E4EF6F1EB0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02797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DE5D-34CB-E460-3BAC-857CDFBE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67D4D3-4766-8587-891A-CABEA972B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358068-7956-6563-C587-2D3091942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5E1793-4630-50AD-ACB8-11EC90637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958584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341151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A154B1-2FE7-2C40-9A46-2D9422D3E601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536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259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 sz="2600"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58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340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791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6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907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040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576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09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9C09-57F0-401E-914C-55AD4EC2F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CB730A-D6A8-4367-9340-6163539998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A7AA53-DF53-41D5-890D-1E77B922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BFF102-37FF-4AB8-ABB3-62038DDF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CF96D-0341-4A5E-8974-D9D41BED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91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11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C14A5CD-2F49-4758-8337-6D54A667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D55E93-1034-4BBC-9A0C-AEC9616D20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462BEC-08A7-492D-A68E-D72A1488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7ABE58-1D64-4DFA-8CCF-33606015D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7D6C6-42D3-4F32-AC8A-75DACF544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789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9504493-20B5-43D7-8EBC-6C1F35E8A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9B1E5-631A-4528-8290-15E08E8B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456DF3-E16B-4C45-B923-89E73C7FA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A7586D4-7959-443F-AFD0-452066166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DBB3DF-7BD2-457D-9B6D-1B6DC24B9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CE9612-44B3-4E8E-8694-6FB52C18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65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392E-6FE4-45F1-96CC-97978BC9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898865-5E57-4B42-8909-80DBC9797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E2D6B9-43DE-41D8-BB6E-9E1B0B256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1C0E132-7240-44B0-9935-03A301827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2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B8FCBD-29DB-442A-8884-912732720B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  <a:lvl2pPr>
              <a:lnSpc>
                <a:spcPct val="120000"/>
              </a:lnSpc>
              <a:defRPr>
                <a:latin typeface="+mn-lt"/>
              </a:defRPr>
            </a:lvl2pPr>
            <a:lvl3pPr>
              <a:lnSpc>
                <a:spcPct val="120000"/>
              </a:lnSpc>
              <a:defRPr>
                <a:latin typeface="+mn-lt"/>
              </a:defRPr>
            </a:lvl3pPr>
            <a:lvl4pPr>
              <a:lnSpc>
                <a:spcPct val="120000"/>
              </a:lnSpc>
              <a:defRPr>
                <a:latin typeface="+mn-lt"/>
              </a:defRPr>
            </a:lvl4pPr>
            <a:lvl5pPr>
              <a:lnSpc>
                <a:spcPct val="120000"/>
              </a:lnSpc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B003F58-7C49-43D5-A3D1-B3A969BE0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D9A7E8-3C85-4801-9E4D-111A3B981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B2A24D-FBE5-4D56-AD80-01C106371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4948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05D73AB-11D1-4981-9368-43F608728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B7B4CA-3CD6-4B49-877C-211DF73E5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20833A-D84C-4AA5-A4E5-89293C094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1A098F-361B-45B7-9328-0C0CC8800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423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B5D28D-AE9D-4887-A8CE-67AB1279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B084E9F9-C78E-4B43-BFC4-7328A9A9B681}" type="datetimeFigureOut">
              <a:rPr lang="zh-CN" altLang="en-US" smtClean="0"/>
              <a:pPr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FF75D-410E-4FF5-91F1-E635B2B4D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2B8D5D-EBBC-4D0B-81BA-D6EE7D1B9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+mn-lt"/>
              </a:defRPr>
            </a:lvl1pPr>
          </a:lstStyle>
          <a:p>
            <a:fld id="{2F0485D5-9E03-4020-B25B-C8A61AD6A6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1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80F32D-4D49-416F-900C-56A021BAA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9A1975-CD99-4E06-9E45-D308D959E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C04A39-44D7-40D5-879F-9B291A6F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018CF9-B53E-4812-BEF1-A52E0A34A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A403AC-06D8-4A58-A310-BBD1CF899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87A4F-9495-4E5A-9C28-E5809E59E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7457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F1ECD109-4A98-49F1-AC02-939490484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CBD343E-388B-4353-9336-2656832B0C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9FBF39C-1448-4F68-AD3E-BFA9643DB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9F964B-5762-4399-8D43-3F4D77D8A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F14C33-5019-4572-8BA2-48878300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F02535E-DC52-4683-9666-75A5550FD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920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3D9C18A-2360-4597-BBA1-EB6F8852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94833-8FFA-40C4-A850-C5E4415BA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6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47DCC4-8BE8-494A-8CC1-23B5B130A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4BC21E-CFC7-4ACE-A332-C47782EB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944475-A8D0-49C5-982E-AD2AE6D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5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84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89431" cy="1243321"/>
          </a:xfrm>
          <a:prstGeom prst="rect">
            <a:avLst/>
          </a:prstGeom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DD4DA5-7CDF-41C7-842B-C65E40C8E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5DD46D-0C86-4CE6-B4CB-E685DB67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825EA9-D021-48CB-A587-4B37D2A31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4E9F9-C78E-4B43-BFC4-7328A9A9B681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24D08-70E2-4241-866D-8CD5E7ACB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E7F49E-E35F-4F73-9004-29599BB63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485D5-9E03-4020-B25B-C8A61AD6A6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2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.png"/><Relationship Id="rId5" Type="http://schemas.openxmlformats.org/officeDocument/2006/relationships/hyperlink" Target="https://mp.weixin.qq.com/s/AfP5Cw8lSBrSWJ6x-n9_aA" TargetMode="External"/><Relationship Id="rId4" Type="http://schemas.openxmlformats.org/officeDocument/2006/relationships/hyperlink" Target="https://mp.weixin.qq.com/s/cFj0yuJpCb5X_RouKbMz2g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BC71296-B7DB-8FCB-C492-290895CCA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37321"/>
            <a:ext cx="9144000" cy="1054268"/>
          </a:xfrm>
        </p:spPr>
        <p:txBody>
          <a:bodyPr>
            <a:normAutofit/>
          </a:bodyPr>
          <a:lstStyle/>
          <a:p>
            <a:r>
              <a:rPr lang="en-US" altLang="zh-CN" dirty="0"/>
              <a:t>Reporter: </a:t>
            </a:r>
            <a:r>
              <a:rPr lang="zh-CN" altLang="en-US" dirty="0"/>
              <a:t>高旭帆</a:t>
            </a:r>
            <a:endParaRPr lang="en-US" altLang="zh-CN" dirty="0"/>
          </a:p>
          <a:p>
            <a:r>
              <a:rPr lang="en-US" altLang="zh-CN" dirty="0"/>
              <a:t>Date: 2025.12.15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F94C0E-7380-5C4C-3B30-A5D6BCED66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61911" y="1302702"/>
            <a:ext cx="6230735" cy="33645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EFC67E-A9DA-60F3-64E2-AF8867CF847D}"/>
              </a:ext>
            </a:extLst>
          </p:cNvPr>
          <p:cNvSpPr txBox="1"/>
          <p:nvPr/>
        </p:nvSpPr>
        <p:spPr>
          <a:xfrm>
            <a:off x="590145" y="1020147"/>
            <a:ext cx="47341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600" dirty="0"/>
              <a:t>Reaction Mechanism of the PET Degrading Enzyme </a:t>
            </a:r>
            <a:r>
              <a:rPr lang="en-US" altLang="zh-CN" sz="3600" dirty="0" err="1"/>
              <a:t>PETase</a:t>
            </a:r>
            <a:r>
              <a:rPr lang="en-US" altLang="zh-CN" sz="3600" dirty="0"/>
              <a:t> Studied with DFT/MM Molecular Dynamics Simulations</a:t>
            </a:r>
            <a:endParaRPr lang="zh-CN" alt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F0DA0-84EA-D5C4-E423-FD1EE10A3278}"/>
              </a:ext>
            </a:extLst>
          </p:cNvPr>
          <p:cNvSpPr txBox="1"/>
          <p:nvPr/>
        </p:nvSpPr>
        <p:spPr>
          <a:xfrm>
            <a:off x="654995" y="4436467"/>
            <a:ext cx="41828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hlinkClick r:id="rId4"/>
              </a:rPr>
              <a:t>https://mp.weixin.qq.com/s/cFj0yuJpCb5X_RouKbMz2g</a:t>
            </a:r>
            <a:endParaRPr lang="en-US" altLang="zh-CN" sz="1200" dirty="0"/>
          </a:p>
          <a:p>
            <a:r>
              <a:rPr lang="en-HK" altLang="zh-CN" sz="1200" dirty="0">
                <a:hlinkClick r:id="rId5"/>
              </a:rPr>
              <a:t>https://mp.weixin.qq.com/s/AfP5Cw8lSBrSWJ6x-n9_aA</a:t>
            </a:r>
            <a:r>
              <a:rPr lang="en-HK" altLang="zh-CN" sz="1200" dirty="0"/>
              <a:t> </a:t>
            </a:r>
            <a:endParaRPr lang="zh-CN" altLang="en-US" sz="1200" dirty="0"/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8398385-5AE4-2393-0BE4-DAA16A8ACB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4" y="1145806"/>
            <a:ext cx="5348341" cy="314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92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915494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915495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Introduction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915493" y="161541"/>
            <a:ext cx="7180062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Authors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5D7BB94-0D36-B5A2-9816-D3CFEC8B6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A2D679-4BEC-EA31-142D-659042033155}"/>
              </a:ext>
            </a:extLst>
          </p:cNvPr>
          <p:cNvSpPr txBox="1"/>
          <p:nvPr/>
        </p:nvSpPr>
        <p:spPr>
          <a:xfrm>
            <a:off x="7712222" y="5910179"/>
            <a:ext cx="4207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CN" dirty="0"/>
              <a:t>31 </a:t>
            </a:r>
            <a:r>
              <a:rPr lang="en-US" altLang="zh-CN" dirty="0"/>
              <a:t>papers in 2025!</a:t>
            </a:r>
            <a:endParaRPr lang="en-HK" altLang="zh-CN" dirty="0"/>
          </a:p>
          <a:p>
            <a:r>
              <a:rPr lang="en-HK" altLang="zh-CN" dirty="0"/>
              <a:t>https://www.fc.up.pt/pessoas/pafernan/</a:t>
            </a:r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5D06D4-3069-FE07-0B03-BD4A4840B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355" y="1517788"/>
            <a:ext cx="7346774" cy="4643131"/>
          </a:xfrm>
          <a:prstGeom prst="rect">
            <a:avLst/>
          </a:prstGeom>
        </p:spPr>
      </p:pic>
      <p:pic>
        <p:nvPicPr>
          <p:cNvPr id="9" name="Picture 8" descr="A screenshot of a white text&#10;&#10;AI-generated content may be incorrect.">
            <a:extLst>
              <a:ext uri="{FF2B5EF4-FFF2-40B4-BE49-F238E27FC236}">
                <a16:creationId xmlns:a16="http://schemas.microsoft.com/office/drawing/2014/main" id="{92747615-F0EA-1A78-3FD6-CA9DBB027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2290" y="991454"/>
            <a:ext cx="3871479" cy="489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170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C4805-2BC9-1D28-3799-81F0B29F8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4707F06-60B3-BCAE-8A07-ECE1029A503E}"/>
              </a:ext>
            </a:extLst>
          </p:cNvPr>
          <p:cNvSpPr/>
          <p:nvPr/>
        </p:nvSpPr>
        <p:spPr>
          <a:xfrm>
            <a:off x="-2" y="0"/>
            <a:ext cx="1887167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1ECA010C-EA8E-41FF-ACF6-E707A51E8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5E88A4-E7F4-F819-8EE8-D9B4754674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87168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Introduction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8FDF048-5A24-55EA-FE2E-A13DAE6B33D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87165" y="161541"/>
            <a:ext cx="7208390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Overview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E40CCDD6-E7B6-B1A1-F20D-8E98908F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DDDD222-E824-5534-5D72-A8C691BFA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98880" y="1208607"/>
            <a:ext cx="5478034" cy="2958781"/>
          </a:xfrm>
          <a:prstGeom prst="rect">
            <a:avLst/>
          </a:prstGeom>
        </p:spPr>
      </p:pic>
      <p:pic>
        <p:nvPicPr>
          <p:cNvPr id="10" name="Picture 9" descr="A close up of text&#10;&#10;AI-generated content may be incorrect.">
            <a:extLst>
              <a:ext uri="{FF2B5EF4-FFF2-40B4-BE49-F238E27FC236}">
                <a16:creationId xmlns:a16="http://schemas.microsoft.com/office/drawing/2014/main" id="{7E3186DC-ECF7-9033-E394-5F4BE886C5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853" y="4262487"/>
            <a:ext cx="4398103" cy="173083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58ABD3-CDFF-CA51-A2D8-BCBCAAF31A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6996" y="4503577"/>
            <a:ext cx="6928942" cy="1528653"/>
          </a:xfrm>
          <a:prstGeom prst="rect">
            <a:avLst/>
          </a:prstGeom>
        </p:spPr>
      </p:pic>
      <p:pic>
        <p:nvPicPr>
          <p:cNvPr id="14" name="Picture 13" descr="A close up of a text&#10;&#10;AI-generated content may be incorrect.">
            <a:extLst>
              <a:ext uri="{FF2B5EF4-FFF2-40B4-BE49-F238E27FC236}">
                <a16:creationId xmlns:a16="http://schemas.microsoft.com/office/drawing/2014/main" id="{8C2EE223-EF0D-A4E1-8246-48A3928F30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53" y="1178576"/>
            <a:ext cx="5226837" cy="295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49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0AD5-3432-38F5-555E-7EE43235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1295583-B6DB-A861-2D61-42F7462DBD51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8BAA0A03-8D29-561E-8DFF-7AD09DB97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2D76238-AF10-B213-5D62-A648B9827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Background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2E5979-B63F-3F6A-0FA1-E0EE520944F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8" y="161541"/>
            <a:ext cx="8237807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What does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PETase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do?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35BBC63-ED74-8B01-8EBD-8DEF6FFA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A86368C-AA64-D10D-26B7-39D93B397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8" y="1074956"/>
            <a:ext cx="5252939" cy="5481554"/>
          </a:xfrm>
          <a:prstGeom prst="rect">
            <a:avLst/>
          </a:prstGeom>
        </p:spPr>
      </p:pic>
      <p:pic>
        <p:nvPicPr>
          <p:cNvPr id="9" name="Picture 8" descr="A diagram of a pet&#10;&#10;AI-generated content may be incorrect.">
            <a:extLst>
              <a:ext uri="{FF2B5EF4-FFF2-40B4-BE49-F238E27FC236}">
                <a16:creationId xmlns:a16="http://schemas.microsoft.com/office/drawing/2014/main" id="{BA016ED9-CDD5-12BF-6059-0844B7027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251" y="1130355"/>
            <a:ext cx="4452722" cy="2834753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C128A77F-5F04-8620-CAE3-13489FE7B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469792"/>
            <a:ext cx="2843536" cy="18460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基于晶体结构和诱变实验，Han等人提出PETase可能遵循经典丝氨酸水解酶的催化机制，涉及Ser131-His208-Asp177催化三联体。然而，该机理的详细原子过程、过渡态结构和能量学特征仍需要高精度理论计算来验证和补充。本研究正是在此基础上，使用QM/MM方法提供完整的热力学和动力学描述。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06D0B87-C359-E609-2D86-4715B513B8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445" y="4133399"/>
            <a:ext cx="2400807" cy="230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9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Methods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DFT/MM MD simulation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D8781121-84F8-F6D8-60FB-5E786E19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5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C385B2-D511-D06D-8165-B5F7E3793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48" y="940885"/>
            <a:ext cx="4967591" cy="2209585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15A0DA-1613-2E05-F1F9-3EB65D79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11" y="3077898"/>
            <a:ext cx="4731866" cy="3644133"/>
          </a:xfrm>
          <a:prstGeom prst="rect">
            <a:avLst/>
          </a:prstGeom>
        </p:spPr>
      </p:pic>
      <p:pic>
        <p:nvPicPr>
          <p:cNvPr id="14" name="Picture 13" descr="A diagram of a molecule&#10;&#10;AI-generated content may be incorrect.">
            <a:extLst>
              <a:ext uri="{FF2B5EF4-FFF2-40B4-BE49-F238E27FC236}">
                <a16:creationId xmlns:a16="http://schemas.microsoft.com/office/drawing/2014/main" id="{4CC9E41B-9577-EEB9-EA53-91E17A5AA26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2769"/>
          <a:stretch>
            <a:fillRect/>
          </a:stretch>
        </p:blipFill>
        <p:spPr>
          <a:xfrm>
            <a:off x="6145509" y="1131773"/>
            <a:ext cx="5070214" cy="2763423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E38315-7E41-67D8-7088-D200E23EF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7805" y="4123256"/>
            <a:ext cx="5094152" cy="243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89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6B475-B5EA-9E7C-C750-D64F3E3C0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53FB352-99A2-5F68-DCAF-64008CA36CCC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4AAEFFF-D971-F095-5DA3-39BE32217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D8DC6A-E3BC-80DB-73CA-C6B398B58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Methods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6EA00B2-CD5E-1237-1746-B7CD2352D6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Umbrella sampling and CV choice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384F2435-4ECB-F1BB-8C94-FC6E7444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6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525D65-F839-A939-3D49-6F445709F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204" y="1578133"/>
            <a:ext cx="5342795" cy="46307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1EE9853-8624-E895-6A00-C3B906EADC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15300" y="1452414"/>
            <a:ext cx="4784635" cy="455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12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0A4D4-EF84-2699-5C8E-79052CCE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3129D1B-C1BB-2E45-D0CC-E54345024CB3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B54EA02C-C036-A4EB-59F8-E84D2291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083D045-F242-DF54-CED8-528A2E56AB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7BC0E65-199A-87D6-B039-7293307991C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 acylation process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F535615-2A40-740C-5AC2-D35E98DEC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7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EF81A38-AB76-C71E-E258-AB0F3C164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616"/>
          <a:stretch>
            <a:fillRect/>
          </a:stretch>
        </p:blipFill>
        <p:spPr>
          <a:xfrm>
            <a:off x="387717" y="1399041"/>
            <a:ext cx="5708283" cy="29719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8BBE8E-64F9-51C4-2503-3164571DAC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386" y="1187581"/>
            <a:ext cx="5016841" cy="491629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6E9C837-FF17-8596-B49F-803122874D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717" y="4814039"/>
            <a:ext cx="5846468" cy="128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8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0D55C-8ED8-7064-6306-7F2CF17FE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84B6EE8-4D31-9E8D-94D9-9BF38D90FF47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D5917AF5-9ED6-72F3-E20D-E5A5B3646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B860047-CBE0-C370-28F4-A70D44ABF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BEC17B6-BA1F-A0AF-AE7B-30F2B666AA3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The acylation process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7B78D32E-BEC6-8C1D-1D43-2BBDD713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8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674236-530D-8A00-345D-74E316F739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50"/>
          <a:stretch>
            <a:fillRect/>
          </a:stretch>
        </p:blipFill>
        <p:spPr>
          <a:xfrm>
            <a:off x="681446" y="1220979"/>
            <a:ext cx="4960595" cy="18692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73B12B-9101-21FE-7F4C-D376F3A92E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705" y="1115601"/>
            <a:ext cx="4784635" cy="46887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E2CE3D-4181-FD7D-15F7-494A52125C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033" y="3459974"/>
            <a:ext cx="4973018" cy="259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049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19F8F-C5D4-2AB3-F3C7-1015B3A2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8C5E37A-116B-9B4E-7F95-86C46A27FBB5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14827B97-6DFA-5735-E6D3-EBE468445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8652869-E6AE-A55D-6EEF-30332D624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E325E6-6C3C-0632-3317-6A26F73A0F3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The acylation process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469C469-C5C5-F44A-F275-A2B4F092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9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B35598-DF85-57E4-6838-753BB7428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29"/>
          <a:stretch>
            <a:fillRect/>
          </a:stretch>
        </p:blipFill>
        <p:spPr>
          <a:xfrm>
            <a:off x="387717" y="2066103"/>
            <a:ext cx="5708283" cy="16584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7D2D985-F894-0019-7670-EDD1CA4BA5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356" y="1159658"/>
            <a:ext cx="5016841" cy="491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97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0FE02-7450-2B88-B97A-BEFC0733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9ABC104-63A3-459E-C1E1-F3F25A56BFAF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EC5463EE-7F4C-8AA1-F41F-ED04CB2D3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0DAC96B-505C-D162-4448-1F6B8AC765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4A991A-F7AC-6325-0BF2-5E5D03CFCB6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The acylation process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F3D4E0B9-F573-48C2-B33B-6D901862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10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BB244D-4AAF-30C7-50B9-9D69C708A4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83"/>
          <a:stretch>
            <a:fillRect/>
          </a:stretch>
        </p:blipFill>
        <p:spPr>
          <a:xfrm>
            <a:off x="911036" y="2010382"/>
            <a:ext cx="4960595" cy="36728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76C815-6BF8-AE8A-5ADE-24B2CDC5A1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6586" y="1315890"/>
            <a:ext cx="4784635" cy="46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97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C35CF-8B75-3394-4DE9-6F87B12B0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B93140F-CB94-F491-923E-E7D190F8B4F1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C7FE038-BC18-83B6-647B-59EF9E524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DC40728-BBBF-98DF-C484-EFB9EDADC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C6E8A8-A522-ECF3-4A43-EFB4D9A0C10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The </a:t>
            </a:r>
            <a:r>
              <a:rPr lang="en-US" altLang="zh-CN" sz="24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deacylation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 process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6CFD26FD-6861-A06B-9AEB-0915416B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11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0BA3137-4243-516E-6E6B-51C259B27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199" y="1597880"/>
            <a:ext cx="4960595" cy="43795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196CE40-CCD7-C6D9-64B2-7A756643C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0308" y="1387209"/>
            <a:ext cx="4774619" cy="46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45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2B03F-4004-4C27-2C2E-363302E10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894EA89C-E280-B3F2-68CE-6844D83A6D6A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3DE325C6-0A34-C01D-E9A2-232B8E985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D63B73F-D79B-DC77-B1AC-2A1270E75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Results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2C0DEB6-FA9F-4691-9564-73936A0B0E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200451"/>
            <a:ext cx="7281686" cy="4247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algn="l">
              <a:buNone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Engineering of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PETase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to Increase the Reaction Rate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E361B98-D2F6-FA8D-B9AB-7ACF2FF09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12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D7AEE2-B583-C1B6-AF74-4073080D6F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1199" y="1131713"/>
            <a:ext cx="4960595" cy="53118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F701D2-14C7-1FE9-74DC-9F4729A3C4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03154" y="1387209"/>
            <a:ext cx="4208927" cy="4688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9E417-6ACB-DD79-8EB4-48183C16C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5F986E7-06D4-1070-B4F1-81A7F9A4AB00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4CD60E37-5A39-8496-DD46-285F515BF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0BF317E-8645-7A58-6860-5EA256BDA1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Discussion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61F15D-8CD9-E67F-D2F4-36D44D1E01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Frontiers in AI enzyme design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24F2A7E-C456-387A-EDEE-D92AF804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13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A7D231-53ED-AE0E-AC18-FBC17C8FB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724" y="161541"/>
            <a:ext cx="5629897" cy="6412804"/>
          </a:xfrm>
          <a:prstGeom prst="rect">
            <a:avLst/>
          </a:prstGeom>
        </p:spPr>
      </p:pic>
      <p:pic>
        <p:nvPicPr>
          <p:cNvPr id="8" name="Picture 7" descr="A screenshot of a cell structure&#10;&#10;AI-generated content may be incorrect.">
            <a:extLst>
              <a:ext uri="{FF2B5EF4-FFF2-40B4-BE49-F238E27FC236}">
                <a16:creationId xmlns:a16="http://schemas.microsoft.com/office/drawing/2014/main" id="{47556F0A-EF3C-2A10-E44A-EA19FCF62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02" y="991454"/>
            <a:ext cx="4634361" cy="562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055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0E97C-883F-C102-82FE-45496A0C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46F9046-8F66-3A58-D741-A2AEA9C2793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989DF126-86A6-AAE9-33B2-0F5D80225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B022F47-6F93-1A0A-D73A-0176BB6BD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Discussion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7A4234-3F5A-C8D6-4F00-F13ECA9780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lvl="0"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Frontiers in AI enzyme design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012688D5-F439-0D3D-72C1-A49547EB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14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B59186-1926-07DD-D56D-9C95C7880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557" y="970609"/>
            <a:ext cx="4164755" cy="3146975"/>
          </a:xfrm>
          <a:prstGeom prst="rect">
            <a:avLst/>
          </a:prstGeom>
        </p:spPr>
      </p:pic>
      <p:pic>
        <p:nvPicPr>
          <p:cNvPr id="14" name="Picture 13" descr="A screenshot of a website&#10;&#10;AI-generated content may be incorrect.">
            <a:extLst>
              <a:ext uri="{FF2B5EF4-FFF2-40B4-BE49-F238E27FC236}">
                <a16:creationId xmlns:a16="http://schemas.microsoft.com/office/drawing/2014/main" id="{DC35D521-79DB-DE07-5840-083BFE36E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880" y="963256"/>
            <a:ext cx="4805464" cy="2998320"/>
          </a:xfrm>
          <a:prstGeom prst="rect">
            <a:avLst/>
          </a:prstGeom>
        </p:spPr>
      </p:pic>
      <p:pic>
        <p:nvPicPr>
          <p:cNvPr id="16" name="Picture 15" descr="A screenshot of a website&#10;&#10;AI-generated content may be incorrect.">
            <a:extLst>
              <a:ext uri="{FF2B5EF4-FFF2-40B4-BE49-F238E27FC236}">
                <a16:creationId xmlns:a16="http://schemas.microsoft.com/office/drawing/2014/main" id="{E4972AF1-48A6-5416-25F9-BC839CF2A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795" y="4142273"/>
            <a:ext cx="4513634" cy="2480067"/>
          </a:xfrm>
          <a:prstGeom prst="rect">
            <a:avLst/>
          </a:prstGeom>
        </p:spPr>
      </p:pic>
      <p:sp>
        <p:nvSpPr>
          <p:cNvPr id="17" name="文本框 4">
            <a:extLst>
              <a:ext uri="{FF2B5EF4-FFF2-40B4-BE49-F238E27FC236}">
                <a16:creationId xmlns:a16="http://schemas.microsoft.com/office/drawing/2014/main" id="{29869A93-5FC7-B441-B634-938E6DD02C24}"/>
              </a:ext>
            </a:extLst>
          </p:cNvPr>
          <p:cNvSpPr txBox="1">
            <a:spLocks/>
          </p:cNvSpPr>
          <p:nvPr/>
        </p:nvSpPr>
        <p:spPr>
          <a:xfrm>
            <a:off x="415663" y="4307856"/>
            <a:ext cx="5680337" cy="23886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algn="l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18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AI enzyme design: pros and cons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</a:rPr>
              <a:t>Provide candidates so fast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</a:rPr>
              <a:t>New scaffolds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00B0F0"/>
                </a:solidFill>
                <a:latin typeface="+mn-lt"/>
                <a:cs typeface="Times New Roman" panose="02020603050405020304" pitchFamily="18" charset="0"/>
              </a:rPr>
              <a:t>Multi-objective optimization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No subatomic accuracy: cannot beat the nature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Requires detailed molecular modeling</a:t>
            </a: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A complex process! Lacking</a:t>
            </a:r>
            <a:r>
              <a:rPr lang="zh-CN" altLang="en-US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pocket</a:t>
            </a:r>
            <a:r>
              <a:rPr lang="zh-CN" altLang="en-US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dynamics</a:t>
            </a:r>
            <a:r>
              <a:rPr lang="zh-CN" altLang="en-US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altLang="zh-CN" sz="1800" b="0" dirty="0">
                <a:solidFill>
                  <a:srgbClr val="E3A01D"/>
                </a:solidFill>
                <a:latin typeface="+mn-lt"/>
                <a:cs typeface="Times New Roman" panose="02020603050405020304" pitchFamily="18" charset="0"/>
              </a:rPr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88424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A8D3A-1FBA-6380-36E8-D424F4CE542F}"/>
              </a:ext>
            </a:extLst>
          </p:cNvPr>
          <p:cNvSpPr/>
          <p:nvPr/>
        </p:nvSpPr>
        <p:spPr>
          <a:xfrm>
            <a:off x="6561845" y="1997918"/>
            <a:ext cx="5091189" cy="295106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6600" b="1" i="0" u="none" strike="noStrike" kern="1200" cap="none" spc="0" normalizeH="0" baseline="0" noProof="0" dirty="0">
                <a:ln w="9525">
                  <a:solidFill>
                    <a:prstClr val="white"/>
                  </a:solidFill>
                  <a:prstDash val="solid"/>
                </a:ln>
                <a:solidFill>
                  <a:srgbClr val="5B9BD5"/>
                </a:solidFill>
                <a:effectLst>
                  <a:outerShdw blurRad="12700" dist="38100" dir="2700000" algn="tl" rotWithShape="0">
                    <a:srgbClr val="5B9BD5">
                      <a:lumMod val="60000"/>
                      <a:lumOff val="40000"/>
                    </a:srgbClr>
                  </a:outerShdw>
                </a:effectLst>
                <a:uLnTx/>
                <a:uFillTx/>
                <a:latin typeface="Arial"/>
                <a:ea typeface="微软雅黑"/>
                <a:cs typeface="+mn-cs"/>
              </a:rPr>
              <a:t>Thanks for listening!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F1402-FBB0-F5DE-2F5C-0FC8F56B3A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9953" y="228666"/>
            <a:ext cx="2970668" cy="6400667"/>
          </a:xfrm>
          <a:prstGeom prst="rect">
            <a:avLst/>
          </a:prstGeom>
        </p:spPr>
      </p:pic>
      <p:pic>
        <p:nvPicPr>
          <p:cNvPr id="4" name="Picture 3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9CBBE8C-27A0-C6F2-29E4-8E838229DC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280"/>
          <a:stretch>
            <a:fillRect/>
          </a:stretch>
        </p:blipFill>
        <p:spPr>
          <a:xfrm>
            <a:off x="3620579" y="228666"/>
            <a:ext cx="2882646" cy="3060340"/>
          </a:xfrm>
          <a:prstGeom prst="rect">
            <a:avLst/>
          </a:prstGeom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D6E6C93C-A3F0-F991-886A-C98B1D9654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280"/>
          <a:stretch>
            <a:fillRect/>
          </a:stretch>
        </p:blipFill>
        <p:spPr>
          <a:xfrm>
            <a:off x="3640391" y="3568995"/>
            <a:ext cx="2862834" cy="3060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392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C6537E-1BCB-449B-9D57-C56B1DCBCFAD}"/>
              </a:ext>
            </a:extLst>
          </p:cNvPr>
          <p:cNvSpPr/>
          <p:nvPr/>
        </p:nvSpPr>
        <p:spPr>
          <a:xfrm>
            <a:off x="-1" y="0"/>
            <a:ext cx="1822076" cy="78204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12">
            <a:extLst>
              <a:ext uri="{FF2B5EF4-FFF2-40B4-BE49-F238E27FC236}">
                <a16:creationId xmlns:a16="http://schemas.microsoft.com/office/drawing/2014/main" id="{629808C1-933E-463B-830B-7687BCA14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782045"/>
            <a:ext cx="8861613" cy="69221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F69500"/>
          </a:solidFill>
          <a:ln w="9525">
            <a:solidFill>
              <a:srgbClr val="F69500"/>
            </a:solidFill>
            <a:round/>
            <a:headEnd/>
            <a:tailEnd/>
          </a:ln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74C9CB8-8913-48DE-AAF7-21476B770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" y="117290"/>
            <a:ext cx="1822077" cy="524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黑体" charset="0"/>
              </a:rPr>
              <a:t>Summary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楷体" panose="02010609060101010101" pitchFamily="49" charset="-122"/>
              <a:cs typeface="黑体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FFD94E-4CB1-41C7-8476-569486B26E9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13869" y="161541"/>
            <a:ext cx="7281686" cy="46166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>
              <a:defRPr sz="4000" b="1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chemeClr val="tx1"/>
                </a:solidFill>
              </a:rPr>
              <a:t>Take-home messages &amp; thoughts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灯片编号占位符 1">
            <a:extLst>
              <a:ext uri="{FF2B5EF4-FFF2-40B4-BE49-F238E27FC236}">
                <a16:creationId xmlns:a16="http://schemas.microsoft.com/office/drawing/2014/main" id="{D8781121-84F8-F6D8-60FB-5E786E19A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3242" y="6556510"/>
            <a:ext cx="378758" cy="365125"/>
          </a:xfrm>
        </p:spPr>
        <p:txBody>
          <a:bodyPr/>
          <a:lstStyle/>
          <a:p>
            <a:fld id="{2F0485D5-9E03-4020-B25B-C8A61AD6A676}" type="slidenum">
              <a:rPr lang="zh-CN" altLang="en-US" smtClean="0">
                <a:solidFill>
                  <a:schemeClr val="accent1"/>
                </a:solidFill>
              </a:rPr>
              <a:t>16</a:t>
            </a:fld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7" name="文本框 4">
            <a:extLst>
              <a:ext uri="{FF2B5EF4-FFF2-40B4-BE49-F238E27FC236}">
                <a16:creationId xmlns:a16="http://schemas.microsoft.com/office/drawing/2014/main" id="{CB43B3A2-FECF-FA0B-1657-825FF6F3BDAE}"/>
              </a:ext>
            </a:extLst>
          </p:cNvPr>
          <p:cNvSpPr txBox="1">
            <a:spLocks/>
          </p:cNvSpPr>
          <p:nvPr/>
        </p:nvSpPr>
        <p:spPr>
          <a:xfrm>
            <a:off x="516222" y="1162558"/>
            <a:ext cx="7674468" cy="652172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j-cs"/>
              </a:defRPr>
            </a:lvl1pPr>
          </a:lstStyle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Results and Limitations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far higher than previously reported catalytic triad-based serine hydrolase designs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able to design enzymes for any scaffold</a:t>
            </a:r>
            <a:endParaRPr lang="en-US" altLang="zh-C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still orders of magnitude slower than native hydrolases (3.8 x 10</a:t>
            </a:r>
            <a:r>
              <a:rPr lang="en-US" altLang="zh-CN" b="0" baseline="300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3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) 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the oxyanion hole identities and geometries differ slightly from those in native structures (for some, mutation does not affect the activity)</a:t>
            </a: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en-US" altLang="zh-CN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2000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Inspirations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motif scaffolding works better than traditional scaffold searching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still strictly following natural designs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the catalytic residues themselves might not be enough…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t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he more restraint added, t</a:t>
            </a:r>
            <a:r>
              <a:rPr lang="en-US" altLang="zh-CN" dirty="0">
                <a:cs typeface="Times New Roman" panose="02020603050405020304" pitchFamily="18" charset="0"/>
              </a:rPr>
              <a:t>he better success rate is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enzymes are intricate machines; more </a:t>
            </a:r>
            <a:r>
              <a:rPr lang="en-US" altLang="zh-CN" b="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mechanism studies are required…</a:t>
            </a:r>
          </a:p>
          <a:p>
            <a:pPr marL="1257300" lvl="2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dirty="0"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en-US" altLang="zh-CN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endParaRPr lang="zh-CN" altLang="en-US" sz="2000" b="0" dirty="0">
              <a:solidFill>
                <a:schemeClr val="tx1"/>
              </a:solidFill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46672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78156</TotalTime>
  <Words>574</Words>
  <Application>Microsoft Office PowerPoint</Application>
  <PresentationFormat>Widescreen</PresentationFormat>
  <Paragraphs>88</Paragraphs>
  <Slides>16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等线</vt:lpstr>
      <vt:lpstr>Arial</vt:lpstr>
      <vt:lpstr>Times New Roman</vt:lpstr>
      <vt:lpstr>Wingdings</vt:lpstr>
      <vt:lpstr>1_Office 主题​​</vt:lpstr>
      <vt:lpstr>Office 主题​​</vt:lpstr>
      <vt:lpstr>PowerPoint Presentation</vt:lpstr>
      <vt:lpstr>Authors</vt:lpstr>
      <vt:lpstr>Overview</vt:lpstr>
      <vt:lpstr>What does PETase do?</vt:lpstr>
      <vt:lpstr>DFT/MM MD simulation</vt:lpstr>
      <vt:lpstr>Umbrella sampling and CV choice</vt:lpstr>
      <vt:lpstr>The acylation process</vt:lpstr>
      <vt:lpstr>The acylation process</vt:lpstr>
      <vt:lpstr>The acylation process</vt:lpstr>
      <vt:lpstr>The acylation process</vt:lpstr>
      <vt:lpstr>The deacylation process</vt:lpstr>
      <vt:lpstr>Engineering of PETase to Increase the Reaction Rate</vt:lpstr>
      <vt:lpstr>Frontiers in AI enzyme design</vt:lpstr>
      <vt:lpstr>Frontiers in AI enzyme design</vt:lpstr>
      <vt:lpstr>PowerPoint Presentation</vt:lpstr>
      <vt:lpstr>Take-home messages &amp; thoughts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Zhang</dc:creator>
  <cp:lastModifiedBy>Xufan Gao</cp:lastModifiedBy>
  <cp:revision>1584</cp:revision>
  <cp:lastPrinted>2023-11-24T12:45:53Z</cp:lastPrinted>
  <dcterms:created xsi:type="dcterms:W3CDTF">2022-01-23T03:13:32Z</dcterms:created>
  <dcterms:modified xsi:type="dcterms:W3CDTF">2025-12-15T09:08:34Z</dcterms:modified>
</cp:coreProperties>
</file>