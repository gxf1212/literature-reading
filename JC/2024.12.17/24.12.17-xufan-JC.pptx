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</p:sldMasterIdLst>
  <p:notesMasterIdLst>
    <p:notesMasterId r:id="rId18"/>
  </p:notesMasterIdLst>
  <p:sldIdLst>
    <p:sldId id="1827" r:id="rId3"/>
    <p:sldId id="1814" r:id="rId4"/>
    <p:sldId id="2434" r:id="rId5"/>
    <p:sldId id="2421" r:id="rId6"/>
    <p:sldId id="1843" r:id="rId7"/>
    <p:sldId id="1836" r:id="rId8"/>
    <p:sldId id="2442" r:id="rId9"/>
    <p:sldId id="2440" r:id="rId10"/>
    <p:sldId id="2443" r:id="rId11"/>
    <p:sldId id="2436" r:id="rId12"/>
    <p:sldId id="2435" r:id="rId13"/>
    <p:sldId id="2437" r:id="rId14"/>
    <p:sldId id="2439" r:id="rId15"/>
    <p:sldId id="2423" r:id="rId16"/>
    <p:sldId id="169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2A24E0E-A5CD-4A18-A3F9-92EB53E1B1D8}">
          <p14:sldIdLst>
            <p14:sldId id="1827"/>
            <p14:sldId id="1814"/>
            <p14:sldId id="2434"/>
            <p14:sldId id="2421"/>
            <p14:sldId id="1843"/>
            <p14:sldId id="1836"/>
            <p14:sldId id="2442"/>
          </p14:sldIdLst>
        </p14:section>
        <p14:section name="results" id="{DB0BB278-AB16-4AD7-AE8E-86D801906DA8}">
          <p14:sldIdLst>
            <p14:sldId id="2440"/>
            <p14:sldId id="2443"/>
            <p14:sldId id="2436"/>
            <p14:sldId id="2435"/>
            <p14:sldId id="2437"/>
            <p14:sldId id="2439"/>
          </p14:sldIdLst>
        </p14:section>
        <p14:section name="end" id="{1AA78921-23EF-4642-96FC-2D85E2E2961A}">
          <p14:sldIdLst>
            <p14:sldId id="2423"/>
            <p14:sldId id="16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472C4"/>
    <a:srgbClr val="ED7D31"/>
    <a:srgbClr val="0E100D"/>
    <a:srgbClr val="CC93CA"/>
    <a:srgbClr val="FFFFFF"/>
    <a:srgbClr val="E3A01D"/>
    <a:srgbClr val="F3B5F4"/>
    <a:srgbClr val="7FC1DD"/>
    <a:srgbClr val="FDDD51"/>
    <a:srgbClr val="AC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5" autoAdjust="0"/>
    <p:restoredTop sz="88871" autoAdjust="0"/>
  </p:normalViewPr>
  <p:slideViewPr>
    <p:cSldViewPr snapToGrid="0">
      <p:cViewPr varScale="1">
        <p:scale>
          <a:sx n="92" d="100"/>
          <a:sy n="92" d="100"/>
        </p:scale>
        <p:origin x="6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6E25A-B3D6-0642-A12C-D7878380EBD2}" type="datetimeFigureOut">
              <a:rPr kumimoji="1" lang="zh-CN" altLang="en-US" smtClean="0"/>
              <a:t>2024/12/16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154B1-2FE7-2C40-9A46-2D9422D3E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945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446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46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52AD-5307-93C5-93CF-A1647440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F4CA24-0503-85F0-52D0-CA4A6F68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8A6184-8353-5C19-DCDB-2C672CC42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酶的特点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设计的理论依据：过渡态理论，构象预组织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活性位点难以从头设计，基本上是</a:t>
            </a:r>
            <a:r>
              <a:rPr lang="en-US" altLang="zh-CN" b="0" dirty="0"/>
              <a:t>learn from nature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ea typeface="楷体" panose="02010609060101010101" pitchFamily="49" charset="-122"/>
                <a:cs typeface="Times New Roman" panose="02020603050405020304" pitchFamily="18" charset="0"/>
              </a:rPr>
              <a:t>偶然发现</a:t>
            </a:r>
            <a:r>
              <a:rPr lang="en-US" altLang="zh-CN" sz="1200" b="0" dirty="0"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11E21-00A0-0B44-3CBE-FA72F2C26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220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Baker</a:t>
            </a:r>
            <a:r>
              <a:rPr lang="zh-CN" altLang="en-US" dirty="0"/>
              <a:t>组的系列工具。别人的就先不说了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给定小分子和</a:t>
            </a:r>
            <a:r>
              <a:rPr lang="en-US" altLang="zh-CN" dirty="0"/>
              <a:t>backbone</a:t>
            </a:r>
            <a:r>
              <a:rPr lang="zh-CN" altLang="en-US" dirty="0"/>
              <a:t>，也知道是什么残基，产生合适的侧链坐标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845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过去</a:t>
            </a:r>
            <a:r>
              <a:rPr lang="en-US" altLang="zh-CN" dirty="0"/>
              <a:t>vs</a:t>
            </a:r>
            <a:r>
              <a:rPr lang="zh-CN" altLang="en-US" dirty="0"/>
              <a:t>现在的策略，概述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527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J Am </a:t>
            </a:r>
            <a:r>
              <a:rPr lang="fr-FR" altLang="zh-CN" dirty="0" err="1"/>
              <a:t>Chem</a:t>
            </a:r>
            <a:r>
              <a:rPr lang="fr-FR" altLang="zh-CN" dirty="0"/>
              <a:t> Soc 2003, 125, 39, 12035–48.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1555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659EE-A5E1-0636-BA07-1D4E2932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CDF0F7-8673-0515-DAA3-DAF0580E7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E1427F-E667-D7AC-D847-98437D152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B3LYP-D3(BJ)/6-31G(d)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(1) apo, (2) substrate bound, (3) tetrahedral intermediate 1, (4)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acylenzyme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intermediate, and (5) tetrahedral intermediate 2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8B9A98-ADF7-93F6-68E7-32421E48A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8818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DB4D-9BE9-4EE8-DAF1-71FC0886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211317-8280-78B7-AF00-07557BD4B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641ED1-91D2-DA81-06A9-CD0BC3650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8D5D58-7FA6-7F72-8A02-E9F08833C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583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065F-3F50-7FC8-6931-DDB503E2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D0C133-5AEC-C2E4-377B-A99E3627A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F0B406-DB95-F8EF-21DF-AFD139F96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D5D6C6-CBBF-23A9-791D-B8B1D3A27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0040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EF45-E50E-54EF-6497-1B7EB210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103F3D-843E-24E4-9107-AEEB3DB18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37AF75-3632-D592-42C3-4F3CF2534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T99 is oxyanion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12D461-39A8-20A1-2C71-41A6B0191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526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4A89-D0D9-14F1-801A-C490DD42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6F6B0B-74E3-8B3E-5B1A-B81793167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3109AD-CD87-376A-3410-C8C06E024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144A3-C1E5-D2F9-D2B1-6A7D55B67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0361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75B0-1268-C8BF-343E-AD1D8ACB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FD52E5-E64B-54DC-327B-19AE4828D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6EDCD8-5195-0BF5-2B0A-08AC06447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66 designs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816E4B-548D-1F1D-A13D-B27B005B3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2444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FCF99-6838-DEF8-1F0C-398CA0D3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979308-B6D8-0D69-0788-5B5D09846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82F50C-B7D4-0179-20FA-A2DD15244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650F74-5765-2A04-FC7D-6C1A8A980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2466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Comments: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Still low successful rate…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Fixing the backbone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Simply learning from nature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More mechanism studies…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5364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11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5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 sz="2600"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5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340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79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6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2024/12/16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07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2024/12/16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04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7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1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89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5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2024/12/16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2024/12/16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42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2024/12/16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1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45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20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5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4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26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71296-B7DB-8FCB-C492-290895CCA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51974"/>
            <a:ext cx="9144000" cy="1054268"/>
          </a:xfrm>
        </p:spPr>
        <p:txBody>
          <a:bodyPr>
            <a:normAutofit/>
          </a:bodyPr>
          <a:lstStyle/>
          <a:p>
            <a:r>
              <a:rPr lang="en-US" altLang="zh-CN" dirty="0"/>
              <a:t>Reporter: </a:t>
            </a:r>
            <a:r>
              <a:rPr lang="zh-CN" altLang="en-US" dirty="0"/>
              <a:t>高旭帆</a:t>
            </a:r>
            <a:endParaRPr lang="en-US" altLang="zh-CN" dirty="0"/>
          </a:p>
          <a:p>
            <a:r>
              <a:rPr lang="en-US" altLang="zh-CN" dirty="0"/>
              <a:t>Date: 2024.12.17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3C33A-4903-41CA-1A97-2A2C8E9D0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297" y="1608308"/>
            <a:ext cx="9637796" cy="29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9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915494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915495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Introduction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15493" y="161541"/>
            <a:ext cx="7180062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Authors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D7BB94-0D36-B5A2-9816-D3CFEC8B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2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6F4D7B-5671-A769-EFA3-677A2C151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1317" y="1177741"/>
            <a:ext cx="1950720" cy="195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EBFA5E12-A7CC-3FAC-74E3-7A099F9F6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16" y="4357274"/>
            <a:ext cx="1950721" cy="195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F2711A-8178-3335-CE12-6CD897FBF422}"/>
              </a:ext>
            </a:extLst>
          </p:cNvPr>
          <p:cNvSpPr txBox="1"/>
          <p:nvPr/>
        </p:nvSpPr>
        <p:spPr>
          <a:xfrm>
            <a:off x="2654575" y="1156040"/>
            <a:ext cx="4323399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Anna </a:t>
            </a:r>
            <a:r>
              <a:rPr lang="en-US" altLang="zh-CN" dirty="0" err="1"/>
              <a:t>Lauko</a:t>
            </a:r>
            <a:r>
              <a:rPr lang="en-US" altLang="zh-CN" dirty="0"/>
              <a:t>, Postdoc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Research: designing new enzymes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7C316-F638-269F-B658-DD468288110E}"/>
              </a:ext>
            </a:extLst>
          </p:cNvPr>
          <p:cNvSpPr txBox="1"/>
          <p:nvPr/>
        </p:nvSpPr>
        <p:spPr>
          <a:xfrm>
            <a:off x="2654575" y="4086541"/>
            <a:ext cx="5562056" cy="238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David Baker, PhD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Director, Institute for Protein Design, School of Medicine, University of Washington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Investigator, Howard Hughes Medical Institute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Member of the National Academy of Sciences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2024 Nobel Prize in Chemistry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The world’s 100 Most Influential People in health</a:t>
            </a:r>
            <a:endParaRPr lang="zh-CN" altLang="en-US" dirty="0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1B61706B-6468-C9DC-4181-0E9F46C53C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02368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066820-3218-7918-8CFA-0F57BE993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4478" y="1177740"/>
            <a:ext cx="1998345" cy="19983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699338-9A1D-66F5-606E-AA3B6A0C4104}"/>
              </a:ext>
            </a:extLst>
          </p:cNvPr>
          <p:cNvSpPr txBox="1"/>
          <p:nvPr/>
        </p:nvSpPr>
        <p:spPr>
          <a:xfrm>
            <a:off x="3204200" y="2470423"/>
            <a:ext cx="6099243" cy="10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Samuel J. Pellock, previous postdoc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Research: de novo design of functional proteins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new experimental approaches to measure function rapidly</a:t>
            </a:r>
            <a:endParaRPr lang="zh-CN" alt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22D669-8602-39AA-7BE4-451BD45E542F}"/>
              </a:ext>
            </a:extLst>
          </p:cNvPr>
          <p:cNvCxnSpPr/>
          <p:nvPr/>
        </p:nvCxnSpPr>
        <p:spPr>
          <a:xfrm>
            <a:off x="0" y="3787306"/>
            <a:ext cx="12192002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049063-A2F8-D34E-70D6-EF2E1265BE0C}"/>
              </a:ext>
            </a:extLst>
          </p:cNvPr>
          <p:cNvCxnSpPr>
            <a:cxnSpLocks/>
          </p:cNvCxnSpPr>
          <p:nvPr/>
        </p:nvCxnSpPr>
        <p:spPr>
          <a:xfrm flipV="1">
            <a:off x="8203662" y="3787306"/>
            <a:ext cx="0" cy="303246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E7D65D-A8FC-7220-A0D2-649F51C92D5E}"/>
              </a:ext>
            </a:extLst>
          </p:cNvPr>
          <p:cNvSpPr txBox="1"/>
          <p:nvPr/>
        </p:nvSpPr>
        <p:spPr>
          <a:xfrm>
            <a:off x="8422842" y="3919392"/>
            <a:ext cx="3579779" cy="238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B0F0"/>
                </a:solidFill>
              </a:rPr>
              <a:t>Highlights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 model system to study multi-step reactions</a:t>
            </a:r>
            <a:endParaRPr lang="zh-CN" alt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Designed serine hydrolases with folds distinct from nature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The importance of active site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preorganization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17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0AD5-3432-38F5-555E-7EE43235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1295583-B6DB-A861-2D61-42F7462DBD51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8BAA0A03-8D29-561E-8DFF-7AD09DB97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D76238-AF10-B213-5D62-A648B9827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2E5979-B63F-3F6A-0FA1-E0EE520944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8" y="161541"/>
            <a:ext cx="8237807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Theoretical basis of computational enzyme design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7" name="AutoShape 8" descr="Pharmaceuticals | Free Full-Text | Synthesis and Anti-Tumor Effects of  Novel Pomalidomide Derivatives Containing Urea Moieties">
            <a:extLst>
              <a:ext uri="{FF2B5EF4-FFF2-40B4-BE49-F238E27FC236}">
                <a16:creationId xmlns:a16="http://schemas.microsoft.com/office/drawing/2014/main" id="{20150031-928C-D393-8EF9-DE02C003C1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2148" y="29070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FF0B66-896E-2036-24FB-C9E74B95E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272" y="4455446"/>
            <a:ext cx="4467225" cy="1685925"/>
          </a:xfrm>
          <a:prstGeom prst="rect">
            <a:avLst/>
          </a:prstGeom>
        </p:spPr>
      </p:pic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6664E41D-83FD-A672-825A-5D0E2DC0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3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矩形 25">
            <a:extLst>
              <a:ext uri="{FF2B5EF4-FFF2-40B4-BE49-F238E27FC236}">
                <a16:creationId xmlns:a16="http://schemas.microsoft.com/office/drawing/2014/main" id="{DE6D2DCB-20CA-992C-E268-AE0524DD34E5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18E007F9-30AC-59B9-0FB6-711C594215F2}"/>
              </a:ext>
            </a:extLst>
          </p:cNvPr>
          <p:cNvSpPr txBox="1">
            <a:spLocks/>
          </p:cNvSpPr>
          <p:nvPr/>
        </p:nvSpPr>
        <p:spPr>
          <a:xfrm>
            <a:off x="11813242" y="6556510"/>
            <a:ext cx="3787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lnSpc>
                <a:spcPct val="120000"/>
              </a:lnSpc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AE8B7D-8901-027E-BD49-47D44B886B6E}"/>
              </a:ext>
            </a:extLst>
          </p:cNvPr>
          <p:cNvSpPr txBox="1"/>
          <p:nvPr/>
        </p:nvSpPr>
        <p:spPr>
          <a:xfrm>
            <a:off x="1138237" y="6550347"/>
            <a:ext cx="3700462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1" u="none" strike="noStrike">
                <a:solidFill>
                  <a:schemeClr val="bg1"/>
                </a:solidFill>
                <a:effectLst/>
              </a:defRPr>
            </a:lvl1pPr>
          </a:lstStyle>
          <a:p>
            <a:r>
              <a:rPr lang="fr-FR" altLang="zh-CN" dirty="0"/>
              <a:t>Nature 2022, 606, 7912, 49–58.</a:t>
            </a:r>
            <a:endParaRPr lang="zh-CN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1154C4D-97B3-9EE4-DDD6-2D003DAC1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195" y="954446"/>
            <a:ext cx="3016284" cy="279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E26F1F7-F436-92F0-EEFD-F0FADCB982EA}"/>
              </a:ext>
            </a:extLst>
          </p:cNvPr>
          <p:cNvSpPr txBox="1"/>
          <p:nvPr/>
        </p:nvSpPr>
        <p:spPr>
          <a:xfrm>
            <a:off x="5559358" y="6550347"/>
            <a:ext cx="6138152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i="1" dirty="0">
                <a:solidFill>
                  <a:schemeClr val="bg1"/>
                </a:solidFill>
              </a:rPr>
              <a:t>https://www.uv.es/biophys/sbe/6/PDFsite/SimulatingEnzymeCatalysis.pdf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B6D0BB-85A6-41DE-EA4F-9F53AA6D680D}"/>
              </a:ext>
            </a:extLst>
          </p:cNvPr>
          <p:cNvSpPr txBox="1"/>
          <p:nvPr/>
        </p:nvSpPr>
        <p:spPr>
          <a:xfrm>
            <a:off x="969435" y="3497634"/>
            <a:ext cx="6021510" cy="3013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Enzymes reduce activation energy by stabilizing the transition state (TS)</a:t>
            </a:r>
          </a:p>
          <a:p>
            <a:pPr marL="342900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Enzymes provide an energetically favorable environment with no reorganization required</a:t>
            </a:r>
          </a:p>
          <a:p>
            <a:pPr marL="342900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Multistep reaction mechanisms often utilize complex, polar active sites</a:t>
            </a:r>
          </a:p>
          <a:p>
            <a:pPr marL="342900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Borrowing the active site from nature</a:t>
            </a:r>
          </a:p>
          <a:p>
            <a:pPr marL="800100" lvl="1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serendipity?</a:t>
            </a:r>
            <a:endParaRPr lang="zh-CN" altLang="en-US" sz="1600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674E8F-E136-C5C7-1063-54F7517BA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37" y="1249578"/>
            <a:ext cx="5272010" cy="200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Computational tools used in this work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58D0B3A-F04E-763B-39A1-4FD104E48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047" y="1179528"/>
            <a:ext cx="11614825" cy="2237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2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RFdiffusion</a:t>
            </a: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: Used to generate protein backbones for scaffolding catalytic motifs.</a:t>
            </a:r>
            <a:endParaRPr lang="en-US" altLang="zh-CN" sz="2000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 newly trained variant of RFAA: CA </a:t>
            </a:r>
            <a:r>
              <a:rPr lang="en-US" altLang="zh-CN" dirty="0" err="1">
                <a:ea typeface="楷体" panose="02010609060101010101" pitchFamily="49" charset="-122"/>
                <a:cs typeface="Times New Roman" panose="02020603050405020304" pitchFamily="18" charset="0"/>
              </a:rPr>
              <a:t>RFdiffusion</a:t>
            </a:r>
            <a:endParaRPr lang="zh-CN" altLang="zh-CN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2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ChemNet</a:t>
            </a: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: Generates side chain conformation ensembles to evaluate preorganiz</a:t>
            </a:r>
            <a:r>
              <a:rPr lang="en-US" altLang="zh-CN" sz="2000" dirty="0" err="1">
                <a:ea typeface="楷体" panose="02010609060101010101" pitchFamily="49" charset="-122"/>
                <a:cs typeface="Times New Roman" panose="02020603050405020304" pitchFamily="18" charset="0"/>
              </a:rPr>
              <a:t>ation</a:t>
            </a: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000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2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AlphaFold2 </a:t>
            </a: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(AF2): Predicts the structure of designed proteins</a:t>
            </a:r>
            <a:endParaRPr lang="en-US" altLang="zh-CN" sz="2000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2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LigandMPNN</a:t>
            </a: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: Designs protein sequences, optimizing interactions with the catalytic site.</a:t>
            </a:r>
          </a:p>
          <a:p>
            <a:pPr marL="342900" marR="0" lvl="0" indent="-342900" fontAlgn="base">
              <a:lnSpc>
                <a:spcPct val="12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Rosetta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FastRelax</a:t>
            </a:r>
            <a:r>
              <a:rPr lang="zh-CN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: Iteratively relaxes protein structures to optimize geometry and stability.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4F4E0B-7336-83C9-F761-E4A29E4B6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163"/>
          <a:stretch/>
        </p:blipFill>
        <p:spPr>
          <a:xfrm>
            <a:off x="531508" y="3994632"/>
            <a:ext cx="5352940" cy="2421691"/>
          </a:xfrm>
          <a:prstGeom prst="rect">
            <a:avLst/>
          </a:prstGeom>
        </p:spPr>
      </p:pic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D2C7D800-FAF4-677E-52F2-11FE061A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4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矩形 25">
            <a:extLst>
              <a:ext uri="{FF2B5EF4-FFF2-40B4-BE49-F238E27FC236}">
                <a16:creationId xmlns:a16="http://schemas.microsoft.com/office/drawing/2014/main" id="{DC7462D0-1EE4-9D2E-FEA5-04C56EB802FE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F1D62D19-1FD9-72EE-DE87-8E6A64662F4F}"/>
              </a:ext>
            </a:extLst>
          </p:cNvPr>
          <p:cNvSpPr txBox="1">
            <a:spLocks/>
          </p:cNvSpPr>
          <p:nvPr/>
        </p:nvSpPr>
        <p:spPr>
          <a:xfrm>
            <a:off x="11813242" y="6556510"/>
            <a:ext cx="3787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lnSpc>
                <a:spcPct val="120000"/>
              </a:lnSpc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pPr/>
              <a:t>4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21995-75BE-8ADB-7D83-801EC34B0D4C}"/>
              </a:ext>
            </a:extLst>
          </p:cNvPr>
          <p:cNvSpPr txBox="1"/>
          <p:nvPr/>
        </p:nvSpPr>
        <p:spPr>
          <a:xfrm>
            <a:off x="1138237" y="6550347"/>
            <a:ext cx="3700462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1" u="none" strike="noStrike">
                <a:solidFill>
                  <a:schemeClr val="bg1"/>
                </a:solidFill>
                <a:effectLst/>
              </a:defRPr>
            </a:lvl1pPr>
          </a:lstStyle>
          <a:p>
            <a:r>
              <a:rPr lang="fr-FR" altLang="zh-CN" i="0" dirty="0" err="1"/>
              <a:t>ChemNet</a:t>
            </a:r>
            <a:r>
              <a:rPr lang="fr-FR" altLang="zh-CN" i="0" dirty="0"/>
              <a:t>: </a:t>
            </a:r>
            <a:r>
              <a:rPr lang="fr-FR" altLang="zh-CN" dirty="0" err="1"/>
              <a:t>bioRxiv</a:t>
            </a:r>
            <a:r>
              <a:rPr lang="fr-FR" altLang="zh-CN" dirty="0"/>
              <a:t> 2024, 2024.09.25.614868.</a:t>
            </a:r>
            <a:endParaRPr lang="zh-CN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ED0B1-D42B-0F44-C290-19EF152B7D30}"/>
              </a:ext>
            </a:extLst>
          </p:cNvPr>
          <p:cNvSpPr txBox="1"/>
          <p:nvPr/>
        </p:nvSpPr>
        <p:spPr>
          <a:xfrm>
            <a:off x="6600525" y="6550347"/>
            <a:ext cx="4774349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dirty="0" err="1">
                <a:solidFill>
                  <a:schemeClr val="bg1"/>
                </a:solidFill>
              </a:rPr>
              <a:t>LigandMPNN</a:t>
            </a:r>
            <a:r>
              <a:rPr lang="en-US" altLang="zh-CN" sz="1400" dirty="0">
                <a:solidFill>
                  <a:schemeClr val="bg1"/>
                </a:solidFill>
              </a:rPr>
              <a:t>: </a:t>
            </a:r>
            <a:r>
              <a:rPr lang="en-US" altLang="zh-CN" sz="1400" i="1" dirty="0" err="1">
                <a:solidFill>
                  <a:schemeClr val="bg1"/>
                </a:solidFill>
              </a:rPr>
              <a:t>bioRxiv</a:t>
            </a:r>
            <a:r>
              <a:rPr lang="en-US" altLang="zh-CN" sz="1400" i="1" dirty="0">
                <a:solidFill>
                  <a:schemeClr val="bg1"/>
                </a:solidFill>
              </a:rPr>
              <a:t> 2023, 2023.12.22.573103.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546979-FD31-CBFA-4FF3-CD1638B07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05" y="3964803"/>
            <a:ext cx="4774350" cy="249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24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Motif scaffolding with generative AI models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D8781121-84F8-F6D8-60FB-5E786E19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5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523B68-C3CB-9F89-964E-2C78346F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791"/>
          <a:stretch/>
        </p:blipFill>
        <p:spPr>
          <a:xfrm>
            <a:off x="6461523" y="953547"/>
            <a:ext cx="4533216" cy="1823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499834-F3ED-353E-4DF1-F4E9A3FC7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20" y="1120720"/>
            <a:ext cx="4612149" cy="55026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3E0C0B1-BCC6-850C-DF2B-69E2ADE3ED6C}"/>
              </a:ext>
            </a:extLst>
          </p:cNvPr>
          <p:cNvSpPr txBox="1"/>
          <p:nvPr/>
        </p:nvSpPr>
        <p:spPr>
          <a:xfrm>
            <a:off x="5264261" y="2871032"/>
            <a:ext cx="6927739" cy="72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Past: crafting an active site to a known protein scaffold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Now: generate a protein backbone containing  specified motifs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181FAE-BB16-2240-6063-01A58F29E4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90"/>
          <a:stretch/>
        </p:blipFill>
        <p:spPr>
          <a:xfrm>
            <a:off x="6461522" y="3599233"/>
            <a:ext cx="4533216" cy="25970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A34B87-375A-E74C-078C-E731D76099DB}"/>
              </a:ext>
            </a:extLst>
          </p:cNvPr>
          <p:cNvSpPr txBox="1"/>
          <p:nvPr/>
        </p:nvSpPr>
        <p:spPr>
          <a:xfrm>
            <a:off x="5264261" y="6198489"/>
            <a:ext cx="6134910" cy="3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Previous designs don’t show good preorganization</a:t>
            </a:r>
          </a:p>
        </p:txBody>
      </p:sp>
    </p:spTree>
    <p:extLst>
      <p:ext uri="{BB962C8B-B14F-4D97-AF65-F5344CB8AC3E}">
        <p14:creationId xmlns:p14="http://schemas.microsoft.com/office/powerpoint/2010/main" val="229058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8" y="161541"/>
            <a:ext cx="8237807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Introduction to serine hydrolases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7" name="AutoShape 8" descr="Pharmaceuticals | Free Full-Text | Synthesis and Anti-Tumor Effects of  Novel Pomalidomide Derivatives Containing Urea Moieties">
            <a:extLst>
              <a:ext uri="{FF2B5EF4-FFF2-40B4-BE49-F238E27FC236}">
                <a16:creationId xmlns:a16="http://schemas.microsoft.com/office/drawing/2014/main" id="{EF88EF64-6BCE-0CC9-9ECF-BCB38F814B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2148" y="29070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791A3A-BEE9-6972-F004-09B3A5FDD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78" b="39750"/>
          <a:stretch/>
        </p:blipFill>
        <p:spPr>
          <a:xfrm>
            <a:off x="1942000" y="1051933"/>
            <a:ext cx="8872787" cy="1960160"/>
          </a:xfrm>
          <a:prstGeom prst="rect">
            <a:avLst/>
          </a:prstGeom>
        </p:spPr>
      </p:pic>
      <p:sp>
        <p:nvSpPr>
          <p:cNvPr id="21" name="文本框 4">
            <a:extLst>
              <a:ext uri="{FF2B5EF4-FFF2-40B4-BE49-F238E27FC236}">
                <a16:creationId xmlns:a16="http://schemas.microsoft.com/office/drawing/2014/main" id="{82D17178-17CF-4E84-9E82-06CD12DD1C94}"/>
              </a:ext>
            </a:extLst>
          </p:cNvPr>
          <p:cNvSpPr txBox="1">
            <a:spLocks/>
          </p:cNvSpPr>
          <p:nvPr/>
        </p:nvSpPr>
        <p:spPr>
          <a:xfrm>
            <a:off x="752272" y="3137103"/>
            <a:ext cx="5405421" cy="22744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Glossary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TI: tetrahedral intermediate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AEI: acyl-enzyme intermediate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ES: enzyme-substrate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4MU: R</a:t>
            </a:r>
            <a:r>
              <a:rPr lang="en-US" altLang="zh-CN" sz="2000" b="0" baseline="-25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-OH, a fluorogenic product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</a:t>
            </a:r>
            <a:r>
              <a:rPr lang="en-US" altLang="zh-CN" sz="1800" b="0" baseline="-25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-acyl: </a:t>
            </a:r>
            <a:r>
              <a:rPr lang="en-US" altLang="zh-CN" dirty="0">
                <a:cs typeface="Times New Roman" panose="02020603050405020304" pitchFamily="18" charset="0"/>
              </a:rPr>
              <a:t>no fluorescence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9C15E2-662D-3978-E1A2-FD15DFA6C128}"/>
              </a:ext>
            </a:extLst>
          </p:cNvPr>
          <p:cNvSpPr txBox="1"/>
          <p:nvPr/>
        </p:nvSpPr>
        <p:spPr>
          <a:xfrm>
            <a:off x="5586637" y="3200600"/>
            <a:ext cx="6456209" cy="323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Theozyme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: a specification of arrangements of catalytic residues around the reaction transition state 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catalytic triad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D/E tunes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pKa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of histidine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H deprotonates serine/water; protonate the product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S attacks the ester carbonyl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oxyanion hole (C=O, Q, T, etc.)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stabilizes the negatively-charged intermediates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灯片编号占位符 1">
            <a:extLst>
              <a:ext uri="{FF2B5EF4-FFF2-40B4-BE49-F238E27FC236}">
                <a16:creationId xmlns:a16="http://schemas.microsoft.com/office/drawing/2014/main" id="{083BD274-36E5-F073-EA96-1DEDEA36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6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矩形 25">
            <a:extLst>
              <a:ext uri="{FF2B5EF4-FFF2-40B4-BE49-F238E27FC236}">
                <a16:creationId xmlns:a16="http://schemas.microsoft.com/office/drawing/2014/main" id="{73947CEE-DCD4-D119-828C-03FF8A3D06CF}"/>
              </a:ext>
            </a:extLst>
          </p:cNvPr>
          <p:cNvSpPr/>
          <p:nvPr/>
        </p:nvSpPr>
        <p:spPr>
          <a:xfrm>
            <a:off x="0" y="6625732"/>
            <a:ext cx="12192000" cy="2322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B1F87DD0-4E6C-40CD-0B4D-E27E52B62FDF}"/>
              </a:ext>
            </a:extLst>
          </p:cNvPr>
          <p:cNvSpPr txBox="1">
            <a:spLocks/>
          </p:cNvSpPr>
          <p:nvPr/>
        </p:nvSpPr>
        <p:spPr>
          <a:xfrm>
            <a:off x="11813242" y="6556510"/>
            <a:ext cx="3787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lnSpc>
                <a:spcPct val="120000"/>
              </a:lnSpc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0485D5-9E03-4020-B25B-C8A61AD6A676}" type="slidenum">
              <a:rPr lang="zh-CN" altLang="en-US" smtClean="0">
                <a:solidFill>
                  <a:schemeClr val="bg1"/>
                </a:solidFill>
              </a:rPr>
              <a:pPr/>
              <a:t>6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EC31D1F-420B-A407-FFED-5FCCA256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656" t="34983" r="1630" b="45971"/>
          <a:stretch/>
        </p:blipFill>
        <p:spPr>
          <a:xfrm>
            <a:off x="3823735" y="5549257"/>
            <a:ext cx="1434634" cy="8484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304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B475-B5EA-9E7C-C750-D64F3E3C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53FB352-99A2-5F68-DCAF-64008CA36CCC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4AAEFFF-D971-F095-5DA3-39BE32217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D8DC6A-E3BC-80DB-73CA-C6B398B58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Methods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EA00B2-CD5E-1237-1746-B7CD2352D6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Overview of the computational design workflow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384F2435-4ECB-F1BB-8C94-FC6E7444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7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4AFDE5-FABD-AB06-B806-5506FBF01EE9}"/>
              </a:ext>
            </a:extLst>
          </p:cNvPr>
          <p:cNvSpPr txBox="1"/>
          <p:nvPr/>
        </p:nvSpPr>
        <p:spPr>
          <a:xfrm>
            <a:off x="1883769" y="940913"/>
            <a:ext cx="4461671" cy="11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ea typeface="楷体" panose="02010609060101010101" pitchFamily="49" charset="-122"/>
                <a:cs typeface="Times New Roman" panose="02020603050405020304" pitchFamily="18" charset="0"/>
              </a:rPr>
              <a:t>Taking the active site from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1scn</a:t>
            </a:r>
            <a:r>
              <a:rPr lang="en-US" altLang="zh-CN" sz="1400" dirty="0"/>
              <a:t> 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ea typeface="楷体" panose="02010609060101010101" pitchFamily="49" charset="-122"/>
                <a:cs typeface="Times New Roman" panose="02020603050405020304" pitchFamily="18" charset="0"/>
              </a:rPr>
              <a:t>Determine Ser-substrate conformation with DFT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Sample other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catalytic</a:t>
            </a:r>
            <a:r>
              <a:rPr lang="en-US" altLang="zh-CN" sz="1400" dirty="0"/>
              <a:t> residues’ conformations that satisfies H bond geometry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375741-8B47-D387-21C5-C6B219E3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088" y="1092095"/>
            <a:ext cx="4306113" cy="5380108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538D8B0C-EA12-7FAF-5076-0A7A09F44A29}"/>
              </a:ext>
            </a:extLst>
          </p:cNvPr>
          <p:cNvSpPr/>
          <p:nvPr/>
        </p:nvSpPr>
        <p:spPr>
          <a:xfrm rot="5400000">
            <a:off x="7795540" y="-142846"/>
            <a:ext cx="209908" cy="31359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56F135-1FDF-E662-0224-9234F41A9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18" t="9901" r="72797" b="52853"/>
          <a:stretch/>
        </p:blipFill>
        <p:spPr>
          <a:xfrm>
            <a:off x="135947" y="1012288"/>
            <a:ext cx="1686128" cy="10016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5081B2-C1DA-BFF8-4456-57283A0F176B}"/>
              </a:ext>
            </a:extLst>
          </p:cNvPr>
          <p:cNvSpPr txBox="1"/>
          <p:nvPr/>
        </p:nvSpPr>
        <p:spPr>
          <a:xfrm>
            <a:off x="1879666" y="3268149"/>
            <a:ext cx="5330758" cy="36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ea typeface="楷体" panose="02010609060101010101" pitchFamily="49" charset="-122"/>
                <a:cs typeface="Times New Roman" panose="02020603050405020304" pitchFamily="18" charset="0"/>
              </a:rPr>
              <a:t>Fix catalytic residues; restrain H bonds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43A5AA6-85C8-C484-3116-3D4081ED67AB}"/>
              </a:ext>
            </a:extLst>
          </p:cNvPr>
          <p:cNvSpPr/>
          <p:nvPr/>
        </p:nvSpPr>
        <p:spPr>
          <a:xfrm rot="5400000">
            <a:off x="6825234" y="2857080"/>
            <a:ext cx="197363" cy="1182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DFB21D-E9FF-8BEB-FEFC-114895ED5704}"/>
              </a:ext>
            </a:extLst>
          </p:cNvPr>
          <p:cNvSpPr txBox="1"/>
          <p:nvPr/>
        </p:nvSpPr>
        <p:spPr>
          <a:xfrm>
            <a:off x="1879666" y="4240931"/>
            <a:ext cx="4306113" cy="11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/>
              <a:t>Compare with standard motifs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/>
              <a:t>global C</a:t>
            </a:r>
            <a:r>
              <a:rPr lang="el-GR" altLang="zh-CN" sz="1400" dirty="0"/>
              <a:t>α </a:t>
            </a:r>
            <a:r>
              <a:rPr lang="en-US" altLang="zh-CN" sz="1400" dirty="0"/>
              <a:t>RMSD &lt; 1.5 Å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 err="1"/>
              <a:t>pLDDT</a:t>
            </a:r>
            <a:r>
              <a:rPr lang="en-US" altLang="zh-CN" sz="1400" dirty="0"/>
              <a:t> &gt; 75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/>
              <a:t>catalytic residue C</a:t>
            </a:r>
            <a:r>
              <a:rPr lang="el-GR" altLang="zh-CN" sz="1400" dirty="0"/>
              <a:t>α </a:t>
            </a:r>
            <a:r>
              <a:rPr lang="en-US" altLang="zh-CN" sz="1400" dirty="0"/>
              <a:t>RMSD &lt; 1.0 Å</a:t>
            </a:r>
            <a:endParaRPr lang="zh-CN" altLang="en-US" sz="14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F476364-DFED-6811-5AC8-805BF2802CDD}"/>
              </a:ext>
            </a:extLst>
          </p:cNvPr>
          <p:cNvSpPr/>
          <p:nvPr/>
        </p:nvSpPr>
        <p:spPr>
          <a:xfrm rot="5400000">
            <a:off x="6838135" y="4242901"/>
            <a:ext cx="197363" cy="1182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45C649-6C84-ED22-58BD-B670625A0B95}"/>
              </a:ext>
            </a:extLst>
          </p:cNvPr>
          <p:cNvSpPr txBox="1"/>
          <p:nvPr/>
        </p:nvSpPr>
        <p:spPr>
          <a:xfrm>
            <a:off x="1879666" y="5514774"/>
            <a:ext cx="4465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/>
              <a:t>50 confs (active site) for each reaction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/>
              <a:t>Frequency of formation of key interactions</a:t>
            </a:r>
            <a:endParaRPr lang="zh-CN" alt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3D1524-DDEB-4735-A76C-6EA66A281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93" y="5355175"/>
            <a:ext cx="1382441" cy="8666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939609-1245-3F4B-2EBB-F7B73601DC8F}"/>
              </a:ext>
            </a:extLst>
          </p:cNvPr>
          <p:cNvSpPr txBox="1"/>
          <p:nvPr/>
        </p:nvSpPr>
        <p:spPr>
          <a:xfrm>
            <a:off x="1879666" y="2554614"/>
            <a:ext cx="4465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/>
              <a:t>Biased toward polar amino acids for all residues with Cα within 8 Å of the active site</a:t>
            </a:r>
            <a:endParaRPr lang="zh-CN" altLang="en-US" sz="16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A4CD0258-D5B9-1F08-9B15-20D33986C3F5}"/>
              </a:ext>
            </a:extLst>
          </p:cNvPr>
          <p:cNvSpPr/>
          <p:nvPr/>
        </p:nvSpPr>
        <p:spPr>
          <a:xfrm rot="5400000">
            <a:off x="6838134" y="2157878"/>
            <a:ext cx="197363" cy="1182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CBCB92-6F1C-84A6-8169-F56ACF8E98EC}"/>
              </a:ext>
            </a:extLst>
          </p:cNvPr>
          <p:cNvSpPr txBox="1"/>
          <p:nvPr/>
        </p:nvSpPr>
        <p:spPr>
          <a:xfrm>
            <a:off x="1879666" y="2166601"/>
            <a:ext cx="3302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/>
              <a:t>Fixing three-residue segment</a:t>
            </a:r>
            <a:endParaRPr lang="zh-CN" altLang="en-US" sz="1600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59EE854-19FC-C1D3-E033-6ECB92F45BBE}"/>
              </a:ext>
            </a:extLst>
          </p:cNvPr>
          <p:cNvSpPr/>
          <p:nvPr/>
        </p:nvSpPr>
        <p:spPr>
          <a:xfrm rot="5203316">
            <a:off x="7269724" y="474612"/>
            <a:ext cx="200736" cy="34461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B1F80B1-6F63-1CE2-4680-D26239C041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132" t="2004" r="28392" b="60720"/>
          <a:stretch/>
        </p:blipFill>
        <p:spPr>
          <a:xfrm>
            <a:off x="144153" y="2631449"/>
            <a:ext cx="1677922" cy="961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3721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9B032-3CFC-2930-E86C-F46119895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27F75A-CC7F-0665-188B-A885FD1C2D56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278937D1-1217-D7DD-D2C5-13A82BF24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0285C6-BD1C-7147-5883-DAF3F0C92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9FABF1-6A61-1095-419A-F84909E71D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Design results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17E094C0-4542-1A26-2A6C-C279C38B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8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FB6B1D-5E5D-BB32-3A3D-BB243272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454"/>
          <a:stretch/>
        </p:blipFill>
        <p:spPr>
          <a:xfrm>
            <a:off x="4700615" y="1142666"/>
            <a:ext cx="7386535" cy="14385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5735D8-71CE-22CD-C7E4-34E4CB415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18514"/>
              </p:ext>
            </p:extLst>
          </p:nvPr>
        </p:nvGraphicFramePr>
        <p:xfrm>
          <a:off x="5097291" y="2956807"/>
          <a:ext cx="6601840" cy="2821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460">
                  <a:extLst>
                    <a:ext uri="{9D8B030D-6E8A-4147-A177-3AD203B41FA5}">
                      <a16:colId xmlns:a16="http://schemas.microsoft.com/office/drawing/2014/main" val="668939938"/>
                    </a:ext>
                  </a:extLst>
                </a:gridCol>
                <a:gridCol w="1650460">
                  <a:extLst>
                    <a:ext uri="{9D8B030D-6E8A-4147-A177-3AD203B41FA5}">
                      <a16:colId xmlns:a16="http://schemas.microsoft.com/office/drawing/2014/main" val="1738893311"/>
                    </a:ext>
                  </a:extLst>
                </a:gridCol>
                <a:gridCol w="1650460">
                  <a:extLst>
                    <a:ext uri="{9D8B030D-6E8A-4147-A177-3AD203B41FA5}">
                      <a16:colId xmlns:a16="http://schemas.microsoft.com/office/drawing/2014/main" val="3861150782"/>
                    </a:ext>
                  </a:extLst>
                </a:gridCol>
                <a:gridCol w="1650460">
                  <a:extLst>
                    <a:ext uri="{9D8B030D-6E8A-4147-A177-3AD203B41FA5}">
                      <a16:colId xmlns:a16="http://schemas.microsoft.com/office/drawing/2014/main" val="3167781126"/>
                    </a:ext>
                  </a:extLst>
                </a:gridCol>
              </a:tblGrid>
              <a:tr h="429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Round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518946"/>
                  </a:ext>
                </a:extLst>
              </a:tr>
              <a:tr h="429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Residues fixed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His, Ser, Ox1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His, Ser, Ox1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All the five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434569"/>
                  </a:ext>
                </a:extLst>
              </a:tr>
              <a:tr h="429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Filter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AF2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AF2+ChemNet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AF2+ChemNet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198562"/>
                  </a:ext>
                </a:extLst>
              </a:tr>
              <a:tr h="671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Experimentally tested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129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192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111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871446"/>
                  </a:ext>
                </a:extLst>
              </a:tr>
              <a:tr h="429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Acylation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7598"/>
                  </a:ext>
                </a:extLst>
              </a:tr>
              <a:tr h="429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turnover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790426"/>
                  </a:ext>
                </a:extLst>
              </a:tr>
            </a:tbl>
          </a:graphicData>
        </a:graphic>
      </p:graphicFrame>
      <p:sp>
        <p:nvSpPr>
          <p:cNvPr id="11" name="文本框 4">
            <a:extLst>
              <a:ext uri="{FF2B5EF4-FFF2-40B4-BE49-F238E27FC236}">
                <a16:creationId xmlns:a16="http://schemas.microsoft.com/office/drawing/2014/main" id="{40C142D7-54E6-38A3-BC79-BF8048B9B17B}"/>
              </a:ext>
            </a:extLst>
          </p:cNvPr>
          <p:cNvSpPr txBox="1">
            <a:spLocks/>
          </p:cNvSpPr>
          <p:nvPr/>
        </p:nvSpPr>
        <p:spPr>
          <a:xfrm>
            <a:off x="191191" y="1226888"/>
            <a:ext cx="4685611" cy="116641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Pretty low success rate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More restraint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→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higher success rate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The two successful designs 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↓</a:t>
            </a: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0807AFD-981D-9FE1-A549-623F8E8BA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809921"/>
              </p:ext>
            </p:extLst>
          </p:nvPr>
        </p:nvGraphicFramePr>
        <p:xfrm>
          <a:off x="376136" y="2956806"/>
          <a:ext cx="4143981" cy="2821423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81327">
                  <a:extLst>
                    <a:ext uri="{9D8B030D-6E8A-4147-A177-3AD203B41FA5}">
                      <a16:colId xmlns:a16="http://schemas.microsoft.com/office/drawing/2014/main" val="2860439014"/>
                    </a:ext>
                  </a:extLst>
                </a:gridCol>
                <a:gridCol w="1381327">
                  <a:extLst>
                    <a:ext uri="{9D8B030D-6E8A-4147-A177-3AD203B41FA5}">
                      <a16:colId xmlns:a16="http://schemas.microsoft.com/office/drawing/2014/main" val="3094858528"/>
                    </a:ext>
                  </a:extLst>
                </a:gridCol>
                <a:gridCol w="1381327">
                  <a:extLst>
                    <a:ext uri="{9D8B030D-6E8A-4147-A177-3AD203B41FA5}">
                      <a16:colId xmlns:a16="http://schemas.microsoft.com/office/drawing/2014/main" val="2164258545"/>
                    </a:ext>
                  </a:extLst>
                </a:gridCol>
              </a:tblGrid>
              <a:tr h="38916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Metric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Super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Win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299757"/>
                  </a:ext>
                </a:extLst>
              </a:tr>
              <a:tr h="681033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kcat/Km (M⁻¹ s⁻¹)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15683"/>
                  </a:ext>
                </a:extLst>
              </a:tr>
              <a:tr h="681033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kcat (s⁻¹)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0.00137 ± 0.00005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0.00117 ± 0.00003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3289"/>
                  </a:ext>
                </a:extLst>
              </a:tr>
              <a:tr h="389162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Km (</a:t>
                      </a:r>
                      <a:r>
                        <a:rPr lang="el-GR" b="1"/>
                        <a:t>μ</a:t>
                      </a:r>
                      <a:r>
                        <a:rPr lang="en-US" b="1"/>
                        <a:t>M)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64 ±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2.8 ± 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64233"/>
                  </a:ext>
                </a:extLst>
              </a:tr>
              <a:tr h="681033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Preferred Substrate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4MU-Bu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4MU-Ac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667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22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C8E673-760A-740A-BC6A-8396FB37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45FB4F3-5656-8E3E-2518-226190EC7338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916A8A8B-09AE-3FBA-247D-CE6774FF9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A8EB7A4-C9A6-30A2-9E17-E3E67B0BD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EC2C9C-73E7-8EB1-D486-F742D564EB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Design results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5F1699E-93BD-440C-2FAA-AEB57088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9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972C5-5955-B468-D2E4-E7B137A2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91454"/>
            <a:ext cx="6448818" cy="587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B872-45BA-B111-2E77-37B5B915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6EBD961-5F48-9C2E-9D95-84A6AAE91E93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0F3B0D19-3F6C-764F-2BFB-1BDE8A75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71D165-E4B5-FB32-C969-1C32B2349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02A4DA-64B0-1373-1078-D599D065C8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Compare the design with crystal structure (apo)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5D94604D-99EF-02A3-32C3-E337363A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10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7C35E7F2-39D9-29F4-A185-BE4C42E31A10}"/>
              </a:ext>
            </a:extLst>
          </p:cNvPr>
          <p:cNvSpPr txBox="1">
            <a:spLocks/>
          </p:cNvSpPr>
          <p:nvPr/>
        </p:nvSpPr>
        <p:spPr>
          <a:xfrm>
            <a:off x="314406" y="1226888"/>
            <a:ext cx="10632454" cy="7970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Correspondence of side chains even without the substrate (good preorganization!)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Explains the substrate selectivity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8B02CE-D94C-811C-F71C-421CBC267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21" y="2454093"/>
            <a:ext cx="5266407" cy="36808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B29541-47A3-9536-7F9F-9E81987355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8"/>
          <a:stretch/>
        </p:blipFill>
        <p:spPr>
          <a:xfrm>
            <a:off x="6345125" y="2454094"/>
            <a:ext cx="5475323" cy="36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73EA-0A45-A831-E7E0-0DA04A5F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1A15AAD-560D-E648-6E86-CB42468E98E7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357CFD68-FEE2-0F8F-5750-33871B540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9D2B19-7E90-5864-A752-0D66C0CB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E9737F-14BB-8186-BD06-0FB29026B5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8" y="161541"/>
            <a:ext cx="7602505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Redesign “win” sequence with more preorganization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A53D0C7-9344-7625-7563-181FBF56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11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C8E296-19FF-56B1-A7E9-B3E4CFA0B30F}"/>
              </a:ext>
            </a:extLst>
          </p:cNvPr>
          <p:cNvGrpSpPr>
            <a:grpSpLocks noChangeAspect="1"/>
          </p:cNvGrpSpPr>
          <p:nvPr/>
        </p:nvGrpSpPr>
        <p:grpSpPr>
          <a:xfrm>
            <a:off x="5285969" y="1517359"/>
            <a:ext cx="6766616" cy="4493493"/>
            <a:chOff x="3960777" y="1210600"/>
            <a:chExt cx="8050245" cy="534591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57C8EE-999A-E23C-8E36-4BD3E95CC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0777" y="1210600"/>
              <a:ext cx="8041843" cy="391510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1CE394-73C3-286E-F680-D87657059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0777" y="5185886"/>
              <a:ext cx="8050245" cy="1370624"/>
            </a:xfrm>
            <a:prstGeom prst="rect">
              <a:avLst/>
            </a:prstGeom>
          </p:spPr>
        </p:pic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95AD01-FB34-2FCA-36D9-6A3CFACCB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04710"/>
              </p:ext>
            </p:extLst>
          </p:nvPr>
        </p:nvGraphicFramePr>
        <p:xfrm>
          <a:off x="351082" y="1517359"/>
          <a:ext cx="4504937" cy="19202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36841">
                  <a:extLst>
                    <a:ext uri="{9D8B030D-6E8A-4147-A177-3AD203B41FA5}">
                      <a16:colId xmlns:a16="http://schemas.microsoft.com/office/drawing/2014/main" val="325331771"/>
                    </a:ext>
                  </a:extLst>
                </a:gridCol>
                <a:gridCol w="1361859">
                  <a:extLst>
                    <a:ext uri="{9D8B030D-6E8A-4147-A177-3AD203B41FA5}">
                      <a16:colId xmlns:a16="http://schemas.microsoft.com/office/drawing/2014/main" val="3875024884"/>
                    </a:ext>
                  </a:extLst>
                </a:gridCol>
                <a:gridCol w="1406237">
                  <a:extLst>
                    <a:ext uri="{9D8B030D-6E8A-4147-A177-3AD203B41FA5}">
                      <a16:colId xmlns:a16="http://schemas.microsoft.com/office/drawing/2014/main" val="561372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Metric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Two-state filtered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Four-state filtered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47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Success Rate (FP-probe)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84% (38/45 designs)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91% (10/11 designs)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82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Number with Higher </a:t>
                      </a:r>
                      <a:r>
                        <a:rPr lang="en-US" b="0" dirty="0" err="1"/>
                        <a:t>kcat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48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88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25FA-758B-789D-C34A-51E40448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8CDCA13-0B63-61F6-B015-EF30FAD2F7D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2E093338-D9F0-0A2A-2111-31690687A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05A73D-9237-9E57-3E88-9C2ADA164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CDFD78-8D21-CEA8-1A8F-216A9F0C13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Filtering based on catalytic geometry in all four states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92E66AF-C912-44F9-B4CF-38013B89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12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2A0356-522E-4211-9E66-E984B660A50E}"/>
              </a:ext>
            </a:extLst>
          </p:cNvPr>
          <p:cNvGrpSpPr>
            <a:grpSpLocks noChangeAspect="1"/>
          </p:cNvGrpSpPr>
          <p:nvPr/>
        </p:nvGrpSpPr>
        <p:grpSpPr>
          <a:xfrm>
            <a:off x="5228012" y="1552041"/>
            <a:ext cx="6585230" cy="4343068"/>
            <a:chOff x="3960777" y="1247241"/>
            <a:chExt cx="8050245" cy="53092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A949DE-5DD5-15C3-9AA2-34B705890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60778" y="1247241"/>
              <a:ext cx="8041843" cy="388073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7F70A8-5C6B-752B-375B-B3F982A70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0777" y="5185886"/>
              <a:ext cx="8050245" cy="1370624"/>
            </a:xfrm>
            <a:prstGeom prst="rect">
              <a:avLst/>
            </a:prstGeom>
          </p:spPr>
        </p:pic>
      </p:grpSp>
      <p:sp>
        <p:nvSpPr>
          <p:cNvPr id="10" name="文本框 4">
            <a:extLst>
              <a:ext uri="{FF2B5EF4-FFF2-40B4-BE49-F238E27FC236}">
                <a16:creationId xmlns:a16="http://schemas.microsoft.com/office/drawing/2014/main" id="{D0236A7B-4EC2-F856-C0EA-F36B88F1ED3D}"/>
              </a:ext>
            </a:extLst>
          </p:cNvPr>
          <p:cNvSpPr txBox="1">
            <a:spLocks/>
          </p:cNvSpPr>
          <p:nvPr/>
        </p:nvSpPr>
        <p:spPr>
          <a:xfrm>
            <a:off x="314406" y="1226888"/>
            <a:ext cx="4659376" cy="52290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stringent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ChemNet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filtering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G-J: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Starting from round 3 backbones that had not previously displayed esterase activity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Two of 20 designs tested displayed significant esterase activity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K: 4MU-phenylacetate 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 different active site configuration in which the oxyanion hole consists of two backbone amide hydrogen bond donors</a:t>
            </a:r>
          </a:p>
        </p:txBody>
      </p:sp>
    </p:spTree>
    <p:extLst>
      <p:ext uri="{BB962C8B-B14F-4D97-AF65-F5344CB8AC3E}">
        <p14:creationId xmlns:p14="http://schemas.microsoft.com/office/powerpoint/2010/main" val="88310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0FA5-B1FB-A722-0212-8AA5C38E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4A9E13-E08C-E5A1-4CF9-A8A00511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6"/>
          <a:stretch/>
        </p:blipFill>
        <p:spPr>
          <a:xfrm>
            <a:off x="5595998" y="916175"/>
            <a:ext cx="6406623" cy="582567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94DAA8E-9216-C607-B5C9-52F7CE60F082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44AB7ED1-C8B0-9B79-639E-F121CED1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E61CF02-E31A-BEBD-0292-8E11A7828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63A60-810C-2324-5213-8C3D35A341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Structural determinants of catalysis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8705C91D-796F-9D83-246B-43598618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13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E08C4052-0D48-87DE-B8C4-1D395F5E9504}"/>
              </a:ext>
            </a:extLst>
          </p:cNvPr>
          <p:cNvSpPr txBox="1">
            <a:spLocks/>
          </p:cNvSpPr>
          <p:nvPr/>
        </p:nvSpPr>
        <p:spPr>
          <a:xfrm>
            <a:off x="314406" y="1226888"/>
            <a:ext cx="4893134" cy="375173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Analyzing all experimentally tested designs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All designs capable of catalyzing turnover displayed highly preorganized Ser-His H-bonds across all four states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Good geometry (H bond, etc.) is a </a:t>
            </a:r>
            <a:r>
              <a:rPr lang="en-US" altLang="zh-CN" sz="2000" b="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</a:rPr>
              <a:t>necessary but not sufficient conditions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for catalytic activity</a:t>
            </a:r>
          </a:p>
        </p:txBody>
      </p:sp>
    </p:spTree>
    <p:extLst>
      <p:ext uri="{BB962C8B-B14F-4D97-AF65-F5344CB8AC3E}">
        <p14:creationId xmlns:p14="http://schemas.microsoft.com/office/powerpoint/2010/main" val="3227157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Summary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Take-home messages &amp; thoughts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D8781121-84F8-F6D8-60FB-5E786E19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14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文本框 4">
            <a:extLst>
              <a:ext uri="{FF2B5EF4-FFF2-40B4-BE49-F238E27FC236}">
                <a16:creationId xmlns:a16="http://schemas.microsoft.com/office/drawing/2014/main" id="{CB43B3A2-FECF-FA0B-1657-825FF6F3BDAE}"/>
              </a:ext>
            </a:extLst>
          </p:cNvPr>
          <p:cNvSpPr txBox="1">
            <a:spLocks/>
          </p:cNvSpPr>
          <p:nvPr/>
        </p:nvSpPr>
        <p:spPr>
          <a:xfrm>
            <a:off x="516221" y="1162558"/>
            <a:ext cx="11159557" cy="552452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Results and Limitations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far higher than previously reported catalytic triad-based serine hydrolase designs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able to design enzymes for any scaffold</a:t>
            </a:r>
            <a:endParaRPr lang="en-US" altLang="zh-CN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still orders of magnitude slower than native hydrolases (3.8 x 10</a:t>
            </a:r>
            <a:r>
              <a:rPr lang="en-US" altLang="zh-CN" b="0" baseline="30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3</a:t>
            </a: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) 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the oxyanion hole identities and geometries differ slightly from those in native structures (for some, mutation does not affect the activity)</a:t>
            </a: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Inspirations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motif scaffolding works better than traditional scaffold searching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still strictly following natural designs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the catalytic residues themselves might not be enough…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t</a:t>
            </a: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he more restraint added, t</a:t>
            </a:r>
            <a:r>
              <a:rPr lang="en-US" altLang="zh-CN" dirty="0">
                <a:cs typeface="Times New Roman" panose="02020603050405020304" pitchFamily="18" charset="0"/>
              </a:rPr>
              <a:t>he better success rate is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enzymes are intricate machines; more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mechanism studies are required…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zh-CN" altLang="en-US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46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A8D3A-1FBA-6380-36E8-D424F4CE542F}"/>
              </a:ext>
            </a:extLst>
          </p:cNvPr>
          <p:cNvSpPr/>
          <p:nvPr/>
        </p:nvSpPr>
        <p:spPr>
          <a:xfrm>
            <a:off x="6561845" y="1997918"/>
            <a:ext cx="5091189" cy="29510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/>
                <a:ea typeface="微软雅黑"/>
                <a:cs typeface="+mn-cs"/>
              </a:rPr>
              <a:t>Thanks for listening!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F1402-FBB0-F5DE-2F5C-0FC8F56B3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451" y="1647296"/>
            <a:ext cx="5605190" cy="380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705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75958</TotalTime>
  <Words>1030</Words>
  <Application>Microsoft Office PowerPoint</Application>
  <PresentationFormat>Widescreen</PresentationFormat>
  <Paragraphs>213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楷体</vt:lpstr>
      <vt:lpstr>Arial</vt:lpstr>
      <vt:lpstr>Helvetica</vt:lpstr>
      <vt:lpstr>Times New Roman</vt:lpstr>
      <vt:lpstr>Wingdings</vt:lpstr>
      <vt:lpstr>1_Office 主题​​</vt:lpstr>
      <vt:lpstr>Office 主题​​</vt:lpstr>
      <vt:lpstr>PowerPoint Presentation</vt:lpstr>
      <vt:lpstr>Authors</vt:lpstr>
      <vt:lpstr>Theoretical basis of computational enzyme design</vt:lpstr>
      <vt:lpstr>Computational tools used in this work</vt:lpstr>
      <vt:lpstr>Motif scaffolding with generative AI models</vt:lpstr>
      <vt:lpstr>Introduction to serine hydrolases </vt:lpstr>
      <vt:lpstr>Overview of the computational design workflow</vt:lpstr>
      <vt:lpstr>Design results</vt:lpstr>
      <vt:lpstr>Design results</vt:lpstr>
      <vt:lpstr>Compare the design with crystal structure (apo)</vt:lpstr>
      <vt:lpstr>Redesign “win” sequence with more preorganization</vt:lpstr>
      <vt:lpstr>Filtering based on catalytic geometry in all four states </vt:lpstr>
      <vt:lpstr>Structural determinants of catalysis</vt:lpstr>
      <vt:lpstr>Take-home messages &amp;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Zhang</dc:creator>
  <cp:lastModifiedBy>Xufan Gao</cp:lastModifiedBy>
  <cp:revision>1472</cp:revision>
  <cp:lastPrinted>2023-11-24T12:45:53Z</cp:lastPrinted>
  <dcterms:created xsi:type="dcterms:W3CDTF">2022-01-23T03:13:32Z</dcterms:created>
  <dcterms:modified xsi:type="dcterms:W3CDTF">2024-12-17T10:27:55Z</dcterms:modified>
</cp:coreProperties>
</file>