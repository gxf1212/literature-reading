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48" r:id="rId2"/>
  </p:sldMasterIdLst>
  <p:notesMasterIdLst>
    <p:notesMasterId r:id="rId13"/>
  </p:notesMasterIdLst>
  <p:sldIdLst>
    <p:sldId id="1827" r:id="rId3"/>
    <p:sldId id="1814" r:id="rId4"/>
    <p:sldId id="1836" r:id="rId5"/>
    <p:sldId id="2417" r:id="rId6"/>
    <p:sldId id="1843" r:id="rId7"/>
    <p:sldId id="2421" r:id="rId8"/>
    <p:sldId id="2423" r:id="rId9"/>
    <p:sldId id="2418" r:id="rId10"/>
    <p:sldId id="2419" r:id="rId11"/>
    <p:sldId id="1698"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472C4"/>
    <a:srgbClr val="ED7D31"/>
    <a:srgbClr val="0E100D"/>
    <a:srgbClr val="CC93CA"/>
    <a:srgbClr val="FFFFFF"/>
    <a:srgbClr val="E3A01D"/>
    <a:srgbClr val="F3B5F4"/>
    <a:srgbClr val="7FC1DD"/>
    <a:srgbClr val="FDDD51"/>
    <a:srgbClr val="AC7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81" autoAdjust="0"/>
    <p:restoredTop sz="88871" autoAdjust="0"/>
  </p:normalViewPr>
  <p:slideViewPr>
    <p:cSldViewPr snapToGrid="0">
      <p:cViewPr varScale="1">
        <p:scale>
          <a:sx n="98" d="100"/>
          <a:sy n="98" d="100"/>
        </p:scale>
        <p:origin x="552" y="5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1" d="100"/>
          <a:sy n="51" d="100"/>
        </p:scale>
        <p:origin x="2692"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F6E25A-B3D6-0642-A12C-D7878380EBD2}" type="datetimeFigureOut">
              <a:rPr kumimoji="1" lang="zh-CN" altLang="en-US" smtClean="0"/>
              <a:t>2024/7/9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A154B1-2FE7-2C40-9A46-2D9422D3E601}" type="slidenum">
              <a:rPr kumimoji="1" lang="zh-CN" altLang="en-US" smtClean="0"/>
              <a:t>‹#›</a:t>
            </a:fld>
            <a:endParaRPr kumimoji="1" lang="zh-CN" altLang="en-US"/>
          </a:p>
        </p:txBody>
      </p:sp>
    </p:spTree>
    <p:extLst>
      <p:ext uri="{BB962C8B-B14F-4D97-AF65-F5344CB8AC3E}">
        <p14:creationId xmlns:p14="http://schemas.microsoft.com/office/powerpoint/2010/main" val="2429456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doi.org/10.1016/j.tcb.2018.07.002"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2CA154B1-2FE7-2C40-9A46-2D9422D3E601}" type="slidenum">
              <a:rPr kumimoji="1" lang="zh-CN" altLang="en-US" smtClean="0"/>
              <a:t>1</a:t>
            </a:fld>
            <a:endParaRPr kumimoji="1" lang="zh-CN" altLang="en-US"/>
          </a:p>
        </p:txBody>
      </p:sp>
    </p:spTree>
    <p:extLst>
      <p:ext uri="{BB962C8B-B14F-4D97-AF65-F5344CB8AC3E}">
        <p14:creationId xmlns:p14="http://schemas.microsoft.com/office/powerpoint/2010/main" val="35454466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https://lilab-ecust.cn/home/member/hlli.html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https://pharmacy.ecust.edu.cn/2869/list.htm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https://pharmacy.ecust.edu.cn/2018/0920/c9874a79649/page.htmhttps://pharmacy.ecust.edu.cn/2018/0920/c9874a79649/page.htm</a:t>
            </a: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2</a:t>
            </a:fld>
            <a:endParaRPr kumimoji="1" lang="zh-CN" altLang="en-US"/>
          </a:p>
        </p:txBody>
      </p:sp>
    </p:spTree>
    <p:extLst>
      <p:ext uri="{BB962C8B-B14F-4D97-AF65-F5344CB8AC3E}">
        <p14:creationId xmlns:p14="http://schemas.microsoft.com/office/powerpoint/2010/main" val="2774601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u="none" strike="noStrike" dirty="0">
                <a:effectLst/>
                <a:highlight>
                  <a:srgbClr val="007DBC"/>
                </a:highlight>
                <a:latin typeface="helvetica" panose="020B0604020202020204" pitchFamily="34" charset="0"/>
                <a:hlinkClick r:id="rId3"/>
              </a:rPr>
              <a:t>https://doi.org/10.1016/j.tcb.2018.07.002</a:t>
            </a:r>
            <a:endParaRPr lang="en-US" altLang="zh-CN" b="0" i="0" u="none" strike="noStrike" dirty="0">
              <a:effectLst/>
              <a:highlight>
                <a:srgbClr val="007DBC"/>
              </a:highlight>
              <a:latin typeface="helvetica"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u="none" strike="noStrike" dirty="0">
                <a:effectLst/>
                <a:highlight>
                  <a:srgbClr val="007DBC"/>
                </a:highlight>
                <a:latin typeface="helvetica" panose="020B0604020202020204" pitchFamily="34" charset="0"/>
              </a:rPr>
              <a:t>低亲和力，突变</a:t>
            </a:r>
            <a:r>
              <a:rPr lang="en-US" altLang="zh-CN" b="0" i="0" u="none" strike="noStrike" dirty="0">
                <a:effectLst/>
                <a:highlight>
                  <a:srgbClr val="007DBC"/>
                </a:highlight>
                <a:latin typeface="helvetica" panose="020B0604020202020204" pitchFamily="34" charset="0"/>
              </a:rPr>
              <a:t>/</a:t>
            </a:r>
            <a:r>
              <a:rPr lang="zh-CN" altLang="en-US" b="0" i="0" u="none" strike="noStrike" dirty="0">
                <a:effectLst/>
                <a:highlight>
                  <a:srgbClr val="007DBC"/>
                </a:highlight>
                <a:latin typeface="helvetica" panose="020B0604020202020204" pitchFamily="34" charset="0"/>
              </a:rPr>
              <a:t>过表达</a:t>
            </a:r>
            <a:r>
              <a:rPr lang="en-US" altLang="zh-CN" b="0" i="0" u="none" strike="noStrike" dirty="0">
                <a:effectLst/>
                <a:highlight>
                  <a:srgbClr val="007DBC"/>
                </a:highlight>
                <a:latin typeface="helvetica" panose="020B0604020202020204" pitchFamily="34" charset="0"/>
              </a:rPr>
              <a:t>/</a:t>
            </a:r>
            <a:r>
              <a:rPr lang="zh-CN" altLang="en-US" b="0" i="0" u="none" strike="noStrike" dirty="0">
                <a:effectLst/>
                <a:highlight>
                  <a:srgbClr val="007DBC"/>
                </a:highlight>
                <a:latin typeface="helvetica" panose="020B0604020202020204" pitchFamily="34" charset="0"/>
              </a:rPr>
              <a:t>口袋依赖，选择性（还要结合</a:t>
            </a:r>
            <a:r>
              <a:rPr lang="en-US" altLang="zh-CN" b="0" i="0" u="none" strike="noStrike" dirty="0">
                <a:effectLst/>
                <a:highlight>
                  <a:srgbClr val="007DBC"/>
                </a:highlight>
                <a:latin typeface="helvetica" panose="020B0604020202020204" pitchFamily="34" charset="0"/>
              </a:rPr>
              <a:t>E3</a:t>
            </a:r>
            <a:r>
              <a:rPr lang="zh-CN" altLang="en-US" b="0" i="0" u="none" strike="noStrike" dirty="0">
                <a:effectLst/>
                <a:highlight>
                  <a:srgbClr val="007DBC"/>
                </a:highlight>
                <a:latin typeface="helvetica" panose="020B0604020202020204" pitchFamily="34" charset="0"/>
              </a:rPr>
              <a:t>），不可成药</a:t>
            </a:r>
            <a:endParaRPr lang="en-US" altLang="zh-CN" b="0" i="0" u="none" strike="noStrike" dirty="0">
              <a:effectLst/>
              <a:highlight>
                <a:srgbClr val="007DBC"/>
              </a:highlight>
              <a:latin typeface="helvetica"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effectLst/>
                <a:highlight>
                  <a:srgbClr val="FFFFFF"/>
                </a:highlight>
                <a:latin typeface="system-ui"/>
              </a:rPr>
              <a:t>HR+/HER2-</a:t>
            </a:r>
            <a:endParaRPr lang="zh-CN" altLang="en-US" b="0"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3</a:t>
            </a:fld>
            <a:endParaRPr kumimoji="1" lang="zh-CN" altLang="en-US"/>
          </a:p>
        </p:txBody>
      </p:sp>
    </p:spTree>
    <p:extLst>
      <p:ext uri="{BB962C8B-B14F-4D97-AF65-F5344CB8AC3E}">
        <p14:creationId xmlns:p14="http://schemas.microsoft.com/office/powerpoint/2010/main" val="771555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u="none" strike="noStrike" dirty="0">
                <a:effectLst/>
                <a:highlight>
                  <a:srgbClr val="007DBC"/>
                </a:highlight>
                <a:latin typeface="+mn-ea"/>
                <a:ea typeface="+mn-ea"/>
              </a:rPr>
              <a:t>https://www.uspharmacist.com/article/a-review-of-cdk4-6-inhibitors</a:t>
            </a:r>
            <a:br>
              <a:rPr lang="zh-CN" altLang="en-US" dirty="0">
                <a:latin typeface="+mn-ea"/>
                <a:ea typeface="+mn-ea"/>
              </a:rPr>
            </a:br>
            <a:r>
              <a:rPr lang="zh-CN" altLang="en-US" b="0" i="0" dirty="0">
                <a:solidFill>
                  <a:srgbClr val="1F1F1F"/>
                </a:solidFill>
                <a:effectLst/>
                <a:highlight>
                  <a:srgbClr val="FFFFFF"/>
                </a:highlight>
                <a:latin typeface="+mn-ea"/>
                <a:ea typeface="+mn-ea"/>
              </a:rPr>
              <a:t>帕布昔利布</a:t>
            </a:r>
            <a:r>
              <a:rPr lang="zh-CN" altLang="en-US" b="0" i="0" dirty="0">
                <a:solidFill>
                  <a:srgbClr val="4D5156"/>
                </a:solidFill>
                <a:effectLst/>
                <a:highlight>
                  <a:srgbClr val="FFFFFF"/>
                </a:highlight>
                <a:latin typeface="+mn-ea"/>
                <a:ea typeface="+mn-ea"/>
              </a:rPr>
              <a:t>是首个被批准作为癌症疗法的</a:t>
            </a:r>
            <a:r>
              <a:rPr lang="en-US" altLang="zh-CN" b="0" i="0" dirty="0">
                <a:solidFill>
                  <a:srgbClr val="4D5156"/>
                </a:solidFill>
                <a:effectLst/>
                <a:highlight>
                  <a:srgbClr val="FFFFFF"/>
                </a:highlight>
                <a:latin typeface="+mn-ea"/>
                <a:ea typeface="+mn-ea"/>
              </a:rPr>
              <a:t>CDK4 / 6</a:t>
            </a:r>
            <a:r>
              <a:rPr lang="zh-CN" altLang="en-US" b="0" i="0" dirty="0">
                <a:solidFill>
                  <a:srgbClr val="4D5156"/>
                </a:solidFill>
                <a:effectLst/>
                <a:highlight>
                  <a:srgbClr val="FFFFFF"/>
                </a:highlight>
                <a:latin typeface="+mn-ea"/>
                <a:ea typeface="+mn-ea"/>
              </a:rPr>
              <a:t>抑制剂。</a:t>
            </a:r>
            <a:br>
              <a:rPr lang="zh-CN" altLang="en-US" dirty="0"/>
            </a:br>
            <a:r>
              <a:rPr lang="en-US" altLang="zh-CN" dirty="0"/>
              <a:t>CRBN</a:t>
            </a:r>
            <a:r>
              <a:rPr lang="zh-CN" altLang="en-US" dirty="0"/>
              <a:t>，核内外都有</a:t>
            </a:r>
            <a:endParaRPr lang="zh-CN" altLang="en-US" b="0" dirty="0">
              <a:latin typeface="+mn-ea"/>
              <a:ea typeface="+mn-ea"/>
            </a:endParaRPr>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4</a:t>
            </a:fld>
            <a:endParaRPr kumimoji="1" lang="zh-CN" altLang="en-US"/>
          </a:p>
        </p:txBody>
      </p:sp>
    </p:spTree>
    <p:extLst>
      <p:ext uri="{BB962C8B-B14F-4D97-AF65-F5344CB8AC3E}">
        <p14:creationId xmlns:p14="http://schemas.microsoft.com/office/powerpoint/2010/main" val="1478988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5</a:t>
            </a:fld>
            <a:endParaRPr kumimoji="1" lang="zh-CN" altLang="en-US"/>
          </a:p>
        </p:txBody>
      </p:sp>
    </p:spTree>
    <p:extLst>
      <p:ext uri="{BB962C8B-B14F-4D97-AF65-F5344CB8AC3E}">
        <p14:creationId xmlns:p14="http://schemas.microsoft.com/office/powerpoint/2010/main" val="825527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6</a:t>
            </a:fld>
            <a:endParaRPr kumimoji="1" lang="zh-CN" altLang="en-US"/>
          </a:p>
        </p:txBody>
      </p:sp>
    </p:spTree>
    <p:extLst>
      <p:ext uri="{BB962C8B-B14F-4D97-AF65-F5344CB8AC3E}">
        <p14:creationId xmlns:p14="http://schemas.microsoft.com/office/powerpoint/2010/main" val="2558450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7</a:t>
            </a:fld>
            <a:endParaRPr kumimoji="1" lang="zh-CN" altLang="en-US"/>
          </a:p>
        </p:txBody>
      </p:sp>
    </p:spTree>
    <p:extLst>
      <p:ext uri="{BB962C8B-B14F-4D97-AF65-F5344CB8AC3E}">
        <p14:creationId xmlns:p14="http://schemas.microsoft.com/office/powerpoint/2010/main" val="2925364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8</a:t>
            </a:fld>
            <a:endParaRPr kumimoji="1" lang="zh-CN" altLang="en-US"/>
          </a:p>
        </p:txBody>
      </p:sp>
    </p:spTree>
    <p:extLst>
      <p:ext uri="{BB962C8B-B14F-4D97-AF65-F5344CB8AC3E}">
        <p14:creationId xmlns:p14="http://schemas.microsoft.com/office/powerpoint/2010/main" val="40438608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474747"/>
                </a:solidFill>
                <a:effectLst/>
                <a:highlight>
                  <a:srgbClr val="FFFFFF"/>
                </a:highlight>
                <a:latin typeface="Google Sans"/>
              </a:rPr>
              <a:t>PARP-1-mediated cell death </a:t>
            </a:r>
            <a:r>
              <a:rPr lang="en-US" altLang="zh-CN" b="0" i="0" dirty="0">
                <a:solidFill>
                  <a:srgbClr val="040C28"/>
                </a:solidFill>
                <a:effectLst/>
                <a:highlight>
                  <a:srgbClr val="D3E3FD"/>
                </a:highlight>
                <a:latin typeface="Google Sans"/>
              </a:rPr>
              <a:t>initiates from the damage of chromosomal DNA and activation of a signal cascade that terminates with large scale DNA cleavage and pyknotic nuclei</a:t>
            </a:r>
            <a:r>
              <a:rPr lang="en-US" altLang="zh-CN" b="0" i="0" dirty="0">
                <a:solidFill>
                  <a:srgbClr val="474747"/>
                </a:solidFill>
                <a:effectLst/>
                <a:highlight>
                  <a:srgbClr val="FFFFFF"/>
                </a:highlight>
                <a:latin typeface="Google San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040C28"/>
                </a:solidFill>
                <a:effectLst/>
                <a:highlight>
                  <a:srgbClr val="D3E3FD"/>
                </a:highlight>
                <a:latin typeface="Google Sans"/>
              </a:rPr>
              <a:t>PARP had been cleaved by caspase-3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t>B525-FITC-A</a:t>
            </a:r>
            <a:r>
              <a:rPr lang="en-US" altLang="zh-CN" dirty="0"/>
              <a:t>: Represents the fluorescence intensity of FITC (fluorescein isothiocyanate) detected at 525 nm. FITC is commonly used to label Annexin V, which binds to phosphatidylserine exposed on the outer leaflet of the cell membrane during early apoptosis.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t>Y585-PE-A</a:t>
            </a:r>
            <a:r>
              <a:rPr lang="en-US" altLang="zh-CN" dirty="0"/>
              <a:t>: Represents the fluorescence intensity of PE (phycoerythrin) detected at 585 nm. PE is often used to label propidium iodide (PI), which stains the DNA of cells with compromised membranes, indicating late apoptosis or necrosis.</a:t>
            </a: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9</a:t>
            </a:fld>
            <a:endParaRPr kumimoji="1" lang="zh-CN" altLang="en-US"/>
          </a:p>
        </p:txBody>
      </p:sp>
    </p:spTree>
    <p:extLst>
      <p:ext uri="{BB962C8B-B14F-4D97-AF65-F5344CB8AC3E}">
        <p14:creationId xmlns:p14="http://schemas.microsoft.com/office/powerpoint/2010/main" val="40173070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2CA154B1-2FE7-2C40-9A46-2D9422D3E601}" type="slidenum">
              <a:rPr kumimoji="1" lang="zh-CN" altLang="en-US" smtClean="0"/>
              <a:t>10</a:t>
            </a:fld>
            <a:endParaRPr kumimoji="1" lang="zh-CN" altLang="en-US"/>
          </a:p>
        </p:txBody>
      </p:sp>
    </p:spTree>
    <p:extLst>
      <p:ext uri="{BB962C8B-B14F-4D97-AF65-F5344CB8AC3E}">
        <p14:creationId xmlns:p14="http://schemas.microsoft.com/office/powerpoint/2010/main" val="2534115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D0F09C09-57F0-401E-914C-55AD4EC2FB2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p>
        </p:txBody>
      </p:sp>
      <p:sp>
        <p:nvSpPr>
          <p:cNvPr id="3" name="副标题 2">
            <a:extLst>
              <a:ext uri="{FF2B5EF4-FFF2-40B4-BE49-F238E27FC236}">
                <a16:creationId xmlns:a16="http://schemas.microsoft.com/office/drawing/2014/main" id="{EECB730A-D6A8-4367-9340-6163539998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AA7AA53-DF53-41D5-890D-1E77B922FA7F}"/>
              </a:ext>
            </a:extLst>
          </p:cNvPr>
          <p:cNvSpPr>
            <a:spLocks noGrp="1"/>
          </p:cNvSpPr>
          <p:nvPr>
            <p:ph type="dt" sz="half" idx="10"/>
          </p:nvPr>
        </p:nvSpPr>
        <p:spPr/>
        <p:txBody>
          <a:bodyPr/>
          <a:lstStyle/>
          <a:p>
            <a:fld id="{B084E9F9-C78E-4B43-BFC4-7328A9A9B681}" type="datetimeFigureOut">
              <a:rPr lang="zh-CN" altLang="en-US" smtClean="0"/>
              <a:t>2024/7/9</a:t>
            </a:fld>
            <a:endParaRPr lang="zh-CN" altLang="en-US"/>
          </a:p>
        </p:txBody>
      </p:sp>
      <p:sp>
        <p:nvSpPr>
          <p:cNvPr id="5" name="页脚占位符 4">
            <a:extLst>
              <a:ext uri="{FF2B5EF4-FFF2-40B4-BE49-F238E27FC236}">
                <a16:creationId xmlns:a16="http://schemas.microsoft.com/office/drawing/2014/main" id="{88BFF102-37FF-4AB8-ABB3-62038DDFDCB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BDCF96D-0341-4A5E-8974-D9D41BED2B01}"/>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1124259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3" name="图片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E3D9C18A-2360-4597-BBA1-EB6F8852D6B2}"/>
              </a:ext>
            </a:extLst>
          </p:cNvPr>
          <p:cNvSpPr>
            <a:spLocks noGrp="1"/>
          </p:cNvSpPr>
          <p:nvPr>
            <p:ph type="title"/>
          </p:nvPr>
        </p:nvSpPr>
        <p:spPr/>
        <p:txBody>
          <a:bodyPr>
            <a:normAutofit/>
          </a:bodyPr>
          <a:lstStyle>
            <a:lvl1pPr>
              <a:defRPr sz="4000">
                <a:latin typeface="+mn-lt"/>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49894833-8FFA-40C4-A850-C5E4415BABC4}"/>
              </a:ext>
            </a:extLst>
          </p:cNvPr>
          <p:cNvSpPr>
            <a:spLocks noGrp="1"/>
          </p:cNvSpPr>
          <p:nvPr>
            <p:ph idx="1"/>
          </p:nvPr>
        </p:nvSpPr>
        <p:spPr/>
        <p:txBody>
          <a:bodyPr/>
          <a:lstStyle>
            <a:lvl1pPr>
              <a:lnSpc>
                <a:spcPct val="120000"/>
              </a:lnSpc>
              <a:defRPr sz="2600">
                <a:latin typeface="+mn-lt"/>
              </a:defRPr>
            </a:lvl1pPr>
            <a:lvl2pPr>
              <a:lnSpc>
                <a:spcPct val="120000"/>
              </a:lnSpc>
              <a:defRPr>
                <a:latin typeface="+mn-lt"/>
              </a:defRPr>
            </a:lvl2pPr>
            <a:lvl3pPr>
              <a:lnSpc>
                <a:spcPct val="120000"/>
              </a:lnSpc>
              <a:defRPr>
                <a:latin typeface="+mn-lt"/>
              </a:defRPr>
            </a:lvl3pPr>
            <a:lvl4pPr>
              <a:lnSpc>
                <a:spcPct val="120000"/>
              </a:lnSpc>
              <a:defRPr>
                <a:latin typeface="+mn-lt"/>
              </a:defRPr>
            </a:lvl4pPr>
            <a:lvl5pPr>
              <a:lnSpc>
                <a:spcPct val="120000"/>
              </a:lnSpc>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7D47DCC4-8BE8-494A-8CC1-23B5B130A50A}"/>
              </a:ext>
            </a:extLst>
          </p:cNvPr>
          <p:cNvSpPr>
            <a:spLocks noGrp="1"/>
          </p:cNvSpPr>
          <p:nvPr>
            <p:ph type="dt" sz="half" idx="10"/>
          </p:nvPr>
        </p:nvSpPr>
        <p:spPr/>
        <p:txBody>
          <a:bodyPr/>
          <a:lstStyle/>
          <a:p>
            <a:fld id="{B084E9F9-C78E-4B43-BFC4-7328A9A9B681}" type="datetimeFigureOut">
              <a:rPr lang="zh-CN" altLang="en-US" smtClean="0"/>
              <a:t>2024/7/9</a:t>
            </a:fld>
            <a:endParaRPr lang="zh-CN" altLang="en-US"/>
          </a:p>
        </p:txBody>
      </p:sp>
      <p:sp>
        <p:nvSpPr>
          <p:cNvPr id="5" name="页脚占位符 4">
            <a:extLst>
              <a:ext uri="{FF2B5EF4-FFF2-40B4-BE49-F238E27FC236}">
                <a16:creationId xmlns:a16="http://schemas.microsoft.com/office/drawing/2014/main" id="{514BC21E-CFC7-4ACE-A332-C47782EBA31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8944475-A8D0-49C5-982E-AD2AE6D60A1D}"/>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1169058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CC14A5CD-2F49-4758-8337-6D54A6674856}"/>
              </a:ext>
            </a:extLst>
          </p:cNvPr>
          <p:cNvSpPr>
            <a:spLocks noGrp="1"/>
          </p:cNvSpPr>
          <p:nvPr>
            <p:ph type="title"/>
          </p:nvPr>
        </p:nvSpPr>
        <p:spPr>
          <a:xfrm>
            <a:off x="831850" y="1709738"/>
            <a:ext cx="10515600" cy="2852737"/>
          </a:xfrm>
        </p:spPr>
        <p:txBody>
          <a:bodyPr anchor="b"/>
          <a:lstStyle>
            <a:lvl1pPr>
              <a:defRPr sz="6000">
                <a:latin typeface="+mn-lt"/>
              </a:defRPr>
            </a:lvl1pPr>
          </a:lstStyle>
          <a:p>
            <a:r>
              <a:rPr lang="zh-CN" altLang="en-US" dirty="0"/>
              <a:t>单击此处编辑母版标题样式</a:t>
            </a:r>
          </a:p>
        </p:txBody>
      </p:sp>
      <p:sp>
        <p:nvSpPr>
          <p:cNvPr id="3" name="文本占位符 2">
            <a:extLst>
              <a:ext uri="{FF2B5EF4-FFF2-40B4-BE49-F238E27FC236}">
                <a16:creationId xmlns:a16="http://schemas.microsoft.com/office/drawing/2014/main" id="{37D55E93-1034-4BBC-9A0C-AEC9616D20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B1462BEC-08A7-492D-A68E-D72A14887871}"/>
              </a:ext>
            </a:extLst>
          </p:cNvPr>
          <p:cNvSpPr>
            <a:spLocks noGrp="1"/>
          </p:cNvSpPr>
          <p:nvPr>
            <p:ph type="dt" sz="half" idx="10"/>
          </p:nvPr>
        </p:nvSpPr>
        <p:spPr/>
        <p:txBody>
          <a:bodyPr/>
          <a:lstStyle/>
          <a:p>
            <a:fld id="{B084E9F9-C78E-4B43-BFC4-7328A9A9B681}" type="datetimeFigureOut">
              <a:rPr lang="zh-CN" altLang="en-US" smtClean="0"/>
              <a:t>2024/7/9</a:t>
            </a:fld>
            <a:endParaRPr lang="zh-CN" altLang="en-US"/>
          </a:p>
        </p:txBody>
      </p:sp>
      <p:sp>
        <p:nvSpPr>
          <p:cNvPr id="5" name="页脚占位符 4">
            <a:extLst>
              <a:ext uri="{FF2B5EF4-FFF2-40B4-BE49-F238E27FC236}">
                <a16:creationId xmlns:a16="http://schemas.microsoft.com/office/drawing/2014/main" id="{137ABE58-1D64-4DFA-8CCF-33606015D73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CE7D6C6-42D3-4F32-AC8A-75DACF54468B}"/>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44834083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A9504493-20B5-43D7-8EBC-6C1F35E8A8DC}"/>
              </a:ext>
            </a:extLst>
          </p:cNvPr>
          <p:cNvSpPr>
            <a:spLocks noGrp="1"/>
          </p:cNvSpPr>
          <p:nvPr>
            <p:ph type="title"/>
          </p:nvPr>
        </p:nvSpPr>
        <p:spPr/>
        <p:txBody>
          <a:bodyPr>
            <a:normAutofit/>
          </a:bodyPr>
          <a:lstStyle>
            <a:lvl1pPr>
              <a:defRPr sz="4000">
                <a:latin typeface="+mn-lt"/>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19F9B1E5-631A-4528-8290-15E08E8BC7B3}"/>
              </a:ext>
            </a:extLst>
          </p:cNvPr>
          <p:cNvSpPr>
            <a:spLocks noGrp="1"/>
          </p:cNvSpPr>
          <p:nvPr>
            <p:ph sz="half" idx="1"/>
          </p:nvPr>
        </p:nvSpPr>
        <p:spPr>
          <a:xfrm>
            <a:off x="838200" y="1825625"/>
            <a:ext cx="5181600" cy="43513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a:extLst>
              <a:ext uri="{FF2B5EF4-FFF2-40B4-BE49-F238E27FC236}">
                <a16:creationId xmlns:a16="http://schemas.microsoft.com/office/drawing/2014/main" id="{A0456DF3-E16B-4C45-B923-89E73C7FA79E}"/>
              </a:ext>
            </a:extLst>
          </p:cNvPr>
          <p:cNvSpPr>
            <a:spLocks noGrp="1"/>
          </p:cNvSpPr>
          <p:nvPr>
            <p:ph sz="half" idx="2"/>
          </p:nvPr>
        </p:nvSpPr>
        <p:spPr>
          <a:xfrm>
            <a:off x="6172200" y="1825625"/>
            <a:ext cx="5181600" cy="43513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a:extLst>
              <a:ext uri="{FF2B5EF4-FFF2-40B4-BE49-F238E27FC236}">
                <a16:creationId xmlns:a16="http://schemas.microsoft.com/office/drawing/2014/main" id="{8A7586D4-7959-443F-AFD0-452066166E56}"/>
              </a:ext>
            </a:extLst>
          </p:cNvPr>
          <p:cNvSpPr>
            <a:spLocks noGrp="1"/>
          </p:cNvSpPr>
          <p:nvPr>
            <p:ph type="dt" sz="half" idx="10"/>
          </p:nvPr>
        </p:nvSpPr>
        <p:spPr/>
        <p:txBody>
          <a:bodyPr/>
          <a:lstStyle/>
          <a:p>
            <a:fld id="{B084E9F9-C78E-4B43-BFC4-7328A9A9B681}" type="datetimeFigureOut">
              <a:rPr lang="zh-CN" altLang="en-US" smtClean="0"/>
              <a:t>2024/7/9</a:t>
            </a:fld>
            <a:endParaRPr lang="zh-CN" altLang="en-US"/>
          </a:p>
        </p:txBody>
      </p:sp>
      <p:sp>
        <p:nvSpPr>
          <p:cNvPr id="6" name="页脚占位符 5">
            <a:extLst>
              <a:ext uri="{FF2B5EF4-FFF2-40B4-BE49-F238E27FC236}">
                <a16:creationId xmlns:a16="http://schemas.microsoft.com/office/drawing/2014/main" id="{C7DBB3DF-7BD2-457D-9B6D-1B6DC24B9BA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0CE9612-44B3-4E8E-8694-6FB52C188A25}"/>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634791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16392E-6FE4-45F1-96CC-97978BC91995}"/>
              </a:ext>
            </a:extLst>
          </p:cNvPr>
          <p:cNvSpPr>
            <a:spLocks noGrp="1"/>
          </p:cNvSpPr>
          <p:nvPr>
            <p:ph type="title"/>
          </p:nvPr>
        </p:nvSpPr>
        <p:spPr>
          <a:xfrm>
            <a:off x="839788" y="365125"/>
            <a:ext cx="10515600" cy="1325563"/>
          </a:xfrm>
        </p:spPr>
        <p:txBody>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E898865-5E57-4B42-8909-80DBC97977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8AE2D6B9-43DE-41D8-BB6E-9E1B0B256954}"/>
              </a:ext>
            </a:extLst>
          </p:cNvPr>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a:extLst>
              <a:ext uri="{FF2B5EF4-FFF2-40B4-BE49-F238E27FC236}">
                <a16:creationId xmlns:a16="http://schemas.microsoft.com/office/drawing/2014/main" id="{41C0E132-7240-44B0-9935-03A301827B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FDB8FCBD-29DB-442A-8884-912732720BE0}"/>
              </a:ext>
            </a:extLst>
          </p:cNvPr>
          <p:cNvSpPr>
            <a:spLocks noGrp="1"/>
          </p:cNvSpPr>
          <p:nvPr>
            <p:ph sz="quarter" idx="4" hasCustomPrompt="1"/>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a:extLst>
              <a:ext uri="{FF2B5EF4-FFF2-40B4-BE49-F238E27FC236}">
                <a16:creationId xmlns:a16="http://schemas.microsoft.com/office/drawing/2014/main" id="{AB003F58-7C49-43D5-A3D1-B3A969BE0A8F}"/>
              </a:ext>
            </a:extLst>
          </p:cNvPr>
          <p:cNvSpPr>
            <a:spLocks noGrp="1"/>
          </p:cNvSpPr>
          <p:nvPr>
            <p:ph type="dt" sz="half" idx="10"/>
          </p:nvPr>
        </p:nvSpPr>
        <p:spPr/>
        <p:txBody>
          <a:bodyPr/>
          <a:lstStyle/>
          <a:p>
            <a:fld id="{B084E9F9-C78E-4B43-BFC4-7328A9A9B681}" type="datetimeFigureOut">
              <a:rPr lang="zh-CN" altLang="en-US" smtClean="0"/>
              <a:t>2024/7/9</a:t>
            </a:fld>
            <a:endParaRPr lang="zh-CN" altLang="en-US"/>
          </a:p>
        </p:txBody>
      </p:sp>
      <p:sp>
        <p:nvSpPr>
          <p:cNvPr id="8" name="页脚占位符 7">
            <a:extLst>
              <a:ext uri="{FF2B5EF4-FFF2-40B4-BE49-F238E27FC236}">
                <a16:creationId xmlns:a16="http://schemas.microsoft.com/office/drawing/2014/main" id="{4DD9A7E8-3C85-4801-9E4D-111A3B981AA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5B2A24D-FBE5-4D56-AD80-01C1063713F2}"/>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Tree>
    <p:extLst>
      <p:ext uri="{BB962C8B-B14F-4D97-AF65-F5344CB8AC3E}">
        <p14:creationId xmlns:p14="http://schemas.microsoft.com/office/powerpoint/2010/main" val="1935963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D05D73AB-11D1-4981-9368-43F60872835D}"/>
              </a:ext>
            </a:extLst>
          </p:cNvPr>
          <p:cNvSpPr>
            <a:spLocks noGrp="1"/>
          </p:cNvSpPr>
          <p:nvPr>
            <p:ph type="title"/>
          </p:nvPr>
        </p:nvSpPr>
        <p:spPr/>
        <p:txBody>
          <a:bodyPr>
            <a:normAutofit/>
          </a:bodyPr>
          <a:lstStyle>
            <a:lvl1pPr>
              <a:lnSpc>
                <a:spcPct val="120000"/>
              </a:lnSpc>
              <a:defRPr sz="4000"/>
            </a:lvl1pPr>
          </a:lstStyle>
          <a:p>
            <a:r>
              <a:rPr lang="zh-CN" altLang="en-US" dirty="0"/>
              <a:t>单击此处编辑母版标题样式</a:t>
            </a:r>
          </a:p>
        </p:txBody>
      </p:sp>
      <p:sp>
        <p:nvSpPr>
          <p:cNvPr id="3" name="日期占位符 2">
            <a:extLst>
              <a:ext uri="{FF2B5EF4-FFF2-40B4-BE49-F238E27FC236}">
                <a16:creationId xmlns:a16="http://schemas.microsoft.com/office/drawing/2014/main" id="{DBB7B4CA-3CD6-4B49-877C-211DF73E561A}"/>
              </a:ext>
            </a:extLst>
          </p:cNvPr>
          <p:cNvSpPr>
            <a:spLocks noGrp="1"/>
          </p:cNvSpPr>
          <p:nvPr>
            <p:ph type="dt" sz="half" idx="10"/>
          </p:nvPr>
        </p:nvSpPr>
        <p:spPr/>
        <p:txBody>
          <a:bodyPr/>
          <a:lstStyle>
            <a:lvl1pPr>
              <a:lnSpc>
                <a:spcPct val="120000"/>
              </a:lnSpc>
              <a:defRPr/>
            </a:lvl1pPr>
          </a:lstStyle>
          <a:p>
            <a:fld id="{B084E9F9-C78E-4B43-BFC4-7328A9A9B681}" type="datetimeFigureOut">
              <a:rPr lang="zh-CN" altLang="en-US" smtClean="0"/>
              <a:pPr/>
              <a:t>2024/7/9</a:t>
            </a:fld>
            <a:endParaRPr lang="zh-CN" altLang="en-US"/>
          </a:p>
        </p:txBody>
      </p:sp>
      <p:sp>
        <p:nvSpPr>
          <p:cNvPr id="4" name="页脚占位符 3">
            <a:extLst>
              <a:ext uri="{FF2B5EF4-FFF2-40B4-BE49-F238E27FC236}">
                <a16:creationId xmlns:a16="http://schemas.microsoft.com/office/drawing/2014/main" id="{2320833A-D84C-4AA5-A4E5-89293C0941FE}"/>
              </a:ext>
            </a:extLst>
          </p:cNvPr>
          <p:cNvSpPr>
            <a:spLocks noGrp="1"/>
          </p:cNvSpPr>
          <p:nvPr>
            <p:ph type="ftr" sz="quarter" idx="11"/>
          </p:nvPr>
        </p:nvSpPr>
        <p:spPr/>
        <p:txBody>
          <a:bodyPr/>
          <a:lstStyle>
            <a:lvl1pPr>
              <a:lnSpc>
                <a:spcPct val="120000"/>
              </a:lnSpc>
              <a:defRPr/>
            </a:lvl1pPr>
          </a:lstStyle>
          <a:p>
            <a:endParaRPr lang="zh-CN" altLang="en-US"/>
          </a:p>
        </p:txBody>
      </p:sp>
      <p:sp>
        <p:nvSpPr>
          <p:cNvPr id="5" name="灯片编号占位符 4">
            <a:extLst>
              <a:ext uri="{FF2B5EF4-FFF2-40B4-BE49-F238E27FC236}">
                <a16:creationId xmlns:a16="http://schemas.microsoft.com/office/drawing/2014/main" id="{131A098F-361B-45B7-9328-0C0CC88000DE}"/>
              </a:ext>
            </a:extLst>
          </p:cNvPr>
          <p:cNvSpPr>
            <a:spLocks noGrp="1"/>
          </p:cNvSpPr>
          <p:nvPr>
            <p:ph type="sldNum" sz="quarter" idx="12"/>
          </p:nvPr>
        </p:nvSpPr>
        <p:spPr/>
        <p:txBody>
          <a:bodyPr/>
          <a:lstStyle>
            <a:lvl1pPr>
              <a:lnSpc>
                <a:spcPct val="120000"/>
              </a:lnSpc>
              <a:defRPr/>
            </a:lvl1pPr>
          </a:lstStyle>
          <a:p>
            <a:fld id="{2F0485D5-9E03-4020-B25B-C8A61AD6A676}" type="slidenum">
              <a:rPr lang="zh-CN" altLang="en-US" smtClean="0"/>
              <a:pPr/>
              <a:t>‹#›</a:t>
            </a:fld>
            <a:endParaRPr lang="zh-CN" altLang="en-US"/>
          </a:p>
        </p:txBody>
      </p:sp>
    </p:spTree>
    <p:extLst>
      <p:ext uri="{BB962C8B-B14F-4D97-AF65-F5344CB8AC3E}">
        <p14:creationId xmlns:p14="http://schemas.microsoft.com/office/powerpoint/2010/main" val="2449071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日期占位符 1">
            <a:extLst>
              <a:ext uri="{FF2B5EF4-FFF2-40B4-BE49-F238E27FC236}">
                <a16:creationId xmlns:a16="http://schemas.microsoft.com/office/drawing/2014/main" id="{83B5D28D-AE9D-4887-A8CE-67AB1279BCB6}"/>
              </a:ext>
            </a:extLst>
          </p:cNvPr>
          <p:cNvSpPr>
            <a:spLocks noGrp="1"/>
          </p:cNvSpPr>
          <p:nvPr>
            <p:ph type="dt" sz="half" idx="10"/>
          </p:nvPr>
        </p:nvSpPr>
        <p:spPr/>
        <p:txBody>
          <a:bodyPr/>
          <a:lstStyle>
            <a:lvl1pPr>
              <a:lnSpc>
                <a:spcPct val="120000"/>
              </a:lnSpc>
              <a:defRPr/>
            </a:lvl1pPr>
          </a:lstStyle>
          <a:p>
            <a:fld id="{B084E9F9-C78E-4B43-BFC4-7328A9A9B681}" type="datetimeFigureOut">
              <a:rPr lang="zh-CN" altLang="en-US" smtClean="0"/>
              <a:pPr/>
              <a:t>2024/7/9</a:t>
            </a:fld>
            <a:endParaRPr lang="zh-CN" altLang="en-US"/>
          </a:p>
        </p:txBody>
      </p:sp>
      <p:sp>
        <p:nvSpPr>
          <p:cNvPr id="3" name="页脚占位符 2">
            <a:extLst>
              <a:ext uri="{FF2B5EF4-FFF2-40B4-BE49-F238E27FC236}">
                <a16:creationId xmlns:a16="http://schemas.microsoft.com/office/drawing/2014/main" id="{76AFF75D-410E-4FF5-91F1-E635B2B4D253}"/>
              </a:ext>
            </a:extLst>
          </p:cNvPr>
          <p:cNvSpPr>
            <a:spLocks noGrp="1"/>
          </p:cNvSpPr>
          <p:nvPr>
            <p:ph type="ftr" sz="quarter" idx="11"/>
          </p:nvPr>
        </p:nvSpPr>
        <p:spPr/>
        <p:txBody>
          <a:bodyPr/>
          <a:lstStyle>
            <a:lvl1pPr>
              <a:lnSpc>
                <a:spcPct val="120000"/>
              </a:lnSpc>
              <a:defRPr/>
            </a:lvl1pPr>
          </a:lstStyle>
          <a:p>
            <a:endParaRPr lang="zh-CN" altLang="en-US"/>
          </a:p>
        </p:txBody>
      </p:sp>
      <p:sp>
        <p:nvSpPr>
          <p:cNvPr id="4" name="灯片编号占位符 3">
            <a:extLst>
              <a:ext uri="{FF2B5EF4-FFF2-40B4-BE49-F238E27FC236}">
                <a16:creationId xmlns:a16="http://schemas.microsoft.com/office/drawing/2014/main" id="{2B2B8D5D-EBBC-4D0B-81BA-D6EE7D1B9F09}"/>
              </a:ext>
            </a:extLst>
          </p:cNvPr>
          <p:cNvSpPr>
            <a:spLocks noGrp="1"/>
          </p:cNvSpPr>
          <p:nvPr>
            <p:ph type="sldNum" sz="quarter" idx="12"/>
          </p:nvPr>
        </p:nvSpPr>
        <p:spPr/>
        <p:txBody>
          <a:bodyPr/>
          <a:lstStyle>
            <a:lvl1pPr>
              <a:lnSpc>
                <a:spcPct val="120000"/>
              </a:lnSpc>
              <a:defRPr/>
            </a:lvl1pPr>
          </a:lstStyle>
          <a:p>
            <a:fld id="{2F0485D5-9E03-4020-B25B-C8A61AD6A676}" type="slidenum">
              <a:rPr lang="zh-CN" altLang="en-US" smtClean="0"/>
              <a:pPr/>
              <a:t>‹#›</a:t>
            </a:fld>
            <a:endParaRPr lang="zh-CN" altLang="en-US"/>
          </a:p>
        </p:txBody>
      </p:sp>
    </p:spTree>
    <p:extLst>
      <p:ext uri="{BB962C8B-B14F-4D97-AF65-F5344CB8AC3E}">
        <p14:creationId xmlns:p14="http://schemas.microsoft.com/office/powerpoint/2010/main" val="3369040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7180F32D-4D49-416F-900C-56A021BAA253}"/>
              </a:ext>
            </a:extLst>
          </p:cNvPr>
          <p:cNvSpPr>
            <a:spLocks noGrp="1"/>
          </p:cNvSpPr>
          <p:nvPr>
            <p:ph type="title"/>
          </p:nvPr>
        </p:nvSpPr>
        <p:spPr>
          <a:xfrm>
            <a:off x="839788" y="457200"/>
            <a:ext cx="3932237" cy="1600200"/>
          </a:xfrm>
        </p:spPr>
        <p:txBody>
          <a:bodyPr anchor="b"/>
          <a:lstStyle>
            <a:lvl1pPr>
              <a:defRPr sz="3200">
                <a:latin typeface="+mn-lt"/>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489A1975-CD99-4E06-9E45-D308D959EDC9}"/>
              </a:ext>
            </a:extLst>
          </p:cNvPr>
          <p:cNvSpPr>
            <a:spLocks noGrp="1"/>
          </p:cNvSpPr>
          <p:nvPr>
            <p:ph idx="1"/>
          </p:nvPr>
        </p:nvSpPr>
        <p:spPr>
          <a:xfrm>
            <a:off x="5183188" y="987425"/>
            <a:ext cx="6172200" cy="4873625"/>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a:extLst>
              <a:ext uri="{FF2B5EF4-FFF2-40B4-BE49-F238E27FC236}">
                <a16:creationId xmlns:a16="http://schemas.microsoft.com/office/drawing/2014/main" id="{90C04A39-44D7-40D5-879F-9B291A6F3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4018CF9-B53E-4812-BEF1-A52E0A34A819}"/>
              </a:ext>
            </a:extLst>
          </p:cNvPr>
          <p:cNvSpPr>
            <a:spLocks noGrp="1"/>
          </p:cNvSpPr>
          <p:nvPr>
            <p:ph type="dt" sz="half" idx="10"/>
          </p:nvPr>
        </p:nvSpPr>
        <p:spPr/>
        <p:txBody>
          <a:bodyPr/>
          <a:lstStyle/>
          <a:p>
            <a:fld id="{B084E9F9-C78E-4B43-BFC4-7328A9A9B681}" type="datetimeFigureOut">
              <a:rPr lang="zh-CN" altLang="en-US" smtClean="0"/>
              <a:t>2024/7/9</a:t>
            </a:fld>
            <a:endParaRPr lang="zh-CN" altLang="en-US"/>
          </a:p>
        </p:txBody>
      </p:sp>
      <p:sp>
        <p:nvSpPr>
          <p:cNvPr id="6" name="页脚占位符 5">
            <a:extLst>
              <a:ext uri="{FF2B5EF4-FFF2-40B4-BE49-F238E27FC236}">
                <a16:creationId xmlns:a16="http://schemas.microsoft.com/office/drawing/2014/main" id="{0FA403AC-06D8-4A58-A310-BBD1CF8993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DF87A4F-9495-4E5A-9C28-E5809E59EB63}"/>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3189576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F1ECD109-4A98-49F1-AC02-939490484F0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CBD343E-388B-4353-9336-2656832B0C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9FBF39C-1448-4F68-AD3E-BFA9643DB6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CA9F964B-5762-4399-8D43-3F4D77D8A5F2}"/>
              </a:ext>
            </a:extLst>
          </p:cNvPr>
          <p:cNvSpPr>
            <a:spLocks noGrp="1"/>
          </p:cNvSpPr>
          <p:nvPr>
            <p:ph type="dt" sz="half" idx="10"/>
          </p:nvPr>
        </p:nvSpPr>
        <p:spPr/>
        <p:txBody>
          <a:bodyPr/>
          <a:lstStyle/>
          <a:p>
            <a:fld id="{B084E9F9-C78E-4B43-BFC4-7328A9A9B681}" type="datetimeFigureOut">
              <a:rPr lang="zh-CN" altLang="en-US" smtClean="0"/>
              <a:t>2024/7/9</a:t>
            </a:fld>
            <a:endParaRPr lang="zh-CN" altLang="en-US"/>
          </a:p>
        </p:txBody>
      </p:sp>
      <p:sp>
        <p:nvSpPr>
          <p:cNvPr id="6" name="页脚占位符 5">
            <a:extLst>
              <a:ext uri="{FF2B5EF4-FFF2-40B4-BE49-F238E27FC236}">
                <a16:creationId xmlns:a16="http://schemas.microsoft.com/office/drawing/2014/main" id="{75F14C33-5019-4572-8BA2-48878300B1A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F02535E-DC52-4683-9666-75A5550FD9C7}"/>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310709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F09C09-57F0-401E-914C-55AD4EC2FB2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p>
        </p:txBody>
      </p:sp>
      <p:sp>
        <p:nvSpPr>
          <p:cNvPr id="3" name="副标题 2">
            <a:extLst>
              <a:ext uri="{FF2B5EF4-FFF2-40B4-BE49-F238E27FC236}">
                <a16:creationId xmlns:a16="http://schemas.microsoft.com/office/drawing/2014/main" id="{EECB730A-D6A8-4367-9340-6163539998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AA7AA53-DF53-41D5-890D-1E77B922FA7F}"/>
              </a:ext>
            </a:extLst>
          </p:cNvPr>
          <p:cNvSpPr>
            <a:spLocks noGrp="1"/>
          </p:cNvSpPr>
          <p:nvPr>
            <p:ph type="dt" sz="half" idx="10"/>
          </p:nvPr>
        </p:nvSpPr>
        <p:spPr/>
        <p:txBody>
          <a:bodyPr/>
          <a:lstStyle/>
          <a:p>
            <a:fld id="{B084E9F9-C78E-4B43-BFC4-7328A9A9B681}" type="datetimeFigureOut">
              <a:rPr lang="zh-CN" altLang="en-US" smtClean="0"/>
              <a:t>2024/7/9</a:t>
            </a:fld>
            <a:endParaRPr lang="zh-CN" altLang="en-US"/>
          </a:p>
        </p:txBody>
      </p:sp>
      <p:sp>
        <p:nvSpPr>
          <p:cNvPr id="5" name="页脚占位符 4">
            <a:extLst>
              <a:ext uri="{FF2B5EF4-FFF2-40B4-BE49-F238E27FC236}">
                <a16:creationId xmlns:a16="http://schemas.microsoft.com/office/drawing/2014/main" id="{88BFF102-37FF-4AB8-ABB3-62038DDFDCB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BDCF96D-0341-4A5E-8974-D9D41BED2B01}"/>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2101917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3" name="图片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E3D9C18A-2360-4597-BBA1-EB6F8852D6B2}"/>
              </a:ext>
            </a:extLst>
          </p:cNvPr>
          <p:cNvSpPr>
            <a:spLocks noGrp="1"/>
          </p:cNvSpPr>
          <p:nvPr>
            <p:ph type="title"/>
          </p:nvPr>
        </p:nvSpPr>
        <p:spPr/>
        <p:txBody>
          <a:bodyPr>
            <a:normAutofit/>
          </a:bodyPr>
          <a:lstStyle>
            <a:lvl1pPr>
              <a:defRPr sz="4000">
                <a:latin typeface="+mn-lt"/>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49894833-8FFA-40C4-A850-C5E4415BABC4}"/>
              </a:ext>
            </a:extLst>
          </p:cNvPr>
          <p:cNvSpPr>
            <a:spLocks noGrp="1"/>
          </p:cNvSpPr>
          <p:nvPr>
            <p:ph idx="1"/>
          </p:nvPr>
        </p:nvSpPr>
        <p:spPr/>
        <p:txBody>
          <a:bodyPr/>
          <a:lstStyle>
            <a:lvl1pPr>
              <a:defRPr sz="26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7D47DCC4-8BE8-494A-8CC1-23B5B130A50A}"/>
              </a:ext>
            </a:extLst>
          </p:cNvPr>
          <p:cNvSpPr>
            <a:spLocks noGrp="1"/>
          </p:cNvSpPr>
          <p:nvPr>
            <p:ph type="dt" sz="half" idx="10"/>
          </p:nvPr>
        </p:nvSpPr>
        <p:spPr/>
        <p:txBody>
          <a:bodyPr/>
          <a:lstStyle/>
          <a:p>
            <a:fld id="{B084E9F9-C78E-4B43-BFC4-7328A9A9B681}" type="datetimeFigureOut">
              <a:rPr lang="zh-CN" altLang="en-US" smtClean="0"/>
              <a:t>2024/7/9</a:t>
            </a:fld>
            <a:endParaRPr lang="zh-CN" altLang="en-US"/>
          </a:p>
        </p:txBody>
      </p:sp>
      <p:sp>
        <p:nvSpPr>
          <p:cNvPr id="5" name="页脚占位符 4">
            <a:extLst>
              <a:ext uri="{FF2B5EF4-FFF2-40B4-BE49-F238E27FC236}">
                <a16:creationId xmlns:a16="http://schemas.microsoft.com/office/drawing/2014/main" id="{514BC21E-CFC7-4ACE-A332-C47782EBA31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8944475-A8D0-49C5-982E-AD2AE6D60A1D}"/>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2132119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CC14A5CD-2F49-4758-8337-6D54A6674856}"/>
              </a:ext>
            </a:extLst>
          </p:cNvPr>
          <p:cNvSpPr>
            <a:spLocks noGrp="1"/>
          </p:cNvSpPr>
          <p:nvPr>
            <p:ph type="title"/>
          </p:nvPr>
        </p:nvSpPr>
        <p:spPr>
          <a:xfrm>
            <a:off x="831850" y="1709738"/>
            <a:ext cx="10515600" cy="2852737"/>
          </a:xfrm>
        </p:spPr>
        <p:txBody>
          <a:bodyPr anchor="b"/>
          <a:lstStyle>
            <a:lvl1pPr>
              <a:defRPr sz="6000">
                <a:latin typeface="+mn-lt"/>
              </a:defRPr>
            </a:lvl1pPr>
          </a:lstStyle>
          <a:p>
            <a:r>
              <a:rPr lang="zh-CN" altLang="en-US" dirty="0"/>
              <a:t>单击此处编辑母版标题样式</a:t>
            </a:r>
          </a:p>
        </p:txBody>
      </p:sp>
      <p:sp>
        <p:nvSpPr>
          <p:cNvPr id="3" name="文本占位符 2">
            <a:extLst>
              <a:ext uri="{FF2B5EF4-FFF2-40B4-BE49-F238E27FC236}">
                <a16:creationId xmlns:a16="http://schemas.microsoft.com/office/drawing/2014/main" id="{37D55E93-1034-4BBC-9A0C-AEC9616D20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B1462BEC-08A7-492D-A68E-D72A14887871}"/>
              </a:ext>
            </a:extLst>
          </p:cNvPr>
          <p:cNvSpPr>
            <a:spLocks noGrp="1"/>
          </p:cNvSpPr>
          <p:nvPr>
            <p:ph type="dt" sz="half" idx="10"/>
          </p:nvPr>
        </p:nvSpPr>
        <p:spPr/>
        <p:txBody>
          <a:bodyPr/>
          <a:lstStyle/>
          <a:p>
            <a:fld id="{B084E9F9-C78E-4B43-BFC4-7328A9A9B681}" type="datetimeFigureOut">
              <a:rPr lang="zh-CN" altLang="en-US" smtClean="0"/>
              <a:t>2024/7/9</a:t>
            </a:fld>
            <a:endParaRPr lang="zh-CN" altLang="en-US"/>
          </a:p>
        </p:txBody>
      </p:sp>
      <p:sp>
        <p:nvSpPr>
          <p:cNvPr id="5" name="页脚占位符 4">
            <a:extLst>
              <a:ext uri="{FF2B5EF4-FFF2-40B4-BE49-F238E27FC236}">
                <a16:creationId xmlns:a16="http://schemas.microsoft.com/office/drawing/2014/main" id="{137ABE58-1D64-4DFA-8CCF-33606015D73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CE7D6C6-42D3-4F32-AC8A-75DACF54468B}"/>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379778957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A9504493-20B5-43D7-8EBC-6C1F35E8A8DC}"/>
              </a:ext>
            </a:extLst>
          </p:cNvPr>
          <p:cNvSpPr>
            <a:spLocks noGrp="1"/>
          </p:cNvSpPr>
          <p:nvPr>
            <p:ph type="title"/>
          </p:nvPr>
        </p:nvSpPr>
        <p:spPr/>
        <p:txBody>
          <a:bodyPr>
            <a:normAutofit/>
          </a:bodyPr>
          <a:lstStyle>
            <a:lvl1pPr>
              <a:defRPr sz="4000">
                <a:latin typeface="+mn-lt"/>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19F9B1E5-631A-4528-8290-15E08E8BC7B3}"/>
              </a:ext>
            </a:extLst>
          </p:cNvPr>
          <p:cNvSpPr>
            <a:spLocks noGrp="1"/>
          </p:cNvSpPr>
          <p:nvPr>
            <p:ph sz="half" idx="1"/>
          </p:nvPr>
        </p:nvSpPr>
        <p:spPr>
          <a:xfrm>
            <a:off x="838200" y="1825625"/>
            <a:ext cx="5181600" cy="43513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a:extLst>
              <a:ext uri="{FF2B5EF4-FFF2-40B4-BE49-F238E27FC236}">
                <a16:creationId xmlns:a16="http://schemas.microsoft.com/office/drawing/2014/main" id="{A0456DF3-E16B-4C45-B923-89E73C7FA79E}"/>
              </a:ext>
            </a:extLst>
          </p:cNvPr>
          <p:cNvSpPr>
            <a:spLocks noGrp="1"/>
          </p:cNvSpPr>
          <p:nvPr>
            <p:ph sz="half" idx="2"/>
          </p:nvPr>
        </p:nvSpPr>
        <p:spPr>
          <a:xfrm>
            <a:off x="6172200" y="1825625"/>
            <a:ext cx="5181600" cy="43513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a:extLst>
              <a:ext uri="{FF2B5EF4-FFF2-40B4-BE49-F238E27FC236}">
                <a16:creationId xmlns:a16="http://schemas.microsoft.com/office/drawing/2014/main" id="{8A7586D4-7959-443F-AFD0-452066166E56}"/>
              </a:ext>
            </a:extLst>
          </p:cNvPr>
          <p:cNvSpPr>
            <a:spLocks noGrp="1"/>
          </p:cNvSpPr>
          <p:nvPr>
            <p:ph type="dt" sz="half" idx="10"/>
          </p:nvPr>
        </p:nvSpPr>
        <p:spPr/>
        <p:txBody>
          <a:bodyPr/>
          <a:lstStyle>
            <a:lvl1pPr>
              <a:defRPr>
                <a:latin typeface="+mn-lt"/>
              </a:defRPr>
            </a:lvl1pPr>
          </a:lstStyle>
          <a:p>
            <a:fld id="{B084E9F9-C78E-4B43-BFC4-7328A9A9B681}" type="datetimeFigureOut">
              <a:rPr lang="zh-CN" altLang="en-US" smtClean="0"/>
              <a:pPr/>
              <a:t>2024/7/9</a:t>
            </a:fld>
            <a:endParaRPr lang="zh-CN" altLang="en-US"/>
          </a:p>
        </p:txBody>
      </p:sp>
      <p:sp>
        <p:nvSpPr>
          <p:cNvPr id="6" name="页脚占位符 5">
            <a:extLst>
              <a:ext uri="{FF2B5EF4-FFF2-40B4-BE49-F238E27FC236}">
                <a16:creationId xmlns:a16="http://schemas.microsoft.com/office/drawing/2014/main" id="{C7DBB3DF-7BD2-457D-9B6D-1B6DC24B9BA4}"/>
              </a:ext>
            </a:extLst>
          </p:cNvPr>
          <p:cNvSpPr>
            <a:spLocks noGrp="1"/>
          </p:cNvSpPr>
          <p:nvPr>
            <p:ph type="ftr" sz="quarter" idx="11"/>
          </p:nvPr>
        </p:nvSpPr>
        <p:spPr/>
        <p:txBody>
          <a:bodyPr/>
          <a:lstStyle>
            <a:lvl1pPr>
              <a:defRPr>
                <a:latin typeface="+mn-lt"/>
              </a:defRPr>
            </a:lvl1pPr>
          </a:lstStyle>
          <a:p>
            <a:endParaRPr lang="zh-CN" altLang="en-US"/>
          </a:p>
        </p:txBody>
      </p:sp>
      <p:sp>
        <p:nvSpPr>
          <p:cNvPr id="7" name="灯片编号占位符 6">
            <a:extLst>
              <a:ext uri="{FF2B5EF4-FFF2-40B4-BE49-F238E27FC236}">
                <a16:creationId xmlns:a16="http://schemas.microsoft.com/office/drawing/2014/main" id="{90CE9612-44B3-4E8E-8694-6FB52C188A25}"/>
              </a:ext>
            </a:extLst>
          </p:cNvPr>
          <p:cNvSpPr>
            <a:spLocks noGrp="1"/>
          </p:cNvSpPr>
          <p:nvPr>
            <p:ph type="sldNum" sz="quarter" idx="12"/>
          </p:nvPr>
        </p:nvSpPr>
        <p:spPr/>
        <p:txBody>
          <a:bodyPr/>
          <a:lstStyle>
            <a:lvl1pPr>
              <a:defRPr>
                <a:latin typeface="+mn-lt"/>
              </a:defRPr>
            </a:lvl1pPr>
          </a:lstStyle>
          <a:p>
            <a:fld id="{2F0485D5-9E03-4020-B25B-C8A61AD6A676}" type="slidenum">
              <a:rPr lang="zh-CN" altLang="en-US" smtClean="0"/>
              <a:pPr/>
              <a:t>‹#›</a:t>
            </a:fld>
            <a:endParaRPr lang="zh-CN" altLang="en-US"/>
          </a:p>
        </p:txBody>
      </p:sp>
    </p:spTree>
    <p:extLst>
      <p:ext uri="{BB962C8B-B14F-4D97-AF65-F5344CB8AC3E}">
        <p14:creationId xmlns:p14="http://schemas.microsoft.com/office/powerpoint/2010/main" val="6516556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16392E-6FE4-45F1-96CC-97978BC91995}"/>
              </a:ext>
            </a:extLst>
          </p:cNvPr>
          <p:cNvSpPr>
            <a:spLocks noGrp="1"/>
          </p:cNvSpPr>
          <p:nvPr>
            <p:ph type="title"/>
          </p:nvPr>
        </p:nvSpPr>
        <p:spPr>
          <a:xfrm>
            <a:off x="839788" y="365125"/>
            <a:ext cx="10515600" cy="1325563"/>
          </a:xfrm>
        </p:spPr>
        <p:txBody>
          <a:bodyPr/>
          <a:lstStyle>
            <a:lvl1pPr>
              <a:lnSpc>
                <a:spcPct val="120000"/>
              </a:lnSpc>
              <a:defRPr/>
            </a:lvl1pPr>
          </a:lstStyle>
          <a:p>
            <a:r>
              <a:rPr lang="zh-CN" altLang="en-US" dirty="0"/>
              <a:t>单击此处编辑母版标题样式</a:t>
            </a:r>
          </a:p>
        </p:txBody>
      </p:sp>
      <p:sp>
        <p:nvSpPr>
          <p:cNvPr id="3" name="文本占位符 2">
            <a:extLst>
              <a:ext uri="{FF2B5EF4-FFF2-40B4-BE49-F238E27FC236}">
                <a16:creationId xmlns:a16="http://schemas.microsoft.com/office/drawing/2014/main" id="{7E898865-5E57-4B42-8909-80DBC97977B6}"/>
              </a:ext>
            </a:extLst>
          </p:cNvPr>
          <p:cNvSpPr>
            <a:spLocks noGrp="1"/>
          </p:cNvSpPr>
          <p:nvPr>
            <p:ph type="body" idx="1"/>
          </p:nvPr>
        </p:nvSpPr>
        <p:spPr>
          <a:xfrm>
            <a:off x="839788" y="1681163"/>
            <a:ext cx="5157787" cy="823912"/>
          </a:xfrm>
        </p:spPr>
        <p:txBody>
          <a:bodyPr anchor="b"/>
          <a:lstStyle>
            <a:lvl1pPr marL="0" indent="0">
              <a:lnSpc>
                <a:spcPct val="12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8AE2D6B9-43DE-41D8-BB6E-9E1B0B256954}"/>
              </a:ext>
            </a:extLst>
          </p:cNvPr>
          <p:cNvSpPr>
            <a:spLocks noGrp="1"/>
          </p:cNvSpPr>
          <p:nvPr>
            <p:ph sz="half" idx="2"/>
          </p:nvPr>
        </p:nvSpPr>
        <p:spPr>
          <a:xfrm>
            <a:off x="839788" y="2505075"/>
            <a:ext cx="5157787" cy="3684588"/>
          </a:xfrm>
        </p:spPr>
        <p:txBody>
          <a:bodyPr/>
          <a:lstStyle>
            <a:lvl1pPr>
              <a:lnSpc>
                <a:spcPct val="120000"/>
              </a:lnSpc>
              <a:defRPr>
                <a:latin typeface="+mn-lt"/>
              </a:defRPr>
            </a:lvl1pPr>
            <a:lvl2pPr>
              <a:lnSpc>
                <a:spcPct val="120000"/>
              </a:lnSpc>
              <a:defRPr>
                <a:latin typeface="+mn-lt"/>
              </a:defRPr>
            </a:lvl2pPr>
            <a:lvl3pPr>
              <a:lnSpc>
                <a:spcPct val="120000"/>
              </a:lnSpc>
              <a:defRPr>
                <a:latin typeface="+mn-lt"/>
              </a:defRPr>
            </a:lvl3pPr>
            <a:lvl4pPr>
              <a:lnSpc>
                <a:spcPct val="120000"/>
              </a:lnSpc>
              <a:defRPr>
                <a:latin typeface="+mn-lt"/>
              </a:defRPr>
            </a:lvl4pPr>
            <a:lvl5pPr>
              <a:lnSpc>
                <a:spcPct val="120000"/>
              </a:lnSpc>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a:extLst>
              <a:ext uri="{FF2B5EF4-FFF2-40B4-BE49-F238E27FC236}">
                <a16:creationId xmlns:a16="http://schemas.microsoft.com/office/drawing/2014/main" id="{41C0E132-7240-44B0-9935-03A301827B5B}"/>
              </a:ext>
            </a:extLst>
          </p:cNvPr>
          <p:cNvSpPr>
            <a:spLocks noGrp="1"/>
          </p:cNvSpPr>
          <p:nvPr>
            <p:ph type="body" sz="quarter" idx="3"/>
          </p:nvPr>
        </p:nvSpPr>
        <p:spPr>
          <a:xfrm>
            <a:off x="6172200" y="1681163"/>
            <a:ext cx="5183188" cy="823912"/>
          </a:xfrm>
        </p:spPr>
        <p:txBody>
          <a:bodyPr anchor="b"/>
          <a:lstStyle>
            <a:lvl1pPr marL="0" indent="0">
              <a:lnSpc>
                <a:spcPct val="12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FDB8FCBD-29DB-442A-8884-912732720BE0}"/>
              </a:ext>
            </a:extLst>
          </p:cNvPr>
          <p:cNvSpPr>
            <a:spLocks noGrp="1"/>
          </p:cNvSpPr>
          <p:nvPr>
            <p:ph sz="quarter" idx="4" hasCustomPrompt="1"/>
          </p:nvPr>
        </p:nvSpPr>
        <p:spPr>
          <a:xfrm>
            <a:off x="6172200" y="2505075"/>
            <a:ext cx="5183188" cy="3684588"/>
          </a:xfrm>
        </p:spPr>
        <p:txBody>
          <a:bodyPr/>
          <a:lstStyle>
            <a:lvl1pPr>
              <a:lnSpc>
                <a:spcPct val="120000"/>
              </a:lnSpc>
              <a:defRPr>
                <a:latin typeface="+mn-lt"/>
              </a:defRPr>
            </a:lvl1pPr>
            <a:lvl2pPr>
              <a:lnSpc>
                <a:spcPct val="120000"/>
              </a:lnSpc>
              <a:defRPr>
                <a:latin typeface="+mn-lt"/>
              </a:defRPr>
            </a:lvl2pPr>
            <a:lvl3pPr>
              <a:lnSpc>
                <a:spcPct val="120000"/>
              </a:lnSpc>
              <a:defRPr>
                <a:latin typeface="+mn-lt"/>
              </a:defRPr>
            </a:lvl3pPr>
            <a:lvl4pPr>
              <a:lnSpc>
                <a:spcPct val="120000"/>
              </a:lnSpc>
              <a:defRPr>
                <a:latin typeface="+mn-lt"/>
              </a:defRPr>
            </a:lvl4pPr>
            <a:lvl5pPr>
              <a:lnSpc>
                <a:spcPct val="120000"/>
              </a:lnSpc>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a:extLst>
              <a:ext uri="{FF2B5EF4-FFF2-40B4-BE49-F238E27FC236}">
                <a16:creationId xmlns:a16="http://schemas.microsoft.com/office/drawing/2014/main" id="{AB003F58-7C49-43D5-A3D1-B3A969BE0A8F}"/>
              </a:ext>
            </a:extLst>
          </p:cNvPr>
          <p:cNvSpPr>
            <a:spLocks noGrp="1"/>
          </p:cNvSpPr>
          <p:nvPr>
            <p:ph type="dt" sz="half" idx="10"/>
          </p:nvPr>
        </p:nvSpPr>
        <p:spPr/>
        <p:txBody>
          <a:bodyPr/>
          <a:lstStyle>
            <a:lvl1pPr>
              <a:lnSpc>
                <a:spcPct val="120000"/>
              </a:lnSpc>
              <a:defRPr/>
            </a:lvl1pPr>
          </a:lstStyle>
          <a:p>
            <a:fld id="{B084E9F9-C78E-4B43-BFC4-7328A9A9B681}" type="datetimeFigureOut">
              <a:rPr lang="zh-CN" altLang="en-US" smtClean="0"/>
              <a:pPr/>
              <a:t>2024/7/9</a:t>
            </a:fld>
            <a:endParaRPr lang="zh-CN" altLang="en-US"/>
          </a:p>
        </p:txBody>
      </p:sp>
      <p:sp>
        <p:nvSpPr>
          <p:cNvPr id="8" name="页脚占位符 7">
            <a:extLst>
              <a:ext uri="{FF2B5EF4-FFF2-40B4-BE49-F238E27FC236}">
                <a16:creationId xmlns:a16="http://schemas.microsoft.com/office/drawing/2014/main" id="{4DD9A7E8-3C85-4801-9E4D-111A3B981AAF}"/>
              </a:ext>
            </a:extLst>
          </p:cNvPr>
          <p:cNvSpPr>
            <a:spLocks noGrp="1"/>
          </p:cNvSpPr>
          <p:nvPr>
            <p:ph type="ftr" sz="quarter" idx="11"/>
          </p:nvPr>
        </p:nvSpPr>
        <p:spPr/>
        <p:txBody>
          <a:bodyPr/>
          <a:lstStyle>
            <a:lvl1pPr>
              <a:lnSpc>
                <a:spcPct val="120000"/>
              </a:lnSpc>
              <a:defRPr/>
            </a:lvl1pPr>
          </a:lstStyle>
          <a:p>
            <a:endParaRPr lang="zh-CN" altLang="en-US"/>
          </a:p>
        </p:txBody>
      </p:sp>
      <p:sp>
        <p:nvSpPr>
          <p:cNvPr id="9" name="灯片编号占位符 8">
            <a:extLst>
              <a:ext uri="{FF2B5EF4-FFF2-40B4-BE49-F238E27FC236}">
                <a16:creationId xmlns:a16="http://schemas.microsoft.com/office/drawing/2014/main" id="{45B2A24D-FBE5-4D56-AD80-01C1063713F2}"/>
              </a:ext>
            </a:extLst>
          </p:cNvPr>
          <p:cNvSpPr>
            <a:spLocks noGrp="1"/>
          </p:cNvSpPr>
          <p:nvPr>
            <p:ph type="sldNum" sz="quarter" idx="12"/>
          </p:nvPr>
        </p:nvSpPr>
        <p:spPr/>
        <p:txBody>
          <a:bodyPr/>
          <a:lstStyle>
            <a:lvl1pPr>
              <a:lnSpc>
                <a:spcPct val="120000"/>
              </a:lnSpc>
              <a:defRPr/>
            </a:lvl1pPr>
          </a:lstStyle>
          <a:p>
            <a:fld id="{2F0485D5-9E03-4020-B25B-C8A61AD6A676}" type="slidenum">
              <a:rPr lang="zh-CN" altLang="en-US" smtClean="0"/>
              <a:pPr/>
              <a:t>‹#›</a:t>
            </a:fld>
            <a:endParaRPr lang="zh-CN" altLang="en-US"/>
          </a:p>
        </p:txBody>
      </p:sp>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Tree>
    <p:extLst>
      <p:ext uri="{BB962C8B-B14F-4D97-AF65-F5344CB8AC3E}">
        <p14:creationId xmlns:p14="http://schemas.microsoft.com/office/powerpoint/2010/main" val="3365494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D05D73AB-11D1-4981-9368-43F60872835D}"/>
              </a:ext>
            </a:extLst>
          </p:cNvPr>
          <p:cNvSpPr>
            <a:spLocks noGrp="1"/>
          </p:cNvSpPr>
          <p:nvPr>
            <p:ph type="title"/>
          </p:nvPr>
        </p:nvSpPr>
        <p:spPr/>
        <p:txBody>
          <a:bodyPr>
            <a:normAutofit/>
          </a:bodyPr>
          <a:lstStyle>
            <a:lvl1pPr>
              <a:lnSpc>
                <a:spcPct val="120000"/>
              </a:lnSpc>
              <a:defRPr sz="4000">
                <a:latin typeface="+mn-lt"/>
              </a:defRPr>
            </a:lvl1pPr>
          </a:lstStyle>
          <a:p>
            <a:r>
              <a:rPr lang="zh-CN" altLang="en-US" dirty="0"/>
              <a:t>单击此处编辑母版标题样式</a:t>
            </a:r>
          </a:p>
        </p:txBody>
      </p:sp>
      <p:sp>
        <p:nvSpPr>
          <p:cNvPr id="3" name="日期占位符 2">
            <a:extLst>
              <a:ext uri="{FF2B5EF4-FFF2-40B4-BE49-F238E27FC236}">
                <a16:creationId xmlns:a16="http://schemas.microsoft.com/office/drawing/2014/main" id="{DBB7B4CA-3CD6-4B49-877C-211DF73E561A}"/>
              </a:ext>
            </a:extLst>
          </p:cNvPr>
          <p:cNvSpPr>
            <a:spLocks noGrp="1"/>
          </p:cNvSpPr>
          <p:nvPr>
            <p:ph type="dt" sz="half" idx="10"/>
          </p:nvPr>
        </p:nvSpPr>
        <p:spPr/>
        <p:txBody>
          <a:bodyPr/>
          <a:lstStyle>
            <a:lvl1pPr>
              <a:lnSpc>
                <a:spcPct val="120000"/>
              </a:lnSpc>
              <a:defRPr>
                <a:latin typeface="+mn-lt"/>
              </a:defRPr>
            </a:lvl1pPr>
          </a:lstStyle>
          <a:p>
            <a:fld id="{B084E9F9-C78E-4B43-BFC4-7328A9A9B681}" type="datetimeFigureOut">
              <a:rPr lang="zh-CN" altLang="en-US" smtClean="0"/>
              <a:pPr/>
              <a:t>2024/7/9</a:t>
            </a:fld>
            <a:endParaRPr lang="zh-CN" altLang="en-US"/>
          </a:p>
        </p:txBody>
      </p:sp>
      <p:sp>
        <p:nvSpPr>
          <p:cNvPr id="4" name="页脚占位符 3">
            <a:extLst>
              <a:ext uri="{FF2B5EF4-FFF2-40B4-BE49-F238E27FC236}">
                <a16:creationId xmlns:a16="http://schemas.microsoft.com/office/drawing/2014/main" id="{2320833A-D84C-4AA5-A4E5-89293C0941FE}"/>
              </a:ext>
            </a:extLst>
          </p:cNvPr>
          <p:cNvSpPr>
            <a:spLocks noGrp="1"/>
          </p:cNvSpPr>
          <p:nvPr>
            <p:ph type="ftr" sz="quarter" idx="11"/>
          </p:nvPr>
        </p:nvSpPr>
        <p:spPr/>
        <p:txBody>
          <a:bodyPr/>
          <a:lstStyle>
            <a:lvl1pPr>
              <a:lnSpc>
                <a:spcPct val="120000"/>
              </a:lnSpc>
              <a:defRPr>
                <a:latin typeface="+mn-lt"/>
              </a:defRPr>
            </a:lvl1pPr>
          </a:lstStyle>
          <a:p>
            <a:endParaRPr lang="zh-CN" altLang="en-US"/>
          </a:p>
        </p:txBody>
      </p:sp>
      <p:sp>
        <p:nvSpPr>
          <p:cNvPr id="5" name="灯片编号占位符 4">
            <a:extLst>
              <a:ext uri="{FF2B5EF4-FFF2-40B4-BE49-F238E27FC236}">
                <a16:creationId xmlns:a16="http://schemas.microsoft.com/office/drawing/2014/main" id="{131A098F-361B-45B7-9328-0C0CC88000DE}"/>
              </a:ext>
            </a:extLst>
          </p:cNvPr>
          <p:cNvSpPr>
            <a:spLocks noGrp="1"/>
          </p:cNvSpPr>
          <p:nvPr>
            <p:ph type="sldNum" sz="quarter" idx="12"/>
          </p:nvPr>
        </p:nvSpPr>
        <p:spPr/>
        <p:txBody>
          <a:bodyPr/>
          <a:lstStyle>
            <a:lvl1pPr>
              <a:lnSpc>
                <a:spcPct val="120000"/>
              </a:lnSpc>
              <a:defRPr>
                <a:latin typeface="+mn-lt"/>
              </a:defRPr>
            </a:lvl1pPr>
          </a:lstStyle>
          <a:p>
            <a:fld id="{2F0485D5-9E03-4020-B25B-C8A61AD6A676}" type="slidenum">
              <a:rPr lang="zh-CN" altLang="en-US" smtClean="0"/>
              <a:pPr/>
              <a:t>‹#›</a:t>
            </a:fld>
            <a:endParaRPr lang="zh-CN" altLang="en-US"/>
          </a:p>
        </p:txBody>
      </p:sp>
    </p:spTree>
    <p:extLst>
      <p:ext uri="{BB962C8B-B14F-4D97-AF65-F5344CB8AC3E}">
        <p14:creationId xmlns:p14="http://schemas.microsoft.com/office/powerpoint/2010/main" val="8744231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日期占位符 1">
            <a:extLst>
              <a:ext uri="{FF2B5EF4-FFF2-40B4-BE49-F238E27FC236}">
                <a16:creationId xmlns:a16="http://schemas.microsoft.com/office/drawing/2014/main" id="{83B5D28D-AE9D-4887-A8CE-67AB1279BCB6}"/>
              </a:ext>
            </a:extLst>
          </p:cNvPr>
          <p:cNvSpPr>
            <a:spLocks noGrp="1"/>
          </p:cNvSpPr>
          <p:nvPr>
            <p:ph type="dt" sz="half" idx="10"/>
          </p:nvPr>
        </p:nvSpPr>
        <p:spPr/>
        <p:txBody>
          <a:bodyPr/>
          <a:lstStyle>
            <a:lvl1pPr>
              <a:lnSpc>
                <a:spcPct val="120000"/>
              </a:lnSpc>
              <a:defRPr>
                <a:latin typeface="+mn-lt"/>
              </a:defRPr>
            </a:lvl1pPr>
          </a:lstStyle>
          <a:p>
            <a:fld id="{B084E9F9-C78E-4B43-BFC4-7328A9A9B681}" type="datetimeFigureOut">
              <a:rPr lang="zh-CN" altLang="en-US" smtClean="0"/>
              <a:pPr/>
              <a:t>2024/7/9</a:t>
            </a:fld>
            <a:endParaRPr lang="zh-CN" altLang="en-US"/>
          </a:p>
        </p:txBody>
      </p:sp>
      <p:sp>
        <p:nvSpPr>
          <p:cNvPr id="3" name="页脚占位符 2">
            <a:extLst>
              <a:ext uri="{FF2B5EF4-FFF2-40B4-BE49-F238E27FC236}">
                <a16:creationId xmlns:a16="http://schemas.microsoft.com/office/drawing/2014/main" id="{76AFF75D-410E-4FF5-91F1-E635B2B4D253}"/>
              </a:ext>
            </a:extLst>
          </p:cNvPr>
          <p:cNvSpPr>
            <a:spLocks noGrp="1"/>
          </p:cNvSpPr>
          <p:nvPr>
            <p:ph type="ftr" sz="quarter" idx="11"/>
          </p:nvPr>
        </p:nvSpPr>
        <p:spPr/>
        <p:txBody>
          <a:bodyPr/>
          <a:lstStyle>
            <a:lvl1pPr>
              <a:lnSpc>
                <a:spcPct val="120000"/>
              </a:lnSpc>
              <a:defRPr>
                <a:latin typeface="+mn-lt"/>
              </a:defRPr>
            </a:lvl1pPr>
          </a:lstStyle>
          <a:p>
            <a:endParaRPr lang="zh-CN" altLang="en-US"/>
          </a:p>
        </p:txBody>
      </p:sp>
      <p:sp>
        <p:nvSpPr>
          <p:cNvPr id="4" name="灯片编号占位符 3">
            <a:extLst>
              <a:ext uri="{FF2B5EF4-FFF2-40B4-BE49-F238E27FC236}">
                <a16:creationId xmlns:a16="http://schemas.microsoft.com/office/drawing/2014/main" id="{2B2B8D5D-EBBC-4D0B-81BA-D6EE7D1B9F09}"/>
              </a:ext>
            </a:extLst>
          </p:cNvPr>
          <p:cNvSpPr>
            <a:spLocks noGrp="1"/>
          </p:cNvSpPr>
          <p:nvPr>
            <p:ph type="sldNum" sz="quarter" idx="12"/>
          </p:nvPr>
        </p:nvSpPr>
        <p:spPr/>
        <p:txBody>
          <a:bodyPr/>
          <a:lstStyle>
            <a:lvl1pPr>
              <a:lnSpc>
                <a:spcPct val="120000"/>
              </a:lnSpc>
              <a:defRPr>
                <a:latin typeface="+mn-lt"/>
              </a:defRPr>
            </a:lvl1pPr>
          </a:lstStyle>
          <a:p>
            <a:fld id="{2F0485D5-9E03-4020-B25B-C8A61AD6A676}" type="slidenum">
              <a:rPr lang="zh-CN" altLang="en-US" smtClean="0"/>
              <a:pPr/>
              <a:t>‹#›</a:t>
            </a:fld>
            <a:endParaRPr lang="zh-CN" altLang="en-US"/>
          </a:p>
        </p:txBody>
      </p:sp>
    </p:spTree>
    <p:extLst>
      <p:ext uri="{BB962C8B-B14F-4D97-AF65-F5344CB8AC3E}">
        <p14:creationId xmlns:p14="http://schemas.microsoft.com/office/powerpoint/2010/main" val="3833166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7180F32D-4D49-416F-900C-56A021BAA253}"/>
              </a:ext>
            </a:extLst>
          </p:cNvPr>
          <p:cNvSpPr>
            <a:spLocks noGrp="1"/>
          </p:cNvSpPr>
          <p:nvPr>
            <p:ph type="title"/>
          </p:nvPr>
        </p:nvSpPr>
        <p:spPr>
          <a:xfrm>
            <a:off x="839788" y="457200"/>
            <a:ext cx="3932237" cy="1600200"/>
          </a:xfrm>
        </p:spPr>
        <p:txBody>
          <a:bodyPr anchor="b"/>
          <a:lstStyle>
            <a:lvl1pPr>
              <a:defRPr sz="3200">
                <a:latin typeface="+mn-lt"/>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489A1975-CD99-4E06-9E45-D308D959EDC9}"/>
              </a:ext>
            </a:extLst>
          </p:cNvPr>
          <p:cNvSpPr>
            <a:spLocks noGrp="1"/>
          </p:cNvSpPr>
          <p:nvPr>
            <p:ph idx="1"/>
          </p:nvPr>
        </p:nvSpPr>
        <p:spPr>
          <a:xfrm>
            <a:off x="5183188" y="987425"/>
            <a:ext cx="6172200" cy="4873625"/>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a:extLst>
              <a:ext uri="{FF2B5EF4-FFF2-40B4-BE49-F238E27FC236}">
                <a16:creationId xmlns:a16="http://schemas.microsoft.com/office/drawing/2014/main" id="{90C04A39-44D7-40D5-879F-9B291A6F34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4018CF9-B53E-4812-BEF1-A52E0A34A819}"/>
              </a:ext>
            </a:extLst>
          </p:cNvPr>
          <p:cNvSpPr>
            <a:spLocks noGrp="1"/>
          </p:cNvSpPr>
          <p:nvPr>
            <p:ph type="dt" sz="half" idx="10"/>
          </p:nvPr>
        </p:nvSpPr>
        <p:spPr/>
        <p:txBody>
          <a:bodyPr/>
          <a:lstStyle/>
          <a:p>
            <a:fld id="{B084E9F9-C78E-4B43-BFC4-7328A9A9B681}" type="datetimeFigureOut">
              <a:rPr lang="zh-CN" altLang="en-US" smtClean="0"/>
              <a:t>2024/7/9</a:t>
            </a:fld>
            <a:endParaRPr lang="zh-CN" altLang="en-US"/>
          </a:p>
        </p:txBody>
      </p:sp>
      <p:sp>
        <p:nvSpPr>
          <p:cNvPr id="6" name="页脚占位符 5">
            <a:extLst>
              <a:ext uri="{FF2B5EF4-FFF2-40B4-BE49-F238E27FC236}">
                <a16:creationId xmlns:a16="http://schemas.microsoft.com/office/drawing/2014/main" id="{0FA403AC-06D8-4A58-A310-BBD1CF8993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DF87A4F-9495-4E5A-9C28-E5809E59EB63}"/>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31767457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F1ECD109-4A98-49F1-AC02-939490484F0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CBD343E-388B-4353-9336-2656832B0C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9FBF39C-1448-4F68-AD3E-BFA9643DB6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CA9F964B-5762-4399-8D43-3F4D77D8A5F2}"/>
              </a:ext>
            </a:extLst>
          </p:cNvPr>
          <p:cNvSpPr>
            <a:spLocks noGrp="1"/>
          </p:cNvSpPr>
          <p:nvPr>
            <p:ph type="dt" sz="half" idx="10"/>
          </p:nvPr>
        </p:nvSpPr>
        <p:spPr/>
        <p:txBody>
          <a:bodyPr/>
          <a:lstStyle/>
          <a:p>
            <a:fld id="{B084E9F9-C78E-4B43-BFC4-7328A9A9B681}" type="datetimeFigureOut">
              <a:rPr lang="zh-CN" altLang="en-US" smtClean="0"/>
              <a:t>2024/7/9</a:t>
            </a:fld>
            <a:endParaRPr lang="zh-CN" altLang="en-US"/>
          </a:p>
        </p:txBody>
      </p:sp>
      <p:sp>
        <p:nvSpPr>
          <p:cNvPr id="6" name="页脚占位符 5">
            <a:extLst>
              <a:ext uri="{FF2B5EF4-FFF2-40B4-BE49-F238E27FC236}">
                <a16:creationId xmlns:a16="http://schemas.microsoft.com/office/drawing/2014/main" id="{75F14C33-5019-4572-8BA2-48878300B1A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F02535E-DC52-4683-9666-75A5550FD9C7}"/>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11849204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13" name="图片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 1">
            <a:extLst>
              <a:ext uri="{FF2B5EF4-FFF2-40B4-BE49-F238E27FC236}">
                <a16:creationId xmlns:a16="http://schemas.microsoft.com/office/drawing/2014/main" id="{E3D9C18A-2360-4597-BBA1-EB6F8852D6B2}"/>
              </a:ext>
            </a:extLst>
          </p:cNvPr>
          <p:cNvSpPr>
            <a:spLocks noGrp="1"/>
          </p:cNvSpPr>
          <p:nvPr>
            <p:ph type="title"/>
          </p:nvPr>
        </p:nvSpPr>
        <p:spPr/>
        <p:txBody>
          <a:bodyPr>
            <a:normAutofit/>
          </a:bodyPr>
          <a:lstStyle>
            <a:lvl1pPr>
              <a:defRPr sz="4000">
                <a:latin typeface="+mn-lt"/>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49894833-8FFA-40C4-A850-C5E4415BABC4}"/>
              </a:ext>
            </a:extLst>
          </p:cNvPr>
          <p:cNvSpPr>
            <a:spLocks noGrp="1"/>
          </p:cNvSpPr>
          <p:nvPr>
            <p:ph idx="1"/>
          </p:nvPr>
        </p:nvSpPr>
        <p:spPr/>
        <p:txBody>
          <a:bodyPr/>
          <a:lstStyle>
            <a:lvl1pPr>
              <a:defRPr sz="26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7D47DCC4-8BE8-494A-8CC1-23B5B130A50A}"/>
              </a:ext>
            </a:extLst>
          </p:cNvPr>
          <p:cNvSpPr>
            <a:spLocks noGrp="1"/>
          </p:cNvSpPr>
          <p:nvPr>
            <p:ph type="dt" sz="half" idx="10"/>
          </p:nvPr>
        </p:nvSpPr>
        <p:spPr/>
        <p:txBody>
          <a:bodyPr/>
          <a:lstStyle/>
          <a:p>
            <a:fld id="{B084E9F9-C78E-4B43-BFC4-7328A9A9B681}" type="datetimeFigureOut">
              <a:rPr lang="zh-CN" altLang="en-US" smtClean="0"/>
              <a:t>2024/7/9</a:t>
            </a:fld>
            <a:endParaRPr lang="zh-CN" altLang="en-US"/>
          </a:p>
        </p:txBody>
      </p:sp>
      <p:sp>
        <p:nvSpPr>
          <p:cNvPr id="5" name="页脚占位符 4">
            <a:extLst>
              <a:ext uri="{FF2B5EF4-FFF2-40B4-BE49-F238E27FC236}">
                <a16:creationId xmlns:a16="http://schemas.microsoft.com/office/drawing/2014/main" id="{514BC21E-CFC7-4ACE-A332-C47782EBA31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8944475-A8D0-49C5-982E-AD2AE6D60A1D}"/>
              </a:ext>
            </a:extLst>
          </p:cNvPr>
          <p:cNvSpPr>
            <a:spLocks noGrp="1"/>
          </p:cNvSpPr>
          <p:nvPr>
            <p:ph type="sldNum" sz="quarter" idx="12"/>
          </p:nvPr>
        </p:nvSpPr>
        <p:spPr/>
        <p:txBody>
          <a:body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108359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image" Target="../media/image1.pn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theme" Target="../theme/theme2.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占位符 1">
            <a:extLst>
              <a:ext uri="{FF2B5EF4-FFF2-40B4-BE49-F238E27FC236}">
                <a16:creationId xmlns:a16="http://schemas.microsoft.com/office/drawing/2014/main" id="{5BDD4DA5-7CDF-41C7-842B-C65E40C8EC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355DD46D-0C86-4CE6-B4CB-E685DB67B7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66825EA9-D021-48CB-A587-4B37D2A314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84E9F9-C78E-4B43-BFC4-7328A9A9B681}" type="datetimeFigureOut">
              <a:rPr lang="zh-CN" altLang="en-US" smtClean="0"/>
              <a:t>2024/7/9</a:t>
            </a:fld>
            <a:endParaRPr lang="zh-CN" altLang="en-US"/>
          </a:p>
        </p:txBody>
      </p:sp>
      <p:sp>
        <p:nvSpPr>
          <p:cNvPr id="5" name="页脚占位符 4">
            <a:extLst>
              <a:ext uri="{FF2B5EF4-FFF2-40B4-BE49-F238E27FC236}">
                <a16:creationId xmlns:a16="http://schemas.microsoft.com/office/drawing/2014/main" id="{5EC24D08-70E2-4241-866D-8CD5E7ACB8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FE7F49E-E35F-4F73-9004-29599BB631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423684766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Lst>
  <p:txStyles>
    <p:titleStyle>
      <a:lvl1pPr algn="l" defTabSz="914400" rtl="0" eaLnBrk="1" latinLnBrk="0" hangingPunct="1">
        <a:lnSpc>
          <a:spcPct val="90000"/>
        </a:lnSpc>
        <a:spcBef>
          <a:spcPct val="0"/>
        </a:spcBef>
        <a:buNone/>
        <a:defRPr sz="4000" kern="1200">
          <a:solidFill>
            <a:schemeClr val="tx1"/>
          </a:solidFill>
          <a:latin typeface="+mn-lt"/>
          <a:ea typeface="微软雅黑" panose="020B0503020204020204" pitchFamily="34" charset="-122"/>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600" kern="1200">
          <a:solidFill>
            <a:schemeClr val="tx1"/>
          </a:solidFill>
          <a:latin typeface="+mn-lt"/>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mn-lt"/>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1" y="-1"/>
            <a:ext cx="12189431" cy="1243321"/>
          </a:xfrm>
          <a:prstGeom prst="rect">
            <a:avLst/>
          </a:prstGeom>
        </p:spPr>
      </p:pic>
      <p:sp>
        <p:nvSpPr>
          <p:cNvPr id="2" name="标题占位符 1">
            <a:extLst>
              <a:ext uri="{FF2B5EF4-FFF2-40B4-BE49-F238E27FC236}">
                <a16:creationId xmlns:a16="http://schemas.microsoft.com/office/drawing/2014/main" id="{5BDD4DA5-7CDF-41C7-842B-C65E40C8EC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355DD46D-0C86-4CE6-B4CB-E685DB67B7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66825EA9-D021-48CB-A587-4B37D2A314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84E9F9-C78E-4B43-BFC4-7328A9A9B681}" type="datetimeFigureOut">
              <a:rPr lang="zh-CN" altLang="en-US" smtClean="0"/>
              <a:t>2024/7/9</a:t>
            </a:fld>
            <a:endParaRPr lang="zh-CN" altLang="en-US"/>
          </a:p>
        </p:txBody>
      </p:sp>
      <p:sp>
        <p:nvSpPr>
          <p:cNvPr id="5" name="页脚占位符 4">
            <a:extLst>
              <a:ext uri="{FF2B5EF4-FFF2-40B4-BE49-F238E27FC236}">
                <a16:creationId xmlns:a16="http://schemas.microsoft.com/office/drawing/2014/main" id="{5EC24D08-70E2-4241-866D-8CD5E7ACB8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FE7F49E-E35F-4F73-9004-29599BB631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0485D5-9E03-4020-B25B-C8A61AD6A676}" type="slidenum">
              <a:rPr lang="zh-CN" altLang="en-US" smtClean="0"/>
              <a:t>‹#›</a:t>
            </a:fld>
            <a:endParaRPr lang="zh-CN" altLang="en-US"/>
          </a:p>
        </p:txBody>
      </p:sp>
    </p:spTree>
    <p:extLst>
      <p:ext uri="{BB962C8B-B14F-4D97-AF65-F5344CB8AC3E}">
        <p14:creationId xmlns:p14="http://schemas.microsoft.com/office/powerpoint/2010/main" val="1025260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Lst>
  <p:txStyles>
    <p:titleStyle>
      <a:lvl1pPr algn="l" defTabSz="914400" rtl="0" eaLnBrk="1" latinLnBrk="0" hangingPunct="1">
        <a:lnSpc>
          <a:spcPct val="90000"/>
        </a:lnSpc>
        <a:spcBef>
          <a:spcPct val="0"/>
        </a:spcBef>
        <a:buNone/>
        <a:defRPr sz="4000" kern="1200">
          <a:solidFill>
            <a:schemeClr val="tx1"/>
          </a:solidFill>
          <a:latin typeface="+mn-lt"/>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6.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gif"/></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6.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6.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BC71296-B7DB-8FCB-C492-290895CCAC7E}"/>
              </a:ext>
            </a:extLst>
          </p:cNvPr>
          <p:cNvSpPr>
            <a:spLocks noGrp="1"/>
          </p:cNvSpPr>
          <p:nvPr>
            <p:ph type="subTitle" idx="1"/>
          </p:nvPr>
        </p:nvSpPr>
        <p:spPr>
          <a:xfrm>
            <a:off x="4344076" y="5355796"/>
            <a:ext cx="3503847" cy="988284"/>
          </a:xfrm>
        </p:spPr>
        <p:txBody>
          <a:bodyPr>
            <a:normAutofit/>
          </a:bodyPr>
          <a:lstStyle/>
          <a:p>
            <a:r>
              <a:rPr lang="en-US" altLang="zh-CN" dirty="0"/>
              <a:t>Reporter: </a:t>
            </a:r>
            <a:r>
              <a:rPr lang="zh-CN" altLang="en-US" dirty="0"/>
              <a:t>高旭帆</a:t>
            </a:r>
            <a:endParaRPr lang="en-US" altLang="zh-CN" dirty="0"/>
          </a:p>
          <a:p>
            <a:r>
              <a:rPr lang="en-US" altLang="zh-CN" dirty="0"/>
              <a:t>Date: 2024.7.10</a:t>
            </a:r>
          </a:p>
        </p:txBody>
      </p:sp>
      <p:pic>
        <p:nvPicPr>
          <p:cNvPr id="7" name="Picture 6">
            <a:extLst>
              <a:ext uri="{FF2B5EF4-FFF2-40B4-BE49-F238E27FC236}">
                <a16:creationId xmlns:a16="http://schemas.microsoft.com/office/drawing/2014/main" id="{8CF709C8-AC4A-D5C1-5400-6CBC6628A2F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90811" y="860613"/>
            <a:ext cx="8756101" cy="3371783"/>
          </a:xfrm>
          <a:prstGeom prst="rect">
            <a:avLst/>
          </a:prstGeom>
        </p:spPr>
      </p:pic>
      <p:pic>
        <p:nvPicPr>
          <p:cNvPr id="9" name="Picture 8">
            <a:extLst>
              <a:ext uri="{FF2B5EF4-FFF2-40B4-BE49-F238E27FC236}">
                <a16:creationId xmlns:a16="http://schemas.microsoft.com/office/drawing/2014/main" id="{4496C528-2702-EDE9-7ED6-0BB32BE4EBAF}"/>
              </a:ext>
            </a:extLst>
          </p:cNvPr>
          <p:cNvPicPr>
            <a:picLocks noChangeAspect="1"/>
          </p:cNvPicPr>
          <p:nvPr/>
        </p:nvPicPr>
        <p:blipFill>
          <a:blip r:embed="rId4"/>
          <a:stretch>
            <a:fillRect/>
          </a:stretch>
        </p:blipFill>
        <p:spPr>
          <a:xfrm>
            <a:off x="8361110" y="4054755"/>
            <a:ext cx="3252829" cy="1795183"/>
          </a:xfrm>
          <a:prstGeom prst="rect">
            <a:avLst/>
          </a:prstGeom>
        </p:spPr>
      </p:pic>
    </p:spTree>
    <p:extLst>
      <p:ext uri="{BB962C8B-B14F-4D97-AF65-F5344CB8AC3E}">
        <p14:creationId xmlns:p14="http://schemas.microsoft.com/office/powerpoint/2010/main" val="4108092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0"/>
            <a:ext cx="1915494"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915495"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Introduction</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915493" y="161541"/>
            <a:ext cx="7180062"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Authors &amp; summary</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灯片编号占位符 1">
            <a:extLst>
              <a:ext uri="{FF2B5EF4-FFF2-40B4-BE49-F238E27FC236}">
                <a16:creationId xmlns:a16="http://schemas.microsoft.com/office/drawing/2014/main" id="{6211A31F-A3BE-9D50-91C3-997E2FA35EC5}"/>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2</a:t>
            </a:fld>
            <a:endParaRPr lang="zh-CN" altLang="en-US" dirty="0">
              <a:solidFill>
                <a:schemeClr val="accent1"/>
              </a:solidFill>
            </a:endParaRPr>
          </a:p>
        </p:txBody>
      </p:sp>
      <p:pic>
        <p:nvPicPr>
          <p:cNvPr id="1026" name="Picture 2">
            <a:extLst>
              <a:ext uri="{FF2B5EF4-FFF2-40B4-BE49-F238E27FC236}">
                <a16:creationId xmlns:a16="http://schemas.microsoft.com/office/drawing/2014/main" id="{36EE4BC6-9566-6F1B-7AC0-C71D3AD57A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386084" y="1527617"/>
            <a:ext cx="1529409" cy="196715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117D316-CAF4-0FE3-CF49-5DF21CFC2B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399059" y="4135762"/>
            <a:ext cx="1517148" cy="213985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A62F0E19-4165-5892-8949-1F3310B8D125}"/>
              </a:ext>
            </a:extLst>
          </p:cNvPr>
          <p:cNvSpPr txBox="1"/>
          <p:nvPr/>
        </p:nvSpPr>
        <p:spPr>
          <a:xfrm>
            <a:off x="2257881" y="1359523"/>
            <a:ext cx="4835437" cy="2056204"/>
          </a:xfrm>
          <a:prstGeom prst="rect">
            <a:avLst/>
          </a:prstGeom>
          <a:noFill/>
        </p:spPr>
        <p:txBody>
          <a:bodyPr wrap="square">
            <a:spAutoFit/>
          </a:bodyPr>
          <a:lstStyle/>
          <a:p>
            <a:pPr>
              <a:lnSpc>
                <a:spcPct val="120000"/>
              </a:lnSpc>
            </a:pPr>
            <a:r>
              <a:rPr lang="en-US" altLang="zh-CN" dirty="0" err="1"/>
              <a:t>Honglin</a:t>
            </a:r>
            <a:r>
              <a:rPr lang="en-US" altLang="zh-CN" dirty="0"/>
              <a:t> Li </a:t>
            </a:r>
            <a:r>
              <a:rPr lang="en-US" altLang="zh-CN" dirty="0" err="1"/>
              <a:t>Ph.D</a:t>
            </a:r>
            <a:r>
              <a:rPr lang="en-US" altLang="zh-CN" dirty="0"/>
              <a:t>, Professor</a:t>
            </a:r>
          </a:p>
          <a:p>
            <a:pPr marL="285750" indent="-285750">
              <a:lnSpc>
                <a:spcPct val="120000"/>
              </a:lnSpc>
              <a:buFont typeface="Wingdings" panose="05000000000000000000" pitchFamily="2" charset="2"/>
              <a:buChar char="Ø"/>
            </a:pPr>
            <a:r>
              <a:rPr lang="en-US" altLang="zh-CN" dirty="0"/>
              <a:t>Research: drug design, computational biology and drug informatics, with a focus on basic research related to target identification and drug discovery, which are well validated in web lab</a:t>
            </a:r>
            <a:endParaRPr lang="zh-CN" altLang="en-US" dirty="0"/>
          </a:p>
        </p:txBody>
      </p:sp>
      <p:sp>
        <p:nvSpPr>
          <p:cNvPr id="12" name="TextBox 11">
            <a:extLst>
              <a:ext uri="{FF2B5EF4-FFF2-40B4-BE49-F238E27FC236}">
                <a16:creationId xmlns:a16="http://schemas.microsoft.com/office/drawing/2014/main" id="{F6E9F067-3BDD-3006-21C8-F5952F59E9DA}"/>
              </a:ext>
            </a:extLst>
          </p:cNvPr>
          <p:cNvSpPr txBox="1"/>
          <p:nvPr/>
        </p:nvSpPr>
        <p:spPr>
          <a:xfrm>
            <a:off x="2257881" y="4072738"/>
            <a:ext cx="4835437" cy="1059008"/>
          </a:xfrm>
          <a:prstGeom prst="rect">
            <a:avLst/>
          </a:prstGeom>
          <a:noFill/>
        </p:spPr>
        <p:txBody>
          <a:bodyPr wrap="square">
            <a:spAutoFit/>
          </a:bodyPr>
          <a:lstStyle/>
          <a:p>
            <a:pPr>
              <a:lnSpc>
                <a:spcPct val="120000"/>
              </a:lnSpc>
            </a:pPr>
            <a:r>
              <a:rPr lang="en-US" altLang="zh-CN" dirty="0" err="1"/>
              <a:t>Zhuo</a:t>
            </a:r>
            <a:r>
              <a:rPr lang="en-US" altLang="zh-CN" dirty="0"/>
              <a:t> Chen, PhD, Associate Professor</a:t>
            </a:r>
          </a:p>
          <a:p>
            <a:pPr marL="285750" indent="-285750">
              <a:lnSpc>
                <a:spcPct val="120000"/>
              </a:lnSpc>
              <a:buFont typeface="Wingdings" panose="05000000000000000000" pitchFamily="2" charset="2"/>
              <a:buChar char="Ø"/>
            </a:pPr>
            <a:r>
              <a:rPr lang="en-US" altLang="zh-CN" dirty="0"/>
              <a:t>Research: anticancer drug development</a:t>
            </a:r>
          </a:p>
          <a:p>
            <a:pPr marL="285750" indent="-285750">
              <a:lnSpc>
                <a:spcPct val="120000"/>
              </a:lnSpc>
              <a:buFont typeface="Wingdings" panose="05000000000000000000" pitchFamily="2" charset="2"/>
              <a:buChar char="Ø"/>
            </a:pPr>
            <a:endParaRPr lang="zh-CN" altLang="en-US" dirty="0"/>
          </a:p>
        </p:txBody>
      </p:sp>
      <p:sp>
        <p:nvSpPr>
          <p:cNvPr id="20" name="AutoShape 10">
            <a:extLst>
              <a:ext uri="{FF2B5EF4-FFF2-40B4-BE49-F238E27FC236}">
                <a16:creationId xmlns:a16="http://schemas.microsoft.com/office/drawing/2014/main" id="{6ADC41D1-8CD3-6FC5-B382-E584D32D7CF9}"/>
              </a:ext>
            </a:extLst>
          </p:cNvPr>
          <p:cNvSpPr>
            <a:spLocks noChangeAspect="1" noChangeArrowheads="1"/>
          </p:cNvSpPr>
          <p:nvPr/>
        </p:nvSpPr>
        <p:spPr bwMode="auto">
          <a:xfrm>
            <a:off x="5943600" y="3108506"/>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pic>
        <p:nvPicPr>
          <p:cNvPr id="8" name="Picture 7">
            <a:extLst>
              <a:ext uri="{FF2B5EF4-FFF2-40B4-BE49-F238E27FC236}">
                <a16:creationId xmlns:a16="http://schemas.microsoft.com/office/drawing/2014/main" id="{F1FAECEC-E999-1AB8-6662-EDCE9853DF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69574" y="1010105"/>
            <a:ext cx="4243668" cy="2885694"/>
          </a:xfrm>
          <a:prstGeom prst="rect">
            <a:avLst/>
          </a:prstGeom>
        </p:spPr>
      </p:pic>
      <p:sp>
        <p:nvSpPr>
          <p:cNvPr id="9" name="文本框 4">
            <a:extLst>
              <a:ext uri="{FF2B5EF4-FFF2-40B4-BE49-F238E27FC236}">
                <a16:creationId xmlns:a16="http://schemas.microsoft.com/office/drawing/2014/main" id="{79463D2A-C2AB-903E-C611-601ADB29D13B}"/>
              </a:ext>
            </a:extLst>
          </p:cNvPr>
          <p:cNvSpPr txBox="1">
            <a:spLocks/>
          </p:cNvSpPr>
          <p:nvPr/>
        </p:nvSpPr>
        <p:spPr>
          <a:xfrm>
            <a:off x="7434992" y="4054638"/>
            <a:ext cx="4484600" cy="242553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defTabSz="914400" rtl="0" eaLnBrk="1" latinLnBrk="0" hangingPunct="1">
              <a:lnSpc>
                <a:spcPct val="90000"/>
              </a:lnSpc>
              <a:spcBef>
                <a:spcPct val="0"/>
              </a:spcBef>
              <a:buNone/>
              <a:defRPr sz="4000" b="1" kern="1200">
                <a:solidFill>
                  <a:srgbClr val="C00000"/>
                </a:solidFill>
                <a:latin typeface="Times New Roman" panose="02020603050405020304" pitchFamily="18" charset="0"/>
                <a:ea typeface="楷体" panose="02010609060101010101" pitchFamily="49" charset="-122"/>
                <a:cs typeface="+mj-cs"/>
              </a:defRPr>
            </a:lvl1pPr>
          </a:lstStyle>
          <a:p>
            <a:pPr algn="l">
              <a:lnSpc>
                <a:spcPct val="120000"/>
              </a:lnSpc>
              <a:spcBef>
                <a:spcPts val="0"/>
              </a:spcBef>
              <a:defRPr/>
            </a:pPr>
            <a:r>
              <a:rPr lang="en-US" altLang="zh-CN" sz="2000" b="0" dirty="0">
                <a:solidFill>
                  <a:schemeClr val="tx1"/>
                </a:solidFill>
                <a:latin typeface="+mn-lt"/>
                <a:cs typeface="Times New Roman" panose="02020603050405020304" pitchFamily="18" charset="0"/>
              </a:rPr>
              <a:t>Highlights:</a:t>
            </a:r>
          </a:p>
          <a:p>
            <a:pPr marL="342900" indent="-342900" algn="l">
              <a:lnSpc>
                <a:spcPct val="120000"/>
              </a:lnSpc>
              <a:spcBef>
                <a:spcPts val="0"/>
              </a:spcBef>
              <a:buFont typeface="Wingdings" panose="05000000000000000000" pitchFamily="2" charset="2"/>
              <a:buChar char="Ø"/>
              <a:defRPr/>
            </a:pPr>
            <a:r>
              <a:rPr lang="en-US" altLang="zh-CN" sz="1800" b="0" dirty="0">
                <a:solidFill>
                  <a:schemeClr val="tx1"/>
                </a:solidFill>
                <a:latin typeface="+mn-lt"/>
                <a:cs typeface="Times New Roman" panose="02020603050405020304" pitchFamily="18" charset="0"/>
              </a:rPr>
              <a:t>Identified compound 7f that can selectively degrade CDK4/6 </a:t>
            </a:r>
            <a:r>
              <a:rPr lang="en-US" altLang="zh-CN" sz="1800" b="0" i="1" dirty="0">
                <a:solidFill>
                  <a:schemeClr val="tx1"/>
                </a:solidFill>
                <a:latin typeface="+mn-lt"/>
                <a:cs typeface="Times New Roman" panose="02020603050405020304" pitchFamily="18" charset="0"/>
              </a:rPr>
              <a:t>in vitro</a:t>
            </a:r>
          </a:p>
          <a:p>
            <a:pPr marL="342900" indent="-342900" algn="l">
              <a:lnSpc>
                <a:spcPct val="120000"/>
              </a:lnSpc>
              <a:spcBef>
                <a:spcPts val="0"/>
              </a:spcBef>
              <a:buFont typeface="Wingdings" panose="05000000000000000000" pitchFamily="2" charset="2"/>
              <a:buChar char="Ø"/>
              <a:defRPr/>
            </a:pPr>
            <a:r>
              <a:rPr lang="en-US" altLang="zh-CN" sz="1800" b="0" dirty="0">
                <a:solidFill>
                  <a:schemeClr val="tx1"/>
                </a:solidFill>
                <a:latin typeface="+mn-lt"/>
              </a:rPr>
              <a:t>Inhibitory proliferative activity and induced cell apoptosis and G1 phase cell cycle arrest</a:t>
            </a:r>
          </a:p>
          <a:p>
            <a:pPr marL="342900" indent="-342900" algn="l">
              <a:lnSpc>
                <a:spcPct val="120000"/>
              </a:lnSpc>
              <a:spcBef>
                <a:spcPts val="0"/>
              </a:spcBef>
              <a:buFont typeface="Wingdings" panose="05000000000000000000" pitchFamily="2" charset="2"/>
              <a:buChar char="Ø"/>
              <a:defRPr/>
            </a:pPr>
            <a:r>
              <a:rPr lang="en-US" altLang="zh-CN" sz="1800" b="0" dirty="0">
                <a:solidFill>
                  <a:srgbClr val="7030A0"/>
                </a:solidFill>
                <a:latin typeface="+mn-lt"/>
              </a:rPr>
              <a:t>A simple rational design strategy</a:t>
            </a:r>
            <a:endParaRPr lang="zh-CN" altLang="en-US" sz="1800" b="0" dirty="0">
              <a:solidFill>
                <a:srgbClr val="7030A0"/>
              </a:solidFill>
              <a:latin typeface="+mn-lt"/>
              <a:cs typeface="Times New Roman" panose="02020603050405020304" pitchFamily="18" charset="0"/>
            </a:endParaRPr>
          </a:p>
        </p:txBody>
      </p:sp>
      <p:sp>
        <p:nvSpPr>
          <p:cNvPr id="14" name="TextBox 13">
            <a:extLst>
              <a:ext uri="{FF2B5EF4-FFF2-40B4-BE49-F238E27FC236}">
                <a16:creationId xmlns:a16="http://schemas.microsoft.com/office/drawing/2014/main" id="{580A7892-8353-4F6C-B2F9-9438A680CF12}"/>
              </a:ext>
            </a:extLst>
          </p:cNvPr>
          <p:cNvSpPr txBox="1"/>
          <p:nvPr/>
        </p:nvSpPr>
        <p:spPr>
          <a:xfrm>
            <a:off x="2257881" y="5257201"/>
            <a:ext cx="5177111" cy="1059008"/>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altLang="zh-CN" b="0" i="0" dirty="0">
                <a:solidFill>
                  <a:srgbClr val="000000"/>
                </a:solidFill>
                <a:effectLst/>
              </a:rPr>
              <a:t>East China University of Science and Technology, School of Pharmacy</a:t>
            </a:r>
          </a:p>
          <a:p>
            <a:pPr marL="285750" indent="-285750">
              <a:lnSpc>
                <a:spcPct val="120000"/>
              </a:lnSpc>
              <a:buFont typeface="Arial" panose="020B0604020202020204" pitchFamily="34" charset="0"/>
              <a:buChar char="•"/>
            </a:pPr>
            <a:r>
              <a:rPr lang="en-US" altLang="zh-CN" b="0" i="0" dirty="0">
                <a:solidFill>
                  <a:srgbClr val="000000"/>
                </a:solidFill>
                <a:effectLst/>
              </a:rPr>
              <a:t>Shanghai Key Laboratory of New Drug Design</a:t>
            </a:r>
          </a:p>
        </p:txBody>
      </p:sp>
    </p:spTree>
    <p:extLst>
      <p:ext uri="{BB962C8B-B14F-4D97-AF65-F5344CB8AC3E}">
        <p14:creationId xmlns:p14="http://schemas.microsoft.com/office/powerpoint/2010/main" val="3065170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0"/>
            <a:ext cx="1822076"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822077"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Background</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813868" y="161541"/>
            <a:ext cx="8237807"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PROTAC is a promising strategy for CDK4/6 inhibition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灯片编号占位符 1">
            <a:extLst>
              <a:ext uri="{FF2B5EF4-FFF2-40B4-BE49-F238E27FC236}">
                <a16:creationId xmlns:a16="http://schemas.microsoft.com/office/drawing/2014/main" id="{D8781121-84F8-F6D8-60FB-5E786E19A57A}"/>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3</a:t>
            </a:fld>
            <a:endParaRPr lang="zh-CN" altLang="en-US" dirty="0">
              <a:solidFill>
                <a:schemeClr val="accent1"/>
              </a:solidFill>
            </a:endParaRPr>
          </a:p>
        </p:txBody>
      </p:sp>
      <p:sp>
        <p:nvSpPr>
          <p:cNvPr id="8" name="灯片编号占位符 1">
            <a:extLst>
              <a:ext uri="{FF2B5EF4-FFF2-40B4-BE49-F238E27FC236}">
                <a16:creationId xmlns:a16="http://schemas.microsoft.com/office/drawing/2014/main" id="{19FB25E1-D15A-A3A9-78EE-6231438AD307}"/>
              </a:ext>
            </a:extLst>
          </p:cNvPr>
          <p:cNvSpPr txBox="1">
            <a:spLocks/>
          </p:cNvSpPr>
          <p:nvPr/>
        </p:nvSpPr>
        <p:spPr>
          <a:xfrm>
            <a:off x="11813242" y="6556509"/>
            <a:ext cx="378758" cy="365125"/>
          </a:xfrm>
          <a:prstGeom prst="rect">
            <a:avLst/>
          </a:prstGeom>
        </p:spPr>
        <p:txBody>
          <a:bodyPr vert="horz" lIns="91440" tIns="45720" rIns="91440" bIns="45720" rtlCol="0" anchor="ctr"/>
          <a:lstStyle>
            <a:defPPr>
              <a:defRPr lang="zh-CN"/>
            </a:defPPr>
            <a:lvl1pPr marL="0" algn="r" defTabSz="914400" rtl="0" eaLnBrk="1" latinLnBrk="0" hangingPunct="1">
              <a:lnSpc>
                <a:spcPct val="120000"/>
              </a:lnSpc>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F0485D5-9E03-4020-B25B-C8A61AD6A676}" type="slidenum">
              <a:rPr lang="zh-CN" altLang="en-US" smtClean="0">
                <a:solidFill>
                  <a:srgbClr val="4472C4"/>
                </a:solidFill>
              </a:rPr>
              <a:pPr/>
              <a:t>3</a:t>
            </a:fld>
            <a:endParaRPr lang="zh-CN" altLang="en-US" dirty="0">
              <a:solidFill>
                <a:srgbClr val="4472C4"/>
              </a:solidFill>
            </a:endParaRPr>
          </a:p>
        </p:txBody>
      </p:sp>
      <p:pic>
        <p:nvPicPr>
          <p:cNvPr id="13" name="Picture 12">
            <a:extLst>
              <a:ext uri="{FF2B5EF4-FFF2-40B4-BE49-F238E27FC236}">
                <a16:creationId xmlns:a16="http://schemas.microsoft.com/office/drawing/2014/main" id="{94849339-CD22-A1A1-DF86-6847630DBE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359" y="1367759"/>
            <a:ext cx="5987198" cy="2549111"/>
          </a:xfrm>
          <a:prstGeom prst="rect">
            <a:avLst/>
          </a:prstGeom>
        </p:spPr>
      </p:pic>
      <p:sp>
        <p:nvSpPr>
          <p:cNvPr id="1097" name="AutoShape 8" descr="Pharmaceuticals | Free Full-Text | Synthesis and Anti-Tumor Effects of  Novel Pomalidomide Derivatives Containing Urea Moieties">
            <a:extLst>
              <a:ext uri="{FF2B5EF4-FFF2-40B4-BE49-F238E27FC236}">
                <a16:creationId xmlns:a16="http://schemas.microsoft.com/office/drawing/2014/main" id="{EF88EF64-6BCE-0CC9-9ECF-BCB38F814B09}"/>
              </a:ext>
            </a:extLst>
          </p:cNvPr>
          <p:cNvSpPr>
            <a:spLocks noChangeAspect="1" noChangeArrowheads="1"/>
          </p:cNvSpPr>
          <p:nvPr/>
        </p:nvSpPr>
        <p:spPr bwMode="auto">
          <a:xfrm>
            <a:off x="1042148" y="290704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3078" name="Picture 6">
            <a:extLst>
              <a:ext uri="{FF2B5EF4-FFF2-40B4-BE49-F238E27FC236}">
                <a16:creationId xmlns:a16="http://schemas.microsoft.com/office/drawing/2014/main" id="{F78FCE4C-F46D-46F8-01B1-F0940404FA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9797" y="1322949"/>
            <a:ext cx="4229987" cy="4229987"/>
          </a:xfrm>
          <a:prstGeom prst="rect">
            <a:avLst/>
          </a:prstGeom>
          <a:noFill/>
          <a:extLst>
            <a:ext uri="{909E8E84-426E-40DD-AFC4-6F175D3DCCD1}">
              <a14:hiddenFill xmlns:a14="http://schemas.microsoft.com/office/drawing/2010/main">
                <a:solidFill>
                  <a:srgbClr val="FFFFFF"/>
                </a:solidFill>
              </a14:hiddenFill>
            </a:ext>
          </a:extLst>
        </p:spPr>
      </p:pic>
      <p:sp>
        <p:nvSpPr>
          <p:cNvPr id="1100" name="文本框 4">
            <a:extLst>
              <a:ext uri="{FF2B5EF4-FFF2-40B4-BE49-F238E27FC236}">
                <a16:creationId xmlns:a16="http://schemas.microsoft.com/office/drawing/2014/main" id="{9DBED560-2EB9-E439-5C0F-72DC338F9BFA}"/>
              </a:ext>
            </a:extLst>
          </p:cNvPr>
          <p:cNvSpPr txBox="1">
            <a:spLocks/>
          </p:cNvSpPr>
          <p:nvPr/>
        </p:nvSpPr>
        <p:spPr>
          <a:xfrm>
            <a:off x="808600" y="4136193"/>
            <a:ext cx="6103190" cy="183460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defTabSz="914400" rtl="0" eaLnBrk="1" latinLnBrk="0" hangingPunct="1">
              <a:lnSpc>
                <a:spcPct val="90000"/>
              </a:lnSpc>
              <a:spcBef>
                <a:spcPct val="0"/>
              </a:spcBef>
              <a:buNone/>
              <a:defRPr sz="4000" b="1" kern="1200">
                <a:solidFill>
                  <a:srgbClr val="C00000"/>
                </a:solidFill>
                <a:latin typeface="Times New Roman" panose="02020603050405020304" pitchFamily="18" charset="0"/>
                <a:ea typeface="楷体" panose="02010609060101010101" pitchFamily="49" charset="-122"/>
                <a:cs typeface="+mj-cs"/>
              </a:defRPr>
            </a:lvl1pPr>
          </a:lstStyle>
          <a:p>
            <a:pPr marL="342900" indent="-342900" algn="l">
              <a:lnSpc>
                <a:spcPct val="120000"/>
              </a:lnSpc>
              <a:spcBef>
                <a:spcPts val="0"/>
              </a:spcBef>
              <a:buFont typeface="Wingdings" panose="05000000000000000000" pitchFamily="2" charset="2"/>
              <a:buChar char="Ø"/>
              <a:defRPr/>
            </a:pPr>
            <a:r>
              <a:rPr kumimoji="0" lang="en-US" altLang="zh-CN" sz="2000" b="0" i="0" u="none" strike="noStrike" kern="1200" cap="none" spc="0" normalizeH="0" baseline="0" noProof="0" dirty="0">
                <a:ln>
                  <a:noFill/>
                </a:ln>
                <a:solidFill>
                  <a:schemeClr val="tx1"/>
                </a:solidFill>
                <a:effectLst/>
                <a:uLnTx/>
                <a:uFillTx/>
                <a:latin typeface="+mn-lt"/>
                <a:ea typeface="楷体" panose="02010609060101010101" pitchFamily="49" charset="-122"/>
                <a:cs typeface="Times New Roman" panose="02020603050405020304" pitchFamily="18" charset="0"/>
              </a:rPr>
              <a:t>CDK4/6 inhibitors have shown promising clinical benefits in recurrent metastatic breast cancer</a:t>
            </a:r>
            <a:endParaRPr lang="en-US" altLang="zh-CN" sz="2000" b="0" dirty="0">
              <a:solidFill>
                <a:schemeClr val="tx1"/>
              </a:solidFill>
              <a:latin typeface="+mn-lt"/>
              <a:cs typeface="Times New Roman" panose="02020603050405020304" pitchFamily="18" charset="0"/>
            </a:endParaRPr>
          </a:p>
          <a:p>
            <a:pPr marL="342900" indent="-342900" algn="l">
              <a:lnSpc>
                <a:spcPct val="120000"/>
              </a:lnSpc>
              <a:spcBef>
                <a:spcPts val="0"/>
              </a:spcBef>
              <a:buFont typeface="Wingdings" panose="05000000000000000000" pitchFamily="2" charset="2"/>
              <a:buChar char="Ø"/>
              <a:defRPr/>
            </a:pPr>
            <a:r>
              <a:rPr lang="en-US" altLang="zh-CN" sz="2000" b="0" dirty="0">
                <a:solidFill>
                  <a:schemeClr val="tx1"/>
                </a:solidFill>
                <a:latin typeface="+mn-lt"/>
                <a:cs typeface="Times New Roman" panose="02020603050405020304" pitchFamily="18" charset="0"/>
              </a:rPr>
              <a:t>PROTACs may help to </a:t>
            </a:r>
          </a:p>
          <a:p>
            <a:pPr marL="800100" lvl="1" indent="-342900">
              <a:lnSpc>
                <a:spcPct val="120000"/>
              </a:lnSpc>
              <a:buFont typeface="Wingdings" panose="05000000000000000000" pitchFamily="2" charset="2"/>
              <a:buChar char="Ø"/>
              <a:defRPr/>
            </a:pPr>
            <a:r>
              <a:rPr lang="en-US" altLang="zh-CN" b="0" dirty="0">
                <a:solidFill>
                  <a:schemeClr val="tx1"/>
                </a:solidFill>
                <a:latin typeface="+mn-lt"/>
                <a:cs typeface="Times New Roman" panose="02020603050405020304" pitchFamily="18" charset="0"/>
              </a:rPr>
              <a:t>Overcome acquired resistance</a:t>
            </a:r>
          </a:p>
          <a:p>
            <a:pPr marL="800100" lvl="1" indent="-342900">
              <a:lnSpc>
                <a:spcPct val="120000"/>
              </a:lnSpc>
              <a:buFont typeface="Wingdings" panose="05000000000000000000" pitchFamily="2" charset="2"/>
              <a:buChar char="Ø"/>
              <a:defRPr/>
            </a:pPr>
            <a:r>
              <a:rPr lang="en-US" altLang="zh-CN" b="0" dirty="0">
                <a:solidFill>
                  <a:schemeClr val="tx1"/>
                </a:solidFill>
                <a:latin typeface="+mn-lt"/>
                <a:cs typeface="Times New Roman" panose="02020603050405020304" pitchFamily="18" charset="0"/>
              </a:rPr>
              <a:t>Improve </a:t>
            </a:r>
            <a:r>
              <a:rPr lang="en-US" altLang="zh-CN" dirty="0">
                <a:cs typeface="Times New Roman" panose="02020603050405020304" pitchFamily="18" charset="0"/>
              </a:rPr>
              <a:t>target </a:t>
            </a:r>
            <a:r>
              <a:rPr lang="en-US" altLang="zh-CN" b="0" dirty="0">
                <a:solidFill>
                  <a:schemeClr val="tx1"/>
                </a:solidFill>
                <a:latin typeface="+mn-lt"/>
                <a:cs typeface="Times New Roman" panose="02020603050405020304" pitchFamily="18" charset="0"/>
              </a:rPr>
              <a:t>selectivity</a:t>
            </a:r>
          </a:p>
        </p:txBody>
      </p:sp>
    </p:spTree>
    <p:extLst>
      <p:ext uri="{BB962C8B-B14F-4D97-AF65-F5344CB8AC3E}">
        <p14:creationId xmlns:p14="http://schemas.microsoft.com/office/powerpoint/2010/main" val="2633048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5">
            <a:extLst>
              <a:ext uri="{FF2B5EF4-FFF2-40B4-BE49-F238E27FC236}">
                <a16:creationId xmlns:a16="http://schemas.microsoft.com/office/drawing/2014/main" id="{E95EC486-BAA7-44FD-48C8-44D9348CF7A6}"/>
              </a:ext>
            </a:extLst>
          </p:cNvPr>
          <p:cNvSpPr/>
          <p:nvPr/>
        </p:nvSpPr>
        <p:spPr>
          <a:xfrm>
            <a:off x="0" y="6625732"/>
            <a:ext cx="12192000" cy="232268"/>
          </a:xfrm>
          <a:prstGeom prst="rect">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FBC6537E-1BCB-449B-9D57-C56B1DCBCFAD}"/>
              </a:ext>
            </a:extLst>
          </p:cNvPr>
          <p:cNvSpPr/>
          <p:nvPr/>
        </p:nvSpPr>
        <p:spPr>
          <a:xfrm>
            <a:off x="-1" y="0"/>
            <a:ext cx="1822076"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822077"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Background</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813868" y="161541"/>
            <a:ext cx="8237807"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rPr>
              <a:t>PROTACs targeting CDK4/6</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灯片编号占位符 1">
            <a:extLst>
              <a:ext uri="{FF2B5EF4-FFF2-40B4-BE49-F238E27FC236}">
                <a16:creationId xmlns:a16="http://schemas.microsoft.com/office/drawing/2014/main" id="{D8781121-84F8-F6D8-60FB-5E786E19A57A}"/>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4</a:t>
            </a:fld>
            <a:endParaRPr lang="zh-CN" altLang="en-US" dirty="0">
              <a:solidFill>
                <a:schemeClr val="accent1"/>
              </a:solidFill>
            </a:endParaRPr>
          </a:p>
        </p:txBody>
      </p:sp>
      <p:sp>
        <p:nvSpPr>
          <p:cNvPr id="8" name="灯片编号占位符 1">
            <a:extLst>
              <a:ext uri="{FF2B5EF4-FFF2-40B4-BE49-F238E27FC236}">
                <a16:creationId xmlns:a16="http://schemas.microsoft.com/office/drawing/2014/main" id="{19FB25E1-D15A-A3A9-78EE-6231438AD307}"/>
              </a:ext>
            </a:extLst>
          </p:cNvPr>
          <p:cNvSpPr txBox="1">
            <a:spLocks/>
          </p:cNvSpPr>
          <p:nvPr/>
        </p:nvSpPr>
        <p:spPr>
          <a:xfrm>
            <a:off x="11813242" y="6556509"/>
            <a:ext cx="378758" cy="365125"/>
          </a:xfrm>
          <a:prstGeom prst="rect">
            <a:avLst/>
          </a:prstGeom>
        </p:spPr>
        <p:txBody>
          <a:bodyPr vert="horz" lIns="91440" tIns="45720" rIns="91440" bIns="45720" rtlCol="0" anchor="ctr"/>
          <a:lstStyle>
            <a:defPPr>
              <a:defRPr lang="zh-CN"/>
            </a:defPPr>
            <a:lvl1pPr marL="0" algn="r" defTabSz="914400" rtl="0" eaLnBrk="1" latinLnBrk="0" hangingPunct="1">
              <a:lnSpc>
                <a:spcPct val="120000"/>
              </a:lnSpc>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F0485D5-9E03-4020-B25B-C8A61AD6A676}" type="slidenum">
              <a:rPr lang="zh-CN" altLang="en-US" smtClean="0">
                <a:solidFill>
                  <a:schemeClr val="bg1"/>
                </a:solidFill>
              </a:rPr>
              <a:pPr/>
              <a:t>4</a:t>
            </a:fld>
            <a:endParaRPr lang="zh-CN" altLang="en-US" dirty="0">
              <a:solidFill>
                <a:schemeClr val="bg1"/>
              </a:solidFill>
            </a:endParaRPr>
          </a:p>
        </p:txBody>
      </p:sp>
      <p:sp>
        <p:nvSpPr>
          <p:cNvPr id="9" name="文本框 4">
            <a:extLst>
              <a:ext uri="{FF2B5EF4-FFF2-40B4-BE49-F238E27FC236}">
                <a16:creationId xmlns:a16="http://schemas.microsoft.com/office/drawing/2014/main" id="{9DBED560-2EB9-E439-5C0F-72DC338F9BFA}"/>
              </a:ext>
            </a:extLst>
          </p:cNvPr>
          <p:cNvSpPr txBox="1">
            <a:spLocks/>
          </p:cNvSpPr>
          <p:nvPr/>
        </p:nvSpPr>
        <p:spPr>
          <a:xfrm>
            <a:off x="8600514" y="4631775"/>
            <a:ext cx="3402107" cy="11664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defTabSz="914400" rtl="0" eaLnBrk="1" latinLnBrk="0" hangingPunct="1">
              <a:lnSpc>
                <a:spcPct val="90000"/>
              </a:lnSpc>
              <a:spcBef>
                <a:spcPct val="0"/>
              </a:spcBef>
              <a:buNone/>
              <a:defRPr sz="4000" b="1" kern="1200">
                <a:solidFill>
                  <a:srgbClr val="C00000"/>
                </a:solidFill>
                <a:latin typeface="Times New Roman" panose="02020603050405020304" pitchFamily="18" charset="0"/>
                <a:ea typeface="楷体" panose="02010609060101010101" pitchFamily="49" charset="-122"/>
                <a:cs typeface="+mj-cs"/>
              </a:defRPr>
            </a:lvl1pPr>
          </a:lstStyle>
          <a:p>
            <a:pPr algn="l">
              <a:lnSpc>
                <a:spcPct val="120000"/>
              </a:lnSpc>
              <a:spcBef>
                <a:spcPts val="0"/>
              </a:spcBef>
              <a:defRPr/>
            </a:pPr>
            <a:r>
              <a:rPr lang="en-US" altLang="zh-CN" sz="2000" b="0" dirty="0">
                <a:solidFill>
                  <a:schemeClr val="tx1"/>
                </a:solidFill>
                <a:latin typeface="+mn-lt"/>
                <a:cs typeface="Times New Roman" panose="02020603050405020304" pitchFamily="18" charset="0"/>
              </a:rPr>
              <a:t>None of these CDK4/6 PROTACs have entered in clinical trials</a:t>
            </a:r>
            <a:endParaRPr lang="zh-CN" altLang="en-US" sz="1800" b="0" dirty="0">
              <a:solidFill>
                <a:schemeClr val="tx1"/>
              </a:solidFill>
              <a:latin typeface="+mn-lt"/>
              <a:cs typeface="Times New Roman" panose="02020603050405020304" pitchFamily="18" charset="0"/>
            </a:endParaRPr>
          </a:p>
        </p:txBody>
      </p:sp>
      <p:pic>
        <p:nvPicPr>
          <p:cNvPr id="12" name="Picture 11">
            <a:extLst>
              <a:ext uri="{FF2B5EF4-FFF2-40B4-BE49-F238E27FC236}">
                <a16:creationId xmlns:a16="http://schemas.microsoft.com/office/drawing/2014/main" id="{73087601-3139-7ED2-762A-702F72044E3D}"/>
              </a:ext>
            </a:extLst>
          </p:cNvPr>
          <p:cNvPicPr>
            <a:picLocks noChangeAspect="1"/>
          </p:cNvPicPr>
          <p:nvPr/>
        </p:nvPicPr>
        <p:blipFill rotWithShape="1">
          <a:blip r:embed="rId3">
            <a:extLst>
              <a:ext uri="{28A0092B-C50C-407E-A947-70E740481C1C}">
                <a14:useLocalDpi xmlns:a14="http://schemas.microsoft.com/office/drawing/2010/main" val="0"/>
              </a:ext>
            </a:extLst>
          </a:blip>
          <a:srcRect l="9394" r="60023" b="57925"/>
          <a:stretch/>
        </p:blipFill>
        <p:spPr>
          <a:xfrm>
            <a:off x="9050614" y="2156528"/>
            <a:ext cx="2002122" cy="1897918"/>
          </a:xfrm>
          <a:prstGeom prst="rect">
            <a:avLst/>
          </a:prstGeom>
          <a:effectLst>
            <a:glow rad="63500">
              <a:schemeClr val="accent2">
                <a:satMod val="175000"/>
                <a:alpha val="40000"/>
              </a:schemeClr>
            </a:glow>
          </a:effectLst>
        </p:spPr>
      </p:pic>
      <p:pic>
        <p:nvPicPr>
          <p:cNvPr id="3076" name="Picture 4" descr="Palbociclib">
            <a:extLst>
              <a:ext uri="{FF2B5EF4-FFF2-40B4-BE49-F238E27FC236}">
                <a16:creationId xmlns:a16="http://schemas.microsoft.com/office/drawing/2014/main" id="{E069C32C-BD96-6362-89E5-6AD19D5373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878" y="1257630"/>
            <a:ext cx="1725520" cy="172552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74276F96-E760-9C6A-BB87-16A78D03E3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02528" y="1435074"/>
            <a:ext cx="1440835" cy="1165541"/>
          </a:xfrm>
          <a:prstGeom prst="rect">
            <a:avLst/>
          </a:prstGeom>
        </p:spPr>
      </p:pic>
      <p:sp>
        <p:nvSpPr>
          <p:cNvPr id="19" name="TextBox 18">
            <a:extLst>
              <a:ext uri="{FF2B5EF4-FFF2-40B4-BE49-F238E27FC236}">
                <a16:creationId xmlns:a16="http://schemas.microsoft.com/office/drawing/2014/main" id="{8D2A7B8A-D304-524F-2B99-401123514009}"/>
              </a:ext>
            </a:extLst>
          </p:cNvPr>
          <p:cNvSpPr txBox="1"/>
          <p:nvPr/>
        </p:nvSpPr>
        <p:spPr>
          <a:xfrm>
            <a:off x="6250053" y="1595773"/>
            <a:ext cx="1808096" cy="844142"/>
          </a:xfrm>
          <a:prstGeom prst="rect">
            <a:avLst/>
          </a:prstGeom>
          <a:noFill/>
        </p:spPr>
        <p:txBody>
          <a:bodyPr wrap="square">
            <a:spAutoFit/>
          </a:bodyPr>
          <a:lstStyle/>
          <a:p>
            <a:pPr>
              <a:lnSpc>
                <a:spcPct val="120000"/>
              </a:lnSpc>
            </a:pPr>
            <a:r>
              <a:rPr lang="zh-CN" altLang="en-US" sz="1400" dirty="0"/>
              <a:t>泊马度胺</a:t>
            </a:r>
            <a:r>
              <a:rPr lang="en-US" altLang="zh-CN" sz="1400" dirty="0"/>
              <a:t>, targeting E3 ligase CRBN</a:t>
            </a:r>
          </a:p>
          <a:p>
            <a:pPr>
              <a:lnSpc>
                <a:spcPct val="120000"/>
              </a:lnSpc>
            </a:pPr>
            <a:r>
              <a:rPr lang="en-US" altLang="zh-CN" sz="1400" dirty="0"/>
              <a:t>PDB ID: 4ci3</a:t>
            </a:r>
            <a:endParaRPr lang="zh-CN" altLang="en-US" sz="1400" dirty="0"/>
          </a:p>
        </p:txBody>
      </p:sp>
      <p:sp>
        <p:nvSpPr>
          <p:cNvPr id="22" name="TextBox 21">
            <a:extLst>
              <a:ext uri="{FF2B5EF4-FFF2-40B4-BE49-F238E27FC236}">
                <a16:creationId xmlns:a16="http://schemas.microsoft.com/office/drawing/2014/main" id="{BEB27761-5E83-2D82-C58E-C683AD72907D}"/>
              </a:ext>
            </a:extLst>
          </p:cNvPr>
          <p:cNvSpPr txBox="1"/>
          <p:nvPr/>
        </p:nvSpPr>
        <p:spPr>
          <a:xfrm>
            <a:off x="1822075" y="1638846"/>
            <a:ext cx="2096379" cy="1102674"/>
          </a:xfrm>
          <a:prstGeom prst="rect">
            <a:avLst/>
          </a:prstGeom>
          <a:noFill/>
          <a:ln>
            <a:noFill/>
          </a:ln>
        </p:spPr>
        <p:txBody>
          <a:bodyPr wrap="square">
            <a:spAutoFit/>
          </a:bodyPr>
          <a:lstStyle/>
          <a:p>
            <a:pPr>
              <a:lnSpc>
                <a:spcPct val="120000"/>
              </a:lnSpc>
            </a:pPr>
            <a:r>
              <a:rPr lang="en-US" altLang="zh-CN" sz="1400" dirty="0">
                <a:solidFill>
                  <a:srgbClr val="1F1F1F"/>
                </a:solidFill>
              </a:rPr>
              <a:t>Palbociclib (</a:t>
            </a:r>
            <a:r>
              <a:rPr lang="zh-CN" altLang="en-US" sz="1400" b="0" i="0" dirty="0">
                <a:solidFill>
                  <a:srgbClr val="1F1F1F"/>
                </a:solidFill>
                <a:effectLst/>
                <a:ea typeface="+mn-ea"/>
              </a:rPr>
              <a:t>帕布昔利布</a:t>
            </a:r>
            <a:r>
              <a:rPr lang="en-US" altLang="zh-CN" sz="1400" dirty="0">
                <a:solidFill>
                  <a:srgbClr val="1F1F1F"/>
                </a:solidFill>
              </a:rPr>
              <a:t>) is a FDA-approved CDK4/6 inhibitor</a:t>
            </a:r>
          </a:p>
          <a:p>
            <a:pPr>
              <a:lnSpc>
                <a:spcPct val="120000"/>
              </a:lnSpc>
            </a:pPr>
            <a:r>
              <a:rPr lang="en-US" altLang="zh-CN" sz="1400" b="0" i="0" dirty="0">
                <a:solidFill>
                  <a:srgbClr val="1F1F1F"/>
                </a:solidFill>
                <a:effectLst/>
                <a:ea typeface="+mn-ea"/>
              </a:rPr>
              <a:t>PDB ID: 5l2i </a:t>
            </a:r>
            <a:endParaRPr lang="zh-CN" altLang="en-US" sz="1400" dirty="0"/>
          </a:p>
        </p:txBody>
      </p:sp>
      <p:pic>
        <p:nvPicPr>
          <p:cNvPr id="28" name="Picture 27">
            <a:extLst>
              <a:ext uri="{FF2B5EF4-FFF2-40B4-BE49-F238E27FC236}">
                <a16:creationId xmlns:a16="http://schemas.microsoft.com/office/drawing/2014/main" id="{C3C31B50-D30E-22D1-8152-B6C0EA18F41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4896" y="3443446"/>
            <a:ext cx="7873253" cy="2775922"/>
          </a:xfrm>
          <a:prstGeom prst="rect">
            <a:avLst/>
          </a:prstGeom>
        </p:spPr>
      </p:pic>
      <p:sp>
        <p:nvSpPr>
          <p:cNvPr id="1096" name="TextBox 1095">
            <a:extLst>
              <a:ext uri="{FF2B5EF4-FFF2-40B4-BE49-F238E27FC236}">
                <a16:creationId xmlns:a16="http://schemas.microsoft.com/office/drawing/2014/main" id="{C7375A0B-9B35-BF2D-F2F2-FEB4736101A7}"/>
              </a:ext>
            </a:extLst>
          </p:cNvPr>
          <p:cNvSpPr txBox="1"/>
          <p:nvPr/>
        </p:nvSpPr>
        <p:spPr>
          <a:xfrm>
            <a:off x="1743915" y="6288590"/>
            <a:ext cx="5373780" cy="307777"/>
          </a:xfrm>
          <a:prstGeom prst="rect">
            <a:avLst/>
          </a:prstGeom>
          <a:noFill/>
        </p:spPr>
        <p:txBody>
          <a:bodyPr wrap="square">
            <a:spAutoFit/>
          </a:bodyPr>
          <a:lstStyle/>
          <a:p>
            <a:r>
              <a:rPr lang="en-US" altLang="zh-CN" sz="1400" dirty="0">
                <a:solidFill>
                  <a:srgbClr val="00B0F0"/>
                </a:solidFill>
                <a:latin typeface="Times New Roman" panose="02020603050405020304" pitchFamily="18" charset="0"/>
                <a:cs typeface="Times New Roman" panose="02020603050405020304" pitchFamily="18" charset="0"/>
              </a:rPr>
              <a:t>Figure 1. Structures of published CDK4/6-selective PROTACs </a:t>
            </a:r>
            <a:endParaRPr lang="zh-CN" altLang="en-US" sz="1400" dirty="0">
              <a:solidFill>
                <a:srgbClr val="00B0F0"/>
              </a:solidFill>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49F09405-41E1-14F9-5B08-D16881F6813C}"/>
              </a:ext>
            </a:extLst>
          </p:cNvPr>
          <p:cNvSpPr txBox="1"/>
          <p:nvPr/>
        </p:nvSpPr>
        <p:spPr>
          <a:xfrm>
            <a:off x="8861612" y="1155278"/>
            <a:ext cx="2570630" cy="923330"/>
          </a:xfrm>
          <a:prstGeom prst="rect">
            <a:avLst/>
          </a:prstGeom>
          <a:noFill/>
        </p:spPr>
        <p:txBody>
          <a:bodyPr wrap="square">
            <a:spAutoFit/>
          </a:bodyPr>
          <a:lstStyle/>
          <a:p>
            <a:r>
              <a:rPr lang="en-US" altLang="zh-CN" dirty="0"/>
              <a:t>Identified YY173 through screening their in-house database</a:t>
            </a:r>
            <a:endParaRPr lang="zh-CN" altLang="en-US" dirty="0"/>
          </a:p>
        </p:txBody>
      </p:sp>
    </p:spTree>
    <p:extLst>
      <p:ext uri="{BB962C8B-B14F-4D97-AF65-F5344CB8AC3E}">
        <p14:creationId xmlns:p14="http://schemas.microsoft.com/office/powerpoint/2010/main" val="4276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0"/>
            <a:ext cx="1822076"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822077"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Methods</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813869" y="161541"/>
            <a:ext cx="7281686"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tx1"/>
                </a:solidFill>
              </a:rPr>
              <a:t>Docking protocol</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灯片编号占位符 1">
            <a:extLst>
              <a:ext uri="{FF2B5EF4-FFF2-40B4-BE49-F238E27FC236}">
                <a16:creationId xmlns:a16="http://schemas.microsoft.com/office/drawing/2014/main" id="{D8781121-84F8-F6D8-60FB-5E786E19A57A}"/>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5</a:t>
            </a:fld>
            <a:endParaRPr lang="zh-CN" altLang="en-US" dirty="0">
              <a:solidFill>
                <a:schemeClr val="accent1"/>
              </a:solidFill>
            </a:endParaRPr>
          </a:p>
        </p:txBody>
      </p:sp>
      <p:pic>
        <p:nvPicPr>
          <p:cNvPr id="14" name="Picture 13">
            <a:extLst>
              <a:ext uri="{FF2B5EF4-FFF2-40B4-BE49-F238E27FC236}">
                <a16:creationId xmlns:a16="http://schemas.microsoft.com/office/drawing/2014/main" id="{D1EE3F01-8620-A463-121D-DE4BDB46B7C2}"/>
              </a:ext>
            </a:extLst>
          </p:cNvPr>
          <p:cNvPicPr>
            <a:picLocks noChangeAspect="1"/>
          </p:cNvPicPr>
          <p:nvPr/>
        </p:nvPicPr>
        <p:blipFill rotWithShape="1">
          <a:blip r:embed="rId3">
            <a:extLst>
              <a:ext uri="{28A0092B-C50C-407E-A947-70E740481C1C}">
                <a14:useLocalDpi xmlns:a14="http://schemas.microsoft.com/office/drawing/2010/main" val="0"/>
              </a:ext>
            </a:extLst>
          </a:blip>
          <a:srcRect t="1" r="52" b="-376"/>
          <a:stretch/>
        </p:blipFill>
        <p:spPr>
          <a:xfrm>
            <a:off x="745606" y="1765755"/>
            <a:ext cx="5572995" cy="3856538"/>
          </a:xfrm>
          <a:prstGeom prst="rect">
            <a:avLst/>
          </a:prstGeom>
        </p:spPr>
      </p:pic>
      <p:sp>
        <p:nvSpPr>
          <p:cNvPr id="17" name="文本框 4">
            <a:extLst>
              <a:ext uri="{FF2B5EF4-FFF2-40B4-BE49-F238E27FC236}">
                <a16:creationId xmlns:a16="http://schemas.microsoft.com/office/drawing/2014/main" id="{CB43B3A2-FECF-FA0B-1657-825FF6F3BDAE}"/>
              </a:ext>
            </a:extLst>
          </p:cNvPr>
          <p:cNvSpPr txBox="1">
            <a:spLocks/>
          </p:cNvSpPr>
          <p:nvPr/>
        </p:nvSpPr>
        <p:spPr>
          <a:xfrm>
            <a:off x="6605619" y="1270455"/>
            <a:ext cx="5207624" cy="52059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defTabSz="914400" rtl="0" eaLnBrk="1" latinLnBrk="0" hangingPunct="1">
              <a:lnSpc>
                <a:spcPct val="90000"/>
              </a:lnSpc>
              <a:spcBef>
                <a:spcPct val="0"/>
              </a:spcBef>
              <a:buNone/>
              <a:defRPr sz="4000" b="1" kern="1200">
                <a:solidFill>
                  <a:srgbClr val="C00000"/>
                </a:solidFill>
                <a:latin typeface="Times New Roman" panose="02020603050405020304" pitchFamily="18" charset="0"/>
                <a:ea typeface="楷体" panose="02010609060101010101" pitchFamily="49" charset="-122"/>
                <a:cs typeface="+mj-cs"/>
              </a:defRPr>
            </a:lvl1pPr>
          </a:lstStyle>
          <a:p>
            <a:pPr marL="342900" indent="-342900" algn="l">
              <a:lnSpc>
                <a:spcPct val="150000"/>
              </a:lnSpc>
              <a:spcBef>
                <a:spcPts val="0"/>
              </a:spcBef>
              <a:buFont typeface="Arial" panose="020B0604020202020204" pitchFamily="34" charset="0"/>
              <a:buChar char="•"/>
              <a:defRPr/>
            </a:pPr>
            <a:r>
              <a:rPr lang="en-US" altLang="zh-CN" sz="2000" b="0" dirty="0">
                <a:solidFill>
                  <a:schemeClr val="tx1"/>
                </a:solidFill>
                <a:latin typeface="+mn-lt"/>
                <a:cs typeface="Times New Roman" panose="02020603050405020304" pitchFamily="18" charset="0"/>
              </a:rPr>
              <a:t>Using the Rosetta docking programs for </a:t>
            </a:r>
          </a:p>
          <a:p>
            <a:pPr marL="800100" lvl="1" indent="-342900">
              <a:lnSpc>
                <a:spcPct val="150000"/>
              </a:lnSpc>
              <a:buFont typeface="Arial" panose="020B0604020202020204" pitchFamily="34" charset="0"/>
              <a:buChar char="•"/>
              <a:defRPr/>
            </a:pPr>
            <a:r>
              <a:rPr lang="en-US" altLang="zh-CN" sz="1600" b="0" dirty="0">
                <a:solidFill>
                  <a:schemeClr val="tx1"/>
                </a:solidFill>
                <a:latin typeface="+mn-lt"/>
                <a:cs typeface="Times New Roman" panose="02020603050405020304" pitchFamily="18" charset="0"/>
              </a:rPr>
              <a:t>Docked YY173 to CDK6</a:t>
            </a:r>
          </a:p>
          <a:p>
            <a:pPr marL="800100" lvl="1" indent="-342900">
              <a:lnSpc>
                <a:spcPct val="150000"/>
              </a:lnSpc>
              <a:buFont typeface="Arial" panose="020B0604020202020204" pitchFamily="34" charset="0"/>
              <a:buChar char="•"/>
              <a:defRPr/>
            </a:pPr>
            <a:r>
              <a:rPr lang="en-US" altLang="zh-CN" sz="1600" b="0" dirty="0">
                <a:solidFill>
                  <a:schemeClr val="tx1"/>
                </a:solidFill>
                <a:latin typeface="+mn-lt"/>
                <a:cs typeface="Times New Roman" panose="02020603050405020304" pitchFamily="18" charset="0"/>
              </a:rPr>
              <a:t>Docked pomalidomide-bound CRBN to YY173-bound CDK6 </a:t>
            </a:r>
          </a:p>
          <a:p>
            <a:pPr marL="342900" indent="-342900" algn="l">
              <a:lnSpc>
                <a:spcPct val="120000"/>
              </a:lnSpc>
              <a:spcBef>
                <a:spcPts val="0"/>
              </a:spcBef>
              <a:buFont typeface="Arial" panose="020B0604020202020204" pitchFamily="34" charset="0"/>
              <a:buChar char="•"/>
              <a:defRPr/>
            </a:pPr>
            <a:r>
              <a:rPr lang="en-US" altLang="zh-CN" sz="2000" b="0" dirty="0">
                <a:solidFill>
                  <a:schemeClr val="tx1"/>
                </a:solidFill>
                <a:latin typeface="+mn-lt"/>
                <a:cs typeface="Times New Roman" panose="02020603050405020304" pitchFamily="18" charset="0"/>
              </a:rPr>
              <a:t>Clustered the top 200 low-energy conformations</a:t>
            </a:r>
          </a:p>
          <a:p>
            <a:pPr marL="800100" lvl="1" indent="-342900">
              <a:lnSpc>
                <a:spcPct val="150000"/>
              </a:lnSpc>
              <a:buFont typeface="Arial" panose="020B0604020202020204" pitchFamily="34" charset="0"/>
              <a:buChar char="•"/>
              <a:defRPr/>
            </a:pPr>
            <a:r>
              <a:rPr lang="en-US" altLang="zh-CN" sz="1600" b="0" dirty="0">
                <a:solidFill>
                  <a:schemeClr val="tx1"/>
                </a:solidFill>
                <a:latin typeface="+mn-lt"/>
                <a:cs typeface="Times New Roman" panose="02020603050405020304" pitchFamily="18" charset="0"/>
              </a:rPr>
              <a:t>Figure 2B shows three representatives</a:t>
            </a:r>
          </a:p>
          <a:p>
            <a:pPr marL="342900" indent="-342900" algn="l">
              <a:lnSpc>
                <a:spcPct val="120000"/>
              </a:lnSpc>
              <a:spcBef>
                <a:spcPts val="0"/>
              </a:spcBef>
              <a:buFont typeface="Arial" panose="020B0604020202020204" pitchFamily="34" charset="0"/>
              <a:buChar char="•"/>
              <a:defRPr/>
            </a:pPr>
            <a:r>
              <a:rPr lang="en-US" altLang="zh-CN" sz="2000" b="0" dirty="0">
                <a:solidFill>
                  <a:schemeClr val="tx1"/>
                </a:solidFill>
                <a:latin typeface="+mn-lt"/>
                <a:cs typeface="Times New Roman" panose="02020603050405020304" pitchFamily="18" charset="0"/>
              </a:rPr>
              <a:t>Calculated pairwise shortest distances between selected solvent-exposed atoms of YY173 and pomalidomide for all poses.</a:t>
            </a:r>
          </a:p>
          <a:p>
            <a:pPr marL="800100" lvl="1" indent="-342900">
              <a:lnSpc>
                <a:spcPct val="150000"/>
              </a:lnSpc>
              <a:buFont typeface="Arial" panose="020B0604020202020204" pitchFamily="34" charset="0"/>
              <a:buChar char="•"/>
              <a:defRPr/>
            </a:pPr>
            <a:r>
              <a:rPr lang="en-US" altLang="zh-CN" sz="1600" b="0" dirty="0">
                <a:solidFill>
                  <a:schemeClr val="tx1"/>
                </a:solidFill>
                <a:latin typeface="+mn-lt"/>
                <a:cs typeface="Times New Roman" panose="02020603050405020304" pitchFamily="18" charset="0"/>
              </a:rPr>
              <a:t>17 to 18 Å, i.e. six to eight atoms</a:t>
            </a:r>
          </a:p>
          <a:p>
            <a:pPr marL="800100" lvl="1" indent="-342900">
              <a:lnSpc>
                <a:spcPct val="150000"/>
              </a:lnSpc>
              <a:buFont typeface="Arial" panose="020B0604020202020204" pitchFamily="34" charset="0"/>
              <a:buChar char="•"/>
              <a:defRPr/>
            </a:pPr>
            <a:r>
              <a:rPr lang="en-US" altLang="zh-CN" sz="1600" b="0" dirty="0">
                <a:solidFill>
                  <a:schemeClr val="tx1"/>
                </a:solidFill>
                <a:latin typeface="+mn-lt"/>
                <a:cs typeface="Times New Roman" panose="02020603050405020304" pitchFamily="18" charset="0"/>
              </a:rPr>
              <a:t>The shortest may provide the best selectivity</a:t>
            </a:r>
          </a:p>
          <a:p>
            <a:pPr marL="342900" indent="-342900" algn="l">
              <a:lnSpc>
                <a:spcPct val="150000"/>
              </a:lnSpc>
              <a:spcBef>
                <a:spcPts val="0"/>
              </a:spcBef>
              <a:buFont typeface="Arial" panose="020B0604020202020204" pitchFamily="34" charset="0"/>
              <a:buChar char="•"/>
              <a:defRPr/>
            </a:pPr>
            <a:endParaRPr lang="en-US" altLang="zh-CN" sz="2000" b="0" dirty="0">
              <a:solidFill>
                <a:schemeClr val="tx1"/>
              </a:solidFill>
              <a:latin typeface="+mn-lt"/>
              <a:cs typeface="Times New Roman" panose="02020603050405020304" pitchFamily="18" charset="0"/>
            </a:endParaRPr>
          </a:p>
        </p:txBody>
      </p:sp>
      <p:sp>
        <p:nvSpPr>
          <p:cNvPr id="22" name="TextBox 21">
            <a:extLst>
              <a:ext uri="{FF2B5EF4-FFF2-40B4-BE49-F238E27FC236}">
                <a16:creationId xmlns:a16="http://schemas.microsoft.com/office/drawing/2014/main" id="{26AFCF2D-0F37-A042-33CD-DE93519F4EEA}"/>
              </a:ext>
            </a:extLst>
          </p:cNvPr>
          <p:cNvSpPr txBox="1"/>
          <p:nvPr/>
        </p:nvSpPr>
        <p:spPr>
          <a:xfrm>
            <a:off x="458588" y="1441541"/>
            <a:ext cx="1102659" cy="338554"/>
          </a:xfrm>
          <a:prstGeom prst="rect">
            <a:avLst/>
          </a:prstGeom>
          <a:noFill/>
        </p:spPr>
        <p:txBody>
          <a:bodyPr wrap="square">
            <a:spAutoFit/>
          </a:bodyPr>
          <a:lstStyle/>
          <a:p>
            <a:r>
              <a:rPr lang="en-US" altLang="zh-CN" sz="1600" b="0" i="0" dirty="0">
                <a:solidFill>
                  <a:srgbClr val="00B0F0"/>
                </a:solidFill>
                <a:effectLst/>
                <a:latin typeface="Times New Roman" panose="02020603050405020304" pitchFamily="18" charset="0"/>
                <a:cs typeface="Times New Roman" panose="02020603050405020304" pitchFamily="18" charset="0"/>
              </a:rPr>
              <a:t>Figure 2</a:t>
            </a:r>
            <a:r>
              <a:rPr lang="en-US" altLang="zh-CN" sz="1600" dirty="0">
                <a:solidFill>
                  <a:srgbClr val="00B0F0"/>
                </a:solidFill>
                <a:latin typeface="Times New Roman" panose="02020603050405020304" pitchFamily="18" charset="0"/>
                <a:cs typeface="Times New Roman" panose="02020603050405020304" pitchFamily="18" charset="0"/>
              </a:rPr>
              <a:t> </a:t>
            </a:r>
            <a:endParaRPr lang="zh-CN" altLang="en-US" sz="1600" dirty="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0589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0"/>
            <a:ext cx="1822076"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822077"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Results</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813869" y="161541"/>
            <a:ext cx="7281686"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tx1"/>
                </a:solidFill>
              </a:rPr>
              <a:t>Rational design </a:t>
            </a:r>
            <a:r>
              <a:rPr lang="en-US" altLang="zh-CN" sz="2400">
                <a:solidFill>
                  <a:schemeClr val="tx1"/>
                </a:solidFill>
              </a:rPr>
              <a:t>of linker</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灯片编号占位符 1">
            <a:extLst>
              <a:ext uri="{FF2B5EF4-FFF2-40B4-BE49-F238E27FC236}">
                <a16:creationId xmlns:a16="http://schemas.microsoft.com/office/drawing/2014/main" id="{D8781121-84F8-F6D8-60FB-5E786E19A57A}"/>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6</a:t>
            </a:fld>
            <a:endParaRPr lang="zh-CN" altLang="en-US" dirty="0">
              <a:solidFill>
                <a:schemeClr val="accent1"/>
              </a:solidFill>
            </a:endParaRPr>
          </a:p>
        </p:txBody>
      </p:sp>
      <p:sp>
        <p:nvSpPr>
          <p:cNvPr id="9" name="文本框 4">
            <a:extLst>
              <a:ext uri="{FF2B5EF4-FFF2-40B4-BE49-F238E27FC236}">
                <a16:creationId xmlns:a16="http://schemas.microsoft.com/office/drawing/2014/main" id="{CB43B3A2-FECF-FA0B-1657-825FF6F3BDAE}"/>
              </a:ext>
            </a:extLst>
          </p:cNvPr>
          <p:cNvSpPr txBox="1">
            <a:spLocks/>
          </p:cNvSpPr>
          <p:nvPr/>
        </p:nvSpPr>
        <p:spPr>
          <a:xfrm>
            <a:off x="6882279" y="1010105"/>
            <a:ext cx="5379008" cy="153574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defTabSz="914400" rtl="0" eaLnBrk="1" latinLnBrk="0" hangingPunct="1">
              <a:lnSpc>
                <a:spcPct val="90000"/>
              </a:lnSpc>
              <a:spcBef>
                <a:spcPct val="0"/>
              </a:spcBef>
              <a:buNone/>
              <a:defRPr sz="4000" b="1" kern="1200">
                <a:solidFill>
                  <a:srgbClr val="C00000"/>
                </a:solidFill>
                <a:latin typeface="Times New Roman" panose="02020603050405020304" pitchFamily="18" charset="0"/>
                <a:ea typeface="楷体" panose="02010609060101010101" pitchFamily="49" charset="-122"/>
                <a:cs typeface="+mj-cs"/>
              </a:defRPr>
            </a:lvl1pPr>
          </a:lstStyle>
          <a:p>
            <a:pPr marL="342900" indent="-342900" algn="l">
              <a:lnSpc>
                <a:spcPct val="120000"/>
              </a:lnSpc>
              <a:spcBef>
                <a:spcPts val="0"/>
              </a:spcBef>
              <a:buFont typeface="Arial" panose="020B0604020202020204" pitchFamily="34" charset="0"/>
              <a:buChar char="•"/>
              <a:defRPr/>
            </a:pPr>
            <a:r>
              <a:rPr lang="en-US" altLang="zh-CN" sz="2000" b="0" dirty="0" err="1">
                <a:solidFill>
                  <a:schemeClr val="tx1"/>
                </a:solidFill>
                <a:latin typeface="+mn-lt"/>
                <a:cs typeface="Times New Roman" panose="02020603050405020304" pitchFamily="18" charset="0"/>
              </a:rPr>
              <a:t>Jurkat</a:t>
            </a:r>
            <a:r>
              <a:rPr lang="en-US" altLang="zh-CN" sz="2000" b="0" dirty="0">
                <a:solidFill>
                  <a:schemeClr val="tx1"/>
                </a:solidFill>
                <a:latin typeface="+mn-lt"/>
                <a:cs typeface="Times New Roman" panose="02020603050405020304" pitchFamily="18" charset="0"/>
              </a:rPr>
              <a:t> cells are from acute T cell leukemia</a:t>
            </a:r>
          </a:p>
          <a:p>
            <a:pPr marL="342900" indent="-342900" algn="l">
              <a:lnSpc>
                <a:spcPct val="120000"/>
              </a:lnSpc>
              <a:spcBef>
                <a:spcPts val="0"/>
              </a:spcBef>
              <a:buFont typeface="Arial" panose="020B0604020202020204" pitchFamily="34" charset="0"/>
              <a:buChar char="•"/>
              <a:defRPr/>
            </a:pPr>
            <a:r>
              <a:rPr lang="en-US" altLang="zh-CN" sz="2000" b="0" dirty="0">
                <a:solidFill>
                  <a:schemeClr val="tx1"/>
                </a:solidFill>
                <a:latin typeface="+mn-lt"/>
                <a:cs typeface="Times New Roman" panose="02020603050405020304" pitchFamily="18" charset="0"/>
              </a:rPr>
              <a:t>Western blot assay in </a:t>
            </a:r>
            <a:r>
              <a:rPr lang="en-US" altLang="zh-CN" sz="2000" b="0" dirty="0" err="1">
                <a:solidFill>
                  <a:schemeClr val="tx1"/>
                </a:solidFill>
                <a:latin typeface="+mn-lt"/>
                <a:cs typeface="Times New Roman" panose="02020603050405020304" pitchFamily="18" charset="0"/>
              </a:rPr>
              <a:t>Jurkat</a:t>
            </a:r>
            <a:r>
              <a:rPr lang="en-US" altLang="zh-CN" sz="2000" b="0" dirty="0">
                <a:solidFill>
                  <a:schemeClr val="tx1"/>
                </a:solidFill>
                <a:latin typeface="+mn-lt"/>
                <a:cs typeface="Times New Roman" panose="02020603050405020304" pitchFamily="18" charset="0"/>
              </a:rPr>
              <a:t> cells</a:t>
            </a:r>
            <a:endParaRPr lang="zh-CN" altLang="en-US" sz="1800" b="0" dirty="0">
              <a:solidFill>
                <a:schemeClr val="tx1"/>
              </a:solidFill>
              <a:latin typeface="+mn-lt"/>
              <a:cs typeface="Times New Roman" panose="02020603050405020304" pitchFamily="18" charset="0"/>
            </a:endParaRPr>
          </a:p>
          <a:p>
            <a:pPr marL="342900" indent="-342900" algn="l">
              <a:lnSpc>
                <a:spcPct val="120000"/>
              </a:lnSpc>
              <a:spcBef>
                <a:spcPts val="0"/>
              </a:spcBef>
              <a:buFont typeface="Arial" panose="020B0604020202020204" pitchFamily="34" charset="0"/>
              <a:buChar char="•"/>
              <a:defRPr/>
            </a:pPr>
            <a:endParaRPr lang="en-US" altLang="zh-CN" sz="2000" b="0" dirty="0">
              <a:solidFill>
                <a:schemeClr val="tx1"/>
              </a:solidFill>
              <a:latin typeface="+mn-lt"/>
              <a:cs typeface="Times New Roman" panose="02020603050405020304" pitchFamily="18" charset="0"/>
            </a:endParaRPr>
          </a:p>
          <a:p>
            <a:pPr marL="342900" indent="-342900" algn="l">
              <a:lnSpc>
                <a:spcPct val="120000"/>
              </a:lnSpc>
              <a:spcBef>
                <a:spcPts val="0"/>
              </a:spcBef>
              <a:buFont typeface="Arial" panose="020B0604020202020204" pitchFamily="34" charset="0"/>
              <a:buChar char="•"/>
              <a:defRPr/>
            </a:pPr>
            <a:r>
              <a:rPr lang="en-US" altLang="zh-CN" sz="2000" b="0" dirty="0">
                <a:solidFill>
                  <a:schemeClr val="tx1"/>
                </a:solidFill>
                <a:latin typeface="+mn-lt"/>
                <a:cs typeface="Times New Roman" panose="02020603050405020304" pitchFamily="18" charset="0"/>
              </a:rPr>
              <a:t>They picked 7f for further study</a:t>
            </a:r>
          </a:p>
        </p:txBody>
      </p:sp>
      <p:pic>
        <p:nvPicPr>
          <p:cNvPr id="16" name="Picture 15">
            <a:extLst>
              <a:ext uri="{FF2B5EF4-FFF2-40B4-BE49-F238E27FC236}">
                <a16:creationId xmlns:a16="http://schemas.microsoft.com/office/drawing/2014/main" id="{1E878EBF-1E3B-AAC5-3A81-154CB08025E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704477" y="922234"/>
            <a:ext cx="4922866" cy="5818486"/>
          </a:xfrm>
          <a:prstGeom prst="rect">
            <a:avLst/>
          </a:prstGeom>
        </p:spPr>
      </p:pic>
      <p:sp>
        <p:nvSpPr>
          <p:cNvPr id="8" name="TextBox 7">
            <a:extLst>
              <a:ext uri="{FF2B5EF4-FFF2-40B4-BE49-F238E27FC236}">
                <a16:creationId xmlns:a16="http://schemas.microsoft.com/office/drawing/2014/main" id="{DCE6CE72-BBBF-C5EC-45BA-E1E07432B9B0}"/>
              </a:ext>
            </a:extLst>
          </p:cNvPr>
          <p:cNvSpPr txBox="1"/>
          <p:nvPr/>
        </p:nvSpPr>
        <p:spPr>
          <a:xfrm>
            <a:off x="222624" y="1378354"/>
            <a:ext cx="1967193" cy="461665"/>
          </a:xfrm>
          <a:prstGeom prst="rect">
            <a:avLst/>
          </a:prstGeom>
          <a:noFill/>
        </p:spPr>
        <p:txBody>
          <a:bodyPr wrap="square">
            <a:spAutoFit/>
          </a:bodyPr>
          <a:lstStyle/>
          <a:p>
            <a:r>
              <a:rPr lang="en-US" altLang="zh-CN" sz="1200" dirty="0">
                <a:solidFill>
                  <a:srgbClr val="7030A0"/>
                </a:solidFill>
              </a:rPr>
              <a:t>DC50: The half-maximal degradation concentration</a:t>
            </a:r>
            <a:endParaRPr lang="zh-CN" altLang="en-US" sz="1200" dirty="0">
              <a:solidFill>
                <a:srgbClr val="7030A0"/>
              </a:solidFill>
            </a:endParaRPr>
          </a:p>
        </p:txBody>
      </p:sp>
      <p:sp>
        <p:nvSpPr>
          <p:cNvPr id="11" name="TextBox 10">
            <a:extLst>
              <a:ext uri="{FF2B5EF4-FFF2-40B4-BE49-F238E27FC236}">
                <a16:creationId xmlns:a16="http://schemas.microsoft.com/office/drawing/2014/main" id="{05F51F90-1F10-D41B-9950-7B3483A2DBF6}"/>
              </a:ext>
            </a:extLst>
          </p:cNvPr>
          <p:cNvSpPr txBox="1"/>
          <p:nvPr/>
        </p:nvSpPr>
        <p:spPr>
          <a:xfrm>
            <a:off x="1652307" y="981017"/>
            <a:ext cx="1075021" cy="338554"/>
          </a:xfrm>
          <a:prstGeom prst="rect">
            <a:avLst/>
          </a:prstGeom>
          <a:noFill/>
        </p:spPr>
        <p:txBody>
          <a:bodyPr wrap="square">
            <a:spAutoFit/>
          </a:bodyPr>
          <a:lstStyle/>
          <a:p>
            <a:r>
              <a:rPr lang="en-US" altLang="zh-CN" sz="1600" b="0" i="0" dirty="0">
                <a:solidFill>
                  <a:srgbClr val="00B0F0"/>
                </a:solidFill>
                <a:effectLst/>
                <a:latin typeface="Times New Roman" panose="02020603050405020304" pitchFamily="18" charset="0"/>
                <a:cs typeface="Times New Roman" panose="02020603050405020304" pitchFamily="18" charset="0"/>
              </a:rPr>
              <a:t>Table 1</a:t>
            </a:r>
            <a:endParaRPr lang="zh-CN" altLang="en-US" sz="1600" dirty="0">
              <a:solidFill>
                <a:srgbClr val="00B0F0"/>
              </a:solidFill>
              <a:latin typeface="Times New Roman" panose="02020603050405020304" pitchFamily="18" charset="0"/>
              <a:cs typeface="Times New Roman" panose="02020603050405020304" pitchFamily="18" charset="0"/>
            </a:endParaRPr>
          </a:p>
        </p:txBody>
      </p:sp>
      <p:sp>
        <p:nvSpPr>
          <p:cNvPr id="12" name="Left Brace 11">
            <a:extLst>
              <a:ext uri="{FF2B5EF4-FFF2-40B4-BE49-F238E27FC236}">
                <a16:creationId xmlns:a16="http://schemas.microsoft.com/office/drawing/2014/main" id="{16460B70-87AF-9E3B-FEAC-D7F0E79A351D}"/>
              </a:ext>
            </a:extLst>
          </p:cNvPr>
          <p:cNvSpPr/>
          <p:nvPr/>
        </p:nvSpPr>
        <p:spPr>
          <a:xfrm>
            <a:off x="1550894" y="2509524"/>
            <a:ext cx="224118" cy="2588559"/>
          </a:xfrm>
          <a:prstGeom prst="leftBrace">
            <a:avLst/>
          </a:prstGeom>
          <a:ln w="19050">
            <a:solidFill>
              <a:srgbClr val="4472C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Left Brace 12">
            <a:extLst>
              <a:ext uri="{FF2B5EF4-FFF2-40B4-BE49-F238E27FC236}">
                <a16:creationId xmlns:a16="http://schemas.microsoft.com/office/drawing/2014/main" id="{3BC412B8-2310-06D8-4851-A97C2E492989}"/>
              </a:ext>
            </a:extLst>
          </p:cNvPr>
          <p:cNvSpPr/>
          <p:nvPr/>
        </p:nvSpPr>
        <p:spPr>
          <a:xfrm>
            <a:off x="1550894" y="5395463"/>
            <a:ext cx="224118" cy="1066219"/>
          </a:xfrm>
          <a:prstGeom prst="leftBrace">
            <a:avLst/>
          </a:prstGeom>
          <a:ln w="19050">
            <a:solidFill>
              <a:srgbClr val="4472C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TextBox 16">
            <a:extLst>
              <a:ext uri="{FF2B5EF4-FFF2-40B4-BE49-F238E27FC236}">
                <a16:creationId xmlns:a16="http://schemas.microsoft.com/office/drawing/2014/main" id="{D422E8CB-3D2C-70DE-4503-E65AF97617E9}"/>
              </a:ext>
            </a:extLst>
          </p:cNvPr>
          <p:cNvSpPr txBox="1"/>
          <p:nvPr/>
        </p:nvSpPr>
        <p:spPr>
          <a:xfrm>
            <a:off x="166998" y="3538672"/>
            <a:ext cx="1460687" cy="585610"/>
          </a:xfrm>
          <a:prstGeom prst="rect">
            <a:avLst/>
          </a:prstGeom>
          <a:noFill/>
        </p:spPr>
        <p:txBody>
          <a:bodyPr wrap="square">
            <a:spAutoFit/>
          </a:bodyPr>
          <a:lstStyle/>
          <a:p>
            <a:pPr algn="ctr">
              <a:lnSpc>
                <a:spcPct val="120000"/>
              </a:lnSpc>
              <a:spcBef>
                <a:spcPts val="0"/>
              </a:spcBef>
              <a:defRPr/>
            </a:pPr>
            <a:r>
              <a:rPr lang="en-US" altLang="zh-CN" sz="1400" b="0" dirty="0">
                <a:solidFill>
                  <a:schemeClr val="tx1"/>
                </a:solidFill>
                <a:latin typeface="+mn-lt"/>
                <a:cs typeface="Times New Roman" panose="02020603050405020304" pitchFamily="18" charset="0"/>
              </a:rPr>
              <a:t>Designed based on length</a:t>
            </a:r>
            <a:endParaRPr lang="zh-CN" altLang="en-US" sz="1400" b="0" dirty="0">
              <a:solidFill>
                <a:schemeClr val="tx1"/>
              </a:solidFill>
              <a:latin typeface="+mn-lt"/>
              <a:cs typeface="Times New Roman" panose="02020603050405020304" pitchFamily="18" charset="0"/>
            </a:endParaRPr>
          </a:p>
        </p:txBody>
      </p:sp>
      <p:sp>
        <p:nvSpPr>
          <p:cNvPr id="18" name="TextBox 17">
            <a:extLst>
              <a:ext uri="{FF2B5EF4-FFF2-40B4-BE49-F238E27FC236}">
                <a16:creationId xmlns:a16="http://schemas.microsoft.com/office/drawing/2014/main" id="{01785B8E-2393-6872-0301-D621387F811B}"/>
              </a:ext>
            </a:extLst>
          </p:cNvPr>
          <p:cNvSpPr txBox="1"/>
          <p:nvPr/>
        </p:nvSpPr>
        <p:spPr>
          <a:xfrm>
            <a:off x="166997" y="5765033"/>
            <a:ext cx="1460687" cy="327077"/>
          </a:xfrm>
          <a:prstGeom prst="rect">
            <a:avLst/>
          </a:prstGeom>
          <a:noFill/>
        </p:spPr>
        <p:txBody>
          <a:bodyPr wrap="square">
            <a:spAutoFit/>
          </a:bodyPr>
          <a:lstStyle/>
          <a:p>
            <a:pPr algn="ctr">
              <a:lnSpc>
                <a:spcPct val="120000"/>
              </a:lnSpc>
              <a:spcBef>
                <a:spcPts val="0"/>
              </a:spcBef>
              <a:defRPr/>
            </a:pPr>
            <a:r>
              <a:rPr lang="en-US" altLang="zh-CN" sz="1400" b="0" dirty="0">
                <a:solidFill>
                  <a:schemeClr val="tx1"/>
                </a:solidFill>
                <a:latin typeface="+mn-lt"/>
                <a:cs typeface="Times New Roman" panose="02020603050405020304" pitchFamily="18" charset="0"/>
              </a:rPr>
              <a:t>From literature</a:t>
            </a:r>
            <a:endParaRPr lang="zh-CN" altLang="en-US" sz="1400" b="0" dirty="0">
              <a:solidFill>
                <a:schemeClr val="tx1"/>
              </a:solidFill>
              <a:latin typeface="+mn-lt"/>
              <a:cs typeface="Times New Roman" panose="02020603050405020304" pitchFamily="18" charset="0"/>
            </a:endParaRPr>
          </a:p>
        </p:txBody>
      </p:sp>
      <p:pic>
        <p:nvPicPr>
          <p:cNvPr id="21" name="Picture 20">
            <a:extLst>
              <a:ext uri="{FF2B5EF4-FFF2-40B4-BE49-F238E27FC236}">
                <a16:creationId xmlns:a16="http://schemas.microsoft.com/office/drawing/2014/main" id="{3175F26D-0CD1-6FE9-7F06-C32379866E62}"/>
              </a:ext>
            </a:extLst>
          </p:cNvPr>
          <p:cNvPicPr>
            <a:picLocks noChangeAspect="1"/>
          </p:cNvPicPr>
          <p:nvPr/>
        </p:nvPicPr>
        <p:blipFill>
          <a:blip r:embed="rId4"/>
          <a:stretch>
            <a:fillRect/>
          </a:stretch>
        </p:blipFill>
        <p:spPr>
          <a:xfrm>
            <a:off x="7844926" y="2704685"/>
            <a:ext cx="3275792" cy="3908696"/>
          </a:xfrm>
          <a:prstGeom prst="rect">
            <a:avLst/>
          </a:prstGeom>
        </p:spPr>
      </p:pic>
    </p:spTree>
    <p:extLst>
      <p:ext uri="{BB962C8B-B14F-4D97-AF65-F5344CB8AC3E}">
        <p14:creationId xmlns:p14="http://schemas.microsoft.com/office/powerpoint/2010/main" val="1165824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0"/>
            <a:ext cx="1822076"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822077"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Methods</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813869" y="161541"/>
            <a:ext cx="7281686"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tx1"/>
                </a:solidFill>
              </a:rPr>
              <a:t>Determining the binding mode of 7f</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灯片编号占位符 1">
            <a:extLst>
              <a:ext uri="{FF2B5EF4-FFF2-40B4-BE49-F238E27FC236}">
                <a16:creationId xmlns:a16="http://schemas.microsoft.com/office/drawing/2014/main" id="{D8781121-84F8-F6D8-60FB-5E786E19A57A}"/>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7</a:t>
            </a:fld>
            <a:endParaRPr lang="zh-CN" altLang="en-US" dirty="0">
              <a:solidFill>
                <a:schemeClr val="accent1"/>
              </a:solidFill>
            </a:endParaRPr>
          </a:p>
        </p:txBody>
      </p:sp>
      <p:sp>
        <p:nvSpPr>
          <p:cNvPr id="17" name="文本框 4">
            <a:extLst>
              <a:ext uri="{FF2B5EF4-FFF2-40B4-BE49-F238E27FC236}">
                <a16:creationId xmlns:a16="http://schemas.microsoft.com/office/drawing/2014/main" id="{CB43B3A2-FECF-FA0B-1657-825FF6F3BDAE}"/>
              </a:ext>
            </a:extLst>
          </p:cNvPr>
          <p:cNvSpPr txBox="1">
            <a:spLocks/>
          </p:cNvSpPr>
          <p:nvPr/>
        </p:nvSpPr>
        <p:spPr>
          <a:xfrm>
            <a:off x="6603300" y="1436914"/>
            <a:ext cx="5466230" cy="449039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defTabSz="914400" rtl="0" eaLnBrk="1" latinLnBrk="0" hangingPunct="1">
              <a:lnSpc>
                <a:spcPct val="90000"/>
              </a:lnSpc>
              <a:spcBef>
                <a:spcPct val="0"/>
              </a:spcBef>
              <a:buNone/>
              <a:defRPr sz="4000" b="1" kern="1200">
                <a:solidFill>
                  <a:srgbClr val="C00000"/>
                </a:solidFill>
                <a:latin typeface="Times New Roman" panose="02020603050405020304" pitchFamily="18" charset="0"/>
                <a:ea typeface="楷体" panose="02010609060101010101" pitchFamily="49" charset="-122"/>
                <a:cs typeface="+mj-cs"/>
              </a:defRPr>
            </a:lvl1pPr>
          </a:lstStyle>
          <a:p>
            <a:pPr marL="342900" indent="-342900" algn="l">
              <a:lnSpc>
                <a:spcPct val="120000"/>
              </a:lnSpc>
              <a:spcBef>
                <a:spcPts val="0"/>
              </a:spcBef>
              <a:buFont typeface="Arial" panose="020B0604020202020204" pitchFamily="34" charset="0"/>
              <a:buChar char="•"/>
              <a:defRPr/>
            </a:pPr>
            <a:r>
              <a:rPr lang="en-US" altLang="zh-CN" sz="2000" b="0" dirty="0">
                <a:solidFill>
                  <a:schemeClr val="tx1"/>
                </a:solidFill>
                <a:latin typeface="+mn-lt"/>
                <a:cs typeface="Times New Roman" panose="02020603050405020304" pitchFamily="18" charset="0"/>
              </a:rPr>
              <a:t>generated 1000 conformations of small molecules using software Cyndi</a:t>
            </a:r>
          </a:p>
          <a:p>
            <a:pPr marL="342900" indent="-342900" algn="l">
              <a:lnSpc>
                <a:spcPct val="120000"/>
              </a:lnSpc>
              <a:spcBef>
                <a:spcPts val="0"/>
              </a:spcBef>
              <a:buFont typeface="Arial" panose="020B0604020202020204" pitchFamily="34" charset="0"/>
              <a:buChar char="•"/>
              <a:defRPr/>
            </a:pPr>
            <a:r>
              <a:rPr lang="en-US" altLang="zh-CN" sz="2000" b="0" dirty="0">
                <a:solidFill>
                  <a:schemeClr val="tx1"/>
                </a:solidFill>
                <a:latin typeface="+mn-lt"/>
                <a:cs typeface="Times New Roman" panose="02020603050405020304" pitchFamily="18" charset="0"/>
              </a:rPr>
              <a:t>superimposed these conformations onto YY173 and pomalidomide using the SHAFT program, selecting the optimal conformation of 7f. </a:t>
            </a:r>
          </a:p>
          <a:p>
            <a:pPr marL="342900" indent="-342900" algn="l">
              <a:lnSpc>
                <a:spcPct val="120000"/>
              </a:lnSpc>
              <a:spcBef>
                <a:spcPts val="0"/>
              </a:spcBef>
              <a:buFont typeface="Arial" panose="020B0604020202020204" pitchFamily="34" charset="0"/>
              <a:buChar char="•"/>
              <a:defRPr/>
            </a:pPr>
            <a:r>
              <a:rPr lang="en-US" altLang="zh-CN" sz="2000" b="0" dirty="0">
                <a:solidFill>
                  <a:schemeClr val="tx1"/>
                </a:solidFill>
                <a:latin typeface="+mn-lt"/>
                <a:cs typeface="Times New Roman" panose="02020603050405020304" pitchFamily="18" charset="0"/>
              </a:rPr>
              <a:t>optimized the structure of the ternary complex system using Maestro. </a:t>
            </a:r>
          </a:p>
          <a:p>
            <a:pPr marL="342900" indent="-342900" algn="l">
              <a:lnSpc>
                <a:spcPct val="120000"/>
              </a:lnSpc>
              <a:spcBef>
                <a:spcPts val="0"/>
              </a:spcBef>
              <a:buFont typeface="Arial" panose="020B0604020202020204" pitchFamily="34" charset="0"/>
              <a:buChar char="•"/>
              <a:defRPr/>
            </a:pPr>
            <a:endParaRPr lang="en-US" altLang="zh-CN" sz="2000" b="0" dirty="0">
              <a:solidFill>
                <a:schemeClr val="tx1"/>
              </a:solidFill>
              <a:latin typeface="+mn-lt"/>
              <a:cs typeface="Times New Roman" panose="02020603050405020304" pitchFamily="18" charset="0"/>
            </a:endParaRPr>
          </a:p>
          <a:p>
            <a:pPr marL="342900" indent="-342900" algn="l">
              <a:lnSpc>
                <a:spcPct val="120000"/>
              </a:lnSpc>
              <a:spcBef>
                <a:spcPts val="0"/>
              </a:spcBef>
              <a:buFont typeface="Arial" panose="020B0604020202020204" pitchFamily="34" charset="0"/>
              <a:buChar char="•"/>
              <a:defRPr/>
            </a:pPr>
            <a:r>
              <a:rPr lang="en-US" altLang="zh-CN" sz="2000" b="0" dirty="0">
                <a:solidFill>
                  <a:schemeClr val="tx1"/>
                </a:solidFill>
                <a:latin typeface="+mn-lt"/>
                <a:cs typeface="Times New Roman" panose="02020603050405020304" pitchFamily="18" charset="0"/>
              </a:rPr>
              <a:t>7f maintained the binding conformation of ligands and polar interactions with protein residues in the original crystal structure </a:t>
            </a:r>
            <a:endParaRPr lang="zh-CN" altLang="en-US" sz="2000" b="0" dirty="0">
              <a:solidFill>
                <a:schemeClr val="tx1"/>
              </a:solidFill>
              <a:latin typeface="+mn-lt"/>
              <a:cs typeface="Times New Roman" panose="02020603050405020304" pitchFamily="18" charset="0"/>
            </a:endParaRPr>
          </a:p>
        </p:txBody>
      </p:sp>
      <p:pic>
        <p:nvPicPr>
          <p:cNvPr id="18" name="Picture 17">
            <a:extLst>
              <a:ext uri="{FF2B5EF4-FFF2-40B4-BE49-F238E27FC236}">
                <a16:creationId xmlns:a16="http://schemas.microsoft.com/office/drawing/2014/main" id="{264BDD07-EE80-A9D5-EFED-1612CF0AC0A5}"/>
              </a:ext>
            </a:extLst>
          </p:cNvPr>
          <p:cNvPicPr>
            <a:picLocks noChangeAspect="1"/>
          </p:cNvPicPr>
          <p:nvPr/>
        </p:nvPicPr>
        <p:blipFill rotWithShape="1">
          <a:blip r:embed="rId3">
            <a:extLst>
              <a:ext uri="{28A0092B-C50C-407E-A947-70E740481C1C}">
                <a14:useLocalDpi xmlns:a14="http://schemas.microsoft.com/office/drawing/2010/main" val="0"/>
              </a:ext>
            </a:extLst>
          </a:blip>
          <a:srcRect b="49834"/>
          <a:stretch/>
        </p:blipFill>
        <p:spPr>
          <a:xfrm>
            <a:off x="810182" y="1581605"/>
            <a:ext cx="5340669" cy="1628938"/>
          </a:xfrm>
          <a:prstGeom prst="rect">
            <a:avLst/>
          </a:prstGeom>
        </p:spPr>
      </p:pic>
      <p:sp>
        <p:nvSpPr>
          <p:cNvPr id="21" name="TextBox 20">
            <a:extLst>
              <a:ext uri="{FF2B5EF4-FFF2-40B4-BE49-F238E27FC236}">
                <a16:creationId xmlns:a16="http://schemas.microsoft.com/office/drawing/2014/main" id="{272AF620-F899-A9C9-D4A3-24B224370238}"/>
              </a:ext>
            </a:extLst>
          </p:cNvPr>
          <p:cNvSpPr txBox="1"/>
          <p:nvPr/>
        </p:nvSpPr>
        <p:spPr>
          <a:xfrm>
            <a:off x="357733" y="1267637"/>
            <a:ext cx="1102659" cy="338554"/>
          </a:xfrm>
          <a:prstGeom prst="rect">
            <a:avLst/>
          </a:prstGeom>
          <a:noFill/>
        </p:spPr>
        <p:txBody>
          <a:bodyPr wrap="square">
            <a:spAutoFit/>
          </a:bodyPr>
          <a:lstStyle/>
          <a:p>
            <a:r>
              <a:rPr lang="en-US" altLang="zh-CN" sz="1600" b="0" i="0" dirty="0">
                <a:solidFill>
                  <a:srgbClr val="00B0F0"/>
                </a:solidFill>
                <a:effectLst/>
                <a:latin typeface="Times New Roman" panose="02020603050405020304" pitchFamily="18" charset="0"/>
                <a:cs typeface="Times New Roman" panose="02020603050405020304" pitchFamily="18" charset="0"/>
              </a:rPr>
              <a:t>Figure 3</a:t>
            </a:r>
            <a:r>
              <a:rPr lang="en-US" altLang="zh-CN" sz="1600" dirty="0">
                <a:solidFill>
                  <a:srgbClr val="00B0F0"/>
                </a:solidFill>
                <a:latin typeface="Times New Roman" panose="02020603050405020304" pitchFamily="18" charset="0"/>
                <a:cs typeface="Times New Roman" panose="02020603050405020304" pitchFamily="18" charset="0"/>
              </a:rPr>
              <a:t> </a:t>
            </a:r>
            <a:endParaRPr lang="zh-CN" altLang="en-US" sz="1600" dirty="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0466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6724"/>
            <a:ext cx="1822076"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2" y="117290"/>
            <a:ext cx="1822077"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Results</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813869" y="161541"/>
            <a:ext cx="7281686"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tx1"/>
                </a:solidFill>
              </a:rPr>
              <a:t>Evaluation of 7f in </a:t>
            </a:r>
            <a:r>
              <a:rPr lang="en-US" altLang="zh-CN" sz="2400" dirty="0" err="1">
                <a:solidFill>
                  <a:schemeClr val="tx1"/>
                </a:solidFill>
              </a:rPr>
              <a:t>Jurkat</a:t>
            </a:r>
            <a:r>
              <a:rPr lang="en-US" altLang="zh-CN" sz="2400" dirty="0">
                <a:solidFill>
                  <a:schemeClr val="tx1"/>
                </a:solidFill>
              </a:rPr>
              <a:t> Cells</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灯片编号占位符 1">
            <a:extLst>
              <a:ext uri="{FF2B5EF4-FFF2-40B4-BE49-F238E27FC236}">
                <a16:creationId xmlns:a16="http://schemas.microsoft.com/office/drawing/2014/main" id="{D8781121-84F8-F6D8-60FB-5E786E19A57A}"/>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8</a:t>
            </a:fld>
            <a:endParaRPr lang="zh-CN" altLang="en-US" dirty="0">
              <a:solidFill>
                <a:schemeClr val="accent1"/>
              </a:solidFill>
            </a:endParaRPr>
          </a:p>
        </p:txBody>
      </p:sp>
      <p:sp>
        <p:nvSpPr>
          <p:cNvPr id="9" name="文本框 4">
            <a:extLst>
              <a:ext uri="{FF2B5EF4-FFF2-40B4-BE49-F238E27FC236}">
                <a16:creationId xmlns:a16="http://schemas.microsoft.com/office/drawing/2014/main" id="{CB43B3A2-FECF-FA0B-1657-825FF6F3BDAE}"/>
              </a:ext>
            </a:extLst>
          </p:cNvPr>
          <p:cNvSpPr txBox="1">
            <a:spLocks/>
          </p:cNvSpPr>
          <p:nvPr/>
        </p:nvSpPr>
        <p:spPr>
          <a:xfrm>
            <a:off x="6203577" y="5059520"/>
            <a:ext cx="6056520" cy="11664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defTabSz="914400" rtl="0" eaLnBrk="1" latinLnBrk="0" hangingPunct="1">
              <a:lnSpc>
                <a:spcPct val="90000"/>
              </a:lnSpc>
              <a:spcBef>
                <a:spcPct val="0"/>
              </a:spcBef>
              <a:buNone/>
              <a:defRPr sz="4000" b="1" kern="1200">
                <a:solidFill>
                  <a:srgbClr val="C00000"/>
                </a:solidFill>
                <a:latin typeface="Times New Roman" panose="02020603050405020304" pitchFamily="18" charset="0"/>
                <a:ea typeface="楷体" panose="02010609060101010101" pitchFamily="49" charset="-122"/>
                <a:cs typeface="+mj-cs"/>
              </a:defRPr>
            </a:lvl1pPr>
          </a:lstStyle>
          <a:p>
            <a:pPr marL="342900" indent="-342900" algn="l">
              <a:lnSpc>
                <a:spcPct val="120000"/>
              </a:lnSpc>
              <a:spcBef>
                <a:spcPts val="0"/>
              </a:spcBef>
              <a:buFont typeface="Arial" panose="020B0604020202020204" pitchFamily="34" charset="0"/>
              <a:buChar char="•"/>
              <a:defRPr/>
            </a:pPr>
            <a:r>
              <a:rPr lang="en-US" altLang="zh-CN" sz="2000" b="0" dirty="0">
                <a:solidFill>
                  <a:schemeClr val="tx1"/>
                </a:solidFill>
                <a:latin typeface="+mn-lt"/>
                <a:cs typeface="Times New Roman" panose="02020603050405020304" pitchFamily="18" charset="0"/>
              </a:rPr>
              <a:t>7f exhibited </a:t>
            </a:r>
            <a:r>
              <a:rPr lang="en-US" altLang="zh-CN" sz="2000" b="0" dirty="0">
                <a:solidFill>
                  <a:srgbClr val="7030A0"/>
                </a:solidFill>
                <a:latin typeface="+mn-lt"/>
                <a:cs typeface="Times New Roman" panose="02020603050405020304" pitchFamily="18" charset="0"/>
              </a:rPr>
              <a:t>concentration-dependent and time-dependent</a:t>
            </a:r>
            <a:r>
              <a:rPr lang="en-US" altLang="zh-CN" sz="2000" b="0" dirty="0">
                <a:solidFill>
                  <a:schemeClr val="tx1"/>
                </a:solidFill>
                <a:latin typeface="+mn-lt"/>
                <a:cs typeface="Times New Roman" panose="02020603050405020304" pitchFamily="18" charset="0"/>
              </a:rPr>
              <a:t> degradation of CDK4/6</a:t>
            </a:r>
          </a:p>
          <a:p>
            <a:pPr marL="342900" indent="-342900" algn="l">
              <a:lnSpc>
                <a:spcPct val="120000"/>
              </a:lnSpc>
              <a:spcBef>
                <a:spcPts val="0"/>
              </a:spcBef>
              <a:buFont typeface="Arial" panose="020B0604020202020204" pitchFamily="34" charset="0"/>
              <a:buChar char="•"/>
              <a:defRPr/>
            </a:pPr>
            <a:r>
              <a:rPr lang="en-US" altLang="zh-CN" sz="2000" b="0" dirty="0">
                <a:solidFill>
                  <a:schemeClr val="tx1"/>
                </a:solidFill>
                <a:latin typeface="+mn-lt"/>
                <a:cs typeface="Times New Roman" panose="02020603050405020304" pitchFamily="18" charset="0"/>
              </a:rPr>
              <a:t>Compound 7f is a </a:t>
            </a:r>
            <a:r>
              <a:rPr lang="en-US" altLang="zh-CN" sz="2000" b="0" dirty="0">
                <a:solidFill>
                  <a:srgbClr val="FF0000"/>
                </a:solidFill>
                <a:latin typeface="+mn-lt"/>
                <a:cs typeface="Times New Roman" panose="02020603050405020304" pitchFamily="18" charset="0"/>
              </a:rPr>
              <a:t>selective</a:t>
            </a:r>
            <a:r>
              <a:rPr lang="en-US" altLang="zh-CN" sz="2000" b="0" dirty="0">
                <a:solidFill>
                  <a:schemeClr val="tx1"/>
                </a:solidFill>
                <a:latin typeface="+mn-lt"/>
                <a:cs typeface="Times New Roman" panose="02020603050405020304" pitchFamily="18" charset="0"/>
              </a:rPr>
              <a:t> CDK4/6 degrader</a:t>
            </a:r>
            <a:endParaRPr lang="zh-CN" altLang="en-US" sz="1800" b="0" dirty="0">
              <a:solidFill>
                <a:schemeClr val="tx1"/>
              </a:solidFill>
              <a:latin typeface="+mn-lt"/>
              <a:cs typeface="Times New Roman" panose="02020603050405020304" pitchFamily="18" charset="0"/>
            </a:endParaRPr>
          </a:p>
        </p:txBody>
      </p:sp>
      <p:pic>
        <p:nvPicPr>
          <p:cNvPr id="10" name="Picture 9">
            <a:extLst>
              <a:ext uri="{FF2B5EF4-FFF2-40B4-BE49-F238E27FC236}">
                <a16:creationId xmlns:a16="http://schemas.microsoft.com/office/drawing/2014/main" id="{06F637D5-D933-D0E7-D9ED-0FFBD671D0A2}"/>
              </a:ext>
            </a:extLst>
          </p:cNvPr>
          <p:cNvPicPr>
            <a:picLocks noChangeAspect="1"/>
          </p:cNvPicPr>
          <p:nvPr/>
        </p:nvPicPr>
        <p:blipFill rotWithShape="1">
          <a:blip r:embed="rId3">
            <a:extLst>
              <a:ext uri="{28A0092B-C50C-407E-A947-70E740481C1C}">
                <a14:useLocalDpi xmlns:a14="http://schemas.microsoft.com/office/drawing/2010/main" val="0"/>
              </a:ext>
            </a:extLst>
          </a:blip>
          <a:srcRect t="56803" b="-2925"/>
          <a:stretch/>
        </p:blipFill>
        <p:spPr>
          <a:xfrm>
            <a:off x="129136" y="3254187"/>
            <a:ext cx="5723111" cy="1604887"/>
          </a:xfrm>
          <a:prstGeom prst="rect">
            <a:avLst/>
          </a:prstGeom>
        </p:spPr>
      </p:pic>
      <p:pic>
        <p:nvPicPr>
          <p:cNvPr id="12" name="Picture 11">
            <a:extLst>
              <a:ext uri="{FF2B5EF4-FFF2-40B4-BE49-F238E27FC236}">
                <a16:creationId xmlns:a16="http://schemas.microsoft.com/office/drawing/2014/main" id="{582F37CF-EBD2-9CAF-0C82-E51EFF568D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06054" y="1532966"/>
            <a:ext cx="5707188" cy="2992850"/>
          </a:xfrm>
          <a:prstGeom prst="rect">
            <a:avLst/>
          </a:prstGeom>
        </p:spPr>
      </p:pic>
      <p:sp>
        <p:nvSpPr>
          <p:cNvPr id="16" name="文本框 4">
            <a:extLst>
              <a:ext uri="{FF2B5EF4-FFF2-40B4-BE49-F238E27FC236}">
                <a16:creationId xmlns:a16="http://schemas.microsoft.com/office/drawing/2014/main" id="{D87A2FC3-BFD8-1525-22AD-6776C36F220A}"/>
              </a:ext>
            </a:extLst>
          </p:cNvPr>
          <p:cNvSpPr txBox="1">
            <a:spLocks/>
          </p:cNvSpPr>
          <p:nvPr/>
        </p:nvSpPr>
        <p:spPr>
          <a:xfrm>
            <a:off x="581413" y="5080275"/>
            <a:ext cx="6056520" cy="11664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defTabSz="914400" rtl="0" eaLnBrk="1" latinLnBrk="0" hangingPunct="1">
              <a:lnSpc>
                <a:spcPct val="90000"/>
              </a:lnSpc>
              <a:spcBef>
                <a:spcPct val="0"/>
              </a:spcBef>
              <a:buNone/>
              <a:defRPr sz="4000" b="1" kern="1200">
                <a:solidFill>
                  <a:srgbClr val="C00000"/>
                </a:solidFill>
                <a:latin typeface="Times New Roman" panose="02020603050405020304" pitchFamily="18" charset="0"/>
                <a:ea typeface="楷体" panose="02010609060101010101" pitchFamily="49" charset="-122"/>
                <a:cs typeface="+mj-cs"/>
              </a:defRPr>
            </a:lvl1pPr>
          </a:lstStyle>
          <a:p>
            <a:pPr marL="342900" indent="-342900" algn="l">
              <a:lnSpc>
                <a:spcPct val="120000"/>
              </a:lnSpc>
              <a:spcBef>
                <a:spcPts val="0"/>
              </a:spcBef>
              <a:buFont typeface="Arial" panose="020B0604020202020204" pitchFamily="34" charset="0"/>
              <a:buChar char="•"/>
              <a:defRPr/>
            </a:pPr>
            <a:r>
              <a:rPr lang="en-US" altLang="zh-CN" sz="2000" b="0" dirty="0">
                <a:solidFill>
                  <a:schemeClr val="tx1"/>
                </a:solidFill>
                <a:latin typeface="+mn-lt"/>
                <a:cs typeface="Times New Roman" panose="02020603050405020304" pitchFamily="18" charset="0"/>
              </a:rPr>
              <a:t>an eightfold improvement over YY173</a:t>
            </a:r>
          </a:p>
          <a:p>
            <a:pPr marL="342900" indent="-342900" algn="l">
              <a:lnSpc>
                <a:spcPct val="120000"/>
              </a:lnSpc>
              <a:spcBef>
                <a:spcPts val="0"/>
              </a:spcBef>
              <a:buFont typeface="Arial" panose="020B0604020202020204" pitchFamily="34" charset="0"/>
              <a:buChar char="•"/>
              <a:defRPr/>
            </a:pPr>
            <a:r>
              <a:rPr lang="en-US" altLang="zh-CN" sz="2000" b="0" dirty="0">
                <a:solidFill>
                  <a:schemeClr val="tx1"/>
                </a:solidFill>
                <a:latin typeface="+mn-lt"/>
                <a:cs typeface="Times New Roman" panose="02020603050405020304" pitchFamily="18" charset="0"/>
              </a:rPr>
              <a:t>MG132: proteasome inhibitor</a:t>
            </a:r>
          </a:p>
          <a:p>
            <a:pPr marL="342900" indent="-342900" algn="l">
              <a:lnSpc>
                <a:spcPct val="120000"/>
              </a:lnSpc>
              <a:spcBef>
                <a:spcPts val="0"/>
              </a:spcBef>
              <a:buFont typeface="Arial" panose="020B0604020202020204" pitchFamily="34" charset="0"/>
              <a:buChar char="•"/>
              <a:defRPr/>
            </a:pPr>
            <a:r>
              <a:rPr lang="en-US" altLang="zh-CN" sz="2000" b="0" dirty="0">
                <a:solidFill>
                  <a:schemeClr val="tx1"/>
                </a:solidFill>
                <a:latin typeface="+mn-lt"/>
                <a:cs typeface="Times New Roman" panose="02020603050405020304" pitchFamily="18" charset="0"/>
              </a:rPr>
              <a:t>the degradation is </a:t>
            </a:r>
            <a:r>
              <a:rPr lang="en-US" altLang="zh-CN" sz="2000" b="0" dirty="0">
                <a:solidFill>
                  <a:srgbClr val="FF0000"/>
                </a:solidFill>
                <a:latin typeface="+mn-lt"/>
                <a:cs typeface="Times New Roman" panose="02020603050405020304" pitchFamily="18" charset="0"/>
              </a:rPr>
              <a:t>proteasome-dependent</a:t>
            </a:r>
            <a:endParaRPr lang="zh-CN" altLang="en-US" sz="1800" b="0" dirty="0">
              <a:solidFill>
                <a:srgbClr val="FF0000"/>
              </a:solidFill>
              <a:latin typeface="+mn-lt"/>
              <a:cs typeface="Times New Roman" panose="02020603050405020304" pitchFamily="18" charset="0"/>
            </a:endParaRPr>
          </a:p>
        </p:txBody>
      </p:sp>
      <p:pic>
        <p:nvPicPr>
          <p:cNvPr id="18" name="Picture 17">
            <a:extLst>
              <a:ext uri="{FF2B5EF4-FFF2-40B4-BE49-F238E27FC236}">
                <a16:creationId xmlns:a16="http://schemas.microsoft.com/office/drawing/2014/main" id="{1476046A-5687-608C-2BC4-CF8807FD1B00}"/>
              </a:ext>
            </a:extLst>
          </p:cNvPr>
          <p:cNvPicPr>
            <a:picLocks noChangeAspect="1"/>
          </p:cNvPicPr>
          <p:nvPr/>
        </p:nvPicPr>
        <p:blipFill>
          <a:blip r:embed="rId5"/>
          <a:stretch>
            <a:fillRect/>
          </a:stretch>
        </p:blipFill>
        <p:spPr>
          <a:xfrm>
            <a:off x="1058953" y="1187796"/>
            <a:ext cx="4667490" cy="1841595"/>
          </a:xfrm>
          <a:prstGeom prst="rect">
            <a:avLst/>
          </a:prstGeom>
        </p:spPr>
      </p:pic>
      <p:sp>
        <p:nvSpPr>
          <p:cNvPr id="20" name="TextBox 19">
            <a:extLst>
              <a:ext uri="{FF2B5EF4-FFF2-40B4-BE49-F238E27FC236}">
                <a16:creationId xmlns:a16="http://schemas.microsoft.com/office/drawing/2014/main" id="{CE4A5DFB-52DF-C78F-37B8-4C5BFC3BED07}"/>
              </a:ext>
            </a:extLst>
          </p:cNvPr>
          <p:cNvSpPr txBox="1"/>
          <p:nvPr/>
        </p:nvSpPr>
        <p:spPr>
          <a:xfrm>
            <a:off x="129136" y="2955326"/>
            <a:ext cx="1102659" cy="338554"/>
          </a:xfrm>
          <a:prstGeom prst="rect">
            <a:avLst/>
          </a:prstGeom>
          <a:noFill/>
        </p:spPr>
        <p:txBody>
          <a:bodyPr wrap="square">
            <a:spAutoFit/>
          </a:bodyPr>
          <a:lstStyle/>
          <a:p>
            <a:r>
              <a:rPr lang="en-US" altLang="zh-CN" sz="1600" b="0" i="0" dirty="0">
                <a:solidFill>
                  <a:srgbClr val="00B0F0"/>
                </a:solidFill>
                <a:effectLst/>
                <a:latin typeface="Times New Roman" panose="02020603050405020304" pitchFamily="18" charset="0"/>
                <a:cs typeface="Times New Roman" panose="02020603050405020304" pitchFamily="18" charset="0"/>
              </a:rPr>
              <a:t>Figure 3C</a:t>
            </a:r>
            <a:r>
              <a:rPr lang="en-US" altLang="zh-CN" sz="1600" dirty="0">
                <a:solidFill>
                  <a:srgbClr val="00B0F0"/>
                </a:solidFill>
                <a:latin typeface="Times New Roman" panose="02020603050405020304" pitchFamily="18" charset="0"/>
                <a:cs typeface="Times New Roman" panose="02020603050405020304" pitchFamily="18" charset="0"/>
              </a:rPr>
              <a:t> </a:t>
            </a:r>
            <a:endParaRPr lang="zh-CN" altLang="en-US" sz="1600" dirty="0">
              <a:solidFill>
                <a:srgbClr val="00B0F0"/>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9675A7C0-3907-9C7B-2864-46A03D31063A}"/>
              </a:ext>
            </a:extLst>
          </p:cNvPr>
          <p:cNvSpPr txBox="1"/>
          <p:nvPr/>
        </p:nvSpPr>
        <p:spPr>
          <a:xfrm>
            <a:off x="6016709" y="1153257"/>
            <a:ext cx="1102659" cy="338554"/>
          </a:xfrm>
          <a:prstGeom prst="rect">
            <a:avLst/>
          </a:prstGeom>
          <a:noFill/>
        </p:spPr>
        <p:txBody>
          <a:bodyPr wrap="square">
            <a:spAutoFit/>
          </a:bodyPr>
          <a:lstStyle/>
          <a:p>
            <a:r>
              <a:rPr lang="en-US" altLang="zh-CN" sz="1600" b="0" i="0" dirty="0">
                <a:solidFill>
                  <a:srgbClr val="00B0F0"/>
                </a:solidFill>
                <a:effectLst/>
                <a:latin typeface="Times New Roman" panose="02020603050405020304" pitchFamily="18" charset="0"/>
                <a:cs typeface="Times New Roman" panose="02020603050405020304" pitchFamily="18" charset="0"/>
              </a:rPr>
              <a:t>Figure 4</a:t>
            </a:r>
            <a:r>
              <a:rPr lang="en-US" altLang="zh-CN" sz="1600" dirty="0">
                <a:solidFill>
                  <a:srgbClr val="00B0F0"/>
                </a:solidFill>
                <a:latin typeface="Times New Roman" panose="02020603050405020304" pitchFamily="18" charset="0"/>
                <a:cs typeface="Times New Roman" panose="02020603050405020304" pitchFamily="18" charset="0"/>
              </a:rPr>
              <a:t> </a:t>
            </a:r>
            <a:endParaRPr lang="zh-CN" altLang="en-US" sz="1600" dirty="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8065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BC6537E-1BCB-449B-9D57-C56B1DCBCFAD}"/>
              </a:ext>
            </a:extLst>
          </p:cNvPr>
          <p:cNvSpPr/>
          <p:nvPr/>
        </p:nvSpPr>
        <p:spPr>
          <a:xfrm>
            <a:off x="-1" y="0"/>
            <a:ext cx="1378325" cy="7820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12">
            <a:extLst>
              <a:ext uri="{FF2B5EF4-FFF2-40B4-BE49-F238E27FC236}">
                <a16:creationId xmlns:a16="http://schemas.microsoft.com/office/drawing/2014/main" id="{629808C1-933E-463B-830B-7687BCA14649}"/>
              </a:ext>
            </a:extLst>
          </p:cNvPr>
          <p:cNvSpPr>
            <a:spLocks noChangeArrowheads="1"/>
          </p:cNvSpPr>
          <p:nvPr/>
        </p:nvSpPr>
        <p:spPr bwMode="auto">
          <a:xfrm>
            <a:off x="-1" y="782045"/>
            <a:ext cx="8861613" cy="69221"/>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 name="T18" fmla="*/ 0 w 1000"/>
              <a:gd name="T19" fmla="*/ 0 h 1000"/>
              <a:gd name="T20" fmla="*/ 1000 w 100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rgbClr val="F69500"/>
          </a:solidFill>
          <a:ln w="9525">
            <a:solidFill>
              <a:srgbClr val="F69500"/>
            </a:solidFill>
            <a:round/>
            <a:headEnd/>
            <a:tailEnd/>
          </a:ln>
        </p:spPr>
        <p:txBody>
          <a:bodyPr/>
          <a:lstStyle/>
          <a:p>
            <a:endParaRPr lang="zh-CN" altLang="en-US">
              <a:solidFill>
                <a:prstClr val="black"/>
              </a:solidFill>
            </a:endParaRPr>
          </a:p>
        </p:txBody>
      </p:sp>
      <p:sp>
        <p:nvSpPr>
          <p:cNvPr id="4" name="TextBox 4">
            <a:extLst>
              <a:ext uri="{FF2B5EF4-FFF2-40B4-BE49-F238E27FC236}">
                <a16:creationId xmlns:a16="http://schemas.microsoft.com/office/drawing/2014/main" id="{474C9CB8-8913-48DE-AAF7-21476B770735}"/>
              </a:ext>
            </a:extLst>
          </p:cNvPr>
          <p:cNvSpPr txBox="1">
            <a:spLocks noChangeArrowheads="1"/>
          </p:cNvSpPr>
          <p:nvPr/>
        </p:nvSpPr>
        <p:spPr bwMode="auto">
          <a:xfrm>
            <a:off x="-1" y="117290"/>
            <a:ext cx="1378325" cy="524567"/>
          </a:xfrm>
          <a:prstGeom prst="rect">
            <a:avLst/>
          </a:prstGeom>
          <a:solidFill>
            <a:schemeClr val="accent1"/>
          </a:solidFill>
          <a:ln>
            <a:noFill/>
          </a:ln>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a:lnSpc>
                <a:spcPct val="130000"/>
              </a:lnSpc>
            </a:pPr>
            <a:r>
              <a:rPr lang="en-US" altLang="zh-CN" sz="2400" b="1" dirty="0">
                <a:solidFill>
                  <a:schemeClr val="bg1"/>
                </a:solidFill>
                <a:latin typeface="Times New Roman" panose="02020603050405020304" pitchFamily="18" charset="0"/>
                <a:ea typeface="楷体" panose="02010609060101010101" pitchFamily="49" charset="-122"/>
                <a:cs typeface="黑体" charset="0"/>
              </a:rPr>
              <a:t>Results</a:t>
            </a:r>
            <a:endParaRPr lang="zh-CN" altLang="en-US" sz="2400" b="1" dirty="0">
              <a:solidFill>
                <a:schemeClr val="bg1"/>
              </a:solidFill>
              <a:latin typeface="Times New Roman" panose="02020603050405020304" pitchFamily="18" charset="0"/>
              <a:ea typeface="楷体" panose="02010609060101010101" pitchFamily="49" charset="-122"/>
              <a:cs typeface="黑体" charset="0"/>
            </a:endParaRPr>
          </a:p>
        </p:txBody>
      </p:sp>
      <p:sp>
        <p:nvSpPr>
          <p:cNvPr id="5" name="文本框 4">
            <a:extLst>
              <a:ext uri="{FF2B5EF4-FFF2-40B4-BE49-F238E27FC236}">
                <a16:creationId xmlns:a16="http://schemas.microsoft.com/office/drawing/2014/main" id="{99FFD94E-4CB1-41C7-8476-569486B26E90}"/>
              </a:ext>
            </a:extLst>
          </p:cNvPr>
          <p:cNvSpPr txBox="1">
            <a:spLocks noGrp="1"/>
          </p:cNvSpPr>
          <p:nvPr>
            <p:ph type="title" idx="4294967295"/>
          </p:nvPr>
        </p:nvSpPr>
        <p:spPr>
          <a:xfrm>
            <a:off x="1378325" y="161541"/>
            <a:ext cx="8189258" cy="46166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a:defRPr sz="4000" b="1">
                <a:solidFill>
                  <a:srgbClr val="C00000"/>
                </a:solidFill>
                <a:latin typeface="Times New Roman" panose="02020603050405020304" pitchFamily="18" charset="0"/>
                <a:ea typeface="楷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dirty="0">
                <a:solidFill>
                  <a:schemeClr val="tx1"/>
                </a:solidFill>
              </a:rPr>
              <a:t>7f induces cell apoptosis by cleaving PARP and Caspase3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灯片编号占位符 1">
            <a:extLst>
              <a:ext uri="{FF2B5EF4-FFF2-40B4-BE49-F238E27FC236}">
                <a16:creationId xmlns:a16="http://schemas.microsoft.com/office/drawing/2014/main" id="{D8781121-84F8-F6D8-60FB-5E786E19A57A}"/>
              </a:ext>
            </a:extLst>
          </p:cNvPr>
          <p:cNvSpPr>
            <a:spLocks noGrp="1"/>
          </p:cNvSpPr>
          <p:nvPr>
            <p:ph type="sldNum" sz="quarter" idx="12"/>
          </p:nvPr>
        </p:nvSpPr>
        <p:spPr>
          <a:xfrm>
            <a:off x="11813242" y="6556510"/>
            <a:ext cx="378758" cy="365125"/>
          </a:xfrm>
        </p:spPr>
        <p:txBody>
          <a:bodyPr/>
          <a:lstStyle/>
          <a:p>
            <a:fld id="{2F0485D5-9E03-4020-B25B-C8A61AD6A676}" type="slidenum">
              <a:rPr lang="zh-CN" altLang="en-US" smtClean="0">
                <a:solidFill>
                  <a:schemeClr val="accent1"/>
                </a:solidFill>
              </a:rPr>
              <a:t>9</a:t>
            </a:fld>
            <a:endParaRPr lang="zh-CN" altLang="en-US" dirty="0">
              <a:solidFill>
                <a:schemeClr val="accent1"/>
              </a:solidFill>
            </a:endParaRPr>
          </a:p>
        </p:txBody>
      </p:sp>
      <p:sp>
        <p:nvSpPr>
          <p:cNvPr id="9" name="文本框 4">
            <a:extLst>
              <a:ext uri="{FF2B5EF4-FFF2-40B4-BE49-F238E27FC236}">
                <a16:creationId xmlns:a16="http://schemas.microsoft.com/office/drawing/2014/main" id="{CB43B3A2-FECF-FA0B-1657-825FF6F3BDAE}"/>
              </a:ext>
            </a:extLst>
          </p:cNvPr>
          <p:cNvSpPr txBox="1">
            <a:spLocks/>
          </p:cNvSpPr>
          <p:nvPr/>
        </p:nvSpPr>
        <p:spPr>
          <a:xfrm>
            <a:off x="6470650" y="1242913"/>
            <a:ext cx="5429998" cy="224087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zh-CN"/>
            </a:defPPr>
            <a:lvl1pPr algn="ctr" defTabSz="914400" rtl="0" eaLnBrk="1" latinLnBrk="0" hangingPunct="1">
              <a:lnSpc>
                <a:spcPct val="90000"/>
              </a:lnSpc>
              <a:spcBef>
                <a:spcPct val="0"/>
              </a:spcBef>
              <a:buNone/>
              <a:defRPr sz="4000" b="1" kern="1200">
                <a:solidFill>
                  <a:srgbClr val="C00000"/>
                </a:solidFill>
                <a:latin typeface="Times New Roman" panose="02020603050405020304" pitchFamily="18" charset="0"/>
                <a:ea typeface="楷体" panose="02010609060101010101" pitchFamily="49" charset="-122"/>
                <a:cs typeface="+mj-cs"/>
              </a:defRPr>
            </a:lvl1pPr>
          </a:lstStyle>
          <a:p>
            <a:pPr marL="342900" indent="-342900" algn="l">
              <a:lnSpc>
                <a:spcPct val="120000"/>
              </a:lnSpc>
              <a:spcBef>
                <a:spcPts val="0"/>
              </a:spcBef>
              <a:buFont typeface="Wingdings" panose="05000000000000000000" pitchFamily="2" charset="2"/>
              <a:buChar char="Ø"/>
              <a:defRPr/>
            </a:pPr>
            <a:r>
              <a:rPr lang="en-US" altLang="zh-CN" sz="2000" b="0" dirty="0">
                <a:solidFill>
                  <a:schemeClr val="tx1"/>
                </a:solidFill>
                <a:latin typeface="+mn-lt"/>
                <a:cs typeface="Times New Roman" panose="02020603050405020304" pitchFamily="18" charset="0"/>
              </a:rPr>
              <a:t>7f induces cell apoptosis in a dose dependent manner</a:t>
            </a:r>
          </a:p>
          <a:p>
            <a:pPr marL="342900" indent="-342900" algn="l">
              <a:lnSpc>
                <a:spcPct val="120000"/>
              </a:lnSpc>
              <a:spcBef>
                <a:spcPts val="0"/>
              </a:spcBef>
              <a:buFont typeface="Wingdings" panose="05000000000000000000" pitchFamily="2" charset="2"/>
              <a:buChar char="Ø"/>
              <a:defRPr/>
            </a:pPr>
            <a:r>
              <a:rPr lang="en-US" altLang="zh-CN" sz="2000" b="0" dirty="0">
                <a:solidFill>
                  <a:schemeClr val="tx1"/>
                </a:solidFill>
                <a:latin typeface="+mn-lt"/>
                <a:cs typeface="Times New Roman" panose="02020603050405020304" pitchFamily="18" charset="0"/>
              </a:rPr>
              <a:t>7f inhibits the phosphorylation of RB</a:t>
            </a:r>
          </a:p>
          <a:p>
            <a:pPr marL="342900" indent="-342900" algn="l">
              <a:lnSpc>
                <a:spcPct val="120000"/>
              </a:lnSpc>
              <a:spcBef>
                <a:spcPts val="0"/>
              </a:spcBef>
              <a:buFont typeface="Wingdings" panose="05000000000000000000" pitchFamily="2" charset="2"/>
              <a:buChar char="Ø"/>
              <a:defRPr/>
            </a:pPr>
            <a:r>
              <a:rPr lang="en-US" altLang="zh-CN" sz="2000" b="0" dirty="0">
                <a:solidFill>
                  <a:schemeClr val="tx1"/>
                </a:solidFill>
                <a:latin typeface="+mn-lt"/>
                <a:cs typeface="Times New Roman" panose="02020603050405020304" pitchFamily="18" charset="0"/>
              </a:rPr>
              <a:t>7f lacks the potential to be developed as an oral drug</a:t>
            </a:r>
          </a:p>
          <a:p>
            <a:pPr marL="342900" indent="-342900" algn="l">
              <a:lnSpc>
                <a:spcPct val="120000"/>
              </a:lnSpc>
              <a:spcBef>
                <a:spcPts val="0"/>
              </a:spcBef>
              <a:buFont typeface="Wingdings" panose="05000000000000000000" pitchFamily="2" charset="2"/>
              <a:buChar char="Ø"/>
              <a:defRPr/>
            </a:pPr>
            <a:endParaRPr lang="zh-CN" altLang="en-US" sz="1800" b="0" dirty="0">
              <a:solidFill>
                <a:schemeClr val="tx1"/>
              </a:solidFill>
              <a:latin typeface="+mn-lt"/>
              <a:cs typeface="Times New Roman" panose="02020603050405020304" pitchFamily="18" charset="0"/>
            </a:endParaRPr>
          </a:p>
        </p:txBody>
      </p:sp>
      <p:pic>
        <p:nvPicPr>
          <p:cNvPr id="15" name="Picture 14">
            <a:extLst>
              <a:ext uri="{FF2B5EF4-FFF2-40B4-BE49-F238E27FC236}">
                <a16:creationId xmlns:a16="http://schemas.microsoft.com/office/drawing/2014/main" id="{DCD726B1-C38D-CD26-3F6B-505AF97AF3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947" y="1354979"/>
            <a:ext cx="5691112" cy="4516540"/>
          </a:xfrm>
          <a:prstGeom prst="rect">
            <a:avLst/>
          </a:prstGeom>
        </p:spPr>
      </p:pic>
      <p:pic>
        <p:nvPicPr>
          <p:cNvPr id="8" name="Picture 7">
            <a:extLst>
              <a:ext uri="{FF2B5EF4-FFF2-40B4-BE49-F238E27FC236}">
                <a16:creationId xmlns:a16="http://schemas.microsoft.com/office/drawing/2014/main" id="{436B1B5C-1659-1530-737E-C9484B515F3F}"/>
              </a:ext>
            </a:extLst>
          </p:cNvPr>
          <p:cNvPicPr>
            <a:picLocks noChangeAspect="1"/>
          </p:cNvPicPr>
          <p:nvPr/>
        </p:nvPicPr>
        <p:blipFill rotWithShape="1">
          <a:blip r:embed="rId4"/>
          <a:srcRect r="1170"/>
          <a:stretch/>
        </p:blipFill>
        <p:spPr>
          <a:xfrm>
            <a:off x="4114800" y="4992337"/>
            <a:ext cx="1128183" cy="1488969"/>
          </a:xfrm>
          <a:prstGeom prst="rect">
            <a:avLst/>
          </a:prstGeom>
        </p:spPr>
      </p:pic>
      <p:pic>
        <p:nvPicPr>
          <p:cNvPr id="11" name="Picture 10">
            <a:extLst>
              <a:ext uri="{FF2B5EF4-FFF2-40B4-BE49-F238E27FC236}">
                <a16:creationId xmlns:a16="http://schemas.microsoft.com/office/drawing/2014/main" id="{2A1BADB1-0864-9AD2-DB8E-938E75653FF6}"/>
              </a:ext>
            </a:extLst>
          </p:cNvPr>
          <p:cNvPicPr>
            <a:picLocks noChangeAspect="1"/>
          </p:cNvPicPr>
          <p:nvPr/>
        </p:nvPicPr>
        <p:blipFill>
          <a:blip r:embed="rId5"/>
          <a:stretch>
            <a:fillRect/>
          </a:stretch>
        </p:blipFill>
        <p:spPr>
          <a:xfrm>
            <a:off x="6585726" y="4378263"/>
            <a:ext cx="4728017" cy="2178247"/>
          </a:xfrm>
          <a:prstGeom prst="rect">
            <a:avLst/>
          </a:prstGeom>
        </p:spPr>
      </p:pic>
      <p:sp>
        <p:nvSpPr>
          <p:cNvPr id="13" name="TextBox 12">
            <a:extLst>
              <a:ext uri="{FF2B5EF4-FFF2-40B4-BE49-F238E27FC236}">
                <a16:creationId xmlns:a16="http://schemas.microsoft.com/office/drawing/2014/main" id="{22A78584-4CBC-1D00-A678-264762ABE70A}"/>
              </a:ext>
            </a:extLst>
          </p:cNvPr>
          <p:cNvSpPr txBox="1"/>
          <p:nvPr/>
        </p:nvSpPr>
        <p:spPr>
          <a:xfrm>
            <a:off x="628650" y="1025833"/>
            <a:ext cx="991722" cy="307777"/>
          </a:xfrm>
          <a:prstGeom prst="rect">
            <a:avLst/>
          </a:prstGeom>
          <a:noFill/>
        </p:spPr>
        <p:txBody>
          <a:bodyPr wrap="square">
            <a:spAutoFit/>
          </a:bodyPr>
          <a:lstStyle/>
          <a:p>
            <a:r>
              <a:rPr lang="en-US" altLang="zh-CN" sz="1400" dirty="0">
                <a:solidFill>
                  <a:srgbClr val="00B0F0"/>
                </a:solidFill>
                <a:latin typeface="Times New Roman" panose="02020603050405020304" pitchFamily="18" charset="0"/>
                <a:cs typeface="Times New Roman" panose="02020603050405020304" pitchFamily="18" charset="0"/>
              </a:rPr>
              <a:t>Figure 5</a:t>
            </a:r>
            <a:endParaRPr lang="zh-CN" altLang="en-US" sz="1400" dirty="0">
              <a:solidFill>
                <a:srgbClr val="00B0F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0D0441E-D9DF-BB33-845B-7A377067D98D}"/>
              </a:ext>
            </a:extLst>
          </p:cNvPr>
          <p:cNvSpPr txBox="1"/>
          <p:nvPr/>
        </p:nvSpPr>
        <p:spPr>
          <a:xfrm>
            <a:off x="948392" y="1749070"/>
            <a:ext cx="360829" cy="261610"/>
          </a:xfrm>
          <a:prstGeom prst="rect">
            <a:avLst/>
          </a:prstGeom>
          <a:noFill/>
        </p:spPr>
        <p:txBody>
          <a:bodyPr wrap="square">
            <a:spAutoFit/>
          </a:bodyPr>
          <a:lstStyle/>
          <a:p>
            <a:r>
              <a:rPr lang="en-US" altLang="zh-CN" sz="1100" b="1" dirty="0">
                <a:solidFill>
                  <a:srgbClr val="FF0000"/>
                </a:solidFill>
                <a:latin typeface="Times New Roman" panose="02020603050405020304" pitchFamily="18" charset="0"/>
                <a:cs typeface="Times New Roman" panose="02020603050405020304" pitchFamily="18" charset="0"/>
              </a:rPr>
              <a:t>G1</a:t>
            </a:r>
            <a:endParaRPr lang="zh-CN" altLang="en-US" sz="1100" b="1" dirty="0">
              <a:solidFill>
                <a:srgbClr val="FF0000"/>
              </a:solidFill>
            </a:endParaRPr>
          </a:p>
        </p:txBody>
      </p:sp>
      <p:sp>
        <p:nvSpPr>
          <p:cNvPr id="17" name="TextBox 16">
            <a:extLst>
              <a:ext uri="{FF2B5EF4-FFF2-40B4-BE49-F238E27FC236}">
                <a16:creationId xmlns:a16="http://schemas.microsoft.com/office/drawing/2014/main" id="{530EB9BD-2F8D-6019-39FF-C0E51A4D0482}"/>
              </a:ext>
            </a:extLst>
          </p:cNvPr>
          <p:cNvSpPr txBox="1"/>
          <p:nvPr/>
        </p:nvSpPr>
        <p:spPr>
          <a:xfrm>
            <a:off x="1416602" y="1821203"/>
            <a:ext cx="360829" cy="261610"/>
          </a:xfrm>
          <a:prstGeom prst="rect">
            <a:avLst/>
          </a:prstGeom>
          <a:noFill/>
        </p:spPr>
        <p:txBody>
          <a:bodyPr wrap="square">
            <a:spAutoFit/>
          </a:bodyPr>
          <a:lstStyle/>
          <a:p>
            <a:r>
              <a:rPr lang="en-US" altLang="zh-CN" sz="1100" b="1" dirty="0">
                <a:solidFill>
                  <a:srgbClr val="FF0000"/>
                </a:solidFill>
                <a:latin typeface="Times New Roman" panose="02020603050405020304" pitchFamily="18" charset="0"/>
                <a:cs typeface="Times New Roman" panose="02020603050405020304" pitchFamily="18" charset="0"/>
              </a:rPr>
              <a:t>G2</a:t>
            </a:r>
            <a:endParaRPr lang="zh-CN" altLang="en-US" sz="1100" b="1" dirty="0">
              <a:solidFill>
                <a:srgbClr val="FF0000"/>
              </a:solidFill>
            </a:endParaRPr>
          </a:p>
        </p:txBody>
      </p:sp>
      <p:sp>
        <p:nvSpPr>
          <p:cNvPr id="18" name="TextBox 17">
            <a:extLst>
              <a:ext uri="{FF2B5EF4-FFF2-40B4-BE49-F238E27FC236}">
                <a16:creationId xmlns:a16="http://schemas.microsoft.com/office/drawing/2014/main" id="{094297AF-3A5C-60EB-8159-24585775F724}"/>
              </a:ext>
            </a:extLst>
          </p:cNvPr>
          <p:cNvSpPr txBox="1"/>
          <p:nvPr/>
        </p:nvSpPr>
        <p:spPr>
          <a:xfrm>
            <a:off x="798326" y="3548979"/>
            <a:ext cx="1021789" cy="261610"/>
          </a:xfrm>
          <a:prstGeom prst="rect">
            <a:avLst/>
          </a:prstGeom>
          <a:noFill/>
        </p:spPr>
        <p:txBody>
          <a:bodyPr wrap="square">
            <a:spAutoFit/>
          </a:bodyPr>
          <a:lstStyle/>
          <a:p>
            <a:r>
              <a:rPr lang="en-US" altLang="zh-CN" sz="1100" b="1" dirty="0">
                <a:solidFill>
                  <a:srgbClr val="FF0000"/>
                </a:solidFill>
                <a:latin typeface="Times New Roman" panose="02020603050405020304" pitchFamily="18" charset="0"/>
                <a:cs typeface="Times New Roman" panose="02020603050405020304" pitchFamily="18" charset="0"/>
              </a:rPr>
              <a:t>B525-FITC-A</a:t>
            </a:r>
            <a:endParaRPr lang="zh-CN" altLang="en-US" sz="1100" b="1" dirty="0">
              <a:solidFill>
                <a:srgbClr val="FF0000"/>
              </a:solidFill>
            </a:endParaRPr>
          </a:p>
        </p:txBody>
      </p:sp>
      <p:sp>
        <p:nvSpPr>
          <p:cNvPr id="19" name="TextBox 18">
            <a:extLst>
              <a:ext uri="{FF2B5EF4-FFF2-40B4-BE49-F238E27FC236}">
                <a16:creationId xmlns:a16="http://schemas.microsoft.com/office/drawing/2014/main" id="{85E9506B-6110-7103-8551-DD436357E789}"/>
              </a:ext>
            </a:extLst>
          </p:cNvPr>
          <p:cNvSpPr txBox="1"/>
          <p:nvPr/>
        </p:nvSpPr>
        <p:spPr>
          <a:xfrm>
            <a:off x="0" y="3047706"/>
            <a:ext cx="1021789" cy="261610"/>
          </a:xfrm>
          <a:prstGeom prst="rect">
            <a:avLst/>
          </a:prstGeom>
          <a:noFill/>
        </p:spPr>
        <p:txBody>
          <a:bodyPr wrap="square">
            <a:spAutoFit/>
          </a:bodyPr>
          <a:lstStyle/>
          <a:p>
            <a:r>
              <a:rPr lang="en-US" altLang="zh-CN" sz="1100" b="1" dirty="0">
                <a:solidFill>
                  <a:srgbClr val="FF0000"/>
                </a:solidFill>
                <a:latin typeface="Times New Roman" panose="02020603050405020304" pitchFamily="18" charset="0"/>
                <a:cs typeface="Times New Roman" panose="02020603050405020304" pitchFamily="18" charset="0"/>
              </a:rPr>
              <a:t>Y585-PE-A</a:t>
            </a:r>
            <a:endParaRPr lang="zh-CN" altLang="en-US" sz="1100" b="1" dirty="0">
              <a:solidFill>
                <a:srgbClr val="FF0000"/>
              </a:solidFill>
            </a:endParaRPr>
          </a:p>
        </p:txBody>
      </p:sp>
    </p:spTree>
    <p:extLst>
      <p:ext uri="{BB962C8B-B14F-4D97-AF65-F5344CB8AC3E}">
        <p14:creationId xmlns:p14="http://schemas.microsoft.com/office/powerpoint/2010/main" val="1499873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EA8D3A-1FBA-6380-36E8-D424F4CE542F}"/>
              </a:ext>
            </a:extLst>
          </p:cNvPr>
          <p:cNvSpPr/>
          <p:nvPr/>
        </p:nvSpPr>
        <p:spPr>
          <a:xfrm>
            <a:off x="6451600" y="1997918"/>
            <a:ext cx="5091189" cy="295106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6600" b="1" i="0" u="none" strike="noStrike" kern="1200" cap="none" spc="0" normalizeH="0" baseline="0" noProof="0" dirty="0">
                <a:ln w="9525">
                  <a:solidFill>
                    <a:prstClr val="white"/>
                  </a:solidFill>
                  <a:prstDash val="solid"/>
                </a:ln>
                <a:solidFill>
                  <a:srgbClr val="5B9BD5"/>
                </a:solidFill>
                <a:effectLst>
                  <a:outerShdw blurRad="12700" dist="38100" dir="2700000" algn="tl" rotWithShape="0">
                    <a:srgbClr val="5B9BD5">
                      <a:lumMod val="60000"/>
                      <a:lumOff val="40000"/>
                    </a:srgbClr>
                  </a:outerShdw>
                </a:effectLst>
                <a:uLnTx/>
                <a:uFillTx/>
                <a:latin typeface="Arial"/>
                <a:ea typeface="微软雅黑"/>
                <a:cs typeface="+mn-cs"/>
              </a:rPr>
              <a:t>Thanks for listening!</a:t>
            </a:r>
          </a:p>
        </p:txBody>
      </p:sp>
      <p:pic>
        <p:nvPicPr>
          <p:cNvPr id="5" name="Picture 4">
            <a:extLst>
              <a:ext uri="{FF2B5EF4-FFF2-40B4-BE49-F238E27FC236}">
                <a16:creationId xmlns:a16="http://schemas.microsoft.com/office/drawing/2014/main" id="{06CAD574-0795-E7C4-BE37-1FCC8D0038C0}"/>
              </a:ext>
            </a:extLst>
          </p:cNvPr>
          <p:cNvPicPr>
            <a:picLocks noChangeAspect="1"/>
          </p:cNvPicPr>
          <p:nvPr/>
        </p:nvPicPr>
        <p:blipFill rotWithShape="1">
          <a:blip r:embed="rId3"/>
          <a:srcRect b="463"/>
          <a:stretch/>
        </p:blipFill>
        <p:spPr>
          <a:xfrm>
            <a:off x="1297641" y="602908"/>
            <a:ext cx="4390465" cy="5757552"/>
          </a:xfrm>
          <a:prstGeom prst="rect">
            <a:avLst/>
          </a:prstGeom>
        </p:spPr>
      </p:pic>
    </p:spTree>
    <p:extLst>
      <p:ext uri="{BB962C8B-B14F-4D97-AF65-F5344CB8AC3E}">
        <p14:creationId xmlns:p14="http://schemas.microsoft.com/office/powerpoint/2010/main" val="1146970543"/>
      </p:ext>
    </p:extLst>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74215</TotalTime>
  <Words>732</Words>
  <Application>Microsoft Office PowerPoint</Application>
  <PresentationFormat>Widescreen</PresentationFormat>
  <Paragraphs>109</Paragraphs>
  <Slides>10</Slides>
  <Notes>10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10</vt:i4>
      </vt:variant>
    </vt:vector>
  </HeadingPairs>
  <TitlesOfParts>
    <vt:vector size="19" baseType="lpstr">
      <vt:lpstr>Google Sans</vt:lpstr>
      <vt:lpstr>system-ui</vt:lpstr>
      <vt:lpstr>等线</vt:lpstr>
      <vt:lpstr>Arial</vt:lpstr>
      <vt:lpstr>helvetica</vt:lpstr>
      <vt:lpstr>Times New Roman</vt:lpstr>
      <vt:lpstr>Wingdings</vt:lpstr>
      <vt:lpstr>1_Office 主题​​</vt:lpstr>
      <vt:lpstr>Office 主题​​</vt:lpstr>
      <vt:lpstr>PowerPoint Presentation</vt:lpstr>
      <vt:lpstr>Authors &amp; summary</vt:lpstr>
      <vt:lpstr>PROTAC is a promising strategy for CDK4/6 inhibition </vt:lpstr>
      <vt:lpstr>PROTACs targeting CDK4/6</vt:lpstr>
      <vt:lpstr>Docking protocol</vt:lpstr>
      <vt:lpstr>Rational design of linker</vt:lpstr>
      <vt:lpstr>Determining the binding mode of 7f</vt:lpstr>
      <vt:lpstr>Evaluation of 7f in Jurkat Cells</vt:lpstr>
      <vt:lpstr>7f induces cell apoptosis by cleaving PARP and Caspase3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Dong Zhang</dc:creator>
  <cp:lastModifiedBy>Xufan Gao</cp:lastModifiedBy>
  <cp:revision>1333</cp:revision>
  <cp:lastPrinted>2023-11-24T12:45:53Z</cp:lastPrinted>
  <dcterms:created xsi:type="dcterms:W3CDTF">2022-01-23T03:13:32Z</dcterms:created>
  <dcterms:modified xsi:type="dcterms:W3CDTF">2024-07-10T08:31:08Z</dcterms:modified>
</cp:coreProperties>
</file>