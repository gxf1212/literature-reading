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48" r:id="rId2"/>
  </p:sldMasterIdLst>
  <p:notesMasterIdLst>
    <p:notesMasterId r:id="rId23"/>
  </p:notesMasterIdLst>
  <p:sldIdLst>
    <p:sldId id="1827" r:id="rId3"/>
    <p:sldId id="1814" r:id="rId4"/>
    <p:sldId id="2443" r:id="rId5"/>
    <p:sldId id="2453" r:id="rId6"/>
    <p:sldId id="2451" r:id="rId7"/>
    <p:sldId id="2446" r:id="rId8"/>
    <p:sldId id="2445" r:id="rId9"/>
    <p:sldId id="2454" r:id="rId10"/>
    <p:sldId id="2444" r:id="rId11"/>
    <p:sldId id="2448" r:id="rId12"/>
    <p:sldId id="2455" r:id="rId13"/>
    <p:sldId id="2456" r:id="rId14"/>
    <p:sldId id="2449" r:id="rId15"/>
    <p:sldId id="2457" r:id="rId16"/>
    <p:sldId id="2458" r:id="rId17"/>
    <p:sldId id="2459" r:id="rId18"/>
    <p:sldId id="2452" r:id="rId19"/>
    <p:sldId id="2423" r:id="rId20"/>
    <p:sldId id="1698" r:id="rId21"/>
    <p:sldId id="243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472C4"/>
    <a:srgbClr val="ED7D31"/>
    <a:srgbClr val="0E100D"/>
    <a:srgbClr val="CC93CA"/>
    <a:srgbClr val="FFFFFF"/>
    <a:srgbClr val="E3A01D"/>
    <a:srgbClr val="F3B5F4"/>
    <a:srgbClr val="7FC1DD"/>
    <a:srgbClr val="FDDD51"/>
    <a:srgbClr val="AC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5" autoAdjust="0"/>
    <p:restoredTop sz="88871" autoAdjust="0"/>
  </p:normalViewPr>
  <p:slideViewPr>
    <p:cSldViewPr snapToGrid="0">
      <p:cViewPr varScale="1">
        <p:scale>
          <a:sx n="98" d="100"/>
          <a:sy n="98" d="100"/>
        </p:scale>
        <p:origin x="552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6E25A-B3D6-0642-A12C-D7878380EBD2}" type="datetimeFigureOut">
              <a:rPr kumimoji="1" lang="zh-CN" altLang="en-US" smtClean="0"/>
              <a:t>2025/6/8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154B1-2FE7-2C40-9A46-2D9422D3E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945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5446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46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10EB-261D-DBEF-10CF-06DC98F3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2613D9-3DFF-EC1E-A20D-1AFC1CD24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D2893B-FBA1-790C-44A8-3B3AFEA01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7D628-9D0D-016F-437F-1689AAAD7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7159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46AEF-7959-E00B-4EC3-A3E8E36B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E0883E-1044-0553-EF23-5BAAC2A5E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3B7310-7A87-5F93-98C2-B3B586BBE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Boltz-2x</a:t>
            </a:r>
            <a:r>
              <a:rPr lang="en-US" altLang="zh-CN" dirty="0"/>
              <a:t> </a:t>
            </a:r>
            <a:r>
              <a:rPr lang="zh-CN" altLang="en-US" dirty="0"/>
              <a:t>是在</a:t>
            </a:r>
            <a:r>
              <a:rPr lang="en-US" altLang="zh-CN" dirty="0"/>
              <a:t>Boltz-2</a:t>
            </a:r>
            <a:r>
              <a:rPr lang="zh-CN" altLang="en-US" dirty="0"/>
              <a:t>的基础上，额外集成了</a:t>
            </a:r>
            <a:r>
              <a:rPr lang="en-US" altLang="zh-CN" dirty="0"/>
              <a:t>Boltz-steering</a:t>
            </a:r>
            <a:r>
              <a:rPr lang="zh-CN" altLang="en-US" dirty="0"/>
              <a:t>的版本 。</a:t>
            </a:r>
          </a:p>
          <a:p>
            <a:r>
              <a:rPr lang="en-US" altLang="zh-CN" dirty="0"/>
              <a:t>Boltz-steering</a:t>
            </a:r>
            <a:r>
              <a:rPr lang="zh-CN" altLang="en-US" dirty="0"/>
              <a:t>是一种在推理阶段（</a:t>
            </a:r>
            <a:r>
              <a:rPr lang="en-US" altLang="zh-CN" dirty="0"/>
              <a:t>inference-time</a:t>
            </a:r>
            <a:r>
              <a:rPr lang="zh-CN" altLang="en-US" dirty="0"/>
              <a:t>）</a:t>
            </a:r>
            <a:r>
              <a:rPr lang="zh-CN" altLang="en-US" b="0" dirty="0"/>
              <a:t>应用的技术，它通过施加一组</a:t>
            </a:r>
            <a:r>
              <a:rPr lang="zh-CN" altLang="en-US" dirty="0"/>
              <a:t>基于物理的势能（</a:t>
            </a:r>
            <a:r>
              <a:rPr lang="en-US" altLang="zh-CN" dirty="0"/>
              <a:t>physics-based potentials</a:t>
            </a:r>
            <a:r>
              <a:rPr lang="zh-CN" altLang="en-US" dirty="0"/>
              <a:t>）来修正和引导模型的结构生成过程 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EEEB6D-8C7D-3C6A-0DDD-FDDBC6263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4434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156B-F868-B1BB-E9B1-AC04F1DA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8DC0F5-2F48-F18B-59E8-6A3ADA707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B4B8DB-2026-E21F-325C-BFDF92760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ECE0A3-48CA-C181-F836-2EA00CB82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7466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F371-292C-9C22-7A3B-11485A3F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908C16-69D6-2678-45C2-B6A1B0E62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7DBB80-94C0-7558-1BB0-BDB4CC23D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7044E7-A3D1-22B8-0B58-CC12D19BC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8592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16A2-F246-E59D-6CFD-EC803C741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C9B9F2-0635-F1A2-1FB8-72102ADC8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E1002C-8942-344D-F40D-E83471781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E9F0D0-8703-8306-67BA-BB30DAED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2141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2DE1-7AFA-3BEC-5DD0-0F45BD747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6A3FD6-87B5-DA82-BD25-AEC05CB76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D05C60-7BD6-1767-4CD1-32CF881DE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562F85-6FC0-ECE6-1D18-E0BEA4FD9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0792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3EC4-074E-BA11-236E-0523F4CB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BA1AAE-874B-455E-2046-70B9622EA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2946DD-709D-6654-F0E3-F0A0D381C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2B7802-5A75-70C4-5B03-9CB4310DB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158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667E-F102-8CA1-6977-B40F806F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32692A-891B-1FA2-1CE7-7EFF46515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E4118C-049B-A3C9-F5BC-43B78C36F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284398-EF86-2819-997F-01CA9F3E4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2339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EA6D-6AB3-5AEA-D4DA-CB571B6D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72051-03F2-1719-299E-8038CFCEB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5F23F9-3AFA-847D-7B5A-658CA4754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E58EDD-880C-DB66-0025-B831ABFEE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2160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5929-890F-C250-07D7-DCACA296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2405BA-3288-FA18-86AC-59461F2A0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11F165-786F-D5F4-12B3-EF71770A3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AC62CB-1D7C-6911-2396-35464B38B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059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0A616-CEB4-B1AB-ABED-A060FABB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F77D29-537D-1AAC-856D-66BD89414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DC8620-DC81-8897-9D7A-9DFBF8F03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93B849-67B8-CF00-E004-8ED499205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1204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26650-643C-4A88-5811-835C88931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A5EF7B-3FB3-72BD-A085-B4FFF944F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E8A3C0-8176-398D-4AB1-CF0F499AB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D8A359-2F1E-03E9-183C-4672F1FCE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168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5DE4-18E4-112E-5840-926F6556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FCBA5B-930A-35E6-E966-62212A5BD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562B9D-1637-AC85-487F-FE535E4F1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F9F340-C533-EE24-8C53-25A1BF02C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9311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D5FB-B038-AA72-13F6-FBF577A2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EB1628-146B-2194-0B1A-869B42176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4BADA9-AB57-CC5A-93E2-CBF721F07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B124A4-93CB-C4C8-3093-9985435AD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882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11534-2C81-E630-DC1E-3005C7E0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4AEFF0-F8E7-FACD-DAD0-47D985015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186E9A-A5B3-0EC1-9652-898B91C03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D9E5-C939-312D-A4DC-4B5EFB233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4741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53646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115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152AD-5307-93C5-93CF-A1647440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F4CA24-0503-85F0-52D0-CA4A6F681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8A6184-8353-5C19-DCDB-2C672CC42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A11E21-00A0-0B44-3CBE-FA72F2C26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9220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F09C09-57F0-401E-914C-55AD4EC2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B730A-D6A8-4367-9340-61635399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AA53-DF53-41D5-890D-1E77B922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FF102-37FF-4AB8-ABB3-62038DDF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CF96D-0341-4A5E-8974-D9D41BED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5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 sz="2600"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05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14A5CD-2F49-4758-8337-6D54A667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D55E93-1034-4BBC-9A0C-AEC9616D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62BEC-08A7-492D-A68E-D72A1488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BE58-1D64-4DFA-8CCF-3360601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7D6C6-42D3-4F32-AC8A-75DACF5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340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504493-20B5-43D7-8EBC-6C1F35E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9B1E5-631A-4528-8290-15E08E8B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56DF3-E16B-4C45-B923-89E73C7F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586D4-7959-443F-AFD0-45206616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BB3DF-7BD2-457D-9B6D-1B6DC24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E9612-44B3-4E8E-8694-6FB52C18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79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392E-6FE4-45F1-96CC-97978BC9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98865-5E57-4B42-8909-80DBC97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2D6B9-43DE-41D8-BB6E-9E1B0B25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C0E132-7240-44B0-9935-03A301827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FCBD-29DB-442A-8884-912732720B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03F58-7C49-43D5-A3D1-B3A969BE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D9A7E8-3C85-4801-9E4D-111A3B98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2A24D-FBE5-4D56-AD80-01C1063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6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5D73AB-11D1-4981-9368-43F6087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7B4CA-3CD6-4B49-877C-211DF73E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2025/6/8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20833A-D84C-4AA5-A4E5-89293C0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1A098F-361B-45B7-9328-0C0CC880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07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5D28D-AE9D-4887-A8CE-67AB1279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2025/6/8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FF75D-410E-4FF5-91F1-E635B2B4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B8D5D-EBBC-4D0B-81BA-D6EE7D1B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04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80F32D-4D49-416F-900C-56A021BA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A1975-CD99-4E06-9E45-D308D95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04A39-44D7-40D5-879F-9B291A6F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18CF9-B53E-4812-BEF1-A52E0A34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403AC-06D8-4A58-A310-BBD1CF8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87A4F-9495-4E5A-9C28-E5809E5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57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ECD109-4A98-49F1-AC02-93949048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D343E-388B-4353-9336-2656832B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F39C-1448-4F68-AD3E-BFA9643D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F964B-5762-4399-8D43-3F4D77D8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14C33-5019-4572-8BA2-4887830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2535E-DC52-4683-9666-75A5550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9C09-57F0-401E-914C-55AD4EC2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B730A-D6A8-4367-9340-61635399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AA53-DF53-41D5-890D-1E77B922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FF102-37FF-4AB8-ABB3-62038DDF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CF96D-0341-4A5E-8974-D9D41BED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1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1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14A5CD-2F49-4758-8337-6D54A667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D55E93-1034-4BBC-9A0C-AEC9616D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62BEC-08A7-492D-A68E-D72A1488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BE58-1D64-4DFA-8CCF-3360601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7D6C6-42D3-4F32-AC8A-75DACF5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89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504493-20B5-43D7-8EBC-6C1F35E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9B1E5-631A-4528-8290-15E08E8B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56DF3-E16B-4C45-B923-89E73C7F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586D4-7959-443F-AFD0-45206616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2025/6/8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BB3DF-7BD2-457D-9B6D-1B6DC24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E9612-44B3-4E8E-8694-6FB52C18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55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392E-6FE4-45F1-96CC-97978BC9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98865-5E57-4B42-8909-80DBC97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2D6B9-43DE-41D8-BB6E-9E1B0B25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C0E132-7240-44B0-9935-03A301827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FCBD-29DB-442A-8884-912732720B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03F58-7C49-43D5-A3D1-B3A969BE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2025/6/8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D9A7E8-3C85-4801-9E4D-111A3B98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2A24D-FBE5-4D56-AD80-01C1063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9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5D73AB-11D1-4981-9368-43F6087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7B4CA-3CD6-4B49-877C-211DF73E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2025/6/8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20833A-D84C-4AA5-A4E5-89293C0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1A098F-361B-45B7-9328-0C0CC880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423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5D28D-AE9D-4887-A8CE-67AB1279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2025/6/8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FF75D-410E-4FF5-91F1-E635B2B4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B8D5D-EBBC-4D0B-81BA-D6EE7D1B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1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80F32D-4D49-416F-900C-56A021BA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A1975-CD99-4E06-9E45-D308D95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04A39-44D7-40D5-879F-9B291A6F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18CF9-B53E-4812-BEF1-A52E0A34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403AC-06D8-4A58-A310-BBD1CF8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87A4F-9495-4E5A-9C28-E5809E5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45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ECD109-4A98-49F1-AC02-93949048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D343E-388B-4353-9336-2656832B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F39C-1448-4F68-AD3E-BFA9643D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F964B-5762-4399-8D43-3F4D77D8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14C33-5019-4572-8BA2-4887830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2535E-DC52-4683-9666-75A5550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920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5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D4DA5-7CDF-41C7-842B-C65E40C8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DD46D-0C86-4CE6-B4CB-E685DB6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25EA9-D021-48CB-A587-4B37D2A3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4D08-70E2-4241-866D-8CD5E7AC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F49E-E35F-4F73-9004-29599BB6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84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D4DA5-7CDF-41C7-842B-C65E40C8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DD46D-0C86-4CE6-B4CB-E685DB6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25EA9-D021-48CB-A587-4B37D2A3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E9F9-C78E-4B43-BFC4-7328A9A9B681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4D08-70E2-4241-866D-8CD5E7AC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F49E-E35F-4F73-9004-29599BB6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26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C71296-B7DB-8FCB-C492-290895CCA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51974"/>
            <a:ext cx="9144000" cy="1054268"/>
          </a:xfrm>
        </p:spPr>
        <p:txBody>
          <a:bodyPr>
            <a:normAutofit/>
          </a:bodyPr>
          <a:lstStyle/>
          <a:p>
            <a:r>
              <a:rPr lang="en-US" altLang="zh-CN" dirty="0"/>
              <a:t>Reporter: </a:t>
            </a:r>
            <a:r>
              <a:rPr lang="zh-CN" altLang="en-US" dirty="0"/>
              <a:t>高旭帆</a:t>
            </a:r>
            <a:endParaRPr lang="en-US" altLang="zh-CN" dirty="0"/>
          </a:p>
          <a:p>
            <a:r>
              <a:rPr lang="en-US" altLang="zh-CN" dirty="0"/>
              <a:t>Date: 2025.6.9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94C0E-7380-5C4C-3B30-A5D6BCED6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173" y="1331429"/>
            <a:ext cx="8073654" cy="336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9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915494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915495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Introduction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15493" y="161541"/>
            <a:ext cx="7180062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Authors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D7BB94-0D36-B5A2-9816-D3CFEC8B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2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D6FEC3-B16B-51B8-26F5-61F022C5E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95" y="1010105"/>
            <a:ext cx="5575161" cy="20293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E33730-E112-9B08-CA4F-5DB4624DD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96" y="3211603"/>
            <a:ext cx="5575160" cy="31874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40A882-0D8E-C28A-F8DE-D0DA25C0B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662" y="938487"/>
            <a:ext cx="5861536" cy="2699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A2D679-4BEC-EA31-142D-659042033155}"/>
              </a:ext>
            </a:extLst>
          </p:cNvPr>
          <p:cNvSpPr txBox="1"/>
          <p:nvPr/>
        </p:nvSpPr>
        <p:spPr>
          <a:xfrm>
            <a:off x="1160849" y="6424828"/>
            <a:ext cx="3722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https://www.regina.csail.mit.edu/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3B1979-DF20-74DA-03E8-392CEEEC8B50}"/>
              </a:ext>
            </a:extLst>
          </p:cNvPr>
          <p:cNvSpPr txBox="1"/>
          <p:nvPr/>
        </p:nvSpPr>
        <p:spPr>
          <a:xfrm>
            <a:off x="7007350" y="3650824"/>
            <a:ext cx="4176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https://people.csail.mit.edu/tommi/</a:t>
            </a:r>
          </a:p>
        </p:txBody>
      </p:sp>
    </p:spTree>
    <p:extLst>
      <p:ext uri="{BB962C8B-B14F-4D97-AF65-F5344CB8AC3E}">
        <p14:creationId xmlns:p14="http://schemas.microsoft.com/office/powerpoint/2010/main" val="306517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4805-2BC9-1D28-3799-81F0B29F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4707F06-60B3-BCAE-8A07-ECE1029A503E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1ECA010C-EA8E-41FF-ACF6-E707A51E8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5E88A4-E7F4-F819-8EE8-D9B475467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Overview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FDF048-5A24-55EA-FE2E-A13DAE6B33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Overall Features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E40CCDD6-E7B6-B1A1-F20D-8E98908F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3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DA892D-1274-5D65-D19F-C7B6670FB806}"/>
              </a:ext>
            </a:extLst>
          </p:cNvPr>
          <p:cNvSpPr txBox="1"/>
          <p:nvPr/>
        </p:nvSpPr>
        <p:spPr>
          <a:xfrm>
            <a:off x="6521983" y="5803151"/>
            <a:ext cx="5147145" cy="79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Aft>
                <a:spcPct val="0"/>
              </a:spcAft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Comparable RMSF prediction accuracy with </a:t>
            </a:r>
            <a:r>
              <a:rPr lang="en-US" altLang="zh-CN" sz="2000" dirty="0" err="1">
                <a:ea typeface="楷体" panose="02010609060101010101" pitchFamily="49" charset="-122"/>
                <a:cs typeface="Times New Roman" panose="02020603050405020304" pitchFamily="18" charset="0"/>
              </a:rPr>
              <a:t>BioEmu</a:t>
            </a: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, etc.</a:t>
            </a:r>
            <a:endParaRPr lang="zh-CN" altLang="en-US" sz="1600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5983B2-8CA0-D5F2-19AC-3BD6786A7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32" y="130260"/>
            <a:ext cx="6003200" cy="6600229"/>
          </a:xfrm>
          <a:prstGeom prst="rect">
            <a:avLst/>
          </a:prstGeom>
        </p:spPr>
      </p:pic>
      <p:pic>
        <p:nvPicPr>
          <p:cNvPr id="20" name="Picture 2" descr="图片">
            <a:extLst>
              <a:ext uri="{FF2B5EF4-FFF2-40B4-BE49-F238E27FC236}">
                <a16:creationId xmlns:a16="http://schemas.microsoft.com/office/drawing/2014/main" id="{7E694885-1D57-682A-DDC4-A2217A6D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87" y="1144368"/>
            <a:ext cx="5467531" cy="252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257329D-4124-257E-8F28-3C3D2D3FE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88" y="4020766"/>
            <a:ext cx="5933270" cy="24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4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71E8-9123-CE44-49B6-9C94C4E4B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2D15034-6777-709D-628C-97D819C5D75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178267A9-E26E-2B71-5E2A-72F6C7329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BC97312-DC12-8378-0CB4-75304F058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Overview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203D8B-5D6E-4BE0-53E2-A4FFC5FD62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Key Results: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Structural Prediction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5EDB4561-BAF7-0C99-FA02-34EF91DF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4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030" name="Picture 6" descr="图片">
            <a:extLst>
              <a:ext uri="{FF2B5EF4-FFF2-40B4-BE49-F238E27FC236}">
                <a16:creationId xmlns:a16="http://schemas.microsoft.com/office/drawing/2014/main" id="{3ACAB276-0573-6E4B-F4A7-656365767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72" y="1137021"/>
            <a:ext cx="4816340" cy="458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DE32D9-1459-B81A-8FBF-9E36DEF78EC2}"/>
              </a:ext>
            </a:extLst>
          </p:cNvPr>
          <p:cNvSpPr txBox="1"/>
          <p:nvPr/>
        </p:nvSpPr>
        <p:spPr>
          <a:xfrm>
            <a:off x="2606878" y="6006734"/>
            <a:ext cx="6978243" cy="427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Aft>
                <a:spcPct val="0"/>
              </a:spcAft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Comparable structural prediction accuracy with AF3, etc.</a:t>
            </a:r>
            <a:endParaRPr lang="zh-CN" altLang="en-US" sz="1600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4" descr="图片">
            <a:extLst>
              <a:ext uri="{FF2B5EF4-FFF2-40B4-BE49-F238E27FC236}">
                <a16:creationId xmlns:a16="http://schemas.microsoft.com/office/drawing/2014/main" id="{717844ED-D344-8275-0DFF-0072DE8F2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302" y="1137021"/>
            <a:ext cx="5344619" cy="318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E57DF1-BC9E-4A57-BCF0-13DA186FF184}"/>
              </a:ext>
            </a:extLst>
          </p:cNvPr>
          <p:cNvSpPr txBox="1"/>
          <p:nvPr/>
        </p:nvSpPr>
        <p:spPr>
          <a:xfrm>
            <a:off x="9095555" y="4349280"/>
            <a:ext cx="2112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CoV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Mpro</a:t>
            </a:r>
            <a:r>
              <a:rPr lang="en-US" altLang="zh-CN" sz="1400" dirty="0"/>
              <a:t>-ligands</a:t>
            </a:r>
            <a:endParaRPr lang="zh-CN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89BA15-735F-6F88-02C3-DC855351D737}"/>
              </a:ext>
            </a:extLst>
          </p:cNvPr>
          <p:cNvSpPr txBox="1"/>
          <p:nvPr/>
        </p:nvSpPr>
        <p:spPr>
          <a:xfrm>
            <a:off x="6850408" y="4349280"/>
            <a:ext cx="1338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Ag-Ab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0093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959EB-5D05-ABB6-AB01-BE8477DF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C374E09-27BC-855A-433B-8D61BAF75C65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EF815E25-05FE-5ABE-25D0-271A78A29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200C449-62DE-971A-8AF0-D96565379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Overview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EB7DF7-01DC-FC65-48AC-44C838C626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Key Results: Affinity Prediction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172865A3-E5C5-33B7-DF13-337A7D58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5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798FBFC-358E-919A-2EC5-9E82089C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44547" y="1010105"/>
            <a:ext cx="4634129" cy="5110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31D82E-A558-551F-324E-60FA7DCDC4E5}"/>
              </a:ext>
            </a:extLst>
          </p:cNvPr>
          <p:cNvSpPr txBox="1"/>
          <p:nvPr/>
        </p:nvSpPr>
        <p:spPr>
          <a:xfrm>
            <a:off x="1310750" y="6203666"/>
            <a:ext cx="4630634" cy="427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Aft>
                <a:spcPct val="0"/>
              </a:spcAft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Claim: docking time, FEP accuracy</a:t>
            </a:r>
            <a:endParaRPr lang="zh-CN" altLang="en-US" sz="1600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09282-A87D-9588-40A5-8A814D254D42}"/>
              </a:ext>
            </a:extLst>
          </p:cNvPr>
          <p:cNvSpPr txBox="1"/>
          <p:nvPr/>
        </p:nvSpPr>
        <p:spPr>
          <a:xfrm>
            <a:off x="6855476" y="6203666"/>
            <a:ext cx="5147145" cy="427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Aft>
                <a:spcPct val="0"/>
              </a:spcAft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Claim: docking time, FEP accuracy</a:t>
            </a:r>
            <a:endParaRPr lang="zh-CN" altLang="en-US" sz="1600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4" descr="图片">
            <a:extLst>
              <a:ext uri="{FF2B5EF4-FFF2-40B4-BE49-F238E27FC236}">
                <a16:creationId xmlns:a16="http://schemas.microsoft.com/office/drawing/2014/main" id="{0F3D679E-C9E7-1DCD-3F56-894CB8144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16" y="1211919"/>
            <a:ext cx="4462902" cy="443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44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8213-F03A-B357-D64C-4D4DDFFDB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A0A0028-676E-7F3F-6ACA-3C94A8BF7D74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A1FE0176-B379-25AA-5F54-A8A56BA3B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DA61E45-FDB1-7AA2-51E8-54267CF92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Structure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16BB07-0760-BD57-D76F-F23908C89F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Methods: PairFormer Architecture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427D9804-3D27-9175-59F5-B88440B2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6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841E03-0792-BCC3-5AE0-689FFB916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94" y="4510921"/>
            <a:ext cx="5785825" cy="148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2C5D98-6944-B67A-6920-A7A9F94B8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104" y="2361007"/>
            <a:ext cx="5500517" cy="44969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CCF29C-626C-69D8-EB17-649022B88CC4}"/>
              </a:ext>
            </a:extLst>
          </p:cNvPr>
          <p:cNvSpPr txBox="1"/>
          <p:nvPr/>
        </p:nvSpPr>
        <p:spPr>
          <a:xfrm>
            <a:off x="2153363" y="6229433"/>
            <a:ext cx="2440286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/>
              <a:t>Original PairFormer (AF3)</a:t>
            </a:r>
            <a:endParaRPr lang="zh-CN" altLang="en-US" sz="1400" dirty="0"/>
          </a:p>
        </p:txBody>
      </p:sp>
      <p:pic>
        <p:nvPicPr>
          <p:cNvPr id="14" name="Picture 2" descr="图片">
            <a:extLst>
              <a:ext uri="{FF2B5EF4-FFF2-40B4-BE49-F238E27FC236}">
                <a16:creationId xmlns:a16="http://schemas.microsoft.com/office/drawing/2014/main" id="{D35B513E-FF3F-77F9-715B-053E17BDE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24" y="1258516"/>
            <a:ext cx="6157848" cy="284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E7459E-9E4F-7790-B65F-5A10D1481DA4}"/>
              </a:ext>
            </a:extLst>
          </p:cNvPr>
          <p:cNvSpPr txBox="1"/>
          <p:nvPr/>
        </p:nvSpPr>
        <p:spPr>
          <a:xfrm>
            <a:off x="6211039" y="911992"/>
            <a:ext cx="59290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35B378"/>
                </a:solidFill>
                <a:effectLst/>
              </a:rPr>
              <a:t>单一表示 </a:t>
            </a:r>
            <a:r>
              <a:rPr lang="en-US" altLang="zh-CN" sz="1400" b="1" dirty="0">
                <a:solidFill>
                  <a:srgbClr val="35B378"/>
                </a:solidFill>
                <a:effectLst/>
              </a:rPr>
              <a:t>(Single Representation)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：一个二维张量，尺寸为 </a:t>
            </a:r>
            <a:r>
              <a:rPr lang="en-US" altLang="zh-CN" sz="1400" dirty="0" err="1">
                <a:solidFill>
                  <a:srgbClr val="000000"/>
                </a:solidFill>
              </a:rPr>
              <a:t>n×c</a:t>
            </a:r>
            <a:r>
              <a:rPr lang="en-US" altLang="zh-CN" sz="1400" baseline="-25000" dirty="0" err="1">
                <a:solidFill>
                  <a:srgbClr val="000000"/>
                </a:solidFill>
              </a:rPr>
              <a:t>s</a:t>
            </a:r>
            <a:r>
              <a:rPr lang="zh-CN" altLang="en-US" sz="1400" dirty="0">
                <a:solidFill>
                  <a:srgbClr val="000000"/>
                </a:solidFill>
              </a:rPr>
              <a:t> 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，其中 </a:t>
            </a:r>
            <a:r>
              <a:rPr lang="en-US" altLang="zh-CN" sz="1400" dirty="0">
                <a:solidFill>
                  <a:srgbClr val="000000"/>
                </a:solidFill>
                <a:effectLst/>
              </a:rPr>
              <a:t>n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 是系统中所有残基和原子（</a:t>
            </a:r>
            <a:r>
              <a:rPr lang="en-US" altLang="zh-CN" sz="1400" dirty="0">
                <a:solidFill>
                  <a:srgbClr val="000000"/>
                </a:solidFill>
                <a:effectLst/>
              </a:rPr>
              <a:t>tokens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）的总数，</a:t>
            </a:r>
            <a:r>
              <a:rPr lang="en-US" altLang="zh-CN" sz="1400" dirty="0">
                <a:solidFill>
                  <a:srgbClr val="000000"/>
                </a:solidFill>
              </a:rPr>
              <a:t> c</a:t>
            </a:r>
            <a:r>
              <a:rPr lang="en-US" altLang="zh-CN" sz="1400" baseline="-25000" dirty="0">
                <a:solidFill>
                  <a:srgbClr val="000000"/>
                </a:solidFill>
              </a:rPr>
              <a:t>s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 是编码每个</a:t>
            </a:r>
            <a:r>
              <a:rPr lang="en-US" altLang="zh-CN" sz="1400" dirty="0">
                <a:solidFill>
                  <a:srgbClr val="000000"/>
                </a:solidFill>
                <a:effectLst/>
              </a:rPr>
              <a:t>token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自身属性的特征通道数。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35B378"/>
                </a:solidFill>
                <a:effectLst/>
              </a:rPr>
              <a:t>成对表示 </a:t>
            </a:r>
            <a:r>
              <a:rPr lang="en-US" altLang="zh-CN" sz="1400" b="1" dirty="0">
                <a:solidFill>
                  <a:srgbClr val="35B378"/>
                </a:solidFill>
                <a:effectLst/>
              </a:rPr>
              <a:t>(Pair Representation)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：一个三维张量，尺寸为 </a:t>
            </a:r>
            <a:r>
              <a:rPr lang="en-US" altLang="zh-CN" sz="1400" dirty="0" err="1">
                <a:solidFill>
                  <a:srgbClr val="000000"/>
                </a:solidFill>
              </a:rPr>
              <a:t>n×n×c</a:t>
            </a:r>
            <a:r>
              <a:rPr lang="en-US" altLang="zh-CN" sz="1400" baseline="-25000" dirty="0" err="1">
                <a:solidFill>
                  <a:srgbClr val="000000"/>
                </a:solidFill>
              </a:rPr>
              <a:t>z</a:t>
            </a:r>
            <a:r>
              <a:rPr lang="zh-CN" altLang="en-US" sz="1400" dirty="0">
                <a:solidFill>
                  <a:srgbClr val="000000"/>
                </a:solidFill>
              </a:rPr>
              <a:t> 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，其中 </a:t>
            </a:r>
            <a:r>
              <a:rPr lang="en-US" altLang="zh-CN" sz="1400" dirty="0">
                <a:solidFill>
                  <a:srgbClr val="000000"/>
                </a:solidFill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</a:rPr>
              <a:t>c</a:t>
            </a:r>
            <a:r>
              <a:rPr lang="en-US" altLang="zh-CN" sz="1400" baseline="-25000" dirty="0" err="1">
                <a:solidFill>
                  <a:srgbClr val="000000"/>
                </a:solidFill>
              </a:rPr>
              <a:t>z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 是特征通道数。它编码了系统中每对</a:t>
            </a:r>
            <a:r>
              <a:rPr lang="en-US" altLang="zh-CN" sz="1400" dirty="0">
                <a:solidFill>
                  <a:srgbClr val="000000"/>
                </a:solidFill>
                <a:effectLst/>
              </a:rPr>
              <a:t>token</a:t>
            </a:r>
            <a:r>
              <a:rPr lang="zh-CN" altLang="en-US" sz="1400" dirty="0">
                <a:solidFill>
                  <a:srgbClr val="000000"/>
                </a:solidFill>
                <a:effectLst/>
              </a:rPr>
              <a:t>之间的空间和化学关系。</a:t>
            </a:r>
          </a:p>
        </p:txBody>
      </p:sp>
    </p:spTree>
    <p:extLst>
      <p:ext uri="{BB962C8B-B14F-4D97-AF65-F5344CB8AC3E}">
        <p14:creationId xmlns:p14="http://schemas.microsoft.com/office/powerpoint/2010/main" val="389627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EA83-AF8F-8ECC-9801-40665B46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3E89F3D-FB26-25A0-E79F-BE5FFCD942B4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0E9C89E1-C93B-7052-3B7B-E0D09C42A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C9F67F7-B400-B05B-B0BE-5179BDAE0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Structure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E02A26-ED85-7C15-01EA-A651BBE23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Methods: Dataset; Ensemble-related Methods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2212203B-B44C-419E-0B7B-E184613D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7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D5C7DB-04B9-C7A8-502E-F67CA7EC5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1" y="3070375"/>
            <a:ext cx="6325598" cy="35913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85D23B-5288-F9C6-22E9-47D0B7582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519" y="1030136"/>
            <a:ext cx="7066683" cy="19387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5380DB7-F0FC-A486-399A-6E59293F38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29622" y="3376834"/>
            <a:ext cx="5391042" cy="298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52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6AF88-0896-F2F1-FA6C-C0477877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5F2732D-5684-C6F8-75B0-67736E7399FF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3AB208DE-FBAB-D92F-96A4-5C7B060D2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BE281CD-256D-8BBB-8A48-5C9D459D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Structure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25CB3C-B91F-5EEF-6BA0-AA30C246F3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Results: RMSF and </a:t>
            </a:r>
            <a:r>
              <a:rPr lang="en-US" altLang="zh-CN" sz="2400" dirty="0" err="1">
                <a:solidFill>
                  <a:schemeClr val="tx1"/>
                </a:solidFill>
                <a:cs typeface="Times New Roman" panose="02020603050405020304" pitchFamily="18" charset="0"/>
              </a:rPr>
              <a:t>lDDT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Metrics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44B9E18-2B90-3920-0AFA-7C6CC026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8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6CE2B10-DF3E-7093-0C6B-2D3B7BBDC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2570" y="3971933"/>
            <a:ext cx="5516730" cy="288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BF3DD8F-4149-FDE5-0B52-481C7FF25970}"/>
              </a:ext>
            </a:extLst>
          </p:cNvPr>
          <p:cNvGrpSpPr>
            <a:grpSpLocks noChangeAspect="1"/>
          </p:cNvGrpSpPr>
          <p:nvPr/>
        </p:nvGrpSpPr>
        <p:grpSpPr>
          <a:xfrm>
            <a:off x="304662" y="1064982"/>
            <a:ext cx="7582569" cy="2837731"/>
            <a:chOff x="853578" y="1303506"/>
            <a:chExt cx="10756481" cy="4025548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CF19D007-78E1-08FD-1868-CD5D3245C1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53578" y="1303506"/>
              <a:ext cx="10756481" cy="2005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4">
              <a:extLst>
                <a:ext uri="{FF2B5EF4-FFF2-40B4-BE49-F238E27FC236}">
                  <a16:creationId xmlns:a16="http://schemas.microsoft.com/office/drawing/2014/main" id="{DECF7A5E-8529-C836-BDAF-348A8D4C6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77090" y="3359340"/>
              <a:ext cx="8483787" cy="1969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3E5C7DD-32E6-85AD-9050-2DFCAC295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709" y="2915134"/>
            <a:ext cx="5355912" cy="35738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2FBD44-E56B-A744-6106-EC599B89E88B}"/>
              </a:ext>
            </a:extLst>
          </p:cNvPr>
          <p:cNvCxnSpPr/>
          <p:nvPr/>
        </p:nvCxnSpPr>
        <p:spPr>
          <a:xfrm>
            <a:off x="6491591" y="2723745"/>
            <a:ext cx="0" cy="4015327"/>
          </a:xfrm>
          <a:prstGeom prst="line">
            <a:avLst/>
          </a:prstGeom>
          <a:ln w="28575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955600-75B6-AB28-283F-8320FA686422}"/>
              </a:ext>
            </a:extLst>
          </p:cNvPr>
          <p:cNvCxnSpPr>
            <a:cxnSpLocks/>
          </p:cNvCxnSpPr>
          <p:nvPr/>
        </p:nvCxnSpPr>
        <p:spPr>
          <a:xfrm>
            <a:off x="304662" y="3971933"/>
            <a:ext cx="6186929" cy="0"/>
          </a:xfrm>
          <a:prstGeom prst="line">
            <a:avLst/>
          </a:prstGeom>
          <a:ln w="28575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1CFB0C-1B2C-81CC-0220-60808EE6B871}"/>
              </a:ext>
            </a:extLst>
          </p:cNvPr>
          <p:cNvSpPr txBox="1"/>
          <p:nvPr/>
        </p:nvSpPr>
        <p:spPr>
          <a:xfrm>
            <a:off x="9260732" y="1149288"/>
            <a:ext cx="2741889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ea typeface="楷体" panose="02010609060101010101" pitchFamily="49" charset="-122"/>
                <a:cs typeface="Times New Roman" panose="02020603050405020304" pitchFamily="18" charset="0"/>
              </a:rPr>
              <a:t>RMSF unit: angstrom</a:t>
            </a:r>
          </a:p>
          <a:p>
            <a:pPr marL="285750" indent="-285750" fontAlgn="base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600" dirty="0" err="1">
                <a:ea typeface="楷体" panose="02010609060101010101" pitchFamily="49" charset="-122"/>
                <a:cs typeface="Times New Roman" panose="02020603050405020304" pitchFamily="18" charset="0"/>
              </a:rPr>
              <a:t>mdCATH</a:t>
            </a:r>
            <a:r>
              <a:rPr lang="en-US" altLang="zh-CN" sz="1600" dirty="0">
                <a:ea typeface="楷体" panose="02010609060101010101" pitchFamily="49" charset="-122"/>
                <a:cs typeface="Times New Roman" panose="02020603050405020304" pitchFamily="18" charset="0"/>
              </a:rPr>
              <a:t> (top)</a:t>
            </a:r>
          </a:p>
          <a:p>
            <a:pPr marL="285750" indent="-285750" fontAlgn="base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ea typeface="楷体" panose="02010609060101010101" pitchFamily="49" charset="-122"/>
                <a:cs typeface="Times New Roman" panose="02020603050405020304" pitchFamily="18" charset="0"/>
              </a:rPr>
              <a:t>ALTAS (bottom)</a:t>
            </a:r>
          </a:p>
          <a:p>
            <a:pPr marL="285750" indent="-285750" fontAlgn="base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ea typeface="楷体" panose="02010609060101010101" pitchFamily="49" charset="-122"/>
                <a:cs typeface="Times New Roman" panose="02020603050405020304" pitchFamily="18" charset="0"/>
              </a:rPr>
              <a:t>Left 2: boltz-2</a:t>
            </a:r>
          </a:p>
        </p:txBody>
      </p:sp>
    </p:spTree>
    <p:extLst>
      <p:ext uri="{BB962C8B-B14F-4D97-AF65-F5344CB8AC3E}">
        <p14:creationId xmlns:p14="http://schemas.microsoft.com/office/powerpoint/2010/main" val="347878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379B-BCB8-02C5-CE8C-B0652438C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4CC4171-4271-D283-CDFE-E6587E1886A8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C9A03FC7-F145-67E1-41AE-D06FAC67A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742475C-B24F-71D8-14C9-D468C014E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Affinity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B03D8F-0D51-B606-F694-8218648593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Methods: Dataset Curation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6A488D30-5C73-7258-3C02-D631C6D6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9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EDF6DD-F48D-15ED-D154-D2351B60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217" y="991454"/>
            <a:ext cx="5555915" cy="55970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03FB99-A8AE-0C7A-FEBF-FED6E3C0F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219" y="1010105"/>
            <a:ext cx="4417245" cy="55784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0EF218-7A07-D025-E396-94C239D9F137}"/>
              </a:ext>
            </a:extLst>
          </p:cNvPr>
          <p:cNvSpPr txBox="1"/>
          <p:nvPr/>
        </p:nvSpPr>
        <p:spPr>
          <a:xfrm>
            <a:off x="4319082" y="1324386"/>
            <a:ext cx="1958256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ea typeface="楷体" panose="02010609060101010101" pitchFamily="49" charset="-122"/>
                <a:cs typeface="Times New Roman" panose="02020603050405020304" pitchFamily="18" charset="0"/>
              </a:rPr>
              <a:t>Continuous (left)</a:t>
            </a:r>
          </a:p>
          <a:p>
            <a:pPr marL="285750" indent="-285750" fontAlgn="base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600" dirty="0">
                <a:ea typeface="楷体" panose="02010609060101010101" pitchFamily="49" charset="-122"/>
                <a:cs typeface="Times New Roman" panose="02020603050405020304" pitchFamily="18" charset="0"/>
              </a:rPr>
              <a:t>Binary (right)</a:t>
            </a:r>
          </a:p>
        </p:txBody>
      </p:sp>
    </p:spTree>
    <p:extLst>
      <p:ext uri="{BB962C8B-B14F-4D97-AF65-F5344CB8AC3E}">
        <p14:creationId xmlns:p14="http://schemas.microsoft.com/office/powerpoint/2010/main" val="104569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4E63B-5108-972B-5443-3E32625F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ED0795C-EDD6-980E-2A28-34C75C6A44D4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A69E94AD-6764-3CA5-1BF0-DBA382647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48FF707-0608-7DB9-F6E9-A6C4BA564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Affinity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73A5C9-AF4B-8469-2325-5608E3916B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Methods: PairFormer in Affinity Module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54786FFE-6300-B00E-5811-D4A9565A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10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3A5B56-D477-BFD7-AF25-364F5B40E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35" y="1060129"/>
            <a:ext cx="5252765" cy="55142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AABA01-2815-D90F-70DD-57A9816B8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949" y="1223569"/>
            <a:ext cx="3643212" cy="370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12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51DF0-EEDC-F395-870B-F0A9C150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54B87B5-1698-A566-9136-747D92796AF7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3A46AF7E-5775-EAC9-6126-CECE7DA39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0B2F1E1-38F5-E93D-996B-7CE860F6A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Affinity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34A57F-6E28-6732-0C63-C198EB4965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Methods: Affinity Model Training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3B04DFB9-A59F-7D17-B209-C0523626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11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A8788B-6358-A08E-5A53-8FB5F4E42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57" y="1010104"/>
            <a:ext cx="2950866" cy="2896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20323B-921C-0AC8-65F3-90906F9CF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469" y="1010104"/>
            <a:ext cx="4633237" cy="57476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2D69D9-AADF-3DAD-C1F0-90CDA4E67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752" y="1010104"/>
            <a:ext cx="3967880" cy="57289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B3F977-A7E4-EBC3-C3B5-4EDAAA646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88" y="4956757"/>
            <a:ext cx="2882025" cy="17822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1C4721-61BB-207B-7C01-A6D4A4C8857F}"/>
              </a:ext>
            </a:extLst>
          </p:cNvPr>
          <p:cNvSpPr txBox="1"/>
          <p:nvPr/>
        </p:nvSpPr>
        <p:spPr>
          <a:xfrm>
            <a:off x="240368" y="4014440"/>
            <a:ext cx="2617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Pocket Identification and cropping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6290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1BBCA-C569-F151-5E7F-E8AAE3034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644C0F8-9A62-CFEA-0F41-BE1D90CDC76F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429186ED-D2E0-12DB-53B7-EDC32557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98EC821-A9EA-1C84-F144-FC6E38412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Affinity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1921CF-EC5E-E25D-5E12-C7BF0B5DAB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Methods: Affinity Benchmark Dataset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30B76125-4796-5C73-16B1-D2F58895D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12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A8F5E-4ADD-0E6A-82B8-9C78A0986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97" y="1374064"/>
            <a:ext cx="5637520" cy="26395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FF2D5E-18BA-618C-2449-E0B4F6D79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74064"/>
            <a:ext cx="5861729" cy="3734586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7192387-2DCA-F54E-C294-EC13AA406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89" y="4794609"/>
            <a:ext cx="7361852" cy="178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2" tIns="0" rIns="9522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400" dirty="0">
                <a:solidFill>
                  <a:srgbClr val="000000"/>
                </a:solidFill>
              </a:rPr>
              <a:t>FEP+ 基准集相关链接</a:t>
            </a:r>
          </a:p>
          <a:p>
            <a:pPr marL="285750" marR="0" lvl="0" indent="-2857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sz="1400" dirty="0">
                <a:solidFill>
                  <a:srgbClr val="000000"/>
                </a:solidFill>
              </a:rPr>
              <a:t>论文原文: https://doi.org/10.1038/s42004-023-01019-9</a:t>
            </a:r>
          </a:p>
          <a:p>
            <a:pPr marL="285750" marR="0" lvl="0" indent="-2857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sz="1400" dirty="0">
                <a:solidFill>
                  <a:srgbClr val="000000"/>
                </a:solidFill>
              </a:rPr>
              <a:t>GitHub仓库: https://github.com/schrodinger/public_binding_free_energy_benchmark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400" dirty="0">
                <a:solidFill>
                  <a:srgbClr val="000000"/>
                </a:solidFill>
              </a:rPr>
              <a:t>OpenFE 基准集相关链接</a:t>
            </a:r>
          </a:p>
          <a:p>
            <a:pPr marL="285750" marR="0" lvl="0" indent="-2857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sz="1400" dirty="0">
                <a:solidFill>
                  <a:srgbClr val="000000"/>
                </a:solidFill>
              </a:rPr>
              <a:t>博客文章: https://blog.omsf.io/the-free-energy-of-everything-benchmarking-openfe/</a:t>
            </a:r>
          </a:p>
          <a:p>
            <a:pPr marL="285750" marR="0" lvl="0" indent="-2857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sz="1400" dirty="0">
                <a:solidFill>
                  <a:srgbClr val="000000"/>
                </a:solidFill>
              </a:rPr>
              <a:t>GitHub仓库: https://github.com/OpenFreeEnergy/openfe-benchmarks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400" dirty="0">
                <a:solidFill>
                  <a:srgbClr val="000000"/>
                </a:solidFill>
              </a:rPr>
              <a:t>ABFE (RXRX协议) 基准集预印本原文: https://doi.org/10.26434/chemrxiv-2025-q08ld-v2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E8F7C1-9C4A-D36F-B44B-B6663B3FD019}"/>
              </a:ext>
            </a:extLst>
          </p:cNvPr>
          <p:cNvSpPr txBox="1"/>
          <p:nvPr/>
        </p:nvSpPr>
        <p:spPr>
          <a:xfrm>
            <a:off x="6676823" y="927999"/>
            <a:ext cx="4700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Details of FEP+ benchmark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85564B-123E-1C51-437B-0083206D8305}"/>
              </a:ext>
            </a:extLst>
          </p:cNvPr>
          <p:cNvSpPr txBox="1"/>
          <p:nvPr/>
        </p:nvSpPr>
        <p:spPr>
          <a:xfrm>
            <a:off x="655401" y="922234"/>
            <a:ext cx="4700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Overview of benchmark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6588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B4710-84E3-A5A7-A95D-DF4FC342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0BD7322-FE19-5803-2B83-5410523C1256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CD6BE645-D745-D5E8-B1E9-1DA49C34D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A63364F-A86A-06A9-C2D8-EAC6FED54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Affinity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A29260-E640-3E73-9FD1-E5A0A07B1D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Results: Avoiding Data Leakage Problem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4DCE51B1-DA84-6796-00F8-E6E84B2E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13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DC391-D31A-7879-1F55-D4EAD5F25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0105"/>
            <a:ext cx="12192000" cy="283937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4B6670A-31D4-1022-4546-9D9E06FAABBF}"/>
              </a:ext>
            </a:extLst>
          </p:cNvPr>
          <p:cNvGrpSpPr/>
          <p:nvPr/>
        </p:nvGrpSpPr>
        <p:grpSpPr>
          <a:xfrm>
            <a:off x="1246617" y="4007731"/>
            <a:ext cx="10945383" cy="2620048"/>
            <a:chOff x="1246617" y="4007731"/>
            <a:chExt cx="10945383" cy="2620048"/>
          </a:xfrm>
        </p:grpSpPr>
        <p:pic>
          <p:nvPicPr>
            <p:cNvPr id="9218" name="Picture 2" descr="图片">
              <a:extLst>
                <a:ext uri="{FF2B5EF4-FFF2-40B4-BE49-F238E27FC236}">
                  <a16:creationId xmlns:a16="http://schemas.microsoft.com/office/drawing/2014/main" id="{7EDAB5F9-B802-0EA5-A5AD-9D2E563A41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83" r="16802" b="38631"/>
            <a:stretch>
              <a:fillRect/>
            </a:stretch>
          </p:blipFill>
          <p:spPr bwMode="auto">
            <a:xfrm>
              <a:off x="7892374" y="4007731"/>
              <a:ext cx="4299626" cy="2620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图片">
              <a:extLst>
                <a:ext uri="{FF2B5EF4-FFF2-40B4-BE49-F238E27FC236}">
                  <a16:creationId xmlns:a16="http://schemas.microsoft.com/office/drawing/2014/main" id="{74DDDC41-BCB1-88B0-BD66-FAAA488F26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598"/>
            <a:stretch>
              <a:fillRect/>
            </a:stretch>
          </p:blipFill>
          <p:spPr bwMode="auto">
            <a:xfrm>
              <a:off x="1246617" y="4604737"/>
              <a:ext cx="6368375" cy="1426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36952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33A7-76CA-1B86-6336-2441754D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777391D-CCBD-5D60-F993-331F415706D4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56390D7C-34CD-D21E-457B-751B305E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CF5A03C-E6B3-BAA8-CE2C-BADE33814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Affinity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A92639-5DE6-752F-E38F-A4D2F92BE5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Results: Affinity Benchmark against FEP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C25073B-7C4E-2583-0839-89A85B5C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14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B7E027-1BB5-455D-AB62-C8FC56E0D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4753" y="1010105"/>
            <a:ext cx="4999224" cy="55130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A058B9-336A-EFB5-08CE-B6813AEA9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723" y="1072157"/>
            <a:ext cx="4999224" cy="2805120"/>
          </a:xfrm>
          <a:prstGeom prst="rect">
            <a:avLst/>
          </a:prstGeom>
        </p:spPr>
      </p:pic>
      <p:pic>
        <p:nvPicPr>
          <p:cNvPr id="10242" name="Picture 2" descr="图片">
            <a:extLst>
              <a:ext uri="{FF2B5EF4-FFF2-40B4-BE49-F238E27FC236}">
                <a16:creationId xmlns:a16="http://schemas.microsoft.com/office/drawing/2014/main" id="{FF87B082-7FD8-2F5C-4BE0-A628B49B5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3956418"/>
            <a:ext cx="4364496" cy="290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350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CE0D-CA82-C42E-2598-D1F6A30F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1461DEA-1A43-B084-E246-2E3CBAA70E68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A73F8185-4970-B156-2C74-899427AAA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4539F8-1069-E113-A7F5-BE054637A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Affinity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09DC82-6DF7-5755-7F3D-520230D27B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Results: virtual screening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BA9B4786-576F-8EB2-043E-E8683238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15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290" name="Picture 2" descr="图片">
            <a:extLst>
              <a:ext uri="{FF2B5EF4-FFF2-40B4-BE49-F238E27FC236}">
                <a16:creationId xmlns:a16="http://schemas.microsoft.com/office/drawing/2014/main" id="{1D9F29C3-FFE0-2205-15A4-6F4E49A4A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681" y="124258"/>
            <a:ext cx="5055424" cy="657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图片">
            <a:extLst>
              <a:ext uri="{FF2B5EF4-FFF2-40B4-BE49-F238E27FC236}">
                <a16:creationId xmlns:a16="http://schemas.microsoft.com/office/drawing/2014/main" id="{85FA0473-C64F-24DB-C068-42EF71878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50" y="1009292"/>
            <a:ext cx="5722213" cy="312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6CB145-2B4F-828A-792B-FFA83A6AE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50" y="4293342"/>
            <a:ext cx="5672731" cy="244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48439C-3E54-1B80-5D44-FDAB1695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0EE49F5-0981-EF2E-9C7B-6ED3160AC1E2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5863C926-4986-DF7D-40A9-D3F1C9C1C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54631C-A5BE-8E0F-1C42-0E648FE64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Affinity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5F1909-FDA2-EC2A-E179-5943371FC1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FEP+ benchmarking (2020)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FAF58422-F75F-D5AB-3F88-8FB7DB22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16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47387B-21BF-E44F-944A-4F100B74B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826" y="161541"/>
            <a:ext cx="4891308" cy="6494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BF98BB-1690-060E-5CAA-576E3D38D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6" y="1174366"/>
            <a:ext cx="5406655" cy="4509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EA9729-8138-4706-8FC3-66126DDE865A}"/>
              </a:ext>
            </a:extLst>
          </p:cNvPr>
          <p:cNvSpPr txBox="1"/>
          <p:nvPr/>
        </p:nvSpPr>
        <p:spPr>
          <a:xfrm>
            <a:off x="754196" y="5792860"/>
            <a:ext cx="4806168" cy="427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Aft>
                <a:spcPct val="0"/>
              </a:spcAft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Mine (taking only good samples…)</a:t>
            </a:r>
            <a:endParaRPr lang="zh-CN" altLang="en-US" sz="1600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59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8A36-84E0-DFA0-337D-A83BF181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F46EC1C-A2CB-0F88-000C-1A9CB64A6508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595D120E-3720-2548-29B4-281722D9C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C0842A2-35FA-8CFD-7D7A-F653FB537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Summary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C19F9E-8DE3-5FC3-0B5B-A1DB974AA6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Limitations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7270B810-D4DE-6486-C3D2-A6B5AD0A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17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221854-8A2A-A8BB-638D-9BD82EE46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663" y="1209398"/>
            <a:ext cx="9442315" cy="520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01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Summary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Take-home messages &amp; thoughts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D8781121-84F8-F6D8-60FB-5E786E19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18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7" name="文本框 4">
            <a:extLst>
              <a:ext uri="{FF2B5EF4-FFF2-40B4-BE49-F238E27FC236}">
                <a16:creationId xmlns:a16="http://schemas.microsoft.com/office/drawing/2014/main" id="{CB43B3A2-FECF-FA0B-1657-825FF6F3BDAE}"/>
              </a:ext>
            </a:extLst>
          </p:cNvPr>
          <p:cNvSpPr txBox="1">
            <a:spLocks/>
          </p:cNvSpPr>
          <p:nvPr/>
        </p:nvSpPr>
        <p:spPr>
          <a:xfrm>
            <a:off x="516221" y="1162558"/>
            <a:ext cx="11159557" cy="245907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Inspirations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srgbClr val="00B0F0"/>
                </a:solidFill>
                <a:cs typeface="Times New Roman" panose="02020603050405020304" pitchFamily="18" charset="0"/>
              </a:rPr>
              <a:t>Generalizability</a:t>
            </a:r>
            <a:r>
              <a:rPr lang="en-US" altLang="zh-CN" dirty="0">
                <a:cs typeface="Times New Roman" panose="02020603050405020304" pitchFamily="18" charset="0"/>
              </a:rPr>
              <a:t>: another tool for faster virtual screening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We still need FEP for new systems! Combine FEP data with models…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We can create high-quality MD or FEP dataset for the community 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Still limited by data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zh-CN" altLang="en-US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466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A8D3A-1FBA-6380-36E8-D424F4CE542F}"/>
              </a:ext>
            </a:extLst>
          </p:cNvPr>
          <p:cNvSpPr/>
          <p:nvPr/>
        </p:nvSpPr>
        <p:spPr>
          <a:xfrm>
            <a:off x="6561845" y="1997918"/>
            <a:ext cx="5091189" cy="29510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rial"/>
                <a:ea typeface="微软雅黑"/>
                <a:cs typeface="+mn-cs"/>
              </a:rPr>
              <a:t>Thanks for listening!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F1402-FBB0-F5DE-2F5C-0FC8F56B3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0587" y="165644"/>
            <a:ext cx="5389123" cy="652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70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6C0AD5-3432-38F5-555E-7EE43235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1295583-B6DB-A861-2D61-42F7462DBD51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8BAA0A03-8D29-561E-8DFF-7AD09DB97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D76238-AF10-B213-5D62-A648B9827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Background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2E5979-B63F-3F6A-0FA1-E0EE520944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8" y="161541"/>
            <a:ext cx="8237807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Theoretical basis of computational enzyme design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7" name="AutoShape 8" descr="Pharmaceuticals | Free Full-Text | Synthesis and Anti-Tumor Effects of  Novel Pomalidomide Derivatives Containing Urea Moieties">
            <a:extLst>
              <a:ext uri="{FF2B5EF4-FFF2-40B4-BE49-F238E27FC236}">
                <a16:creationId xmlns:a16="http://schemas.microsoft.com/office/drawing/2014/main" id="{20150031-928C-D393-8EF9-DE02C003C1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2148" y="29070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6664E41D-83FD-A672-825A-5D0E2DC0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20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矩形 25">
            <a:extLst>
              <a:ext uri="{FF2B5EF4-FFF2-40B4-BE49-F238E27FC236}">
                <a16:creationId xmlns:a16="http://schemas.microsoft.com/office/drawing/2014/main" id="{DE6D2DCB-20CA-992C-E268-AE0524DD34E5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灯片编号占位符 1">
            <a:extLst>
              <a:ext uri="{FF2B5EF4-FFF2-40B4-BE49-F238E27FC236}">
                <a16:creationId xmlns:a16="http://schemas.microsoft.com/office/drawing/2014/main" id="{18E007F9-30AC-59B9-0FB6-711C594215F2}"/>
              </a:ext>
            </a:extLst>
          </p:cNvPr>
          <p:cNvSpPr txBox="1">
            <a:spLocks/>
          </p:cNvSpPr>
          <p:nvPr/>
        </p:nvSpPr>
        <p:spPr>
          <a:xfrm>
            <a:off x="11813242" y="6556510"/>
            <a:ext cx="3787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lnSpc>
                <a:spcPct val="120000"/>
              </a:lnSpc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pPr/>
              <a:t>20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AE8B7D-8901-027E-BD49-47D44B886B6E}"/>
              </a:ext>
            </a:extLst>
          </p:cNvPr>
          <p:cNvSpPr txBox="1"/>
          <p:nvPr/>
        </p:nvSpPr>
        <p:spPr>
          <a:xfrm>
            <a:off x="1138237" y="6550347"/>
            <a:ext cx="3700462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1" u="none" strike="noStrike">
                <a:solidFill>
                  <a:schemeClr val="bg1"/>
                </a:solidFill>
                <a:effectLst/>
              </a:defRPr>
            </a:lvl1pPr>
          </a:lstStyle>
          <a:p>
            <a:r>
              <a:rPr lang="fr-FR" altLang="zh-CN" dirty="0"/>
              <a:t>Nature 2022, 606, 7912, 49–58.</a:t>
            </a:r>
            <a:endParaRPr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26F1F7-F436-92F0-EEFD-F0FADCB982EA}"/>
              </a:ext>
            </a:extLst>
          </p:cNvPr>
          <p:cNvSpPr txBox="1"/>
          <p:nvPr/>
        </p:nvSpPr>
        <p:spPr>
          <a:xfrm>
            <a:off x="5559358" y="6550347"/>
            <a:ext cx="6138152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i="1" dirty="0">
                <a:solidFill>
                  <a:schemeClr val="bg1"/>
                </a:solidFill>
              </a:rPr>
              <a:t>https://www.uv.es/biophys/sbe/6/PDFsite/SimulatingEnzymeCatalysis.pdf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B6D0BB-85A6-41DE-EA4F-9F53AA6D680D}"/>
              </a:ext>
            </a:extLst>
          </p:cNvPr>
          <p:cNvSpPr txBox="1"/>
          <p:nvPr/>
        </p:nvSpPr>
        <p:spPr>
          <a:xfrm>
            <a:off x="763487" y="5578020"/>
            <a:ext cx="6021510" cy="79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Enzymes reduce activation energy by stabilizing the transition state (TS)</a:t>
            </a:r>
            <a:endParaRPr lang="zh-CN" altLang="en-US" sz="1600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674E8F-E136-C5C7-1063-54F7517BA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737" y="1101900"/>
            <a:ext cx="6705875" cy="2383625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AD77D0BB-3FBE-C01C-32B2-C66E9B27CDBD}"/>
              </a:ext>
            </a:extLst>
          </p:cNvPr>
          <p:cNvSpPr/>
          <p:nvPr/>
        </p:nvSpPr>
        <p:spPr>
          <a:xfrm rot="5400000">
            <a:off x="8997675" y="3589205"/>
            <a:ext cx="197363" cy="1182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902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76952</TotalTime>
  <Words>603</Words>
  <Application>Microsoft Office PowerPoint</Application>
  <PresentationFormat>Widescreen</PresentationFormat>
  <Paragraphs>116</Paragraphs>
  <Slides>20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等线</vt:lpstr>
      <vt:lpstr>楷体</vt:lpstr>
      <vt:lpstr>Arial</vt:lpstr>
      <vt:lpstr>Times New Roman</vt:lpstr>
      <vt:lpstr>Wingdings</vt:lpstr>
      <vt:lpstr>1_Office 主题​​</vt:lpstr>
      <vt:lpstr>Office 主题​​</vt:lpstr>
      <vt:lpstr>PowerPoint Presentation</vt:lpstr>
      <vt:lpstr>Authors</vt:lpstr>
      <vt:lpstr>Overall Features</vt:lpstr>
      <vt:lpstr>Key Results: Structural Prediction </vt:lpstr>
      <vt:lpstr>Key Results: Affinity Prediction </vt:lpstr>
      <vt:lpstr>Methods: PairFormer Architecture</vt:lpstr>
      <vt:lpstr>Methods: Dataset; Ensemble-related Methods</vt:lpstr>
      <vt:lpstr>Results: RMSF and lDDT Metrics </vt:lpstr>
      <vt:lpstr>Methods: Dataset Curation</vt:lpstr>
      <vt:lpstr>Methods: PairFormer in Affinity Module</vt:lpstr>
      <vt:lpstr>Methods: Affinity Model Training</vt:lpstr>
      <vt:lpstr>Methods: Affinity Benchmark Dataset</vt:lpstr>
      <vt:lpstr>Results: Avoiding Data Leakage Problem </vt:lpstr>
      <vt:lpstr>Results: Affinity Benchmark against FEP</vt:lpstr>
      <vt:lpstr>Results: virtual screening </vt:lpstr>
      <vt:lpstr>FEP+ benchmarking (2020)</vt:lpstr>
      <vt:lpstr>Limitations</vt:lpstr>
      <vt:lpstr>Take-home messages &amp; thoughts</vt:lpstr>
      <vt:lpstr>PowerPoint Presentation</vt:lpstr>
      <vt:lpstr>Theoretical basis of computational enzyme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Zhang</dc:creator>
  <cp:lastModifiedBy>Xufan Gao</cp:lastModifiedBy>
  <cp:revision>1531</cp:revision>
  <cp:lastPrinted>2023-11-24T12:45:53Z</cp:lastPrinted>
  <dcterms:created xsi:type="dcterms:W3CDTF">2022-01-23T03:13:32Z</dcterms:created>
  <dcterms:modified xsi:type="dcterms:W3CDTF">2025-06-09T07:21:34Z</dcterms:modified>
</cp:coreProperties>
</file>