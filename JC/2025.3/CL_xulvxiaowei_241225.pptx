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0" r:id="rId2"/>
    <p:sldId id="267" r:id="rId3"/>
    <p:sldId id="266" r:id="rId4"/>
    <p:sldId id="265" r:id="rId5"/>
    <p:sldId id="268" r:id="rId6"/>
    <p:sldId id="272" r:id="rId7"/>
    <p:sldId id="273" r:id="rId8"/>
    <p:sldId id="262" r:id="rId9"/>
    <p:sldId id="264" r:id="rId10"/>
    <p:sldId id="274" r:id="rId11"/>
    <p:sldId id="275" r:id="rId12"/>
    <p:sldId id="276" r:id="rId13"/>
    <p:sldId id="278" r:id="rId14"/>
    <p:sldId id="277" r:id="rId15"/>
    <p:sldId id="279" r:id="rId16"/>
    <p:sldId id="263" r:id="rId17"/>
    <p:sldId id="257" r:id="rId18"/>
    <p:sldId id="258" r:id="rId19"/>
    <p:sldId id="25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/>
    <p:restoredTop sz="94700"/>
  </p:normalViewPr>
  <p:slideViewPr>
    <p:cSldViewPr snapToGrid="0">
      <p:cViewPr>
        <p:scale>
          <a:sx n="110" d="100"/>
          <a:sy n="110" d="100"/>
        </p:scale>
        <p:origin x="91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B0811-1C89-8B46-B961-13B42ED32140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7E20A-450E-A84F-8FEB-16A28AD99D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151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87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626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219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319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3C2B1-F179-4312-8074-C5FD551EA35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05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9365D-0A0C-13D9-76F8-4AFA6798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DEE2E7-2259-87B7-D403-8FF9BB779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E24E12-749D-EC28-C3B1-CB39B43E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9C04FB-63CC-4673-E7BF-6598EAB4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F5478-809B-49C7-9403-8D96D783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069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406AB-B7FF-D7B0-B2E6-86B1F1F1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5C942-0CE7-6080-50F6-D4DDAFD9F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9A07ED-80E4-124D-EF50-05C26C0A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4E4AC-0FC0-EA9A-B2B5-B4869392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A8359-85F2-25AA-42FB-FD0A1761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232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D1B47-5B38-FD8D-C21C-2334402A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648836-4727-2901-11C3-38387DC3E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AF42B4-AE33-780F-30BD-6F1AD702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6F2A7-303C-E01B-7E6C-9A422D33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5688B-F607-5C6A-E893-D520865C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858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F6B71-E549-FD52-8849-BD41F3F9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35D6D-F84A-F78E-3DF9-4C02598E0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0B5045-6016-EF36-144F-3EB9353E9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29F87E-5F0D-18F9-3673-1B1257B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613DB6-0B7F-6587-CBDE-E1BF79A5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E7EFB3-B46A-8755-5657-6877218A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04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1BE9B-CEE8-C24A-7A00-982250EB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6A83B-F8EA-0EB0-0385-023650C0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102CF6-6680-6A84-609F-1D12FD1A8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1B4808-090D-C8A2-AC5C-881CD85E1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272C99-8DDF-9947-F327-C01104EDE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B79235-E940-45A8-ED70-7CA2EDDC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52B0C2-D2FE-9B45-1C74-021C0152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434BAE-1070-B32D-85AD-1408E08C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9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D367B-78C8-7631-F534-4426CAEC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D41A96-B068-CBC3-3FEA-0667C65E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DB0134-3EAA-4894-DA53-2D7CB177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0F50B9-ACC2-5DBA-68C4-B2B6B802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130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B8E523-AC5A-1A55-596F-3035CB1A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6B044F-95C8-601D-131A-01E59CAC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CB51E9-46B0-BB81-8C10-912878D7C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773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16CAA-9823-7223-EE45-C8C84054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96183-2B6F-8DFD-961A-B3E95921C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F9F4C0-D339-91F7-5A0E-A15E55A1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BDD1A-010E-ED46-4490-CDBEACAB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B3F2A6-1508-3873-811E-72375DF5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1C54A6-8845-9A5A-0AEB-0199F48B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666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4A519-AB56-DFCB-15D4-4CB15522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83590D-898B-9A77-9350-699708B57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9D62A9-9E28-29BE-E1FA-EE516A598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3CAB64-CC30-F4EA-B66F-FBC7382A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E28D5A-6170-D4D2-1DF5-983D1F30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05BC9D-1444-0089-751E-5BDDDD66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567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2AF26-60F5-1821-D5FB-F299C14A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64254B-A9D8-800C-7E46-6A8A3C924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382A0-3AC6-62D9-6568-21233D0A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AB092-9E1F-3C89-8B25-A56CF370C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CCB10-ABDC-447F-7B95-5C335213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902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63FCD9-F1A7-281F-D4B1-B1D635A97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0B22AD-5339-B42E-B3CB-2FE71CB20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78FBA8-4F30-E64F-C985-81BE419E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96363-82FC-7B59-D426-902AE0AF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579AAA-7EC6-B82C-49E5-D31E343F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511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1C5EB8-EB98-EA2A-8B20-2D519F18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F65B8-47D6-2C22-E9F0-DA991A9D3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57B04E-4997-40DC-6BDA-D5F54A0F7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E6E82-7D44-2546-B9AB-CC6025C2E52B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DEE12-9F91-8F67-66FB-6A0F2911D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39286-C391-789F-F2FC-DB37630F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6BC06-B440-724F-B223-951CDD03FB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08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clanthology.org/2022.findings-emnlp.137.pdf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aclanthology.org/2022.findings-emnlp.137.pdf" TargetMode="Externa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10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lanthology.org/2022.findings-emnlp.137.pdf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hyperlink" Target="https://aclanthology.org/2022.findings-emnlp.137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9.emf"/><Relationship Id="rId5" Type="http://schemas.openxmlformats.org/officeDocument/2006/relationships/image" Target="../media/image13.png"/><Relationship Id="rId10" Type="http://schemas.openxmlformats.org/officeDocument/2006/relationships/image" Target="../media/image6.emf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hyperlink" Target="https://aclanthology.org/2022.findings-emnlp.137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hyperlink" Target="https://aclanthology.org/2022.findings-emnlp.137.pdf" TargetMode="Externa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hyperlink" Target="https://aclanthology.org/2022.findings-emnlp.137.pdf" TargetMode="Externa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lanthology.org/2022.findings-emnlp.137.pdf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9.emf"/><Relationship Id="rId4" Type="http://schemas.openxmlformats.org/officeDocument/2006/relationships/hyperlink" Target="https://aclanthology.org/2022.findings-emnlp.137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emf"/><Relationship Id="rId4" Type="http://schemas.openxmlformats.org/officeDocument/2006/relationships/hyperlink" Target="https://aclanthology.org/2022.findings-emnlp.137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aclanthology.org/2022.findings-emnlp.137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0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hyperlink" Target="https://aclanthology.org/2022.findings-emnlp.137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clanthology.org/2022.findings-emnlp.137.pdf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凹凸线条纹理质感高清背景">
            <a:extLst>
              <a:ext uri="{FF2B5EF4-FFF2-40B4-BE49-F238E27FC236}">
                <a16:creationId xmlns:a16="http://schemas.microsoft.com/office/drawing/2014/main" id="{58AE21DD-E02D-659E-76B8-A81D214C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5FF8319-2D6B-48AF-8B0C-00CB15632A4A}"/>
              </a:ext>
            </a:extLst>
          </p:cNvPr>
          <p:cNvSpPr txBox="1"/>
          <p:nvPr/>
        </p:nvSpPr>
        <p:spPr>
          <a:xfrm>
            <a:off x="344454" y="3034610"/>
            <a:ext cx="1967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微软雅黑" panose="020B0503020204020204" pitchFamily="34" charset="-122"/>
                <a:cs typeface="Segoe UI Semibold" panose="020B0702040204020203" pitchFamily="34" charset="0"/>
              </a:rPr>
              <a:t>Lvxiaowei Xu</a:t>
            </a:r>
          </a:p>
          <a:p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Segoe UI Semibold" panose="020B0702040204020203" pitchFamily="34" charset="0"/>
              <a:ea typeface="微软雅黑" panose="020B0503020204020204" pitchFamily="34" charset="-122"/>
              <a:cs typeface="Segoe UI Semibold" panose="020B0702040204020203" pitchFamily="34" charset="0"/>
            </a:endParaRPr>
          </a:p>
          <a:p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微软雅黑" panose="020B0503020204020204" pitchFamily="34" charset="-122"/>
                <a:cs typeface="Segoe UI Semibold" panose="020B0702040204020203" pitchFamily="34" charset="0"/>
              </a:rPr>
              <a:t>2024/12/25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02EE517-4EDE-9A07-5536-22439E5A7DBC}"/>
              </a:ext>
            </a:extLst>
          </p:cNvPr>
          <p:cNvSpPr txBox="1"/>
          <p:nvPr/>
        </p:nvSpPr>
        <p:spPr>
          <a:xfrm rot="19498611">
            <a:off x="3224762" y="5739782"/>
            <a:ext cx="15014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" dirty="0">
                <a:solidFill>
                  <a:srgbClr val="F2F2F2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PRON</a:t>
            </a:r>
            <a:r>
              <a:rPr kumimoji="1" lang="en-US" altLang="zh-CN" sz="600" dirty="0">
                <a:solidFill>
                  <a:srgbClr val="F2F2F2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—</a:t>
            </a:r>
            <a:r>
              <a:rPr kumimoji="1" lang="en-US" altLang="zh-CN" sz="600" dirty="0">
                <a:solidFill>
                  <a:srgbClr val="F2F2F2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VERB</a:t>
            </a:r>
            <a:r>
              <a:rPr kumimoji="1" lang="en-US" altLang="zh-CN" sz="600" dirty="0">
                <a:solidFill>
                  <a:srgbClr val="F2F2F2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—</a:t>
            </a:r>
            <a:r>
              <a:rPr kumimoji="1" lang="en-US" altLang="zh-CN" sz="600" dirty="0">
                <a:solidFill>
                  <a:srgbClr val="F2F2F2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600" dirty="0">
                <a:solidFill>
                  <a:srgbClr val="F2F2F2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—</a:t>
            </a:r>
            <a:r>
              <a:rPr kumimoji="1" lang="en-US" altLang="zh-CN" sz="600" dirty="0">
                <a:solidFill>
                  <a:srgbClr val="F2F2F2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lot</a:t>
            </a:r>
            <a:endParaRPr kumimoji="1" lang="zh-CN" altLang="en-US" sz="600" dirty="0">
              <a:solidFill>
                <a:srgbClr val="F2F2F2"/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82B640-355B-4C07-86F7-F8FBBA69B6AF}"/>
              </a:ext>
            </a:extLst>
          </p:cNvPr>
          <p:cNvSpPr txBox="1"/>
          <p:nvPr/>
        </p:nvSpPr>
        <p:spPr>
          <a:xfrm>
            <a:off x="334181" y="1173406"/>
            <a:ext cx="95621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Computational Linguistics &amp; Natural Language </a:t>
            </a:r>
            <a:r>
              <a:rPr lang="zh-CN" altLang="en-US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 </a:t>
            </a:r>
            <a:r>
              <a:rPr lang="en-US" altLang="zh-CN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Processing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D1245A39-577B-7B01-4017-BF0B16694B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27840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15" objId="2"/>
        <p14:stopEvt time="13873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What is Construction Grammar (CxG) ?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48DB4A6-CBB5-7613-2C57-D84977A3C4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EBE89C7-7BA6-BC07-B1E2-4F22C0394CB2}"/>
              </a:ext>
            </a:extLst>
          </p:cNvPr>
          <p:cNvSpPr/>
          <p:nvPr/>
        </p:nvSpPr>
        <p:spPr>
          <a:xfrm>
            <a:off x="410299" y="1370736"/>
            <a:ext cx="1301769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EA3B4E2-CAD1-3C1F-FD42-D2456FD05EC1}"/>
              </a:ext>
            </a:extLst>
          </p:cNvPr>
          <p:cNvSpPr txBox="1"/>
          <p:nvPr/>
        </p:nvSpPr>
        <p:spPr>
          <a:xfrm>
            <a:off x="383665" y="1784987"/>
            <a:ext cx="11258550" cy="142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 Constructions are stored pairings of form and function / meaning.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 They cannot be strictly predictable by their components.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 They vary in level of abstractness, including partially or fully filled components.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  <a:latin typeface="Nirmala UI Semilight" panose="020B0402040204020203" pitchFamily="34" charset="0"/>
              <a:cs typeface="Nirmala UI Semilight" panose="020B0402040204020203" pitchFamily="34" charset="0"/>
            </a:endParaRPr>
          </a:p>
        </p:txBody>
      </p:sp>
      <p:cxnSp>
        <p:nvCxnSpPr>
          <p:cNvPr id="30" name="直接连接符 7">
            <a:extLst>
              <a:ext uri="{FF2B5EF4-FFF2-40B4-BE49-F238E27FC236}">
                <a16:creationId xmlns:a16="http://schemas.microsoft.com/office/drawing/2014/main" id="{CF899840-957D-D5B8-63F8-78592E99C428}"/>
              </a:ext>
            </a:extLst>
          </p:cNvPr>
          <p:cNvCxnSpPr/>
          <p:nvPr/>
        </p:nvCxnSpPr>
        <p:spPr>
          <a:xfrm>
            <a:off x="426128" y="3279835"/>
            <a:ext cx="11265763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8">
            <a:extLst>
              <a:ext uri="{FF2B5EF4-FFF2-40B4-BE49-F238E27FC236}">
                <a16:creationId xmlns:a16="http://schemas.microsoft.com/office/drawing/2014/main" id="{C7CCC0AA-74C0-BFE0-7954-1C005CFC3D0A}"/>
              </a:ext>
            </a:extLst>
          </p:cNvPr>
          <p:cNvCxnSpPr/>
          <p:nvPr/>
        </p:nvCxnSpPr>
        <p:spPr>
          <a:xfrm>
            <a:off x="426128" y="1732532"/>
            <a:ext cx="11265763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A65ABA7-08FA-4215-02BE-D5E4E3D28FA8}"/>
              </a:ext>
            </a:extLst>
          </p:cNvPr>
          <p:cNvSpPr txBox="1"/>
          <p:nvPr/>
        </p:nvSpPr>
        <p:spPr>
          <a:xfrm>
            <a:off x="410299" y="1393114"/>
            <a:ext cx="13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25000"/>
                  </a:schemeClr>
                </a:solidFill>
              </a:rPr>
              <a:t>DEFINITION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1E5AB77-710F-0CC8-8383-0A563D89CCDE}"/>
              </a:ext>
            </a:extLst>
          </p:cNvPr>
          <p:cNvGrpSpPr/>
          <p:nvPr/>
        </p:nvGrpSpPr>
        <p:grpSpPr>
          <a:xfrm>
            <a:off x="524601" y="3899422"/>
            <a:ext cx="1301769" cy="369332"/>
            <a:chOff x="524601" y="3624471"/>
            <a:chExt cx="1301769" cy="369332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B44808A-BA3C-4FCA-8511-9DD405D0A54B}"/>
                </a:ext>
              </a:extLst>
            </p:cNvPr>
            <p:cNvSpPr/>
            <p:nvPr/>
          </p:nvSpPr>
          <p:spPr>
            <a:xfrm>
              <a:off x="524601" y="3624471"/>
              <a:ext cx="1301769" cy="36933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B95CE5B-B539-B8AD-B189-15429F62660B}"/>
                </a:ext>
              </a:extLst>
            </p:cNvPr>
            <p:cNvSpPr txBox="1"/>
            <p:nvPr/>
          </p:nvSpPr>
          <p:spPr>
            <a:xfrm>
              <a:off x="524601" y="3646849"/>
              <a:ext cx="1301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2">
                      <a:lumMod val="25000"/>
                    </a:schemeClr>
                  </a:solidFill>
                </a:rPr>
                <a:t>TYPES</a:t>
              </a:r>
              <a:endParaRPr lang="zh-CN" altLang="en-US" sz="1600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3925616A-AB05-AB1A-BEE3-9D381E0B30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1" t="43271" r="34882" b="45446"/>
          <a:stretch/>
        </p:blipFill>
        <p:spPr>
          <a:xfrm>
            <a:off x="444982" y="4187982"/>
            <a:ext cx="5437084" cy="1809359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CA313277-F68D-A080-0019-D963E8E25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646" y="3662862"/>
            <a:ext cx="5249372" cy="271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7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4F18E9-EBFB-3B87-FDCF-468D05F8BBC4}"/>
              </a:ext>
            </a:extLst>
          </p:cNvPr>
          <p:cNvSpPr/>
          <p:nvPr/>
        </p:nvSpPr>
        <p:spPr>
          <a:xfrm>
            <a:off x="321520" y="432134"/>
            <a:ext cx="9418381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10620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Linguistics and NLP can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complement each other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244295-F975-178F-8010-941D779AEF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D315F3-FCB3-5447-357E-FFB3C9A11B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238" r="1360"/>
          <a:stretch/>
        </p:blipFill>
        <p:spPr>
          <a:xfrm>
            <a:off x="7692385" y="1376346"/>
            <a:ext cx="4017453" cy="5049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72F1B3-7B13-2800-4396-3EFFE21A412C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”Hinton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接受尤利西斯奖章获奖感言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当代语言学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.2024.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C7B3029-623B-4C84-1C2C-8646C6CDC44C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296C30B-2DF0-517B-85BF-653C5A61F0A3}"/>
              </a:ext>
            </a:extLst>
          </p:cNvPr>
          <p:cNvSpPr txBox="1"/>
          <p:nvPr/>
        </p:nvSpPr>
        <p:spPr>
          <a:xfrm>
            <a:off x="391094" y="143035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Battle: </a:t>
            </a:r>
            <a:r>
              <a:rPr lang="zh-CN" altLang="en-US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“</a:t>
            </a:r>
            <a:r>
              <a:rPr lang="en-US" altLang="zh-CN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Hinton</a:t>
            </a:r>
            <a:r>
              <a:rPr lang="zh-CN" altLang="en-US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en-US" altLang="zh-CN" sz="2000" b="1" dirty="0">
                <a:solidFill>
                  <a:srgbClr val="191B1F"/>
                </a:solidFill>
                <a:latin typeface="-apple-system"/>
              </a:rPr>
              <a:t>vs.</a:t>
            </a:r>
            <a:r>
              <a:rPr lang="en-US" altLang="zh-CN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 Chomsky</a:t>
            </a:r>
            <a:r>
              <a:rPr lang="zh-CN" altLang="en-US" sz="2000" b="1" i="0" u="none" strike="noStrike" dirty="0">
                <a:solidFill>
                  <a:srgbClr val="191B1F"/>
                </a:solidFill>
                <a:effectLst/>
                <a:latin typeface="-apple-system"/>
              </a:rPr>
              <a:t>”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F157C14-DE78-67C1-2D1D-F4836975F2AB}"/>
              </a:ext>
            </a:extLst>
          </p:cNvPr>
          <p:cNvCxnSpPr/>
          <p:nvPr/>
        </p:nvCxnSpPr>
        <p:spPr>
          <a:xfrm>
            <a:off x="482162" y="1907815"/>
            <a:ext cx="519091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9F2DFF6-F6A6-786B-C688-3EA005F820C7}"/>
              </a:ext>
            </a:extLst>
          </p:cNvPr>
          <p:cNvSpPr txBox="1"/>
          <p:nvPr/>
        </p:nvSpPr>
        <p:spPr>
          <a:xfrm>
            <a:off x="391094" y="2186123"/>
            <a:ext cx="7063615" cy="341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How do language models assist in linguistic research?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How does linguistics influence natural language processing?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Can linguistics do what LLMs cannot?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04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凹凸线条纹理质感高清背景">
            <a:extLst>
              <a:ext uri="{FF2B5EF4-FFF2-40B4-BE49-F238E27FC236}">
                <a16:creationId xmlns:a16="http://schemas.microsoft.com/office/drawing/2014/main" id="{2FA627AD-D7E6-749A-18C6-CB1FEDE43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82B640-355B-4C07-86F7-F8FBBA69B6AF}"/>
              </a:ext>
            </a:extLst>
          </p:cNvPr>
          <p:cNvSpPr txBox="1"/>
          <p:nvPr/>
        </p:nvSpPr>
        <p:spPr>
          <a:xfrm>
            <a:off x="609600" y="2767280"/>
            <a:ext cx="10972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How do language models assist in linguistic research?</a:t>
            </a:r>
          </a:p>
        </p:txBody>
      </p:sp>
    </p:spTree>
    <p:extLst>
      <p:ext uri="{BB962C8B-B14F-4D97-AF65-F5344CB8AC3E}">
        <p14:creationId xmlns:p14="http://schemas.microsoft.com/office/powerpoint/2010/main" val="1663966539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15" objId="2"/>
        <p14:stopEvt time="13873" objId="2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Construction Grammar Induction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48DB4A6-CBB5-7613-2C57-D84977A3C4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E6BE5BE9-9E92-5ECB-FC8A-A7E5748B477D}"/>
              </a:ext>
            </a:extLst>
          </p:cNvPr>
          <p:cNvSpPr txBox="1"/>
          <p:nvPr/>
        </p:nvSpPr>
        <p:spPr>
          <a:xfrm>
            <a:off x="321520" y="1279840"/>
            <a:ext cx="11415743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How can we automatically acquire constructions from corpora?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72BB09E-1830-A74E-882A-F9340C59683C}"/>
              </a:ext>
            </a:extLst>
          </p:cNvPr>
          <p:cNvSpPr txBox="1"/>
          <p:nvPr/>
        </p:nvSpPr>
        <p:spPr>
          <a:xfrm>
            <a:off x="321520" y="1854997"/>
            <a:ext cx="827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 construction grammar induction framework (CxGLearner).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E94F0ED2-7393-6D80-9597-AF23197DD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20" y="2360624"/>
            <a:ext cx="4978105" cy="3591586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86A3712C-CBF0-11DB-DA19-71DC69C88E3C}"/>
              </a:ext>
            </a:extLst>
          </p:cNvPr>
          <p:cNvSpPr txBox="1"/>
          <p:nvPr/>
        </p:nvSpPr>
        <p:spPr>
          <a:xfrm>
            <a:off x="321520" y="6351686"/>
            <a:ext cx="11264997" cy="73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"CoELM: Construction-Enhanced Language Modeling". ACL 2024.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Jonathan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Dunn."Frequency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vs. Association for Constraint Selection in Usage-Based Construction Grammar". CMCL 2019.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EB910C2F-76E8-2CA2-2D69-2153C1F67454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C4D0706-02BA-165F-3BB3-2AB4AAF25085}"/>
              </a:ext>
            </a:extLst>
          </p:cNvPr>
          <p:cNvSpPr txBox="1"/>
          <p:nvPr/>
        </p:nvSpPr>
        <p:spPr>
          <a:xfrm>
            <a:off x="6152204" y="4532557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Step 2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1ADD8D-A83E-07C4-F835-5736CD298A9B}"/>
              </a:ext>
            </a:extLst>
          </p:cNvPr>
          <p:cNvSpPr txBox="1"/>
          <p:nvPr/>
        </p:nvSpPr>
        <p:spPr>
          <a:xfrm>
            <a:off x="6172300" y="2261796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altLang="zh-CN" sz="2000" dirty="0"/>
              <a:t>Step 1</a:t>
            </a:r>
            <a:endParaRPr lang="zh-CN" altLang="en-US" sz="2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6F8F7CD-87E9-2B50-863C-1D9F08139586}"/>
              </a:ext>
            </a:extLst>
          </p:cNvPr>
          <p:cNvSpPr txBox="1"/>
          <p:nvPr/>
        </p:nvSpPr>
        <p:spPr>
          <a:xfrm>
            <a:off x="7186901" y="2292574"/>
            <a:ext cx="44611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Split &amp; Encode the corpus</a:t>
            </a:r>
            <a:endParaRPr lang="zh-CN" altLang="en-US" sz="1700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DF229B0A-287A-7394-4570-03067F59B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245" y="2651255"/>
            <a:ext cx="5301345" cy="1458095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D21CD584-B15F-414F-6D58-9FEDF88DE26F}"/>
              </a:ext>
            </a:extLst>
          </p:cNvPr>
          <p:cNvSpPr txBox="1"/>
          <p:nvPr/>
        </p:nvSpPr>
        <p:spPr>
          <a:xfrm>
            <a:off x="7166805" y="4563335"/>
            <a:ext cx="44611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Pre-train Association Strength Estimator</a:t>
            </a:r>
            <a:endParaRPr lang="zh-CN" altLang="en-US" sz="1700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A32C4A9-776E-0716-B2D3-18489D3EBDEF}"/>
              </a:ext>
            </a:extLst>
          </p:cNvPr>
          <p:cNvSpPr/>
          <p:nvPr/>
        </p:nvSpPr>
        <p:spPr>
          <a:xfrm>
            <a:off x="6232722" y="5227409"/>
            <a:ext cx="1078573" cy="374726"/>
          </a:xfrm>
          <a:prstGeom prst="roundRect">
            <a:avLst>
              <a:gd name="adj" fmla="val 2239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1F4BD5C-D831-390C-1C9A-EA2750CE8E3D}"/>
              </a:ext>
            </a:extLst>
          </p:cNvPr>
          <p:cNvSpPr txBox="1"/>
          <p:nvPr/>
        </p:nvSpPr>
        <p:spPr>
          <a:xfrm>
            <a:off x="6287456" y="5200733"/>
            <a:ext cx="969070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50"/>
              </a:lnSpc>
            </a:pPr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Corpus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BB8F3D9E-B647-4ABE-1ECB-6ED8EB9358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20" y="5200733"/>
            <a:ext cx="1125499" cy="401402"/>
          </a:xfrm>
          <a:prstGeom prst="rect">
            <a:avLst/>
          </a:prstGeom>
        </p:spPr>
      </p:pic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680079DB-197E-AC3B-23AC-1CFE47DE91B0}"/>
              </a:ext>
            </a:extLst>
          </p:cNvPr>
          <p:cNvCxnSpPr>
            <a:cxnSpLocks/>
          </p:cNvCxnSpPr>
          <p:nvPr/>
        </p:nvCxnSpPr>
        <p:spPr>
          <a:xfrm>
            <a:off x="7361968" y="5454853"/>
            <a:ext cx="507163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DE894D02-95E9-66FE-9D58-D4EBF77D00BB}"/>
              </a:ext>
            </a:extLst>
          </p:cNvPr>
          <p:cNvSpPr txBox="1"/>
          <p:nvPr/>
        </p:nvSpPr>
        <p:spPr>
          <a:xfrm>
            <a:off x="6152203" y="5881525"/>
            <a:ext cx="52714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algn="just"/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</a:rPr>
              <a:t>*NSLP - Next Slot Prediction: selects different abstraction levels of the slots for modeling</a:t>
            </a:r>
          </a:p>
          <a:p>
            <a:pPr algn="just"/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F16A29B-E2CC-8595-65F5-4F84E4F90041}"/>
              </a:ext>
            </a:extLst>
          </p:cNvPr>
          <p:cNvSpPr txBox="1"/>
          <p:nvPr/>
        </p:nvSpPr>
        <p:spPr>
          <a:xfrm>
            <a:off x="7317212" y="5160933"/>
            <a:ext cx="78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</a:rPr>
              <a:t>NSLP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75E9D6D-BFCF-1D88-84B5-1F7136D3321C}"/>
              </a:ext>
            </a:extLst>
          </p:cNvPr>
          <p:cNvCxnSpPr>
            <a:cxnSpLocks/>
          </p:cNvCxnSpPr>
          <p:nvPr/>
        </p:nvCxnSpPr>
        <p:spPr>
          <a:xfrm>
            <a:off x="9076254" y="5409897"/>
            <a:ext cx="507163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E9BD21C-2B60-2AED-4CA3-922BA8E9C839}"/>
              </a:ext>
            </a:extLst>
          </p:cNvPr>
          <p:cNvSpPr txBox="1"/>
          <p:nvPr/>
        </p:nvSpPr>
        <p:spPr>
          <a:xfrm>
            <a:off x="9630552" y="5150609"/>
            <a:ext cx="179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</a:rPr>
              <a:t>Inference / Estimate</a:t>
            </a:r>
          </a:p>
          <a:p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</a:rPr>
              <a:t>Association Strength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7D4C0EB3-CB67-CA99-260B-D177C0E41872}"/>
              </a:ext>
            </a:extLst>
          </p:cNvPr>
          <p:cNvCxnSpPr/>
          <p:nvPr/>
        </p:nvCxnSpPr>
        <p:spPr>
          <a:xfrm>
            <a:off x="6232722" y="4365173"/>
            <a:ext cx="519091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C3F24A6-0AD4-460E-9772-3AA4D7F1CC1A}"/>
              </a:ext>
            </a:extLst>
          </p:cNvPr>
          <p:cNvCxnSpPr>
            <a:cxnSpLocks/>
          </p:cNvCxnSpPr>
          <p:nvPr/>
        </p:nvCxnSpPr>
        <p:spPr>
          <a:xfrm>
            <a:off x="5681943" y="2361369"/>
            <a:ext cx="0" cy="403811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DB103A8-4436-2BAF-BDBE-E23781F6D4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0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3D610D9-8BD2-4226-9C36-BBC517CE370A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C76214-2FC3-4234-ABD5-8FC47801255F}"/>
              </a:ext>
            </a:extLst>
          </p:cNvPr>
          <p:cNvSpPr txBox="1"/>
          <p:nvPr/>
        </p:nvSpPr>
        <p:spPr>
          <a:xfrm>
            <a:off x="321520" y="477816"/>
            <a:ext cx="9505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Construction Grammar Induction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3F6C9E-1D7C-434D-85F4-670F2023CD37}"/>
              </a:ext>
            </a:extLst>
          </p:cNvPr>
          <p:cNvSpPr txBox="1"/>
          <p:nvPr/>
        </p:nvSpPr>
        <p:spPr>
          <a:xfrm>
            <a:off x="6334890" y="2349886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altLang="zh-CN" sz="2000" dirty="0"/>
              <a:t>Step 3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B45426-089E-4790-8578-A9F4545541AC}"/>
              </a:ext>
            </a:extLst>
          </p:cNvPr>
          <p:cNvSpPr txBox="1"/>
          <p:nvPr/>
        </p:nvSpPr>
        <p:spPr>
          <a:xfrm>
            <a:off x="7268211" y="2370616"/>
            <a:ext cx="46955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Candidate</a:t>
            </a:r>
            <a:r>
              <a:rPr lang="zh-CN" altLang="en-US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altLang="zh-CN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Extraction &amp; Candidate Pruning</a:t>
            </a:r>
            <a:endParaRPr lang="zh-CN" altLang="en-US" sz="1700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  <a:p>
            <a:endParaRPr lang="zh-CN" altLang="en-US" sz="1700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155774-9013-6C51-FA53-A03CA38C8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892" y="2859140"/>
            <a:ext cx="4313461" cy="3553301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0792B21-716C-382A-3334-1B3C1C413763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4588216A-3CE4-9B95-AEAA-310DAC0849B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983395-0132-9191-56A9-E9616511E3A9}"/>
              </a:ext>
            </a:extLst>
          </p:cNvPr>
          <p:cNvSpPr txBox="1"/>
          <p:nvPr/>
        </p:nvSpPr>
        <p:spPr>
          <a:xfrm>
            <a:off x="321520" y="6351686"/>
            <a:ext cx="11264997" cy="73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"CoELM: Construction-Enhanced Language Modeling". ACL 2024.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Jonathan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Dunn."Frequency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vs. Association for Constraint Selection in Usage-Based Construction Grammar". CMCL 2019.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451694-084C-8C88-615C-98B0F34B7BAF}"/>
              </a:ext>
            </a:extLst>
          </p:cNvPr>
          <p:cNvSpPr txBox="1"/>
          <p:nvPr/>
        </p:nvSpPr>
        <p:spPr>
          <a:xfrm>
            <a:off x="321520" y="1279840"/>
            <a:ext cx="11415743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How can we automatically acquire constructions from corpora?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E7E644-D7CB-044B-C798-4D751B4F75C3}"/>
              </a:ext>
            </a:extLst>
          </p:cNvPr>
          <p:cNvSpPr txBox="1"/>
          <p:nvPr/>
        </p:nvSpPr>
        <p:spPr>
          <a:xfrm>
            <a:off x="321520" y="1854997"/>
            <a:ext cx="827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 construction grammar induction framework (CxGLearner).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0F56E54-C4F5-F2B8-EEAA-1D30F09B4B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20" y="2360624"/>
            <a:ext cx="4978105" cy="3591586"/>
          </a:xfrm>
          <a:prstGeom prst="rect">
            <a:avLst/>
          </a:prstGeom>
        </p:spPr>
      </p:pic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AD4DDB1-9BBA-7A2E-9016-659ACAA7A42A}"/>
              </a:ext>
            </a:extLst>
          </p:cNvPr>
          <p:cNvCxnSpPr>
            <a:cxnSpLocks/>
          </p:cNvCxnSpPr>
          <p:nvPr/>
        </p:nvCxnSpPr>
        <p:spPr>
          <a:xfrm>
            <a:off x="5915881" y="2374331"/>
            <a:ext cx="0" cy="403811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23C41340-8E41-077B-5B9C-035506F4A4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3D610D9-8BD2-4226-9C36-BBC517CE370A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C76214-2FC3-4234-ABD5-8FC47801255F}"/>
              </a:ext>
            </a:extLst>
          </p:cNvPr>
          <p:cNvSpPr txBox="1"/>
          <p:nvPr/>
        </p:nvSpPr>
        <p:spPr>
          <a:xfrm>
            <a:off x="321520" y="477816"/>
            <a:ext cx="9505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Construction Grammar Induction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3F6C9E-1D7C-434D-85F4-670F2023CD37}"/>
              </a:ext>
            </a:extLst>
          </p:cNvPr>
          <p:cNvSpPr txBox="1"/>
          <p:nvPr/>
        </p:nvSpPr>
        <p:spPr>
          <a:xfrm>
            <a:off x="6394713" y="2254473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altLang="zh-CN" sz="2000" dirty="0"/>
              <a:t>Step 4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B45426-089E-4790-8578-A9F4545541AC}"/>
              </a:ext>
            </a:extLst>
          </p:cNvPr>
          <p:cNvSpPr txBox="1"/>
          <p:nvPr/>
        </p:nvSpPr>
        <p:spPr>
          <a:xfrm>
            <a:off x="7409314" y="2285251"/>
            <a:ext cx="44611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00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Heuristic Learning of Constructions</a:t>
            </a:r>
            <a:endParaRPr lang="zh-CN" altLang="en-US" sz="1700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58A578-60BF-181E-8DBA-8A831B9646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42"/>
          <a:stretch/>
        </p:blipFill>
        <p:spPr>
          <a:xfrm>
            <a:off x="6304594" y="4034282"/>
            <a:ext cx="2886594" cy="4127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057FADB-2E71-A220-5220-1C138F7C97F7}"/>
              </a:ext>
            </a:extLst>
          </p:cNvPr>
          <p:cNvSpPr txBox="1"/>
          <p:nvPr/>
        </p:nvSpPr>
        <p:spPr>
          <a:xfrm>
            <a:off x="6394713" y="3191541"/>
            <a:ext cx="5592950" cy="795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Rounded MT Bold" panose="020F0704030504030204" pitchFamily="34" charset="0"/>
              </a:rPr>
              <a:t>1) Maximized Expressive Power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2) Maximized Economy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DF3D0F-A7AE-4D2D-D8E2-51BF9E0DA140}"/>
              </a:ext>
            </a:extLst>
          </p:cNvPr>
          <p:cNvSpPr txBox="1"/>
          <p:nvPr/>
        </p:nvSpPr>
        <p:spPr>
          <a:xfrm>
            <a:off x="6394713" y="2669972"/>
            <a:ext cx="6099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F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" pitchFamily="2" charset="0"/>
              </a:rPr>
              <a:t>our psychological principles considered essential for the </a:t>
            </a:r>
          </a:p>
          <a:p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" pitchFamily="2" charset="0"/>
              </a:rPr>
              <a:t>organization of constructions in a language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8152AE9-7B3E-C832-C67A-A1D4DB109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94" y="4412814"/>
            <a:ext cx="3611903" cy="7124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4F376CD-DED9-6353-3A27-9FDED4D6CC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70" y="3792245"/>
            <a:ext cx="2664384" cy="78621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7E84CC4-115B-890D-0E25-848AA6DB0D1C}"/>
              </a:ext>
            </a:extLst>
          </p:cNvPr>
          <p:cNvSpPr txBox="1"/>
          <p:nvPr/>
        </p:nvSpPr>
        <p:spPr>
          <a:xfrm>
            <a:off x="6394713" y="5152889"/>
            <a:ext cx="5592950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3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Rounded MT Bold" panose="020F0704030504030204" pitchFamily="34" charset="0"/>
              </a:rPr>
              <a:t>) Maximized Motivation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</a:rPr>
              <a:t>4) No Synonymy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616AF38-2A03-E59B-0CB3-2E71A7220C8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6"/>
          <a:stretch/>
        </p:blipFill>
        <p:spPr>
          <a:xfrm>
            <a:off x="6394713" y="6043670"/>
            <a:ext cx="3611903" cy="52419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CC1D29-4234-F760-F157-9FA3EA4F90D0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"CoELM: Construction-Enhanced Language Modeling". ACL 2024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07ECBAE2-303E-179D-D2CC-8559AE5E28BB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E6BE77F-1FDA-B0D8-6650-91D5D1C0C0B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F78CFB8-77AB-B23F-F946-8DB933E28561}"/>
              </a:ext>
            </a:extLst>
          </p:cNvPr>
          <p:cNvSpPr txBox="1"/>
          <p:nvPr/>
        </p:nvSpPr>
        <p:spPr>
          <a:xfrm>
            <a:off x="321520" y="1279840"/>
            <a:ext cx="11415743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How can we automatically acquire constructions from corpora?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2970D2-5E3C-30B6-548F-38D65F6736ED}"/>
              </a:ext>
            </a:extLst>
          </p:cNvPr>
          <p:cNvSpPr txBox="1"/>
          <p:nvPr/>
        </p:nvSpPr>
        <p:spPr>
          <a:xfrm>
            <a:off x="321520" y="1854997"/>
            <a:ext cx="827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 construction grammar induction framework (CxGLearner).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FBE9D03-D47F-1CE3-7511-9920A29DAB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20" y="2360624"/>
            <a:ext cx="4978105" cy="3591586"/>
          </a:xfrm>
          <a:prstGeom prst="rect">
            <a:avLst/>
          </a:prstGeom>
        </p:spPr>
      </p:pic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C5D78F63-76A1-9948-02F7-28C6410D4EA0}"/>
              </a:ext>
            </a:extLst>
          </p:cNvPr>
          <p:cNvCxnSpPr>
            <a:cxnSpLocks/>
          </p:cNvCxnSpPr>
          <p:nvPr/>
        </p:nvCxnSpPr>
        <p:spPr>
          <a:xfrm>
            <a:off x="5915881" y="2374331"/>
            <a:ext cx="0" cy="403811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AC749465-202F-7EE1-C707-04321671C0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凹凸线条纹理质感高清背景">
            <a:extLst>
              <a:ext uri="{FF2B5EF4-FFF2-40B4-BE49-F238E27FC236}">
                <a16:creationId xmlns:a16="http://schemas.microsoft.com/office/drawing/2014/main" id="{2FA627AD-D7E6-749A-18C6-CB1FEDE43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82B640-355B-4C07-86F7-F8FBBA69B6AF}"/>
              </a:ext>
            </a:extLst>
          </p:cNvPr>
          <p:cNvSpPr txBox="1"/>
          <p:nvPr/>
        </p:nvSpPr>
        <p:spPr>
          <a:xfrm>
            <a:off x="508947" y="2705725"/>
            <a:ext cx="11174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How does linguistics influence natural language processing?</a:t>
            </a:r>
          </a:p>
        </p:txBody>
      </p:sp>
    </p:spTree>
    <p:extLst>
      <p:ext uri="{BB962C8B-B14F-4D97-AF65-F5344CB8AC3E}">
        <p14:creationId xmlns:p14="http://schemas.microsoft.com/office/powerpoint/2010/main" val="3029355665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15" objId="2"/>
        <p14:stopEvt time="13873" objId="2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understanding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93ECCB9-2BB8-1534-90AB-716D0BD0D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6CFD868-BB23-D080-5F16-4886629F15E6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"Enhancing Language Representation with Constructional Information for Natural Language Understanding". ACL 2023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0983B7E-AD9F-19E2-E0FA-D809F8AC818D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73A90576-A071-F28D-4C11-657B8A1C42B7}"/>
              </a:ext>
            </a:extLst>
          </p:cNvPr>
          <p:cNvSpPr/>
          <p:nvPr/>
        </p:nvSpPr>
        <p:spPr>
          <a:xfrm>
            <a:off x="407020" y="3069548"/>
            <a:ext cx="841918" cy="4266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3AA52-DE21-0A0B-1BBB-2AD50115CF33}"/>
              </a:ext>
            </a:extLst>
          </p:cNvPr>
          <p:cNvSpPr/>
          <p:nvPr/>
        </p:nvSpPr>
        <p:spPr>
          <a:xfrm>
            <a:off x="407020" y="1574878"/>
            <a:ext cx="841918" cy="4266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949CFA4-EFC5-8316-E7FB-FB70175E12C6}"/>
              </a:ext>
            </a:extLst>
          </p:cNvPr>
          <p:cNvSpPr txBox="1"/>
          <p:nvPr/>
        </p:nvSpPr>
        <p:spPr>
          <a:xfrm>
            <a:off x="407019" y="1541425"/>
            <a:ext cx="11415743" cy="94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(Q1)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Which CxG approach is applicable for Natural Language Understanding?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FCE56C5-B31E-8E44-163F-4148D770F20E}"/>
              </a:ext>
            </a:extLst>
          </p:cNvPr>
          <p:cNvSpPr txBox="1"/>
          <p:nvPr/>
        </p:nvSpPr>
        <p:spPr>
          <a:xfrm>
            <a:off x="407019" y="2929388"/>
            <a:ext cx="8357839" cy="114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(Q2)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How can typical constructions be identified?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3C23F3-0980-4B74-F6BA-D8FD651953D7}"/>
              </a:ext>
            </a:extLst>
          </p:cNvPr>
          <p:cNvSpPr/>
          <p:nvPr/>
        </p:nvSpPr>
        <p:spPr>
          <a:xfrm>
            <a:off x="407020" y="4659811"/>
            <a:ext cx="841918" cy="4266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3900F10-3F6E-A8E0-788B-54706BA74F47}"/>
              </a:ext>
            </a:extLst>
          </p:cNvPr>
          <p:cNvSpPr txBox="1"/>
          <p:nvPr/>
        </p:nvSpPr>
        <p:spPr>
          <a:xfrm>
            <a:off x="407019" y="4519651"/>
            <a:ext cx="83578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(Q3) </a:t>
            </a:r>
          </a:p>
          <a:p>
            <a:r>
              <a:rPr lang="en-US" altLang="zh-CN" sz="2400" dirty="0">
                <a:latin typeface="Arial Rounded MT Bold" panose="020F0704030504030204" pitchFamily="34" charset="0"/>
              </a:rPr>
              <a:t>How can constructions be encoded?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C1E934-4114-8DE2-DD14-1776187B492D}"/>
              </a:ext>
            </a:extLst>
          </p:cNvPr>
          <p:cNvSpPr txBox="1"/>
          <p:nvPr/>
        </p:nvSpPr>
        <p:spPr>
          <a:xfrm>
            <a:off x="407018" y="2534085"/>
            <a:ext cx="6884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FCG, ECG, SBCG, or usage-based approaches?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A083526-4C92-0306-209E-52BF4D6AAADC}"/>
              </a:ext>
            </a:extLst>
          </p:cNvPr>
          <p:cNvSpPr txBox="1"/>
          <p:nvPr/>
        </p:nvSpPr>
        <p:spPr>
          <a:xfrm>
            <a:off x="407017" y="4119827"/>
            <a:ext cx="12207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Do we need all the constructions? What constructions would be beneficial for NLU?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315FD4-8A87-EF00-9EEE-7D2593132A5B}"/>
              </a:ext>
            </a:extLst>
          </p:cNvPr>
          <p:cNvSpPr txBox="1"/>
          <p:nvPr/>
        </p:nvSpPr>
        <p:spPr>
          <a:xfrm>
            <a:off x="407017" y="5575075"/>
            <a:ext cx="11230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How to incorporate constructional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cs typeface="Nirmala UI Semilight" panose="020B0402040204020203" pitchFamily="34" charset="0"/>
              </a:rPr>
              <a:t>information into the language representation?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AA16DD3-D530-AB4A-6112-8717B67CA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9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understanding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D98A23-7626-4877-5DF6-B6503E093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3" t="36438" r="10913" b="18960"/>
          <a:stretch/>
        </p:blipFill>
        <p:spPr>
          <a:xfrm>
            <a:off x="9115438" y="176905"/>
            <a:ext cx="1305244" cy="3051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2BBEAD-AF4E-EB70-694C-3E0CE634BCF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F04A3F-C358-701F-FA2D-C7F8E28B94EB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"Enhancing Language Representation with Constructional Information for Natural Language Understanding". ACL 2023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A26B8A17-9E69-3460-A349-A1E41486D4A7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5F81A493-A9ED-E9CA-B85F-9404B6B8E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24" y="1748218"/>
            <a:ext cx="11742352" cy="450731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D90A503-97FB-3494-88D9-3FD02C66BD94}"/>
              </a:ext>
            </a:extLst>
          </p:cNvPr>
          <p:cNvSpPr txBox="1"/>
          <p:nvPr/>
        </p:nvSpPr>
        <p:spPr>
          <a:xfrm>
            <a:off x="377222" y="1190821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Step 1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43306D-2001-473D-636A-84910C5B4D3F}"/>
              </a:ext>
            </a:extLst>
          </p:cNvPr>
          <p:cNvSpPr txBox="1"/>
          <p:nvPr/>
        </p:nvSpPr>
        <p:spPr>
          <a:xfrm>
            <a:off x="377222" y="1536577"/>
            <a:ext cx="433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Construction Extraction &amp; Selection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34F99C-E721-499C-A43A-68472519F94A}"/>
              </a:ext>
            </a:extLst>
          </p:cNvPr>
          <p:cNvSpPr txBox="1"/>
          <p:nvPr/>
        </p:nvSpPr>
        <p:spPr>
          <a:xfrm>
            <a:off x="4862943" y="1180155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altLang="zh-CN" sz="2000" dirty="0"/>
              <a:t>Step 2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A9AFB2-26AF-B177-D6C9-D1F73348DDD9}"/>
              </a:ext>
            </a:extLst>
          </p:cNvPr>
          <p:cNvSpPr txBox="1"/>
          <p:nvPr/>
        </p:nvSpPr>
        <p:spPr>
          <a:xfrm>
            <a:off x="4862943" y="1525911"/>
            <a:ext cx="446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Constructional Information Interaction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AC6D99-6F5D-F990-26B3-B6B637967521}"/>
              </a:ext>
            </a:extLst>
          </p:cNvPr>
          <p:cNvSpPr txBox="1"/>
          <p:nvPr/>
        </p:nvSpPr>
        <p:spPr>
          <a:xfrm>
            <a:off x="9543192" y="1539252"/>
            <a:ext cx="227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Fine-tune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Nirmala UI" panose="020B0502040204020203" pitchFamily="34" charset="0"/>
              <a:ea typeface="微软雅黑" panose="020B0503020204020204" pitchFamily="34" charset="-122"/>
              <a:cs typeface="Nirmala UI" panose="020B0502040204020203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917169-44BF-5D2D-E549-1C26B6587819}"/>
              </a:ext>
            </a:extLst>
          </p:cNvPr>
          <p:cNvSpPr txBox="1"/>
          <p:nvPr/>
        </p:nvSpPr>
        <p:spPr>
          <a:xfrm>
            <a:off x="9543192" y="1180155"/>
            <a:ext cx="1301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altLang="zh-CN" sz="2000" dirty="0"/>
              <a:t>Step 3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09432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understanding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D98A23-7626-4877-5DF6-B6503E093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3" t="36438" r="10913" b="18960"/>
          <a:stretch/>
        </p:blipFill>
        <p:spPr>
          <a:xfrm>
            <a:off x="9115438" y="176905"/>
            <a:ext cx="1305244" cy="3051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2BBEAD-AF4E-EB70-694C-3E0CE634BCF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F04A3F-C358-701F-FA2D-C7F8E28B94EB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"Enhancing Language Representation with Constructional Information for Natural Language Understanding". ACL 2023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A26B8A17-9E69-3460-A349-A1E41486D4A7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E04900B1-75A2-E98C-0BF8-70C5167D432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83"/>
          <a:stretch/>
        </p:blipFill>
        <p:spPr>
          <a:xfrm>
            <a:off x="399475" y="4011931"/>
            <a:ext cx="5932745" cy="207944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2CF8CE9-C4BE-8F5D-B072-9A40646DFB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705" y="4011931"/>
            <a:ext cx="5097933" cy="204945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9115613-7648-E3B3-0AED-7ED600F29276}"/>
              </a:ext>
            </a:extLst>
          </p:cNvPr>
          <p:cNvSpPr txBox="1"/>
          <p:nvPr/>
        </p:nvSpPr>
        <p:spPr>
          <a:xfrm>
            <a:off x="6585705" y="1316945"/>
            <a:ext cx="5932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GLUE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benchmark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A8D467-9A49-70B5-D863-27FE49223BFE}"/>
              </a:ext>
            </a:extLst>
          </p:cNvPr>
          <p:cNvSpPr txBox="1"/>
          <p:nvPr/>
        </p:nvSpPr>
        <p:spPr>
          <a:xfrm>
            <a:off x="6585705" y="1936030"/>
            <a:ext cx="888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/>
              <a:t>Tasks: 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6031930-57C7-1FA0-EBFE-BC7967A499BD}"/>
              </a:ext>
            </a:extLst>
          </p:cNvPr>
          <p:cNvSpPr txBox="1"/>
          <p:nvPr/>
        </p:nvSpPr>
        <p:spPr>
          <a:xfrm>
            <a:off x="7643085" y="1858292"/>
            <a:ext cx="4076968" cy="18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Linguistic Acceptability </a:t>
            </a:r>
            <a:r>
              <a:rPr kumimoji="1" lang="en-US" altLang="zh-CN" dirty="0"/>
              <a:t>(CoLA)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NLI </a:t>
            </a:r>
            <a:r>
              <a:rPr kumimoji="1" lang="en-US" altLang="zh-CN" dirty="0"/>
              <a:t>(MNLI, QNLI, RTE)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Sentiment Analysis </a:t>
            </a:r>
            <a:r>
              <a:rPr kumimoji="1" lang="en-US" altLang="zh-CN" dirty="0"/>
              <a:t>(SST-2)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Paraphrase </a:t>
            </a:r>
            <a:r>
              <a:rPr kumimoji="1" lang="en-US" altLang="zh-CN" dirty="0"/>
              <a:t>(MRPC, QQP)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Similarity</a:t>
            </a:r>
            <a:r>
              <a:rPr kumimoji="1" lang="en-US" altLang="zh-CN" dirty="0"/>
              <a:t> (STS-B)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628E3F-8FFA-3E33-1BBE-E0868B6A1A03}"/>
              </a:ext>
            </a:extLst>
          </p:cNvPr>
          <p:cNvSpPr txBox="1"/>
          <p:nvPr/>
        </p:nvSpPr>
        <p:spPr>
          <a:xfrm>
            <a:off x="321521" y="1279840"/>
            <a:ext cx="3893128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Experimental Results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FF6816-AC84-B0BF-2D09-A9B2D7D67928}"/>
              </a:ext>
            </a:extLst>
          </p:cNvPr>
          <p:cNvSpPr txBox="1"/>
          <p:nvPr/>
        </p:nvSpPr>
        <p:spPr>
          <a:xfrm>
            <a:off x="321520" y="2296267"/>
            <a:ext cx="5932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Aspect-based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sentiment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analysis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B4E9DB-557B-8B96-97F9-B1021F310D29}"/>
              </a:ext>
            </a:extLst>
          </p:cNvPr>
          <p:cNvSpPr txBox="1"/>
          <p:nvPr/>
        </p:nvSpPr>
        <p:spPr>
          <a:xfrm>
            <a:off x="343773" y="2915352"/>
            <a:ext cx="618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Datasets: </a:t>
            </a:r>
            <a:r>
              <a:rPr kumimoji="1" lang="en-US" altLang="zh-CN" dirty="0"/>
              <a:t>Rest14/15 /16 &amp; Lap 14 from </a:t>
            </a:r>
            <a:r>
              <a:rPr kumimoji="1" lang="en-US" altLang="zh-CN" b="1" dirty="0"/>
              <a:t>SemEval</a:t>
            </a:r>
            <a:r>
              <a:rPr kumimoji="1" lang="zh-CN" altLang="en-US" b="1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MAMS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5010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A5A3FDAA-3200-EDBF-14F9-613F53EA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32" y="2021796"/>
            <a:ext cx="4950372" cy="398410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understanding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D98A23-7626-4877-5DF6-B6503E093A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3" t="36438" r="10913" b="18960"/>
          <a:stretch/>
        </p:blipFill>
        <p:spPr>
          <a:xfrm>
            <a:off x="9115438" y="176905"/>
            <a:ext cx="1305244" cy="3051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2BBEAD-AF4E-EB70-694C-3E0CE634BCF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F04A3F-C358-701F-FA2D-C7F8E28B94EB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"Enhancing Language Representation with Constructional Information for Natural Language Understanding". ACL 2023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A26B8A17-9E69-3460-A349-A1E41486D4A7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B814333-FA86-815E-8F3C-5577B6F699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08" y="2243332"/>
            <a:ext cx="4950372" cy="17923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7A5F96-393E-98EF-6C28-A160C3390349}"/>
              </a:ext>
            </a:extLst>
          </p:cNvPr>
          <p:cNvSpPr txBox="1"/>
          <p:nvPr/>
        </p:nvSpPr>
        <p:spPr>
          <a:xfrm>
            <a:off x="391094" y="1311724"/>
            <a:ext cx="448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Pattern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Recognition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0918DC-3DDC-944C-7051-3423985A6596}"/>
              </a:ext>
            </a:extLst>
          </p:cNvPr>
          <p:cNvSpPr txBox="1"/>
          <p:nvPr/>
        </p:nvSpPr>
        <p:spPr>
          <a:xfrm>
            <a:off x="850808" y="3927714"/>
            <a:ext cx="437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pseudo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labeling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F874C3-8A83-4743-1D00-C80D30CBA175}"/>
              </a:ext>
            </a:extLst>
          </p:cNvPr>
          <p:cNvSpPr txBox="1"/>
          <p:nvPr/>
        </p:nvSpPr>
        <p:spPr>
          <a:xfrm>
            <a:off x="391094" y="4374165"/>
            <a:ext cx="7092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Original</a:t>
            </a:r>
            <a:r>
              <a:rPr lang="zh-CN" altLang="en-US" sz="18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Sentence: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 were asked to, I would be happy to talk to anyone.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E7A4D3-61DE-5241-231F-0E539506DA41}"/>
              </a:ext>
            </a:extLst>
          </p:cNvPr>
          <p:cNvSpPr txBox="1"/>
          <p:nvPr/>
        </p:nvSpPr>
        <p:spPr>
          <a:xfrm>
            <a:off x="391094" y="1703318"/>
            <a:ext cx="618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Datasets: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SemEval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8BD9FD-372A-A67F-B8D6-C08372091C4D}"/>
              </a:ext>
            </a:extLst>
          </p:cNvPr>
          <p:cNvSpPr txBox="1"/>
          <p:nvPr/>
        </p:nvSpPr>
        <p:spPr>
          <a:xfrm>
            <a:off x="2514184" y="4808598"/>
            <a:ext cx="4488148" cy="75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–PRON–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–VERB” → “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I were asked</a:t>
            </a: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pPr>
              <a:lnSpc>
                <a:spcPct val="125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“AUX–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–ADJ” → “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would be happy</a:t>
            </a:r>
            <a:r>
              <a:rPr lang="en-US" altLang="zh-CN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7FF3CF78-F250-294A-F0E3-0A6948EBEDB2}"/>
              </a:ext>
            </a:extLst>
          </p:cNvPr>
          <p:cNvCxnSpPr>
            <a:cxnSpLocks/>
          </p:cNvCxnSpPr>
          <p:nvPr/>
        </p:nvCxnSpPr>
        <p:spPr>
          <a:xfrm>
            <a:off x="504496" y="4796048"/>
            <a:ext cx="6737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4456DC8-ABEB-B6CA-1C39-FA9FC943CB53}"/>
              </a:ext>
            </a:extLst>
          </p:cNvPr>
          <p:cNvSpPr txBox="1"/>
          <p:nvPr/>
        </p:nvSpPr>
        <p:spPr>
          <a:xfrm>
            <a:off x="575344" y="49711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Constructions: 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CE1AB76-3DCC-DD9F-4787-3A551FB88E4E}"/>
              </a:ext>
            </a:extLst>
          </p:cNvPr>
          <p:cNvSpPr txBox="1"/>
          <p:nvPr/>
        </p:nvSpPr>
        <p:spPr>
          <a:xfrm>
            <a:off x="7312758" y="1310059"/>
            <a:ext cx="448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Network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of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Constructions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674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generation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93ECCB9-2BB8-1534-90AB-716D0BD0D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6CFD868-BB23-D080-5F16-4886629F15E6}"/>
              </a:ext>
            </a:extLst>
          </p:cNvPr>
          <p:cNvSpPr txBox="1"/>
          <p:nvPr/>
        </p:nvSpPr>
        <p:spPr>
          <a:xfrm>
            <a:off x="321520" y="6351686"/>
            <a:ext cx="11264997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"CoELM: Construction-Enhanced Language Modeling". ACL 2024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0983B7E-AD9F-19E2-E0FA-D809F8AC818D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703F9E4B-9BB3-835C-C028-4AD7E6C969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38E9E9-E5C9-26B8-C757-3C4AB871AB46}"/>
              </a:ext>
            </a:extLst>
          </p:cNvPr>
          <p:cNvSpPr txBox="1"/>
          <p:nvPr/>
        </p:nvSpPr>
        <p:spPr>
          <a:xfrm>
            <a:off x="321520" y="1279840"/>
            <a:ext cx="11415743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How can </a:t>
            </a:r>
            <a:r>
              <a:rPr lang="en-US" altLang="zh-CN" sz="2400" dirty="0">
                <a:latin typeface="Arial Rounded MT Bold" panose="020F0704030504030204" pitchFamily="34" charset="0"/>
              </a:rPr>
              <a:t>we exploit constructions as inductive bias?</a:t>
            </a:r>
            <a:endParaRPr lang="en-US" altLang="zh-CN" sz="2400" dirty="0"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F8A607-D3D8-A696-655A-0492D70E037B}"/>
              </a:ext>
            </a:extLst>
          </p:cNvPr>
          <p:cNvSpPr txBox="1"/>
          <p:nvPr/>
        </p:nvSpPr>
        <p:spPr>
          <a:xfrm>
            <a:off x="321520" y="1854997"/>
            <a:ext cx="8274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Proposing the Dynamic Sequence Reassembly (DSR) Strategy for pre-training.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9D5A3C7-2DBE-F78A-0D90-ECEA00B0CB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338" y="3267325"/>
            <a:ext cx="5339255" cy="26587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4D9FE10-0AE6-F567-6E6A-0B42EA809C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31" y="2213203"/>
            <a:ext cx="3178618" cy="410668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F673B9D-88E5-21F2-FE15-1AEEFB0C9421}"/>
              </a:ext>
            </a:extLst>
          </p:cNvPr>
          <p:cNvSpPr txBox="1"/>
          <p:nvPr/>
        </p:nvSpPr>
        <p:spPr>
          <a:xfrm>
            <a:off x="5751823" y="2657029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  <a:effectLst/>
                <a:latin typeface="Helvetica" pitchFamily="2" charset="0"/>
              </a:rPr>
              <a:t>Dynamic Sequence Reassembly Strategy</a:t>
            </a:r>
          </a:p>
        </p:txBody>
      </p:sp>
    </p:spTree>
    <p:extLst>
      <p:ext uri="{BB962C8B-B14F-4D97-AF65-F5344CB8AC3E}">
        <p14:creationId xmlns:p14="http://schemas.microsoft.com/office/powerpoint/2010/main" val="943533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Focusing on language generation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93ECCB9-2BB8-1534-90AB-716D0BD0D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6CFD868-BB23-D080-5F16-4886629F15E6}"/>
              </a:ext>
            </a:extLst>
          </p:cNvPr>
          <p:cNvSpPr txBox="1"/>
          <p:nvPr/>
        </p:nvSpPr>
        <p:spPr>
          <a:xfrm>
            <a:off x="321520" y="6351686"/>
            <a:ext cx="11264997" cy="95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"CoELM: Construction-Enhanced Language Modeling". ACL 2024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“Counting the bugs in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ChatGPT’s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wugs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multilingual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investi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gation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the morphological capabilities of a large language model.”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2023. </a:t>
            </a:r>
          </a:p>
          <a:p>
            <a:pPr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0983B7E-AD9F-19E2-E0FA-D809F8AC818D}"/>
              </a:ext>
            </a:extLst>
          </p:cNvPr>
          <p:cNvCxnSpPr/>
          <p:nvPr/>
        </p:nvCxnSpPr>
        <p:spPr>
          <a:xfrm>
            <a:off x="391094" y="631988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703F9E4B-9BB3-835C-C028-4AD7E6C969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06" y="144229"/>
            <a:ext cx="1305244" cy="3460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C8C1DDD-8319-447C-3604-833E161CE9DF}"/>
              </a:ext>
            </a:extLst>
          </p:cNvPr>
          <p:cNvSpPr txBox="1"/>
          <p:nvPr/>
        </p:nvSpPr>
        <p:spPr>
          <a:xfrm>
            <a:off x="377222" y="1316945"/>
            <a:ext cx="5932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Language Modeling Acceleration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FCD4D9D-2827-6300-2628-6DAD45DB6ED5}"/>
              </a:ext>
            </a:extLst>
          </p:cNvPr>
          <p:cNvCxnSpPr/>
          <p:nvPr/>
        </p:nvCxnSpPr>
        <p:spPr>
          <a:xfrm>
            <a:off x="6058507" y="1316945"/>
            <a:ext cx="0" cy="517529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CFCA9BD-DE32-E0D8-1963-AC76E63309B8}"/>
              </a:ext>
            </a:extLst>
          </p:cNvPr>
          <p:cNvSpPr txBox="1"/>
          <p:nvPr/>
        </p:nvSpPr>
        <p:spPr>
          <a:xfrm>
            <a:off x="6133494" y="1316945"/>
            <a:ext cx="1985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Wug Test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A0C4373-1484-0E4E-DB3D-1AE1EDF638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93" b="24195"/>
          <a:stretch/>
        </p:blipFill>
        <p:spPr>
          <a:xfrm>
            <a:off x="271279" y="3514960"/>
            <a:ext cx="2283704" cy="261883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8216E3B-E8D1-31ED-9651-7B185182B1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198" y="3775294"/>
            <a:ext cx="4415973" cy="241448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80C4C8B-C9C1-DDD1-3D58-94120B1FF8F0}"/>
              </a:ext>
            </a:extLst>
          </p:cNvPr>
          <p:cNvSpPr txBox="1"/>
          <p:nvPr/>
        </p:nvSpPr>
        <p:spPr>
          <a:xfrm>
            <a:off x="6454498" y="1757248"/>
            <a:ext cx="6099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To investigate whether the pre-trained language models 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possess human-like linguistic knowledge.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0D7837-FD90-CCCC-F2A9-44A8DCADA045}"/>
              </a:ext>
            </a:extLst>
          </p:cNvPr>
          <p:cNvSpPr txBox="1"/>
          <p:nvPr/>
        </p:nvSpPr>
        <p:spPr>
          <a:xfrm>
            <a:off x="6484642" y="2780200"/>
            <a:ext cx="6295292" cy="3872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kumimoji="1"/>
            </a:lvl1pPr>
          </a:lstStyle>
          <a:p>
            <a:r>
              <a:rPr lang="en-US" altLang="zh-CN" sz="1600" dirty="0"/>
              <a:t>e.g., wug → wugged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36E4BD-1E1A-D8EF-7625-00E1027A0EDA}"/>
              </a:ext>
            </a:extLst>
          </p:cNvPr>
          <p:cNvSpPr txBox="1"/>
          <p:nvPr/>
        </p:nvSpPr>
        <p:spPr>
          <a:xfrm>
            <a:off x="6454498" y="2421567"/>
            <a:ext cx="6099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</a:rPr>
              <a:t>Containing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</a:rPr>
              <a:t>50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</a:rPr>
              <a:t> irregular verbs that by one or two letters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5D53F3-7F52-DDFD-1EB0-2D7DA7CEB8AD}"/>
              </a:ext>
            </a:extLst>
          </p:cNvPr>
          <p:cNvSpPr txBox="1"/>
          <p:nvPr/>
        </p:nvSpPr>
        <p:spPr>
          <a:xfrm>
            <a:off x="6454498" y="3277095"/>
            <a:ext cx="6099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</a:rPr>
              <a:t>Predict the past tense of these nonce words.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335A350-1895-D4F1-2B07-CF07F9F2B9C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15" b="24195"/>
          <a:stretch/>
        </p:blipFill>
        <p:spPr>
          <a:xfrm>
            <a:off x="2806451" y="3515128"/>
            <a:ext cx="3154283" cy="2650572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C0D7FD29-3EAC-E8E0-9BDA-7B3A9CFF7216}"/>
              </a:ext>
            </a:extLst>
          </p:cNvPr>
          <p:cNvSpPr txBox="1"/>
          <p:nvPr/>
        </p:nvSpPr>
        <p:spPr>
          <a:xfrm>
            <a:off x="548042" y="2158434"/>
            <a:ext cx="52852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pPr algn="just"/>
            <a:r>
              <a:rPr lang="en-US" altLang="zh-CN" dirty="0"/>
              <a:t>During pretraining, the curves of loss and perplexity of  language models first plummet in a power law, and then seemingly enter a near-linear decline.</a:t>
            </a:r>
          </a:p>
        </p:txBody>
      </p:sp>
    </p:spTree>
    <p:extLst>
      <p:ext uri="{BB962C8B-B14F-4D97-AF65-F5344CB8AC3E}">
        <p14:creationId xmlns:p14="http://schemas.microsoft.com/office/powerpoint/2010/main" val="2702881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0" y="432134"/>
            <a:ext cx="7898555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7976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What are other linguists working on?</a:t>
            </a:r>
            <a:endParaRPr lang="zh-CN" altLang="en-US" sz="3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93ECCB9-2BB8-1534-90AB-716D0BD0D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6CFD868-BB23-D080-5F16-4886629F15E6}"/>
              </a:ext>
            </a:extLst>
          </p:cNvPr>
          <p:cNvSpPr txBox="1"/>
          <p:nvPr/>
        </p:nvSpPr>
        <p:spPr>
          <a:xfrm>
            <a:off x="321520" y="5648916"/>
            <a:ext cx="11264997" cy="205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"Constructions Are So Difficult That Even Large Language Models Get Them Right for the Wrong Reasons". COLING 2024.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"Counting the bugs in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ChatGPT’s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wugs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multilingual investigation into the morphological capabilities of a large language model. "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"The better your Syntax, the better your Semantics? Probing Pretrained Language Models for the English Comparative Correlative”.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"A </a:t>
            </a:r>
            <a:r>
              <a:rPr lang="en-US" altLang="zh-CN" sz="1100" i="0" u="sng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Crosslingual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Investigation of Conceptualization in 1335 Languages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ACL 2023.</a:t>
            </a: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“Mission: Impossible Language Models”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ACL 2024 (</a:t>
            </a:r>
            <a:r>
              <a:rPr lang="en-US" altLang="zh-C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Paper)</a:t>
            </a:r>
            <a:endParaRPr lang="en-US" altLang="zh-CN" sz="1100" b="1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0983B7E-AD9F-19E2-E0FA-D809F8AC818D}"/>
              </a:ext>
            </a:extLst>
          </p:cNvPr>
          <p:cNvCxnSpPr/>
          <p:nvPr/>
        </p:nvCxnSpPr>
        <p:spPr>
          <a:xfrm>
            <a:off x="391094" y="5617115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FE34611-A02A-2295-C27B-C32ED2DA531F}"/>
              </a:ext>
            </a:extLst>
          </p:cNvPr>
          <p:cNvSpPr txBox="1"/>
          <p:nvPr/>
        </p:nvSpPr>
        <p:spPr>
          <a:xfrm>
            <a:off x="377222" y="1316945"/>
            <a:ext cx="5932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Probing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&amp; Evaluation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FE6CAF-1796-3C29-35E4-A42E9B161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21" y="4085243"/>
            <a:ext cx="3422147" cy="12819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34A61A-72FF-4702-FC8E-AED826E80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88" y="1895475"/>
            <a:ext cx="2978537" cy="189638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FA22494-76D0-2BF4-2103-322EEC968278}"/>
              </a:ext>
            </a:extLst>
          </p:cNvPr>
          <p:cNvSpPr txBox="1"/>
          <p:nvPr/>
        </p:nvSpPr>
        <p:spPr>
          <a:xfrm>
            <a:off x="5332053" y="1316945"/>
            <a:ext cx="5932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Psychology-related research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182BB36-9B3E-D484-713B-3C7AEE3E6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210" y="1797509"/>
            <a:ext cx="3697133" cy="356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50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凹凸线条纹理质感高清背景">
            <a:extLst>
              <a:ext uri="{FF2B5EF4-FFF2-40B4-BE49-F238E27FC236}">
                <a16:creationId xmlns:a16="http://schemas.microsoft.com/office/drawing/2014/main" id="{2FA627AD-D7E6-749A-18C6-CB1FEDE43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82B640-355B-4C07-86F7-F8FBBA69B6AF}"/>
              </a:ext>
            </a:extLst>
          </p:cNvPr>
          <p:cNvSpPr txBox="1"/>
          <p:nvPr/>
        </p:nvSpPr>
        <p:spPr>
          <a:xfrm>
            <a:off x="1186463" y="3075057"/>
            <a:ext cx="10258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Can</a:t>
            </a:r>
            <a:r>
              <a:rPr lang="zh-CN" altLang="en-US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 </a:t>
            </a:r>
            <a:r>
              <a:rPr lang="en-US" altLang="zh-CN" sz="4000" b="1" i="0" u="none" strike="noStrike" dirty="0">
                <a:solidFill>
                  <a:srgbClr val="2C3A4A"/>
                </a:solidFill>
                <a:effectLst/>
                <a:latin typeface="Noto Sans" panose="020B0502040504020204" pitchFamily="34" charset="0"/>
              </a:rPr>
              <a:t>linguistics do what LLMs cannot?</a:t>
            </a:r>
          </a:p>
        </p:txBody>
      </p:sp>
    </p:spTree>
    <p:extLst>
      <p:ext uri="{BB962C8B-B14F-4D97-AF65-F5344CB8AC3E}">
        <p14:creationId xmlns:p14="http://schemas.microsoft.com/office/powerpoint/2010/main" val="3038475377"/>
      </p:ext>
    </p:extLst>
  </p:cSld>
  <p:clrMapOvr>
    <a:masterClrMapping/>
  </p:clrMapOvr>
  <p:extLst>
    <p:ext uri="{E180D4A7-C9FB-4DFB-919C-405C955672EB}">
      <p14:showEvtLst xmlns:p14="http://schemas.microsoft.com/office/powerpoint/2010/main">
        <p14:playEvt time="15" objId="2"/>
        <p14:stopEvt time="13873" objId="2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767E26-3229-7309-F25F-43C366E1194C}"/>
              </a:ext>
            </a:extLst>
          </p:cNvPr>
          <p:cNvSpPr/>
          <p:nvPr/>
        </p:nvSpPr>
        <p:spPr>
          <a:xfrm>
            <a:off x="321521" y="432134"/>
            <a:ext cx="8261902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4AEE20-E4D2-9144-C92C-3C69AD3499C6}"/>
              </a:ext>
            </a:extLst>
          </p:cNvPr>
          <p:cNvSpPr txBox="1"/>
          <p:nvPr/>
        </p:nvSpPr>
        <p:spPr>
          <a:xfrm>
            <a:off x="321520" y="477816"/>
            <a:ext cx="8653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Application: Grammatical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Error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Correction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B9D5DF-6980-F0BD-8086-6B530FAC4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12"/>
          <a:stretch/>
        </p:blipFill>
        <p:spPr>
          <a:xfrm>
            <a:off x="5380536" y="1415129"/>
            <a:ext cx="6536208" cy="191447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FB17C29-4BDA-4C74-FA75-E72DE5604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96" y="1443385"/>
            <a:ext cx="4733267" cy="429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691C961-D6C2-A53C-28A2-BF5C2A918954}"/>
              </a:ext>
            </a:extLst>
          </p:cNvPr>
          <p:cNvSpPr txBox="1"/>
          <p:nvPr/>
        </p:nvSpPr>
        <p:spPr>
          <a:xfrm>
            <a:off x="391223" y="6165854"/>
            <a:ext cx="82619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10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FCGEC: Fine-Grained Corpus for Chinese Grammatical Error Correction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On</a:t>
            </a:r>
            <a:r>
              <a:rPr lang="en-US" altLang="zh-CN" u="sng" dirty="0">
                <a:effectLst/>
                <a:latin typeface="NimbusRomNo9L"/>
              </a:rPr>
              <a:t> 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(In)Effectiveness of Large Language Models for Chinese Text Correction.</a:t>
            </a:r>
          </a:p>
          <a:p>
            <a:pPr algn="l"/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0FDAD76-7BA6-6133-E81B-427279953AF2}"/>
              </a:ext>
            </a:extLst>
          </p:cNvPr>
          <p:cNvCxnSpPr/>
          <p:nvPr/>
        </p:nvCxnSpPr>
        <p:spPr>
          <a:xfrm>
            <a:off x="460796" y="6053667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A6B0825-E7AB-4C83-E514-0FCC70FA930B}"/>
              </a:ext>
            </a:extLst>
          </p:cNvPr>
          <p:cNvSpPr txBox="1"/>
          <p:nvPr/>
        </p:nvSpPr>
        <p:spPr>
          <a:xfrm>
            <a:off x="5390475" y="3429003"/>
            <a:ext cx="6536208" cy="88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Erroneous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Sentence: </a:t>
            </a:r>
            <a:r>
              <a:rPr lang="zh-CN" altLang="en-US" sz="1600" dirty="0">
                <a:effectLst/>
                <a:latin typeface="FangSong" panose="02010609060101010101" pitchFamily="49" charset="-122"/>
                <a:ea typeface="FangSong" panose="02010609060101010101" pitchFamily="49" charset="-122"/>
              </a:rPr>
              <a:t>毋庸置疑，原生态的东西有精华也有糟粕，必须具体分析，辩证对待，因此，王冰认为赵亮关于原生态艺术的那篇文章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</a:rPr>
              <a:t>有错误的观点是值得商榷的</a:t>
            </a:r>
            <a:r>
              <a:rPr lang="zh-CN" altLang="en-US" sz="1600" dirty="0">
                <a:effectLst/>
                <a:latin typeface="FangSong" panose="02010609060101010101" pitchFamily="49" charset="-122"/>
                <a:ea typeface="FangSong" panose="02010609060101010101" pitchFamily="49" charset="-122"/>
              </a:rPr>
              <a:t>。 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B12FEB3B-8156-36BC-40F7-81524A5D78E2}"/>
              </a:ext>
            </a:extLst>
          </p:cNvPr>
          <p:cNvCxnSpPr>
            <a:cxnSpLocks/>
          </p:cNvCxnSpPr>
          <p:nvPr/>
        </p:nvCxnSpPr>
        <p:spPr>
          <a:xfrm>
            <a:off x="5486400" y="4329573"/>
            <a:ext cx="62914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FF10935-381A-5921-03CD-8F0E1F9B539B}"/>
              </a:ext>
            </a:extLst>
          </p:cNvPr>
          <p:cNvSpPr txBox="1"/>
          <p:nvPr/>
        </p:nvSpPr>
        <p:spPr>
          <a:xfrm>
            <a:off x="5390475" y="4357159"/>
            <a:ext cx="6536208" cy="882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Corrected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Sentence: 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毋庸置疑，原生态的东西有精华也有糟粕，必须具体分析，辩证对待，因此，王冰认为赵亮关于原生态艺术的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那篇文章有些观点是错误的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。 </a:t>
            </a: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C2478B26-0692-C289-029B-C85C3F4FE1FA}"/>
              </a:ext>
            </a:extLst>
          </p:cNvPr>
          <p:cNvCxnSpPr>
            <a:cxnSpLocks/>
          </p:cNvCxnSpPr>
          <p:nvPr/>
        </p:nvCxnSpPr>
        <p:spPr>
          <a:xfrm>
            <a:off x="5486400" y="5289022"/>
            <a:ext cx="62914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8D0E030-D73C-0940-8462-3B40DB349712}"/>
              </a:ext>
            </a:extLst>
          </p:cNvPr>
          <p:cNvSpPr txBox="1"/>
          <p:nvPr/>
        </p:nvSpPr>
        <p:spPr>
          <a:xfrm>
            <a:off x="5390475" y="5332234"/>
            <a:ext cx="6536208" cy="34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GPT-4 Output: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The sentence has no grammatical errors. </a:t>
            </a:r>
            <a:endParaRPr lang="zh-CN" altLang="en-US" sz="1600" dirty="0">
              <a:effectLst/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A059D4-21C3-7E2C-3973-29AC6DE5468D}"/>
              </a:ext>
            </a:extLst>
          </p:cNvPr>
          <p:cNvSpPr txBox="1"/>
          <p:nvPr/>
        </p:nvSpPr>
        <p:spPr>
          <a:xfrm>
            <a:off x="5694152" y="6045703"/>
            <a:ext cx="6106625" cy="37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Observation: LLMs face significant challenges in the CGEC </a:t>
            </a:r>
            <a:endParaRPr lang="zh-CN" altLang="en-US" dirty="0">
              <a:effectLst/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E87B326-CFAD-72DE-9CA6-130A1831740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BE89D54-1874-7698-D3CC-87FE35C7A0D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5569" b="38405"/>
          <a:stretch/>
        </p:blipFill>
        <p:spPr>
          <a:xfrm>
            <a:off x="9025380" y="178630"/>
            <a:ext cx="1518275" cy="34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30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691C961-D6C2-A53C-28A2-BF5C2A918954}"/>
              </a:ext>
            </a:extLst>
          </p:cNvPr>
          <p:cNvSpPr txBox="1"/>
          <p:nvPr/>
        </p:nvSpPr>
        <p:spPr>
          <a:xfrm>
            <a:off x="391222" y="5838892"/>
            <a:ext cx="11264997" cy="1170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</a:t>
            </a:r>
            <a:r>
              <a:rPr lang="en-US" altLang="zh-CN" sz="1100" i="0" u="sng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Goldberg, Adele E. "Constructions: A new theoretical approach to language." Trends in cognitive sciences 7.5 (2003): 219-224.</a:t>
            </a:r>
          </a:p>
          <a:p>
            <a:pPr algn="l">
              <a:lnSpc>
                <a:spcPct val="130000"/>
              </a:lnSpc>
            </a:pP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Hoffmann, Thomas, and Graeme Trousdale. The Oxford handbook of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grammar. Oxford University Press, 2013.</a:t>
            </a:r>
          </a:p>
          <a:p>
            <a:pPr algn="l">
              <a:lnSpc>
                <a:spcPct val="130000"/>
              </a:lnSpc>
            </a:pP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施春宏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构式三观：构式语法的基本理念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[J].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东北师大学报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哲学社会科学版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),2021,(04):1-15.</a:t>
            </a:r>
          </a:p>
          <a:p>
            <a:pPr algn="l">
              <a:lnSpc>
                <a:spcPct val="130000"/>
              </a:lnSpc>
            </a:pP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Nuances are the key: Unlocking </a:t>
            </a:r>
            <a:r>
              <a:rPr lang="en-US" altLang="zh-CN" sz="11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failure-inducing tests with differential prompting." 2023 ASE. IEEE, 2023.</a:t>
            </a:r>
          </a:p>
          <a:p>
            <a:pPr algn="l">
              <a:lnSpc>
                <a:spcPct val="130000"/>
              </a:lnSpc>
            </a:pPr>
            <a:endParaRPr lang="en-US" altLang="zh-CN" sz="1100" i="0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0FDAD76-7BA6-6133-E81B-427279953AF2}"/>
              </a:ext>
            </a:extLst>
          </p:cNvPr>
          <p:cNvCxnSpPr/>
          <p:nvPr/>
        </p:nvCxnSpPr>
        <p:spPr>
          <a:xfrm>
            <a:off x="460796" y="5807091"/>
            <a:ext cx="46479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37CD2FE-B9CF-831A-99E4-AF9009A0677B}"/>
              </a:ext>
            </a:extLst>
          </p:cNvPr>
          <p:cNvSpPr txBox="1"/>
          <p:nvPr/>
        </p:nvSpPr>
        <p:spPr>
          <a:xfrm>
            <a:off x="321519" y="1335419"/>
            <a:ext cx="8037289" cy="35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7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Motivation: </a:t>
            </a:r>
            <a:r>
              <a:rPr lang="en-US" altLang="zh-CN" sz="1700" b="1" u="sng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Can constructions help models with grammatical correction?</a:t>
            </a:r>
            <a:endParaRPr lang="zh-CN" altLang="en-US" sz="1700" u="sng" dirty="0">
              <a:effectLst/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F45475-EB90-5404-E79E-FB397B8B9813}"/>
              </a:ext>
            </a:extLst>
          </p:cNvPr>
          <p:cNvSpPr txBox="1"/>
          <p:nvPr/>
        </p:nvSpPr>
        <p:spPr>
          <a:xfrm>
            <a:off x="383665" y="1784987"/>
            <a:ext cx="11202850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 </a:t>
            </a:r>
            <a:r>
              <a:rPr lang="en-US" altLang="zh-CN" sz="17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The knowledge view of constructions - Constructions store knowledge of language use, and grammatical errors are manifestations of insufficient language knowledge.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7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Using constructions that store knowledge of language use can help guide grammatical error correction with language knowledge</a:t>
            </a:r>
            <a:r>
              <a:rPr lang="zh-CN" altLang="en-US" sz="17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7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via exploiting CxG.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CED3D0-CFF2-22A1-800E-6B476720FFE6}"/>
              </a:ext>
            </a:extLst>
          </p:cNvPr>
          <p:cNvSpPr txBox="1"/>
          <p:nvPr/>
        </p:nvSpPr>
        <p:spPr>
          <a:xfrm>
            <a:off x="321518" y="3717365"/>
            <a:ext cx="11264997" cy="647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7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Hypothesis: </a:t>
            </a:r>
            <a:r>
              <a:rPr lang="en-US" altLang="zh-CN" sz="1700" b="1" u="sng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Grammatical errors that occur within or at the boundaries of constructions hold the most value for error correction cues in language models.</a:t>
            </a:r>
            <a:endParaRPr lang="zh-CN" altLang="en-US" sz="1700" u="sng" dirty="0">
              <a:effectLst/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BA6614-6FD7-6392-9D8B-207CCC80A8F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04F7783-2417-9C9A-B31F-80A2ACB7B0D9}"/>
              </a:ext>
            </a:extLst>
          </p:cNvPr>
          <p:cNvSpPr txBox="1"/>
          <p:nvPr/>
        </p:nvSpPr>
        <p:spPr>
          <a:xfrm>
            <a:off x="321517" y="4660424"/>
            <a:ext cx="11264997" cy="647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7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Key</a:t>
            </a:r>
            <a:r>
              <a:rPr lang="zh-CN" altLang="en-US" sz="17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7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Observation: </a:t>
            </a:r>
            <a:r>
              <a:rPr lang="en-US" altLang="zh-CN" sz="1700" b="1" u="sng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Even with slight perturbations in the text structure, language models can still accurately predict the correct constructions.</a:t>
            </a:r>
            <a:endParaRPr lang="zh-CN" altLang="en-US" sz="1700" u="sng" dirty="0">
              <a:effectLst/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3B28EB-63BE-4B47-1395-4378CD3CE227}"/>
              </a:ext>
            </a:extLst>
          </p:cNvPr>
          <p:cNvSpPr/>
          <p:nvPr/>
        </p:nvSpPr>
        <p:spPr>
          <a:xfrm>
            <a:off x="321521" y="432134"/>
            <a:ext cx="8261902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115744-0EDA-3578-1115-AE87687D0C57}"/>
              </a:ext>
            </a:extLst>
          </p:cNvPr>
          <p:cNvSpPr txBox="1"/>
          <p:nvPr/>
        </p:nvSpPr>
        <p:spPr>
          <a:xfrm>
            <a:off x="321520" y="477816"/>
            <a:ext cx="8653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Application: Grammatical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Error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Correction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6922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14BB5ED-3071-AC54-BE35-8F7CBAA9C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54" y="1735129"/>
            <a:ext cx="5783025" cy="43354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901E38-7F1B-C949-CC42-09E714DE3A6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001" y="115079"/>
            <a:ext cx="1518275" cy="4043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9772406-1BD6-72EE-AD83-D05AA6CD3FAF}"/>
              </a:ext>
            </a:extLst>
          </p:cNvPr>
          <p:cNvSpPr txBox="1"/>
          <p:nvPr/>
        </p:nvSpPr>
        <p:spPr>
          <a:xfrm>
            <a:off x="321521" y="1939480"/>
            <a:ext cx="5774480" cy="8827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 b="1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Erroneous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Sentence: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/>
              <a:t>恰逢中国传统元宵佳节，在印度滞留</a:t>
            </a:r>
            <a:r>
              <a:rPr lang="zh-CN" altLang="en-US" b="0" dirty="0">
                <a:solidFill>
                  <a:srgbClr val="C00000"/>
                </a:solidFill>
              </a:rPr>
              <a:t>将近</a:t>
            </a:r>
            <a:r>
              <a:rPr lang="en-US" altLang="zh-CN" b="0" dirty="0">
                <a:solidFill>
                  <a:srgbClr val="C00000"/>
                </a:solidFill>
              </a:rPr>
              <a:t>50</a:t>
            </a:r>
            <a:r>
              <a:rPr lang="zh-CN" altLang="en-US" b="0" dirty="0">
                <a:solidFill>
                  <a:srgbClr val="C00000"/>
                </a:solidFill>
              </a:rPr>
              <a:t>余载</a:t>
            </a:r>
            <a:r>
              <a:rPr lang="zh-CN" altLang="en-US" b="0" dirty="0"/>
              <a:t>、年近八旬的王琪老人终于在这一天如愿返回祖国。从新德里到北京，再从北京到咸阳，路漫漫，情深深。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02BFF0-A59D-CEBF-162D-099C17BB24C6}"/>
              </a:ext>
            </a:extLst>
          </p:cNvPr>
          <p:cNvSpPr txBox="1"/>
          <p:nvPr/>
        </p:nvSpPr>
        <p:spPr>
          <a:xfrm>
            <a:off x="321521" y="2991382"/>
            <a:ext cx="5765933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 b="1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Predicted: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/>
              <a:t>恰逢中国传统元宵佳节，在</a:t>
            </a:r>
            <a:r>
              <a:rPr lang="en-US" altLang="zh-CN" b="0" dirty="0">
                <a:solidFill>
                  <a:srgbClr val="C00000"/>
                </a:solidFill>
              </a:rPr>
              <a:t>&lt;ns&gt;--&lt;v&gt;</a:t>
            </a:r>
            <a:r>
              <a:rPr lang="zh-CN" altLang="en-US" b="0" dirty="0">
                <a:solidFill>
                  <a:srgbClr val="C00000"/>
                </a:solidFill>
              </a:rPr>
              <a:t>将</a:t>
            </a:r>
            <a:r>
              <a:rPr lang="en-US" altLang="zh-CN" b="0" dirty="0">
                <a:solidFill>
                  <a:srgbClr val="C00000"/>
                </a:solidFill>
              </a:rPr>
              <a:t>--</a:t>
            </a:r>
            <a:r>
              <a:rPr lang="zh-CN" altLang="en-US" b="0" dirty="0">
                <a:solidFill>
                  <a:srgbClr val="C00000"/>
                </a:solidFill>
              </a:rPr>
              <a:t>近</a:t>
            </a:r>
            <a:r>
              <a:rPr lang="en-US" altLang="zh-CN" b="0" dirty="0">
                <a:solidFill>
                  <a:srgbClr val="C00000"/>
                </a:solidFill>
              </a:rPr>
              <a:t>--&lt;m&gt;--&lt;m&gt;</a:t>
            </a:r>
            <a:r>
              <a:rPr lang="zh-CN" altLang="en-US" b="0" dirty="0"/>
              <a:t>、年近</a:t>
            </a:r>
            <a:r>
              <a:rPr lang="en-US" altLang="zh-CN" b="0" dirty="0"/>
              <a:t>&lt;t&gt;--&lt;</a:t>
            </a:r>
            <a:r>
              <a:rPr lang="en-US" altLang="zh-CN" b="0" dirty="0" err="1"/>
              <a:t>uj</a:t>
            </a:r>
            <a:r>
              <a:rPr lang="en-US" altLang="zh-CN" b="0" dirty="0"/>
              <a:t>&gt;--&lt;nr&gt;--&lt;n&gt;</a:t>
            </a:r>
            <a:r>
              <a:rPr lang="zh-CN" altLang="en-US" b="0" dirty="0"/>
              <a:t>终于在</a:t>
            </a:r>
            <a:r>
              <a:rPr lang="en-US" altLang="zh-CN" b="0" dirty="0"/>
              <a:t>&lt;r&gt;--&lt;m&gt;</a:t>
            </a:r>
            <a:r>
              <a:rPr lang="zh-CN" altLang="en-US" b="0" dirty="0"/>
              <a:t>如愿返回祖国。从新德里到北京，再从北</a:t>
            </a:r>
            <a:r>
              <a:rPr lang="en-US" altLang="zh-CN" b="0" dirty="0"/>
              <a:t>--</a:t>
            </a:r>
            <a:r>
              <a:rPr lang="zh-CN" altLang="en-US" b="0" dirty="0"/>
              <a:t>京</a:t>
            </a:r>
            <a:r>
              <a:rPr lang="en-US" altLang="zh-CN" b="0" dirty="0"/>
              <a:t>--&lt;v&gt;</a:t>
            </a:r>
            <a:r>
              <a:rPr lang="zh-CN" altLang="en-US" b="0" dirty="0"/>
              <a:t>咸阳，路漫漫，情深深。 </a:t>
            </a:r>
          </a:p>
          <a:p>
            <a:endParaRPr lang="zh-CN" altLang="en-US" b="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B3177DC-76AD-5806-D5A7-4A9CB28C62A3}"/>
              </a:ext>
            </a:extLst>
          </p:cNvPr>
          <p:cNvCxnSpPr>
            <a:cxnSpLocks/>
          </p:cNvCxnSpPr>
          <p:nvPr/>
        </p:nvCxnSpPr>
        <p:spPr>
          <a:xfrm>
            <a:off x="426027" y="2912942"/>
            <a:ext cx="55279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2DA5AF1A-AA37-3A1D-FD4D-23938578BA04}"/>
              </a:ext>
            </a:extLst>
          </p:cNvPr>
          <p:cNvCxnSpPr>
            <a:cxnSpLocks/>
          </p:cNvCxnSpPr>
          <p:nvPr/>
        </p:nvCxnSpPr>
        <p:spPr>
          <a:xfrm>
            <a:off x="426027" y="3958960"/>
            <a:ext cx="55279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F39FD23-9918-33BA-24CB-A40C9D1E979F}"/>
              </a:ext>
            </a:extLst>
          </p:cNvPr>
          <p:cNvSpPr txBox="1"/>
          <p:nvPr/>
        </p:nvSpPr>
        <p:spPr>
          <a:xfrm>
            <a:off x="330067" y="4028876"/>
            <a:ext cx="5765933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 b="1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Output: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ffectLst/>
                <a:latin typeface="Helvetica" pitchFamily="2" charset="0"/>
              </a:rPr>
              <a:t>恰逢中国传统元宵佳节，在印度滞留将近</a:t>
            </a:r>
            <a:r>
              <a:rPr lang="en-US" altLang="zh-CN" b="0" dirty="0">
                <a:effectLst/>
                <a:latin typeface="Times New Roman" panose="02020603050405020304" pitchFamily="18" charset="0"/>
              </a:rPr>
              <a:t>50</a:t>
            </a:r>
            <a:r>
              <a:rPr lang="zh-CN" altLang="en-US" b="0" dirty="0">
                <a:effectLst/>
                <a:latin typeface="Helvetica" pitchFamily="2" charset="0"/>
              </a:rPr>
              <a:t>载、年近八旬的王琪老人终于在这一天如愿返回祖国。从新德里到北京，再从北京到咸阳，路漫漫，情深深。 </a:t>
            </a:r>
          </a:p>
          <a:p>
            <a:endParaRPr lang="zh-CN" altLang="en-US" b="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5F8CA201-8B4B-BC59-75FE-A3F9737F0646}"/>
              </a:ext>
            </a:extLst>
          </p:cNvPr>
          <p:cNvCxnSpPr>
            <a:cxnSpLocks/>
          </p:cNvCxnSpPr>
          <p:nvPr/>
        </p:nvCxnSpPr>
        <p:spPr>
          <a:xfrm>
            <a:off x="426027" y="4963064"/>
            <a:ext cx="55279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2EB90F4-499A-EF8D-223C-C2B8A97CA8AF}"/>
              </a:ext>
            </a:extLst>
          </p:cNvPr>
          <p:cNvSpPr txBox="1"/>
          <p:nvPr/>
        </p:nvSpPr>
        <p:spPr>
          <a:xfrm>
            <a:off x="317248" y="4999998"/>
            <a:ext cx="5765933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 b="1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GPT-4:</a:t>
            </a:r>
            <a:r>
              <a:rPr lang="zh-CN" altLang="en-US" sz="1600" b="1" dirty="0">
                <a:effectLst/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effectLst/>
                <a:latin typeface="Helvetica" pitchFamily="2" charset="0"/>
              </a:rPr>
              <a:t>恰逢中国传统元宵佳节，在印度滞留将近</a:t>
            </a:r>
            <a:r>
              <a:rPr lang="en-US" altLang="zh-CN" b="0" dirty="0">
                <a:effectLst/>
                <a:latin typeface="Times New Roman" panose="02020603050405020304" pitchFamily="18" charset="0"/>
              </a:rPr>
              <a:t>50</a:t>
            </a:r>
            <a:r>
              <a:rPr lang="zh-CN" altLang="en-US" b="0" dirty="0">
                <a:solidFill>
                  <a:srgbClr val="C00000"/>
                </a:solidFill>
                <a:effectLst/>
                <a:latin typeface="Helvetica" pitchFamily="2" charset="0"/>
              </a:rPr>
              <a:t>年</a:t>
            </a:r>
            <a:r>
              <a:rPr lang="zh-CN" altLang="en-US" b="0" dirty="0">
                <a:effectLst/>
                <a:latin typeface="Helvetica" pitchFamily="2" charset="0"/>
              </a:rPr>
              <a:t>、年近八旬的王琪老人终于在这一天如愿返回祖国。从新德里到北京，再从北京到咸阳，路漫漫，情深深。 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7C0DFF-346D-B03F-1E87-758EEB0870A4}"/>
              </a:ext>
            </a:extLst>
          </p:cNvPr>
          <p:cNvSpPr txBox="1"/>
          <p:nvPr/>
        </p:nvSpPr>
        <p:spPr>
          <a:xfrm>
            <a:off x="321521" y="1279840"/>
            <a:ext cx="3893128" cy="57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Arial Rounded MT Bold" panose="020F0704030504030204" pitchFamily="34" charset="0"/>
              </a:rPr>
              <a:t>Experimental Results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42D899-F5B4-7C30-C200-4E4EB1FBD48D}"/>
              </a:ext>
            </a:extLst>
          </p:cNvPr>
          <p:cNvSpPr/>
          <p:nvPr/>
        </p:nvSpPr>
        <p:spPr>
          <a:xfrm>
            <a:off x="321521" y="432134"/>
            <a:ext cx="8261902" cy="69246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A594B4-D672-290C-EE8A-74A3DD3B4AAD}"/>
              </a:ext>
            </a:extLst>
          </p:cNvPr>
          <p:cNvSpPr txBox="1"/>
          <p:nvPr/>
        </p:nvSpPr>
        <p:spPr>
          <a:xfrm>
            <a:off x="321520" y="477816"/>
            <a:ext cx="8653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Application: Grammatical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Error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Correction</a:t>
            </a:r>
            <a:r>
              <a:rPr lang="zh-CN" altLang="en-US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079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1464</Words>
  <Application>Microsoft Macintosh PowerPoint</Application>
  <PresentationFormat>宽屏</PresentationFormat>
  <Paragraphs>152</Paragraphs>
  <Slides>19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-apple-system</vt:lpstr>
      <vt:lpstr>等线</vt:lpstr>
      <vt:lpstr>等线 Light</vt:lpstr>
      <vt:lpstr>FangSong</vt:lpstr>
      <vt:lpstr>NimbusRomNo9L</vt:lpstr>
      <vt:lpstr>Apple Braille</vt:lpstr>
      <vt:lpstr>Arial</vt:lpstr>
      <vt:lpstr>Arial Rounded MT Bold</vt:lpstr>
      <vt:lpstr>Helvetica</vt:lpstr>
      <vt:lpstr>Nirmala UI</vt:lpstr>
      <vt:lpstr>Nirmala UI Semilight</vt:lpstr>
      <vt:lpstr>Noto Sans</vt:lpstr>
      <vt:lpstr>Segoe UI Semibold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LXW X</dc:creator>
  <cp:lastModifiedBy>LXW X</cp:lastModifiedBy>
  <cp:revision>15</cp:revision>
  <dcterms:created xsi:type="dcterms:W3CDTF">2024-12-24T16:29:32Z</dcterms:created>
  <dcterms:modified xsi:type="dcterms:W3CDTF">2024-12-25T06:12:31Z</dcterms:modified>
</cp:coreProperties>
</file>