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7" r:id="rId2"/>
    <p:sldId id="2129" r:id="rId3"/>
    <p:sldId id="2131" r:id="rId4"/>
    <p:sldId id="2130" r:id="rId5"/>
    <p:sldId id="2142" r:id="rId6"/>
    <p:sldId id="1981" r:id="rId7"/>
    <p:sldId id="2132" r:id="rId8"/>
    <p:sldId id="2127" r:id="rId9"/>
    <p:sldId id="2133" r:id="rId10"/>
    <p:sldId id="2134" r:id="rId11"/>
    <p:sldId id="2141" r:id="rId12"/>
    <p:sldId id="2128" r:id="rId13"/>
    <p:sldId id="2135" r:id="rId14"/>
    <p:sldId id="2137" r:id="rId15"/>
    <p:sldId id="2136" r:id="rId16"/>
    <p:sldId id="2138" r:id="rId17"/>
    <p:sldId id="2139" r:id="rId18"/>
    <p:sldId id="2140" r:id="rId19"/>
  </p:sldIdLst>
  <p:sldSz cx="12192000" cy="6858000"/>
  <p:notesSz cx="6858000" cy="9144000"/>
  <p:embeddedFontLst>
    <p:embeddedFont>
      <p:font typeface="Book Antiqua" panose="02040602050305030304" pitchFamily="18" charset="0"/>
      <p:regular r:id="rId22"/>
      <p:bold r:id="rId23"/>
      <p:italic r:id="rId24"/>
      <p:boldItalic r:id="rId25"/>
    </p:embeddedFont>
    <p:embeddedFont>
      <p:font typeface="Montserrat" pitchFamily="2" charset="0"/>
      <p:regular r:id="rId26"/>
      <p:bold r:id="rId27"/>
      <p:italic r:id="rId28"/>
      <p:boldItalic r:id="rId29"/>
    </p:embeddedFont>
  </p:embeddedFontLst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5C3EF26-24B7-4CB6-ACC5-A9CC96F73EED}">
          <p14:sldIdLst>
            <p14:sldId id="267"/>
            <p14:sldId id="2129"/>
            <p14:sldId id="2131"/>
            <p14:sldId id="2130"/>
            <p14:sldId id="2142"/>
            <p14:sldId id="1981"/>
            <p14:sldId id="2132"/>
            <p14:sldId id="2127"/>
            <p14:sldId id="2133"/>
            <p14:sldId id="2134"/>
            <p14:sldId id="2141"/>
            <p14:sldId id="2128"/>
            <p14:sldId id="2135"/>
            <p14:sldId id="2137"/>
            <p14:sldId id="2136"/>
            <p14:sldId id="2138"/>
            <p14:sldId id="2139"/>
            <p14:sldId id="21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F89"/>
    <a:srgbClr val="1D41D5"/>
    <a:srgbClr val="EAB75B"/>
    <a:srgbClr val="F5F9FD"/>
    <a:srgbClr val="02295A"/>
    <a:srgbClr val="F3F8FD"/>
    <a:srgbClr val="0E5765"/>
    <a:srgbClr val="E2D8A6"/>
    <a:srgbClr val="200D0B"/>
    <a:srgbClr val="FADB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5" autoAdjust="0"/>
    <p:restoredTop sz="75334" autoAdjust="0"/>
  </p:normalViewPr>
  <p:slideViewPr>
    <p:cSldViewPr snapToGrid="0">
      <p:cViewPr varScale="1">
        <p:scale>
          <a:sx n="86" d="100"/>
          <a:sy n="86" d="100"/>
        </p:scale>
        <p:origin x="1312" y="19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ontserrat" panose="00000500000000000000" charset="0"/>
              <a:ea typeface="Montserrat" panose="000005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ontserrat" panose="00000500000000000000" charset="0"/>
              </a:rPr>
              <a:t>2024/12/25</a:t>
            </a:fld>
            <a:endParaRPr lang="zh-CN" altLang="en-US">
              <a:latin typeface="Montserrat" panose="000005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ontserrat" panose="00000500000000000000" charset="0"/>
              <a:ea typeface="Montserrat" panose="000005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ontserrat" panose="00000500000000000000" charset="0"/>
              </a:rPr>
              <a:t>‹#›</a:t>
            </a:fld>
            <a:endParaRPr lang="zh-CN" altLang="en-US">
              <a:latin typeface="Montserrat" panose="000005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charset="0"/>
                <a:ea typeface="Montserrat" panose="000005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charset="0"/>
                <a:ea typeface="Montserrat" panose="00000500000000000000" charset="0"/>
              </a:defRPr>
            </a:lvl1pPr>
          </a:lstStyle>
          <a:p>
            <a:fld id="{F8A95E2A-C710-466A-9B48-08E4C2A5508D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charset="0"/>
                <a:ea typeface="Montserrat" panose="000005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charset="0"/>
                <a:ea typeface="Montserrat" panose="00000500000000000000" charset="0"/>
              </a:defRPr>
            </a:lvl1pPr>
          </a:lstStyle>
          <a:p>
            <a:fld id="{FAA5A6A2-9EC0-46F1-A9B6-4CAAB78D3F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charset="0"/>
        <a:ea typeface="Montserrat" panose="00000500000000000000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charset="0"/>
        <a:ea typeface="Montserrat" panose="00000500000000000000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charset="0"/>
        <a:ea typeface="Montserrat" panose="00000500000000000000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charset="0"/>
        <a:ea typeface="Montserrat" panose="00000500000000000000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charset="0"/>
        <a:ea typeface="Montserrat" panose="00000500000000000000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371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369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664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1549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587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52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041DB125-FA23-1EC0-844F-37EF104A2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6131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7366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074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88D2019A-9BE3-1452-6CE5-0746805DD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8939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2584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0629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764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818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404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003F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rgbClr val="003F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\</a:t>
            </a:r>
            <a:fld id="{611348A5-A3CD-40E9-9B60-3C042C79CEF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-43543" y="5139528"/>
            <a:ext cx="12460506" cy="1955678"/>
            <a:chOff x="0" y="5107371"/>
            <a:chExt cx="12434293" cy="195818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DA8276"/>
                </a:clrFrom>
                <a:clrTo>
                  <a:srgbClr val="DA8276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63059" y="5275943"/>
              <a:ext cx="2771234" cy="1582057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7E5C1"/>
                </a:clrFrom>
                <a:clrTo>
                  <a:srgbClr val="F7E5C1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107371"/>
              <a:ext cx="3570418" cy="1774075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E6E8E9"/>
                </a:clrFrom>
                <a:clrTo>
                  <a:srgbClr val="E6E8E9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374" y="6014537"/>
              <a:ext cx="2801522" cy="86690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C9DD76"/>
                </a:clrFrom>
                <a:clrTo>
                  <a:srgbClr val="C9DD76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219" y="5487733"/>
              <a:ext cx="851371" cy="139380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6" cstate="print">
              <a:clrChange>
                <a:clrFrom>
                  <a:srgbClr val="E2DFEE"/>
                </a:clrFrom>
                <a:clrTo>
                  <a:srgbClr val="E2DFEE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545" y="5857803"/>
              <a:ext cx="3301589" cy="102364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7" cstate="print">
              <a:clrChange>
                <a:clrFrom>
                  <a:srgbClr val="CA9191"/>
                </a:clrFrom>
                <a:clrTo>
                  <a:srgbClr val="CA9191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5810" y="5563058"/>
              <a:ext cx="2313046" cy="140857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8" cstate="print">
              <a:clrChange>
                <a:clrFrom>
                  <a:srgbClr val="D0E7D6"/>
                </a:clrFrom>
                <a:clrTo>
                  <a:srgbClr val="D0E7D6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5006" y="5382047"/>
              <a:ext cx="1524257" cy="1683508"/>
            </a:xfrm>
            <a:prstGeom prst="rect">
              <a:avLst/>
            </a:prstGeom>
          </p:spPr>
        </p:pic>
      </p:grpSp>
      <p:sp>
        <p:nvSpPr>
          <p:cNvPr id="14" name="矩形 13"/>
          <p:cNvSpPr/>
          <p:nvPr userDrawn="1"/>
        </p:nvSpPr>
        <p:spPr>
          <a:xfrm>
            <a:off x="0" y="-22414"/>
            <a:ext cx="12192000" cy="6464417"/>
          </a:xfrm>
          <a:prstGeom prst="rect">
            <a:avLst/>
          </a:prstGeom>
          <a:solidFill>
            <a:schemeClr val="bg1">
              <a:alpha val="96434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216" y="123881"/>
            <a:ext cx="1924418" cy="534560"/>
          </a:xfrm>
          <a:prstGeom prst="rect">
            <a:avLst/>
          </a:prstGeom>
        </p:spPr>
      </p:pic>
      <p:cxnSp>
        <p:nvCxnSpPr>
          <p:cNvPr id="16" name="直线连接符 9"/>
          <p:cNvCxnSpPr/>
          <p:nvPr userDrawn="1"/>
        </p:nvCxnSpPr>
        <p:spPr>
          <a:xfrm>
            <a:off x="0" y="763045"/>
            <a:ext cx="12192000" cy="0"/>
          </a:xfrm>
          <a:prstGeom prst="line">
            <a:avLst/>
          </a:prstGeom>
          <a:ln w="19050">
            <a:solidFill>
              <a:srgbClr val="00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形状 17"/>
          <p:cNvSpPr/>
          <p:nvPr userDrawn="1"/>
        </p:nvSpPr>
        <p:spPr>
          <a:xfrm>
            <a:off x="0" y="-435"/>
            <a:ext cx="614855" cy="756353"/>
          </a:xfrm>
          <a:custGeom>
            <a:avLst/>
            <a:gdLst>
              <a:gd name="connsiteX0" fmla="*/ 0 w 1749972"/>
              <a:gd name="connsiteY0" fmla="*/ 0 h 819807"/>
              <a:gd name="connsiteX1" fmla="*/ 0 w 1749972"/>
              <a:gd name="connsiteY1" fmla="*/ 819807 h 819807"/>
              <a:gd name="connsiteX2" fmla="*/ 1308537 w 1749972"/>
              <a:gd name="connsiteY2" fmla="*/ 819807 h 819807"/>
              <a:gd name="connsiteX3" fmla="*/ 1749972 w 1749972"/>
              <a:gd name="connsiteY3" fmla="*/ 0 h 819807"/>
              <a:gd name="connsiteX4" fmla="*/ 0 w 1749972"/>
              <a:gd name="connsiteY4" fmla="*/ 0 h 819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9972" h="819807">
                <a:moveTo>
                  <a:pt x="0" y="0"/>
                </a:moveTo>
                <a:lnTo>
                  <a:pt x="0" y="819807"/>
                </a:lnTo>
                <a:lnTo>
                  <a:pt x="1308537" y="819807"/>
                </a:lnTo>
                <a:lnTo>
                  <a:pt x="174997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3F89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\</a:t>
            </a:r>
            <a:fld id="{611348A5-A3CD-40E9-9B60-3C042C79CEF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-43543" y="5139528"/>
            <a:ext cx="12460506" cy="1955678"/>
            <a:chOff x="0" y="5107371"/>
            <a:chExt cx="12434293" cy="195818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DA8276"/>
                </a:clrFrom>
                <a:clrTo>
                  <a:srgbClr val="DA8276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63059" y="5275943"/>
              <a:ext cx="2771234" cy="1582057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7E5C1"/>
                </a:clrFrom>
                <a:clrTo>
                  <a:srgbClr val="F7E5C1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107371"/>
              <a:ext cx="3570418" cy="1774075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E6E8E9"/>
                </a:clrFrom>
                <a:clrTo>
                  <a:srgbClr val="E6E8E9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374" y="6014537"/>
              <a:ext cx="2801522" cy="86690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C9DD76"/>
                </a:clrFrom>
                <a:clrTo>
                  <a:srgbClr val="C9DD76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219" y="5487733"/>
              <a:ext cx="851371" cy="139380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6" cstate="print">
              <a:clrChange>
                <a:clrFrom>
                  <a:srgbClr val="E2DFEE"/>
                </a:clrFrom>
                <a:clrTo>
                  <a:srgbClr val="E2DFEE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545" y="5857803"/>
              <a:ext cx="3301589" cy="102364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7" cstate="print">
              <a:clrChange>
                <a:clrFrom>
                  <a:srgbClr val="CA9191"/>
                </a:clrFrom>
                <a:clrTo>
                  <a:srgbClr val="CA9191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5810" y="5563058"/>
              <a:ext cx="2313046" cy="140857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8" cstate="print">
              <a:clrChange>
                <a:clrFrom>
                  <a:srgbClr val="D0E7D6"/>
                </a:clrFrom>
                <a:clrTo>
                  <a:srgbClr val="D0E7D6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5006" y="5382047"/>
              <a:ext cx="1524257" cy="1683508"/>
            </a:xfrm>
            <a:prstGeom prst="rect">
              <a:avLst/>
            </a:prstGeom>
          </p:spPr>
        </p:pic>
      </p:grpSp>
      <p:sp>
        <p:nvSpPr>
          <p:cNvPr id="14" name="矩形 13"/>
          <p:cNvSpPr/>
          <p:nvPr userDrawn="1"/>
        </p:nvSpPr>
        <p:spPr>
          <a:xfrm>
            <a:off x="0" y="-22414"/>
            <a:ext cx="12192000" cy="6464417"/>
          </a:xfrm>
          <a:prstGeom prst="rect">
            <a:avLst/>
          </a:prstGeom>
          <a:solidFill>
            <a:schemeClr val="bg1">
              <a:alpha val="96434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\</a:t>
            </a:r>
            <a:fld id="{611348A5-A3CD-40E9-9B60-3C042C79CEF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C79FE-DCC0-4620-A566-16CA7A0CE41F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A922F-1294-4387-9CB3-FCC8465D97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39" y="250039"/>
            <a:ext cx="2420783" cy="67243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>
            <a:alphaModFix amt="7000"/>
          </a:blip>
          <a:srcRect b="11239"/>
          <a:stretch>
            <a:fillRect/>
          </a:stretch>
        </p:blipFill>
        <p:spPr>
          <a:xfrm>
            <a:off x="5729095" y="1083009"/>
            <a:ext cx="6506172" cy="5774991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3239952" y="1648666"/>
            <a:ext cx="8952048" cy="5209334"/>
            <a:chOff x="2607062" y="1571392"/>
            <a:chExt cx="8952048" cy="5209334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04" t="8388" b="7978"/>
            <a:stretch>
              <a:fillRect/>
            </a:stretch>
          </p:blipFill>
          <p:spPr>
            <a:xfrm flipH="1">
              <a:off x="2607062" y="1574800"/>
              <a:ext cx="8952048" cy="5205926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11062447" y="1571392"/>
              <a:ext cx="496663" cy="110984"/>
            </a:xfrm>
            <a:prstGeom prst="rect">
              <a:avLst/>
            </a:prstGeom>
            <a:solidFill>
              <a:srgbClr val="F3F8FD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0996706" y="1682376"/>
              <a:ext cx="562404" cy="45719"/>
            </a:xfrm>
            <a:prstGeom prst="rect">
              <a:avLst/>
            </a:prstGeom>
            <a:solidFill>
              <a:srgbClr val="F3F8FD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75113" y="1794600"/>
            <a:ext cx="80492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Are Linguists Excluded from Computational World? ‘Another Perspective’ is All You Need.</a:t>
            </a:r>
          </a:p>
        </p:txBody>
      </p:sp>
      <p:sp>
        <p:nvSpPr>
          <p:cNvPr id="21" name="矩形 20"/>
          <p:cNvSpPr/>
          <p:nvPr/>
        </p:nvSpPr>
        <p:spPr>
          <a:xfrm>
            <a:off x="543939" y="3872105"/>
            <a:ext cx="7160208" cy="61555"/>
          </a:xfrm>
          <a:prstGeom prst="rect">
            <a:avLst/>
          </a:prstGeom>
          <a:gradFill>
            <a:gsLst>
              <a:gs pos="50000">
                <a:srgbClr val="809FC4">
                  <a:alpha val="50813"/>
                </a:srgbClr>
              </a:gs>
              <a:gs pos="0">
                <a:srgbClr val="003F89"/>
              </a:gs>
              <a:gs pos="99000">
                <a:schemeClr val="bg1">
                  <a:alpha val="33000"/>
                </a:schemeClr>
              </a:gs>
            </a:gsLst>
            <a:lin ang="0" scaled="1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9875" y="4128660"/>
            <a:ext cx="80492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分享人：刘艺萌（梁君英教授 团队）</a:t>
            </a:r>
            <a:endParaRPr lang="en-US" altLang="zh-CN" sz="28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  <a:p>
            <a:endParaRPr lang="en-US" altLang="zh-CN" sz="2800" dirty="0">
              <a:solidFill>
                <a:srgbClr val="003F89"/>
              </a:solidFill>
              <a:cs typeface="+mn-ea"/>
              <a:sym typeface="+mn-lt"/>
            </a:endParaRPr>
          </a:p>
          <a:p>
            <a:r>
              <a:rPr lang="zh-CN" altLang="en-US" sz="2800" dirty="0">
                <a:solidFill>
                  <a:srgbClr val="003F89"/>
                </a:solidFill>
                <a:cs typeface="+mn-ea"/>
                <a:sym typeface="+mn-lt"/>
              </a:rPr>
              <a:t>        </a:t>
            </a:r>
            <a:r>
              <a:rPr lang="en-US" altLang="zh-CN" sz="2800" dirty="0">
                <a:solidFill>
                  <a:srgbClr val="003F89"/>
                </a:solidFill>
                <a:cs typeface="+mn-ea"/>
                <a:sym typeface="+mn-lt"/>
              </a:rPr>
              <a:t>2024.12.25</a:t>
            </a:r>
            <a:endParaRPr lang="en-US" altLang="zh-CN" sz="2800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302A74-D0E4-971D-03A3-0CB4A85DD3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53" y="4679454"/>
            <a:ext cx="671078" cy="720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Linguists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and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Computers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D8B25FC-2BB1-5738-8C2D-74A71B3F1600}"/>
              </a:ext>
            </a:extLst>
          </p:cNvPr>
          <p:cNvSpPr txBox="1"/>
          <p:nvPr/>
        </p:nvSpPr>
        <p:spPr>
          <a:xfrm>
            <a:off x="678890" y="4686235"/>
            <a:ext cx="52965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语言学家</a:t>
            </a:r>
            <a:r>
              <a:rPr lang="zh-CN" altLang="en-US" dirty="0"/>
              <a:t>：语言学家关注语言的结构和规则，尤其是在形式语言学（例如，生成语法）中，他们通常</a:t>
            </a:r>
            <a:r>
              <a:rPr lang="zh-CN" altLang="en-US" b="1" dirty="0">
                <a:solidFill>
                  <a:srgbClr val="C00000"/>
                </a:solidFill>
              </a:rPr>
              <a:t>从语言的深层结构和抽象层面来研究语言</a:t>
            </a:r>
            <a:r>
              <a:rPr lang="zh-CN" altLang="en-US" dirty="0"/>
              <a:t>，倾向于从哲学和语言学的角度讨论语言的语法、语义和语言习得等问题。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00E496-6C0D-AFE6-2A86-A2388EF370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348" y="1208084"/>
            <a:ext cx="3251200" cy="3175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3C6D3B5-16CE-956E-E492-F5D9EB8425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71406"/>
            <a:ext cx="5296525" cy="315269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D338424-F7EC-8B9C-7503-E4C9281149F6}"/>
              </a:ext>
            </a:extLst>
          </p:cNvPr>
          <p:cNvSpPr txBox="1"/>
          <p:nvPr/>
        </p:nvSpPr>
        <p:spPr>
          <a:xfrm>
            <a:off x="6095999" y="4686235"/>
            <a:ext cx="56562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计算机科学家</a:t>
            </a:r>
            <a:r>
              <a:rPr lang="zh-CN" altLang="en-US" dirty="0"/>
              <a:t>：计算机科学家则更关注如何将这些复杂的</a:t>
            </a:r>
            <a:r>
              <a:rPr lang="zh-CN" altLang="en-US" b="1" dirty="0">
                <a:solidFill>
                  <a:srgbClr val="C00000"/>
                </a:solidFill>
              </a:rPr>
              <a:t>语言规则转化为算法</a:t>
            </a:r>
            <a:r>
              <a:rPr lang="zh-CN" altLang="en-US" dirty="0"/>
              <a:t>，并将其</a:t>
            </a:r>
            <a:r>
              <a:rPr lang="zh-CN" altLang="en-US" b="1" dirty="0">
                <a:solidFill>
                  <a:srgbClr val="C00000"/>
                </a:solidFill>
              </a:rPr>
              <a:t>应用到实际的计算任务中</a:t>
            </a:r>
            <a:r>
              <a:rPr lang="zh-CN" altLang="en-US" dirty="0"/>
              <a:t>。他们更看重实际可操作性和高效性，认为过于复杂的语言学模型可能会拖慢系统的运行速度，影响计算机处理语言的能力。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CC83F9-F663-30F2-08EA-7FC8AF8C0770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</p:spTree>
    <p:extLst>
      <p:ext uri="{BB962C8B-B14F-4D97-AF65-F5344CB8AC3E}">
        <p14:creationId xmlns:p14="http://schemas.microsoft.com/office/powerpoint/2010/main" val="744861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Linguists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and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Computers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D8B25FC-2BB1-5738-8C2D-74A71B3F1600}"/>
              </a:ext>
            </a:extLst>
          </p:cNvPr>
          <p:cNvSpPr txBox="1"/>
          <p:nvPr/>
        </p:nvSpPr>
        <p:spPr>
          <a:xfrm>
            <a:off x="678890" y="4686235"/>
            <a:ext cx="52965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语言学家</a:t>
            </a:r>
            <a:r>
              <a:rPr lang="zh-CN" altLang="en-US" dirty="0"/>
              <a:t>：语言学家关注语言的结构和规则，尤其是在形式语言学（例如，生成语法）中，他们通常</a:t>
            </a:r>
            <a:r>
              <a:rPr lang="zh-CN" altLang="en-US" dirty="0">
                <a:solidFill>
                  <a:srgbClr val="C00000"/>
                </a:solidFill>
              </a:rPr>
              <a:t>从语言的深层结构和抽象层面来研究语言</a:t>
            </a:r>
            <a:r>
              <a:rPr lang="zh-CN" altLang="en-US" dirty="0"/>
              <a:t>，倾向于从哲学和语言学的角度讨论语言的语法、语义和语言习得等问题。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00E496-6C0D-AFE6-2A86-A2388EF370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348" y="1208084"/>
            <a:ext cx="3251200" cy="3175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3C6D3B5-16CE-956E-E492-F5D9EB8425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71406"/>
            <a:ext cx="5296525" cy="315269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D338424-F7EC-8B9C-7503-E4C9281149F6}"/>
              </a:ext>
            </a:extLst>
          </p:cNvPr>
          <p:cNvSpPr txBox="1"/>
          <p:nvPr/>
        </p:nvSpPr>
        <p:spPr>
          <a:xfrm>
            <a:off x="6095999" y="4686235"/>
            <a:ext cx="56562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计算机科学家</a:t>
            </a:r>
            <a:r>
              <a:rPr lang="zh-CN" altLang="en-US" dirty="0"/>
              <a:t>：计算机科学家则更关注如何将这些复杂的</a:t>
            </a:r>
            <a:r>
              <a:rPr lang="zh-CN" altLang="en-US" dirty="0">
                <a:solidFill>
                  <a:srgbClr val="C00000"/>
                </a:solidFill>
              </a:rPr>
              <a:t>语言规则转化为算法</a:t>
            </a:r>
            <a:r>
              <a:rPr lang="zh-CN" altLang="en-US" dirty="0"/>
              <a:t>，并将其应用到实际的计算任务中。他们更看重实际可操作性和高效性，认为过于复杂的语言学模型可能会拖慢系统的运行速度，影响计算机处理语言的能力。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0F9C20-F4B7-E83C-3667-108CEC1364F3}"/>
              </a:ext>
            </a:extLst>
          </p:cNvPr>
          <p:cNvSpPr/>
          <p:nvPr/>
        </p:nvSpPr>
        <p:spPr>
          <a:xfrm>
            <a:off x="1226911" y="2368446"/>
            <a:ext cx="9497007" cy="187377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>
                <a:solidFill>
                  <a:sysClr val="windowText" lastClr="000000"/>
                </a:solidFill>
              </a:rPr>
              <a:t>Abstract</a:t>
            </a:r>
            <a:r>
              <a:rPr kumimoji="1" lang="zh-CN" altLang="en-US" sz="3200" dirty="0">
                <a:solidFill>
                  <a:sysClr val="windowText" lastClr="000000"/>
                </a:solidFill>
              </a:rPr>
              <a:t> </a:t>
            </a:r>
            <a:r>
              <a:rPr kumimoji="1" lang="en-US" altLang="zh-CN" sz="3200" dirty="0">
                <a:solidFill>
                  <a:sysClr val="windowText" lastClr="000000"/>
                </a:solidFill>
              </a:rPr>
              <a:t>to</a:t>
            </a:r>
            <a:r>
              <a:rPr kumimoji="1" lang="zh-CN" altLang="en-US" sz="3200" dirty="0">
                <a:solidFill>
                  <a:sysClr val="windowText" lastClr="000000"/>
                </a:solidFill>
              </a:rPr>
              <a:t> </a:t>
            </a:r>
            <a:r>
              <a:rPr kumimoji="1" lang="en-US" altLang="zh-CN" sz="3200" dirty="0">
                <a:solidFill>
                  <a:sysClr val="windowText" lastClr="000000"/>
                </a:solidFill>
              </a:rPr>
              <a:t>Concrete?</a:t>
            </a:r>
            <a:endParaRPr kumimoji="1" lang="zh-CN" altLang="en-US" sz="3200" dirty="0">
              <a:solidFill>
                <a:sysClr val="windowText" lastClr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D45747-088E-5C1C-2ED1-2302DD35DC3A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</p:spTree>
    <p:extLst>
      <p:ext uri="{BB962C8B-B14F-4D97-AF65-F5344CB8AC3E}">
        <p14:creationId xmlns:p14="http://schemas.microsoft.com/office/powerpoint/2010/main" val="4141216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Linguists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and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Computers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D8B25FC-2BB1-5738-8C2D-74A71B3F1600}"/>
              </a:ext>
            </a:extLst>
          </p:cNvPr>
          <p:cNvSpPr txBox="1"/>
          <p:nvPr/>
        </p:nvSpPr>
        <p:spPr>
          <a:xfrm>
            <a:off x="678890" y="4686235"/>
            <a:ext cx="52965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语言学家</a:t>
            </a:r>
            <a:r>
              <a:rPr lang="zh-CN" altLang="en-US" dirty="0"/>
              <a:t>：语言学家关注语言的结构和规则，尤其是在形式语言学（例如，生成语法）中，他们通常</a:t>
            </a:r>
            <a:r>
              <a:rPr lang="zh-CN" altLang="en-US" dirty="0">
                <a:solidFill>
                  <a:srgbClr val="C00000"/>
                </a:solidFill>
              </a:rPr>
              <a:t>从语言的深层结构和抽象层面来研究语言</a:t>
            </a:r>
            <a:r>
              <a:rPr lang="zh-CN" altLang="en-US" dirty="0"/>
              <a:t>，倾向于从哲学和语言学的角度讨论语言的语法、语义和语言习得等问题。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00E496-6C0D-AFE6-2A86-A2388EF370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348" y="1208084"/>
            <a:ext cx="3251200" cy="3175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3C6D3B5-16CE-956E-E492-F5D9EB8425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71406"/>
            <a:ext cx="5296525" cy="315269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D338424-F7EC-8B9C-7503-E4C9281149F6}"/>
              </a:ext>
            </a:extLst>
          </p:cNvPr>
          <p:cNvSpPr txBox="1"/>
          <p:nvPr/>
        </p:nvSpPr>
        <p:spPr>
          <a:xfrm>
            <a:off x="6095999" y="4686235"/>
            <a:ext cx="56562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计算机科学家</a:t>
            </a:r>
            <a:r>
              <a:rPr lang="zh-CN" altLang="en-US" dirty="0"/>
              <a:t>：计算机科学家则更关注如何将这些复杂的</a:t>
            </a:r>
            <a:r>
              <a:rPr lang="zh-CN" altLang="en-US" dirty="0">
                <a:solidFill>
                  <a:srgbClr val="C00000"/>
                </a:solidFill>
              </a:rPr>
              <a:t>语言规则转化为算法</a:t>
            </a:r>
            <a:r>
              <a:rPr lang="zh-CN" altLang="en-US" dirty="0"/>
              <a:t>，并将其应用到实际的计算任务中。他们更看重实际可操作性和高效性，认为过于复杂的语言学模型可能会拖慢系统的运行速度，影响计算机处理语言的能力。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0F9C20-F4B7-E83C-3667-108CEC1364F3}"/>
              </a:ext>
            </a:extLst>
          </p:cNvPr>
          <p:cNvSpPr/>
          <p:nvPr/>
        </p:nvSpPr>
        <p:spPr>
          <a:xfrm>
            <a:off x="0" y="2572622"/>
            <a:ext cx="12191999" cy="2308485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</a:rPr>
              <a:t>许多计算机科学家认为，语言学家对语言的分析方式太过抽象和复杂，尤其是在自然语言处理中，机器应对的是一种</a:t>
            </a:r>
            <a:r>
              <a:rPr lang="zh-CN" altLang="en-US" sz="3200" b="1" dirty="0">
                <a:solidFill>
                  <a:srgbClr val="FFFF00"/>
                </a:solidFill>
              </a:rPr>
              <a:t>动态的、具有高度模糊性</a:t>
            </a:r>
            <a:r>
              <a:rPr lang="zh-CN" altLang="en-US" sz="3200" b="1" dirty="0">
                <a:solidFill>
                  <a:schemeClr val="bg1"/>
                </a:solidFill>
              </a:rPr>
              <a:t>的语言环境。</a:t>
            </a:r>
            <a:r>
              <a:rPr lang="en-US" altLang="zh-CN" sz="3200" b="1" dirty="0">
                <a:solidFill>
                  <a:schemeClr val="bg1"/>
                </a:solidFill>
              </a:rPr>
              <a:t>(John McCarthy)</a:t>
            </a:r>
            <a:endParaRPr kumimoji="1"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818512-6757-7151-FCEB-8E42693DF908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</p:spTree>
    <p:extLst>
      <p:ext uri="{BB962C8B-B14F-4D97-AF65-F5344CB8AC3E}">
        <p14:creationId xmlns:p14="http://schemas.microsoft.com/office/powerpoint/2010/main" val="916578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Linguists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and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Computers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4818512-6757-7151-FCEB-8E42693DF908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78F677E-341C-0443-CA1D-B732E42161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1220002"/>
            <a:ext cx="7772400" cy="441799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923D47F-5E7C-18E7-AADC-A8BC962E343F}"/>
              </a:ext>
            </a:extLst>
          </p:cNvPr>
          <p:cNvSpPr txBox="1"/>
          <p:nvPr/>
        </p:nvSpPr>
        <p:spPr>
          <a:xfrm>
            <a:off x="8293967" y="1760207"/>
            <a:ext cx="34617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effectLst/>
                <a:highlight>
                  <a:srgbClr val="FFFF00"/>
                </a:highlight>
                <a:cs typeface="+mn-ea"/>
                <a:sym typeface="+mn-lt"/>
              </a:rPr>
              <a:t>Garden</a:t>
            </a:r>
            <a:r>
              <a:rPr lang="zh-CN" altLang="en-US" sz="3200" b="1" dirty="0">
                <a:effectLst/>
                <a:highlight>
                  <a:srgbClr val="FFFF00"/>
                </a:highlight>
                <a:cs typeface="+mn-ea"/>
                <a:sym typeface="+mn-lt"/>
              </a:rPr>
              <a:t> </a:t>
            </a:r>
            <a:r>
              <a:rPr lang="en-US" altLang="zh-CN" sz="3200" b="1" dirty="0">
                <a:effectLst/>
                <a:highlight>
                  <a:srgbClr val="FFFF00"/>
                </a:highlight>
                <a:cs typeface="+mn-ea"/>
                <a:sym typeface="+mn-lt"/>
              </a:rPr>
              <a:t>to</a:t>
            </a:r>
            <a:r>
              <a:rPr lang="zh-CN" altLang="en-US" sz="3200" b="1" dirty="0">
                <a:effectLst/>
                <a:highlight>
                  <a:srgbClr val="FFFF00"/>
                </a:highlight>
                <a:cs typeface="+mn-ea"/>
                <a:sym typeface="+mn-lt"/>
              </a:rPr>
              <a:t> </a:t>
            </a:r>
            <a:r>
              <a:rPr lang="en-US" altLang="zh-CN" sz="3200" b="1" dirty="0">
                <a:effectLst/>
                <a:highlight>
                  <a:srgbClr val="FFFF00"/>
                </a:highlight>
                <a:cs typeface="+mn-ea"/>
                <a:sym typeface="+mn-lt"/>
              </a:rPr>
              <a:t>bush</a:t>
            </a:r>
          </a:p>
          <a:p>
            <a:pPr algn="ctr"/>
            <a:endParaRPr lang="en-US" altLang="zh-CN" sz="3200" b="1" dirty="0">
              <a:effectLst/>
              <a:highlight>
                <a:srgbClr val="FFFF00"/>
              </a:highlight>
              <a:cs typeface="+mn-ea"/>
              <a:sym typeface="+mn-lt"/>
            </a:endParaRPr>
          </a:p>
          <a:p>
            <a:pPr algn="ctr"/>
            <a:r>
              <a:rPr lang="en-US" altLang="zh-CN" sz="3200" b="1" dirty="0">
                <a:highlight>
                  <a:srgbClr val="FFFF00"/>
                </a:highlight>
                <a:cs typeface="+mn-ea"/>
                <a:sym typeface="+mn-lt"/>
              </a:rPr>
              <a:t>Rule</a:t>
            </a:r>
            <a:r>
              <a:rPr lang="zh-CN" altLang="en-US" sz="3200" b="1" dirty="0">
                <a:highlight>
                  <a:srgbClr val="FFFF00"/>
                </a:highlight>
                <a:cs typeface="+mn-ea"/>
                <a:sym typeface="+mn-lt"/>
              </a:rPr>
              <a:t> </a:t>
            </a:r>
            <a:r>
              <a:rPr lang="en-US" altLang="zh-CN" sz="3200" b="1" dirty="0">
                <a:highlight>
                  <a:srgbClr val="FFFF00"/>
                </a:highlight>
                <a:cs typeface="+mn-ea"/>
                <a:sym typeface="+mn-lt"/>
              </a:rPr>
              <a:t>to</a:t>
            </a:r>
            <a:r>
              <a:rPr lang="zh-CN" altLang="en-US" sz="3200" b="1" dirty="0">
                <a:highlight>
                  <a:srgbClr val="FFFF00"/>
                </a:highlight>
                <a:cs typeface="+mn-ea"/>
                <a:sym typeface="+mn-lt"/>
              </a:rPr>
              <a:t> </a:t>
            </a:r>
            <a:r>
              <a:rPr lang="en-US" altLang="zh-CN" sz="3200" b="1" dirty="0">
                <a:highlight>
                  <a:srgbClr val="FFFF00"/>
                </a:highlight>
                <a:cs typeface="+mn-ea"/>
                <a:sym typeface="+mn-lt"/>
              </a:rPr>
              <a:t>Data</a:t>
            </a:r>
            <a:endParaRPr lang="zh-CN" altLang="en-US" sz="3200" b="1" dirty="0">
              <a:effectLst/>
              <a:highlight>
                <a:srgbClr val="FFFF00"/>
              </a:highlight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E07BCE-9288-E21B-861B-1625870CF802}"/>
              </a:ext>
            </a:extLst>
          </p:cNvPr>
          <p:cNvSpPr txBox="1"/>
          <p:nvPr/>
        </p:nvSpPr>
        <p:spPr>
          <a:xfrm>
            <a:off x="8581278" y="4006878"/>
            <a:ext cx="34617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effectLst/>
                <a:cs typeface="+mn-ea"/>
                <a:sym typeface="+mn-lt"/>
              </a:rPr>
              <a:t>水多加面，面多加水？</a:t>
            </a:r>
            <a:endParaRPr lang="en-US" altLang="zh-CN" sz="2800" b="1" dirty="0">
              <a:effectLst/>
              <a:cs typeface="+mn-ea"/>
              <a:sym typeface="+mn-lt"/>
            </a:endParaRPr>
          </a:p>
          <a:p>
            <a:pPr algn="ctr"/>
            <a:r>
              <a:rPr lang="en-US" altLang="zh-CN" sz="2800" b="1" dirty="0">
                <a:cs typeface="+mn-ea"/>
                <a:sym typeface="+mn-lt"/>
              </a:rPr>
              <a:t>Who</a:t>
            </a:r>
            <a:r>
              <a:rPr lang="zh-CN" altLang="en-US" sz="2800" b="1" dirty="0">
                <a:cs typeface="+mn-ea"/>
                <a:sym typeface="+mn-lt"/>
              </a:rPr>
              <a:t> 水，</a:t>
            </a:r>
            <a:r>
              <a:rPr lang="en-US" altLang="zh-CN" sz="2800" b="1" dirty="0">
                <a:cs typeface="+mn-ea"/>
                <a:sym typeface="+mn-lt"/>
              </a:rPr>
              <a:t>Who</a:t>
            </a:r>
            <a:r>
              <a:rPr lang="zh-CN" altLang="en-US" sz="2800" b="1" dirty="0">
                <a:cs typeface="+mn-ea"/>
                <a:sym typeface="+mn-lt"/>
              </a:rPr>
              <a:t> 面？</a:t>
            </a:r>
            <a:endParaRPr lang="en-US" altLang="zh-CN" sz="2800" b="1" dirty="0">
              <a:effectLst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179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Linguists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and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Computers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CA21981-7606-2A3D-3B75-CF48D0F412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05" y="1258100"/>
            <a:ext cx="3728755" cy="466471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2AC6DA5-62F0-4B2B-A09D-5702176BC69A}"/>
              </a:ext>
            </a:extLst>
          </p:cNvPr>
          <p:cNvSpPr txBox="1"/>
          <p:nvPr/>
        </p:nvSpPr>
        <p:spPr>
          <a:xfrm>
            <a:off x="5292538" y="1258100"/>
            <a:ext cx="62034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i="0" dirty="0">
                <a:solidFill>
                  <a:srgbClr val="202122"/>
                </a:solidFill>
                <a:effectLst/>
              </a:rPr>
              <a:t>“</a:t>
            </a:r>
            <a:r>
              <a:rPr lang="en-US" altLang="zh-CN" sz="3200" b="1" i="0" dirty="0">
                <a:solidFill>
                  <a:srgbClr val="202122"/>
                </a:solidFill>
                <a:effectLst/>
              </a:rPr>
              <a:t>Every time I fire a linguist, the performance of the speech recognizer goes up</a:t>
            </a:r>
            <a:r>
              <a:rPr lang="en-US" altLang="zh-CN" sz="3200" b="1" dirty="0">
                <a:solidFill>
                  <a:srgbClr val="202122"/>
                </a:solidFill>
              </a:rPr>
              <a:t>.</a:t>
            </a:r>
            <a:r>
              <a:rPr lang="zh-CN" altLang="en-US" sz="3200" b="1" i="0" dirty="0">
                <a:solidFill>
                  <a:srgbClr val="202122"/>
                </a:solidFill>
                <a:effectLst/>
              </a:rPr>
              <a:t>”</a:t>
            </a:r>
            <a:endParaRPr lang="zh-CN" altLang="en-US" sz="3200" b="1" dirty="0">
              <a:effectLst/>
              <a:highlight>
                <a:srgbClr val="FFFF00"/>
              </a:highlight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38D3D1-326E-8707-E6DC-A94B6719CA50}"/>
              </a:ext>
            </a:extLst>
          </p:cNvPr>
          <p:cNvSpPr txBox="1"/>
          <p:nvPr/>
        </p:nvSpPr>
        <p:spPr>
          <a:xfrm>
            <a:off x="2136404" y="5399845"/>
            <a:ext cx="2449456" cy="400110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n-US" altLang="zh-CN" sz="20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Frederick Jelinek</a:t>
            </a:r>
            <a:r>
              <a:rPr lang="en-US" altLang="zh-CN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endParaRPr lang="zh-CN" altLang="en-US" sz="2000" dirty="0"/>
          </a:p>
        </p:txBody>
      </p:sp>
      <p:sp>
        <p:nvSpPr>
          <p:cNvPr id="19" name="下箭头 18">
            <a:extLst>
              <a:ext uri="{FF2B5EF4-FFF2-40B4-BE49-F238E27FC236}">
                <a16:creationId xmlns:a16="http://schemas.microsoft.com/office/drawing/2014/main" id="{77D29519-1491-6775-8201-DACCC2F4BCCF}"/>
              </a:ext>
            </a:extLst>
          </p:cNvPr>
          <p:cNvSpPr/>
          <p:nvPr/>
        </p:nvSpPr>
        <p:spPr>
          <a:xfrm>
            <a:off x="7974767" y="3081617"/>
            <a:ext cx="1469036" cy="588364"/>
          </a:xfrm>
          <a:prstGeom prst="downArrow">
            <a:avLst/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6DA259-12C0-D16D-3FD9-97C973BA8809}"/>
              </a:ext>
            </a:extLst>
          </p:cNvPr>
          <p:cNvSpPr txBox="1"/>
          <p:nvPr/>
        </p:nvSpPr>
        <p:spPr>
          <a:xfrm>
            <a:off x="5502005" y="3923838"/>
            <a:ext cx="641456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3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Are</a:t>
            </a:r>
            <a:r>
              <a:rPr lang="zh-CN" altLang="en-US" sz="3200" dirty="0">
                <a:solidFill>
                  <a:schemeClr val="accent3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200" dirty="0">
                <a:solidFill>
                  <a:schemeClr val="accent3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we</a:t>
            </a:r>
            <a:r>
              <a:rPr lang="zh-CN" altLang="en-US" sz="3200" dirty="0">
                <a:solidFill>
                  <a:schemeClr val="accent3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200" dirty="0">
                <a:solidFill>
                  <a:schemeClr val="accent3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really</a:t>
            </a:r>
            <a:r>
              <a:rPr lang="zh-CN" altLang="en-US" sz="3200" dirty="0">
                <a:solidFill>
                  <a:schemeClr val="accent3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200" dirty="0">
                <a:solidFill>
                  <a:schemeClr val="accent3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excluded?</a:t>
            </a:r>
          </a:p>
          <a:p>
            <a:pPr algn="ctr"/>
            <a:r>
              <a:rPr lang="en-US" altLang="zh-CN" sz="2000" dirty="0">
                <a:cs typeface="+mn-ea"/>
                <a:sym typeface="+mn-lt"/>
              </a:rPr>
              <a:t>I mean, as</a:t>
            </a:r>
            <a:r>
              <a:rPr lang="zh-CN" altLang="en-US" sz="2000" dirty="0">
                <a:cs typeface="+mn-ea"/>
                <a:sym typeface="+mn-lt"/>
              </a:rPr>
              <a:t> </a:t>
            </a:r>
            <a:r>
              <a:rPr lang="en-US" altLang="zh-CN" sz="2000" dirty="0"/>
              <a:t>meaningless, subordinate, and insignificant?</a:t>
            </a:r>
            <a:endParaRPr lang="zh-CN" altLang="en-US" sz="2000" dirty="0">
              <a:effectLst/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B01E96D-74E8-6003-CA3A-D4626B7A2B67}"/>
              </a:ext>
            </a:extLst>
          </p:cNvPr>
          <p:cNvSpPr/>
          <p:nvPr/>
        </p:nvSpPr>
        <p:spPr>
          <a:xfrm>
            <a:off x="8885439" y="4991809"/>
            <a:ext cx="2449456" cy="892552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ln>
            <a:solidFill>
              <a:schemeClr val="accent3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Be</a:t>
            </a:r>
            <a:r>
              <a:rPr kumimoji="1" lang="zh-CN" altLang="en-US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Open-minded</a:t>
            </a:r>
            <a:endParaRPr kumimoji="1" lang="zh-CN" altLang="en-US" dirty="0">
              <a:solidFill>
                <a:schemeClr val="accent3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BA33B4-2E3B-9E40-AFFD-5E5284546439}"/>
              </a:ext>
            </a:extLst>
          </p:cNvPr>
          <p:cNvSpPr/>
          <p:nvPr/>
        </p:nvSpPr>
        <p:spPr>
          <a:xfrm>
            <a:off x="5865159" y="4991809"/>
            <a:ext cx="2449456" cy="892552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Up</a:t>
            </a:r>
            <a:r>
              <a:rPr kumimoji="1" lang="zh-CN" altLang="en-US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to</a:t>
            </a:r>
            <a:r>
              <a:rPr kumimoji="1" lang="zh-CN" altLang="en-US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your</a:t>
            </a:r>
            <a:r>
              <a:rPr kumimoji="1" lang="zh-CN" altLang="en-US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perspectives.</a:t>
            </a:r>
            <a:endParaRPr kumimoji="1" lang="zh-CN" altLang="en-US" dirty="0">
              <a:solidFill>
                <a:schemeClr val="accent3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171AC5-E0E9-1602-5990-E90050DFBEE8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Linguists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and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Computers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B01E96D-74E8-6003-CA3A-D4626B7A2B67}"/>
              </a:ext>
            </a:extLst>
          </p:cNvPr>
          <p:cNvSpPr/>
          <p:nvPr/>
        </p:nvSpPr>
        <p:spPr>
          <a:xfrm>
            <a:off x="4733163" y="1274249"/>
            <a:ext cx="2449456" cy="892552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ln>
            <a:solidFill>
              <a:schemeClr val="accent3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Be</a:t>
            </a:r>
            <a:r>
              <a:rPr kumimoji="1" lang="zh-CN" altLang="en-US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Open-minded</a:t>
            </a:r>
            <a:endParaRPr kumimoji="1" lang="zh-CN" altLang="en-US" dirty="0">
              <a:solidFill>
                <a:schemeClr val="accent3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171AC5-E0E9-1602-5990-E90050DFBEE8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247D603D-9D86-9F20-0949-3E71A7D8D635}"/>
              </a:ext>
            </a:extLst>
          </p:cNvPr>
          <p:cNvCxnSpPr/>
          <p:nvPr/>
        </p:nvCxnSpPr>
        <p:spPr>
          <a:xfrm>
            <a:off x="5957891" y="2533338"/>
            <a:ext cx="0" cy="3252865"/>
          </a:xfrm>
          <a:prstGeom prst="line">
            <a:avLst/>
          </a:prstGeom>
          <a:ln w="12700">
            <a:solidFill>
              <a:schemeClr val="accent3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2D76163-79EC-F6D6-8BBE-61C5123AD1B5}"/>
              </a:ext>
            </a:extLst>
          </p:cNvPr>
          <p:cNvSpPr txBox="1"/>
          <p:nvPr/>
        </p:nvSpPr>
        <p:spPr>
          <a:xfrm>
            <a:off x="707205" y="2512754"/>
            <a:ext cx="4959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Path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1.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Research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by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AI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925E8D-7592-C01B-A8E8-6D77556A4A5F}"/>
              </a:ext>
            </a:extLst>
          </p:cNvPr>
          <p:cNvSpPr txBox="1"/>
          <p:nvPr/>
        </p:nvSpPr>
        <p:spPr>
          <a:xfrm>
            <a:off x="6525720" y="2512753"/>
            <a:ext cx="5331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Path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cs typeface="+mn-ea"/>
                <a:sym typeface="+mn-lt"/>
              </a:rPr>
              <a:t>2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.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Research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cs typeface="+mn-ea"/>
                <a:sym typeface="+mn-lt"/>
              </a:rPr>
              <a:t>on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AI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E0388D-26B8-B2B5-B2F4-476549208D40}"/>
              </a:ext>
            </a:extLst>
          </p:cNvPr>
          <p:cNvSpPr txBox="1"/>
          <p:nvPr/>
        </p:nvSpPr>
        <p:spPr>
          <a:xfrm>
            <a:off x="521567" y="3267218"/>
            <a:ext cx="514471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effectLst/>
                <a:highlight>
                  <a:srgbClr val="FFFF00"/>
                </a:highlight>
                <a:cs typeface="+mn-ea"/>
                <a:sym typeface="+mn-lt"/>
              </a:rPr>
              <a:t>语言研究问题上使用</a:t>
            </a:r>
            <a:r>
              <a:rPr lang="en-US" altLang="zh-CN" sz="2400" b="1" dirty="0">
                <a:effectLst/>
                <a:highlight>
                  <a:srgbClr val="FFFF00"/>
                </a:highlight>
                <a:cs typeface="+mn-ea"/>
                <a:sym typeface="+mn-lt"/>
              </a:rPr>
              <a:t>AI</a:t>
            </a:r>
            <a:r>
              <a:rPr lang="zh-CN" altLang="en-US" sz="2400" b="1" dirty="0">
                <a:effectLst/>
                <a:highlight>
                  <a:srgbClr val="FFFF00"/>
                </a:highlight>
                <a:cs typeface="+mn-ea"/>
                <a:sym typeface="+mn-lt"/>
              </a:rPr>
              <a:t>工具</a:t>
            </a:r>
            <a:endParaRPr lang="en-US" altLang="zh-CN" sz="2400" b="1" dirty="0">
              <a:effectLst/>
              <a:highlight>
                <a:srgbClr val="FFFF00"/>
              </a:highlight>
              <a:cs typeface="+mn-ea"/>
              <a:sym typeface="+mn-lt"/>
            </a:endParaRPr>
          </a:p>
          <a:p>
            <a:pPr algn="ctr"/>
            <a:endParaRPr lang="en-US" altLang="zh-CN" sz="2000" dirty="0">
              <a:effectLst/>
              <a:cs typeface="+mn-ea"/>
              <a:sym typeface="+mn-lt"/>
            </a:endParaRPr>
          </a:p>
          <a:p>
            <a:pPr algn="ctr"/>
            <a:r>
              <a:rPr lang="zh-CN" altLang="en-US" sz="2000" dirty="0">
                <a:effectLst/>
                <a:cs typeface="+mn-ea"/>
                <a:sym typeface="+mn-lt"/>
              </a:rPr>
              <a:t>词向量</a:t>
            </a:r>
            <a:r>
              <a:rPr lang="zh-CN" altLang="en-US" sz="2000" dirty="0">
                <a:cs typeface="+mn-ea"/>
                <a:sym typeface="+mn-lt"/>
              </a:rPr>
              <a:t>（量化研究）</a:t>
            </a:r>
            <a:endParaRPr lang="en-US" altLang="zh-CN" sz="2000" dirty="0">
              <a:effectLst/>
              <a:cs typeface="+mn-ea"/>
              <a:sym typeface="+mn-lt"/>
            </a:endParaRPr>
          </a:p>
          <a:p>
            <a:pPr algn="ctr"/>
            <a:r>
              <a:rPr lang="en-US" altLang="zh-CN" sz="2000" dirty="0">
                <a:cs typeface="+mn-ea"/>
                <a:sym typeface="+mn-lt"/>
              </a:rPr>
              <a:t>LLM</a:t>
            </a:r>
            <a:r>
              <a:rPr lang="zh-CN" altLang="en-US" sz="2000" dirty="0">
                <a:cs typeface="+mn-ea"/>
                <a:sym typeface="+mn-lt"/>
              </a:rPr>
              <a:t>质量评估（翻译</a:t>
            </a:r>
            <a:r>
              <a:rPr lang="en-US" altLang="zh-CN" sz="2000" dirty="0">
                <a:cs typeface="+mn-ea"/>
                <a:sym typeface="+mn-lt"/>
              </a:rPr>
              <a:t>/</a:t>
            </a:r>
            <a:r>
              <a:rPr lang="zh-CN" altLang="en-US" sz="2000" dirty="0">
                <a:cs typeface="+mn-ea"/>
                <a:sym typeface="+mn-lt"/>
              </a:rPr>
              <a:t>写作</a:t>
            </a:r>
            <a:r>
              <a:rPr lang="en-US" altLang="zh-CN" sz="2000" dirty="0">
                <a:cs typeface="+mn-ea"/>
                <a:sym typeface="+mn-lt"/>
              </a:rPr>
              <a:t>...</a:t>
            </a:r>
            <a:r>
              <a:rPr lang="zh-CN" altLang="en-US" sz="2000" dirty="0">
                <a:cs typeface="+mn-ea"/>
                <a:sym typeface="+mn-lt"/>
              </a:rPr>
              <a:t>）</a:t>
            </a:r>
            <a:endParaRPr lang="en-US" altLang="zh-CN" sz="2000" dirty="0">
              <a:cs typeface="+mn-ea"/>
              <a:sym typeface="+mn-lt"/>
            </a:endParaRPr>
          </a:p>
          <a:p>
            <a:pPr algn="ctr"/>
            <a:r>
              <a:rPr lang="en-US" altLang="zh-CN" sz="2000" dirty="0">
                <a:effectLst/>
                <a:cs typeface="+mn-ea"/>
                <a:sym typeface="+mn-lt"/>
              </a:rPr>
              <a:t>LLM</a:t>
            </a:r>
            <a:r>
              <a:rPr lang="zh-CN" altLang="en-US" sz="2000" dirty="0">
                <a:effectLst/>
                <a:cs typeface="+mn-ea"/>
                <a:sym typeface="+mn-lt"/>
              </a:rPr>
              <a:t>被试模拟</a:t>
            </a:r>
            <a:endParaRPr lang="en-US" altLang="zh-CN" sz="2000" dirty="0">
              <a:effectLst/>
              <a:cs typeface="+mn-ea"/>
              <a:sym typeface="+mn-lt"/>
            </a:endParaRPr>
          </a:p>
          <a:p>
            <a:pPr algn="ctr"/>
            <a:r>
              <a:rPr lang="en-US" altLang="zh-CN" sz="2000" dirty="0">
                <a:effectLst/>
                <a:cs typeface="+mn-ea"/>
                <a:sym typeface="+mn-lt"/>
              </a:rPr>
              <a:t>……</a:t>
            </a:r>
            <a:endParaRPr lang="zh-CN" altLang="en-US" sz="2000" dirty="0">
              <a:effectLst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24043E-02A6-4668-6DF3-7B394F55EF00}"/>
              </a:ext>
            </a:extLst>
          </p:cNvPr>
          <p:cNvSpPr txBox="1"/>
          <p:nvPr/>
        </p:nvSpPr>
        <p:spPr>
          <a:xfrm>
            <a:off x="6355239" y="3275427"/>
            <a:ext cx="514471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effectLst/>
                <a:highlight>
                  <a:srgbClr val="FFFF00"/>
                </a:highlight>
                <a:cs typeface="+mn-ea"/>
                <a:sym typeface="+mn-lt"/>
              </a:rPr>
              <a:t>AI</a:t>
            </a:r>
            <a:r>
              <a:rPr lang="zh-CN" altLang="en-US" sz="2400" b="1" dirty="0">
                <a:highlight>
                  <a:srgbClr val="FFFF00"/>
                </a:highlight>
                <a:cs typeface="+mn-ea"/>
                <a:sym typeface="+mn-lt"/>
              </a:rPr>
              <a:t>中存在的语言现象及本质</a:t>
            </a:r>
            <a:endParaRPr lang="en-US" altLang="zh-CN" sz="2000" dirty="0">
              <a:effectLst/>
              <a:cs typeface="+mn-ea"/>
              <a:sym typeface="+mn-lt"/>
            </a:endParaRPr>
          </a:p>
          <a:p>
            <a:pPr algn="ctr"/>
            <a:endParaRPr lang="en-US" altLang="zh-CN" sz="2000" dirty="0">
              <a:effectLst/>
              <a:cs typeface="+mn-ea"/>
              <a:sym typeface="+mn-lt"/>
            </a:endParaRPr>
          </a:p>
          <a:p>
            <a:pPr algn="ctr"/>
            <a:r>
              <a:rPr lang="en-US" altLang="zh-CN" sz="2000" dirty="0">
                <a:effectLst/>
                <a:cs typeface="+mn-ea"/>
                <a:sym typeface="+mn-lt"/>
              </a:rPr>
              <a:t>LLM</a:t>
            </a:r>
            <a:r>
              <a:rPr lang="zh-CN" altLang="en-US" sz="2000" dirty="0">
                <a:effectLst/>
                <a:cs typeface="+mn-ea"/>
                <a:sym typeface="+mn-lt"/>
              </a:rPr>
              <a:t>语言能力评估</a:t>
            </a:r>
            <a:endParaRPr lang="en-US" altLang="zh-CN" sz="2000" dirty="0">
              <a:effectLst/>
              <a:cs typeface="+mn-ea"/>
              <a:sym typeface="+mn-lt"/>
            </a:endParaRPr>
          </a:p>
          <a:p>
            <a:pPr algn="ctr"/>
            <a:r>
              <a:rPr lang="zh-CN" altLang="en-US" sz="2000" dirty="0">
                <a:effectLst/>
                <a:cs typeface="+mn-ea"/>
                <a:sym typeface="+mn-lt"/>
              </a:rPr>
              <a:t>传统范式的</a:t>
            </a:r>
            <a:r>
              <a:rPr lang="en-US" altLang="zh-CN" sz="2000" dirty="0">
                <a:effectLst/>
                <a:cs typeface="+mn-ea"/>
                <a:sym typeface="+mn-lt"/>
              </a:rPr>
              <a:t>LLM</a:t>
            </a:r>
            <a:r>
              <a:rPr lang="zh-CN" altLang="en-US" sz="2000" dirty="0">
                <a:effectLst/>
                <a:cs typeface="+mn-ea"/>
                <a:sym typeface="+mn-lt"/>
              </a:rPr>
              <a:t>复现</a:t>
            </a:r>
            <a:endParaRPr lang="en-US" altLang="zh-CN" sz="2000" dirty="0">
              <a:effectLst/>
              <a:cs typeface="+mn-ea"/>
              <a:sym typeface="+mn-lt"/>
            </a:endParaRPr>
          </a:p>
          <a:p>
            <a:pPr algn="ctr"/>
            <a:r>
              <a:rPr lang="en-US" altLang="zh-CN" sz="2000" dirty="0">
                <a:cs typeface="+mn-ea"/>
                <a:sym typeface="+mn-lt"/>
              </a:rPr>
              <a:t>LLM</a:t>
            </a:r>
            <a:r>
              <a:rPr lang="zh-CN" altLang="en-US" sz="2000" dirty="0">
                <a:cs typeface="+mn-ea"/>
                <a:sym typeface="+mn-lt"/>
              </a:rPr>
              <a:t>推理及可解释性</a:t>
            </a:r>
            <a:endParaRPr lang="en-US" altLang="zh-CN" sz="2000" dirty="0">
              <a:cs typeface="+mn-ea"/>
              <a:sym typeface="+mn-lt"/>
            </a:endParaRPr>
          </a:p>
          <a:p>
            <a:pPr algn="ctr"/>
            <a:r>
              <a:rPr lang="en-US" altLang="zh-CN" sz="2000" dirty="0">
                <a:effectLst/>
                <a:cs typeface="+mn-ea"/>
                <a:sym typeface="+mn-lt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2886689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9E48D779-9390-057A-1767-F2E1737D2E5D}"/>
              </a:ext>
            </a:extLst>
          </p:cNvPr>
          <p:cNvSpPr/>
          <p:nvPr/>
        </p:nvSpPr>
        <p:spPr>
          <a:xfrm>
            <a:off x="6330848" y="2611688"/>
            <a:ext cx="5421441" cy="3608144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Path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1.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Research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by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AI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CE4AA9D-01EC-13A7-64E8-D969BEB9D8CF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467CA0-5CC7-E990-D048-6FB32C8F5DE7}"/>
              </a:ext>
            </a:extLst>
          </p:cNvPr>
          <p:cNvSpPr txBox="1"/>
          <p:nvPr/>
        </p:nvSpPr>
        <p:spPr>
          <a:xfrm>
            <a:off x="521567" y="984567"/>
            <a:ext cx="6235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effectLst/>
                <a:cs typeface="+mn-ea"/>
                <a:sym typeface="+mn-lt"/>
              </a:rPr>
              <a:t>1.1</a:t>
            </a:r>
            <a:r>
              <a:rPr lang="zh-CN" altLang="en-US" sz="3200" b="1" dirty="0">
                <a:effectLst/>
                <a:cs typeface="+mn-ea"/>
                <a:sym typeface="+mn-lt"/>
              </a:rPr>
              <a:t> 词向量</a:t>
            </a:r>
            <a:r>
              <a:rPr lang="en-US" altLang="zh-CN" sz="3200" b="1" dirty="0">
                <a:cs typeface="+mn-ea"/>
                <a:sym typeface="+mn-lt"/>
              </a:rPr>
              <a:t> (Word Embeddings)</a:t>
            </a:r>
            <a:endParaRPr lang="en-US" altLang="zh-CN" sz="3200" b="1" dirty="0">
              <a:effectLst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23AE6A-6DEE-0A80-38BB-AF960DE2FDC5}"/>
              </a:ext>
            </a:extLst>
          </p:cNvPr>
          <p:cNvSpPr txBox="1"/>
          <p:nvPr/>
        </p:nvSpPr>
        <p:spPr>
          <a:xfrm>
            <a:off x="521566" y="1636799"/>
            <a:ext cx="11515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词向量可以捕捉词语的语义信息，</a:t>
            </a:r>
            <a:r>
              <a:rPr lang="zh-CN" altLang="en-US" dirty="0">
                <a:highlight>
                  <a:srgbClr val="FFFF00"/>
                </a:highlight>
              </a:rPr>
              <a:t>在语义分析中用于研究词语间的关系</a:t>
            </a:r>
            <a:r>
              <a:rPr lang="zh-CN" altLang="en-US" dirty="0"/>
              <a:t>。通过计算词向量的余弦相似度，发现同义词和反义词，并且利用上下文的词向量计算词语在不同语境下的语义差异。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3F18F0B-1839-D9A0-AE9F-85ABF290B6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30" y="2350587"/>
            <a:ext cx="5182024" cy="386924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D17198F-1D71-BCBE-B3F6-A9E328D9DF48}"/>
              </a:ext>
            </a:extLst>
          </p:cNvPr>
          <p:cNvSpPr txBox="1"/>
          <p:nvPr/>
        </p:nvSpPr>
        <p:spPr>
          <a:xfrm>
            <a:off x="7587939" y="2611688"/>
            <a:ext cx="32234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u="sng" dirty="0">
                <a:latin typeface="DFPLiJinHeiW8-GB" panose="020B0800000000000000" pitchFamily="34" charset="-122"/>
                <a:ea typeface="DFPLiJinHeiW8-GB" panose="020B0800000000000000" pitchFamily="34" charset="-122"/>
              </a:rPr>
              <a:t>适应症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331AE9B-350D-86BD-97B9-803B60F155DE}"/>
              </a:ext>
            </a:extLst>
          </p:cNvPr>
          <p:cNvSpPr txBox="1"/>
          <p:nvPr/>
        </p:nvSpPr>
        <p:spPr>
          <a:xfrm>
            <a:off x="6330848" y="3011798"/>
            <a:ext cx="542144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通过对齐不同语言的词向量空间，研究语言间的同义词、文化特异词等。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分析词语在不同历史时期的语义变化。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将词向量与</a:t>
            </a:r>
            <a:r>
              <a:rPr lang="en-US" altLang="zh-CN" dirty="0"/>
              <a:t>LDA</a:t>
            </a:r>
            <a:r>
              <a:rPr lang="zh-CN" altLang="en-US" dirty="0"/>
              <a:t>结合，提高主题模型（</a:t>
            </a:r>
            <a:r>
              <a:rPr lang="en-US" altLang="zh-CN" dirty="0"/>
              <a:t>LDA</a:t>
            </a:r>
            <a:r>
              <a:rPr lang="zh-CN" altLang="en-US" dirty="0"/>
              <a:t>）的精确性。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揭示不同方言中特有词汇的语义偏向。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通过词向量网络模拟词语之间的联想路径（认知）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9D9F1AB-28AE-BD22-11B9-C7887D83452E}"/>
              </a:ext>
            </a:extLst>
          </p:cNvPr>
          <p:cNvSpPr txBox="1"/>
          <p:nvPr/>
        </p:nvSpPr>
        <p:spPr>
          <a:xfrm>
            <a:off x="7695369" y="5231367"/>
            <a:ext cx="32234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u="sng" dirty="0">
                <a:latin typeface="DFPLiJinHeiW8-GB" panose="020B0800000000000000" pitchFamily="34" charset="-122"/>
                <a:ea typeface="DFPLiJinHeiW8-GB" panose="020B0800000000000000" pitchFamily="34" charset="-122"/>
              </a:rPr>
              <a:t>处方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E1EB9AC-9785-0F04-69A5-3CEE59B4ED25}"/>
              </a:ext>
            </a:extLst>
          </p:cNvPr>
          <p:cNvSpPr txBox="1"/>
          <p:nvPr/>
        </p:nvSpPr>
        <p:spPr>
          <a:xfrm>
            <a:off x="6490741" y="5646866"/>
            <a:ext cx="623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Word2Vec</a:t>
            </a:r>
            <a:r>
              <a:rPr lang="zh-CN" altLang="en-US" dirty="0"/>
              <a:t>、</a:t>
            </a:r>
            <a:r>
              <a:rPr lang="en-US" altLang="zh-CN" dirty="0" err="1"/>
              <a:t>GloVe</a:t>
            </a:r>
            <a:r>
              <a:rPr lang="zh-CN" altLang="en-US" dirty="0"/>
              <a:t>、</a:t>
            </a:r>
            <a:r>
              <a:rPr lang="en-US" altLang="zh-CN" dirty="0" err="1"/>
              <a:t>FastText</a:t>
            </a:r>
            <a:r>
              <a:rPr lang="zh-CN" altLang="en-US" dirty="0"/>
              <a:t>、</a:t>
            </a:r>
            <a:r>
              <a:rPr lang="en-US" altLang="zh-CN" dirty="0"/>
              <a:t>BERT </a:t>
            </a:r>
            <a:r>
              <a:rPr lang="zh-CN" altLang="en-US" dirty="0"/>
              <a:t>等</a:t>
            </a:r>
          </a:p>
        </p:txBody>
      </p:sp>
    </p:spTree>
    <p:extLst>
      <p:ext uri="{BB962C8B-B14F-4D97-AF65-F5344CB8AC3E}">
        <p14:creationId xmlns:p14="http://schemas.microsoft.com/office/powerpoint/2010/main" val="3031650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Path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1.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Research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by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AI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CE4AA9D-01EC-13A7-64E8-D969BEB9D8CF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467CA0-5CC7-E990-D048-6FB32C8F5DE7}"/>
              </a:ext>
            </a:extLst>
          </p:cNvPr>
          <p:cNvSpPr txBox="1"/>
          <p:nvPr/>
        </p:nvSpPr>
        <p:spPr>
          <a:xfrm>
            <a:off x="521567" y="984567"/>
            <a:ext cx="10211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effectLst/>
                <a:cs typeface="+mn-ea"/>
                <a:sym typeface="+mn-lt"/>
              </a:rPr>
              <a:t>1.2</a:t>
            </a:r>
            <a:r>
              <a:rPr lang="zh-CN" altLang="en-US" sz="3200" b="1" dirty="0">
                <a:effectLst/>
                <a:cs typeface="+mn-ea"/>
                <a:sym typeface="+mn-lt"/>
              </a:rPr>
              <a:t> </a:t>
            </a:r>
            <a:r>
              <a:rPr lang="en-US" altLang="zh-CN" sz="3200" b="1" dirty="0">
                <a:effectLst/>
                <a:cs typeface="+mn-ea"/>
                <a:sym typeface="+mn-lt"/>
              </a:rPr>
              <a:t>LLM</a:t>
            </a:r>
            <a:r>
              <a:rPr lang="zh-CN" altLang="en-US" sz="3200" b="1" dirty="0">
                <a:effectLst/>
                <a:cs typeface="+mn-ea"/>
                <a:sym typeface="+mn-lt"/>
              </a:rPr>
              <a:t>质量评估（</a:t>
            </a:r>
            <a:r>
              <a:rPr lang="en-US" altLang="zh-CN" sz="3200" b="1" dirty="0">
                <a:effectLst/>
                <a:cs typeface="+mn-ea"/>
                <a:sym typeface="+mn-lt"/>
              </a:rPr>
              <a:t>Prompt-Based</a:t>
            </a:r>
            <a:r>
              <a:rPr lang="zh-CN" altLang="en-US" sz="3200" b="1" dirty="0">
                <a:effectLst/>
                <a:cs typeface="+mn-ea"/>
                <a:sym typeface="+mn-lt"/>
              </a:rPr>
              <a:t> </a:t>
            </a:r>
            <a:r>
              <a:rPr lang="en-US" altLang="zh-CN" sz="3200" b="1" dirty="0">
                <a:effectLst/>
                <a:cs typeface="+mn-ea"/>
                <a:sym typeface="+mn-lt"/>
              </a:rPr>
              <a:t>Evaluation</a:t>
            </a:r>
            <a:r>
              <a:rPr lang="zh-CN" altLang="en-US" sz="3200" b="1" dirty="0">
                <a:effectLst/>
                <a:cs typeface="+mn-ea"/>
                <a:sym typeface="+mn-lt"/>
              </a:rPr>
              <a:t>）</a:t>
            </a:r>
            <a:endParaRPr lang="en-US" altLang="zh-CN" sz="3200" b="1" dirty="0">
              <a:effectLst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4CB6AC1-D890-9192-5202-6C4F4143AD39}"/>
              </a:ext>
            </a:extLst>
          </p:cNvPr>
          <p:cNvGrpSpPr/>
          <p:nvPr/>
        </p:nvGrpSpPr>
        <p:grpSpPr>
          <a:xfrm>
            <a:off x="8665029" y="1749281"/>
            <a:ext cx="3021490" cy="4349859"/>
            <a:chOff x="6330848" y="2611688"/>
            <a:chExt cx="5479163" cy="3608144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E48D779-9390-057A-1767-F2E1737D2E5D}"/>
                </a:ext>
              </a:extLst>
            </p:cNvPr>
            <p:cNvSpPr/>
            <p:nvPr/>
          </p:nvSpPr>
          <p:spPr>
            <a:xfrm>
              <a:off x="6330848" y="2611688"/>
              <a:ext cx="5421441" cy="3608144"/>
            </a:xfrm>
            <a:prstGeom prst="rect">
              <a:avLst/>
            </a:prstGeom>
            <a:solidFill>
              <a:schemeClr val="accent3">
                <a:lumMod val="10000"/>
                <a:lumOff val="90000"/>
              </a:schemeClr>
            </a:solidFill>
            <a:ln>
              <a:solidFill>
                <a:srgbClr val="DCD6CA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D17198F-1D71-BCBE-B3F6-A9E328D9DF48}"/>
                </a:ext>
              </a:extLst>
            </p:cNvPr>
            <p:cNvSpPr txBox="1"/>
            <p:nvPr/>
          </p:nvSpPr>
          <p:spPr>
            <a:xfrm>
              <a:off x="7587939" y="2611688"/>
              <a:ext cx="322347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u="sng" dirty="0">
                  <a:latin typeface="DFPLiJinHeiW8-GB" panose="020B0800000000000000" pitchFamily="34" charset="-122"/>
                  <a:ea typeface="DFPLiJinHeiW8-GB" panose="020B0800000000000000" pitchFamily="34" charset="-122"/>
                </a:rPr>
                <a:t>适应症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331AE9B-350D-86BD-97B9-803B60F155DE}"/>
                </a:ext>
              </a:extLst>
            </p:cNvPr>
            <p:cNvSpPr txBox="1"/>
            <p:nvPr/>
          </p:nvSpPr>
          <p:spPr>
            <a:xfrm>
              <a:off x="6330848" y="3011798"/>
              <a:ext cx="5421441" cy="1455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机器翻译评估（有</a:t>
              </a:r>
              <a:r>
                <a:rPr lang="en-US" altLang="zh-CN" dirty="0"/>
                <a:t>GT</a:t>
              </a:r>
              <a:r>
                <a:rPr lang="zh-CN" altLang="en-US" dirty="0"/>
                <a:t>或自由评估）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写作质量评估（预先设定的自由评估）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多语言评估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9D9F1AB-28AE-BD22-11B9-C7887D83452E}"/>
                </a:ext>
              </a:extLst>
            </p:cNvPr>
            <p:cNvSpPr txBox="1"/>
            <p:nvPr/>
          </p:nvSpPr>
          <p:spPr>
            <a:xfrm>
              <a:off x="7751038" y="4415760"/>
              <a:ext cx="3223478" cy="331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u="sng" dirty="0">
                  <a:latin typeface="DFPLiJinHeiW8-GB" panose="020B0800000000000000" pitchFamily="34" charset="-122"/>
                  <a:ea typeface="DFPLiJinHeiW8-GB" panose="020B0800000000000000" pitchFamily="34" charset="-122"/>
                </a:rPr>
                <a:t>禁忌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E1EB9AC-9785-0F04-69A5-3CEE59B4ED25}"/>
                </a:ext>
              </a:extLst>
            </p:cNvPr>
            <p:cNvSpPr txBox="1"/>
            <p:nvPr/>
          </p:nvSpPr>
          <p:spPr>
            <a:xfrm>
              <a:off x="6330848" y="4789411"/>
              <a:ext cx="5479163" cy="1225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在未经过科学调研的情况下自主设计评估</a:t>
              </a:r>
              <a:r>
                <a:rPr lang="en-US" altLang="zh-CN" dirty="0"/>
                <a:t>prompt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在不了解所采用工具的情况下直接采用结果或主观臆断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EE4D9C5-3BBB-CE4C-FFD9-5A8ED055504D}"/>
              </a:ext>
            </a:extLst>
          </p:cNvPr>
          <p:cNvSpPr txBox="1"/>
          <p:nvPr/>
        </p:nvSpPr>
        <p:spPr>
          <a:xfrm>
            <a:off x="505481" y="1574826"/>
            <a:ext cx="7931042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(1) </a:t>
            </a:r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自动评估（</a:t>
            </a:r>
            <a:r>
              <a:rPr lang="en-US" altLang="zh-CN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Automatic Evaluation</a:t>
            </a:r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）</a:t>
            </a:r>
          </a:p>
          <a:p>
            <a:r>
              <a:rPr lang="en-US" altLang="zh-CN" dirty="0"/>
              <a:t>LLMs </a:t>
            </a:r>
            <a:r>
              <a:rPr lang="zh-CN" altLang="en-US" dirty="0"/>
              <a:t>可以通过生成或辅助计算传统机器翻译评估指标，</a:t>
            </a:r>
            <a:r>
              <a:rPr lang="en-US" altLang="zh-CN" dirty="0"/>
              <a:t>BLEU</a:t>
            </a:r>
            <a:r>
              <a:rPr lang="zh-CN" altLang="en-US" dirty="0"/>
              <a:t>、</a:t>
            </a:r>
            <a:r>
              <a:rPr lang="en-US" altLang="zh-CN" dirty="0"/>
              <a:t>METEOR</a:t>
            </a:r>
            <a:r>
              <a:rPr lang="zh-CN" altLang="en-US" dirty="0"/>
              <a:t>、</a:t>
            </a:r>
            <a:r>
              <a:rPr lang="en-US" altLang="zh-CN" dirty="0"/>
              <a:t>TER </a:t>
            </a:r>
            <a:r>
              <a:rPr lang="zh-CN" altLang="en-US" dirty="0"/>
              <a:t>等，</a:t>
            </a:r>
            <a:r>
              <a:rPr lang="en-US" altLang="zh-CN" dirty="0"/>
              <a:t>LLMs </a:t>
            </a:r>
            <a:r>
              <a:rPr lang="zh-CN" altLang="en-US" dirty="0"/>
              <a:t>可以根据参考译文生成分数。比如使用 </a:t>
            </a:r>
            <a:r>
              <a:rPr lang="en-US" altLang="zh-CN" dirty="0" err="1"/>
              <a:t>BERTScore</a:t>
            </a:r>
            <a:r>
              <a:rPr lang="en-US" altLang="zh-CN" dirty="0"/>
              <a:t> </a:t>
            </a:r>
            <a:r>
              <a:rPr lang="zh-CN" altLang="en-US" dirty="0"/>
              <a:t>或基于嵌入（也就是词向量）的语义相似性评估。</a:t>
            </a:r>
            <a:endParaRPr lang="en-US" altLang="zh-CN" dirty="0"/>
          </a:p>
          <a:p>
            <a:endParaRPr lang="zh-CN" altLang="en-US" sz="1200" dirty="0"/>
          </a:p>
          <a:p>
            <a:r>
              <a:rPr lang="en-US" altLang="zh-CN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(2) </a:t>
            </a:r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人工评估辅助（</a:t>
            </a:r>
            <a:r>
              <a:rPr lang="en-US" altLang="zh-CN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Human-Aided Evaluation</a:t>
            </a:r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）</a:t>
            </a:r>
          </a:p>
          <a:p>
            <a:r>
              <a:rPr lang="en-US" altLang="zh-CN" dirty="0"/>
              <a:t>LLMs </a:t>
            </a:r>
            <a:r>
              <a:rPr lang="zh-CN" altLang="en-US" dirty="0"/>
              <a:t>可以根据预定义的错误分类（如误译、漏译、冗余、风格不一致等），自动标记译文中的问题。</a:t>
            </a:r>
            <a:endParaRPr lang="en-US" altLang="zh-CN" dirty="0"/>
          </a:p>
          <a:p>
            <a:endParaRPr lang="zh-CN" altLang="en-US" sz="1200" dirty="0"/>
          </a:p>
          <a:p>
            <a:r>
              <a:rPr lang="en-US" altLang="zh-CN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(3) </a:t>
            </a:r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零样本或少样本评估（</a:t>
            </a:r>
            <a:r>
              <a:rPr lang="en-US" altLang="zh-CN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Zero/Few-shot Evaluation</a:t>
            </a:r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）</a:t>
            </a:r>
          </a:p>
          <a:p>
            <a:r>
              <a:rPr lang="zh-CN" altLang="en-US" dirty="0"/>
              <a:t>通过少量样本的提示（</a:t>
            </a:r>
            <a:r>
              <a:rPr lang="en-US" altLang="zh-CN" dirty="0"/>
              <a:t>Prompt</a:t>
            </a:r>
            <a:r>
              <a:rPr lang="zh-CN" altLang="en-US" dirty="0"/>
              <a:t>），</a:t>
            </a:r>
            <a:r>
              <a:rPr lang="en-US" altLang="zh-CN" dirty="0"/>
              <a:t>LLMs </a:t>
            </a:r>
            <a:r>
              <a:rPr lang="zh-CN" altLang="en-US" dirty="0"/>
              <a:t>可以直接根据翻译质量标准对译文进行评分或诊断。例如：“请评估以下译文的准确性、流畅性和风格一致性，并按照 </a:t>
            </a:r>
            <a:r>
              <a:rPr lang="en-US" altLang="zh-CN" dirty="0"/>
              <a:t>1-10 </a:t>
            </a:r>
            <a:r>
              <a:rPr lang="zh-CN" altLang="en-US" dirty="0"/>
              <a:t>打分。”</a:t>
            </a:r>
            <a:endParaRPr lang="en-US" altLang="zh-CN" dirty="0"/>
          </a:p>
          <a:p>
            <a:endParaRPr lang="zh-CN" altLang="en-US" sz="1200" dirty="0"/>
          </a:p>
          <a:p>
            <a:r>
              <a:rPr lang="en-US" altLang="zh-CN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(4) </a:t>
            </a:r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参考独立评估（</a:t>
            </a:r>
            <a:r>
              <a:rPr lang="en-US" altLang="zh-CN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Reference-Free Evaluation</a:t>
            </a:r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）</a:t>
            </a:r>
          </a:p>
          <a:p>
            <a:r>
              <a:rPr lang="zh-CN" altLang="en-US" dirty="0"/>
              <a:t>无需参考译文，</a:t>
            </a:r>
            <a:r>
              <a:rPr lang="en-US" altLang="zh-CN" dirty="0"/>
              <a:t>LLMs </a:t>
            </a:r>
            <a:r>
              <a:rPr lang="zh-CN" altLang="en-US" dirty="0"/>
              <a:t>可以基于源文本直接评估译文的语义完整性与语言流畅性。比如通过对源文本和译文生成逻辑关系的判断（例如，是否包含矛盾或遗漏信息）。</a:t>
            </a:r>
          </a:p>
        </p:txBody>
      </p:sp>
    </p:spTree>
    <p:extLst>
      <p:ext uri="{BB962C8B-B14F-4D97-AF65-F5344CB8AC3E}">
        <p14:creationId xmlns:p14="http://schemas.microsoft.com/office/powerpoint/2010/main" val="111828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Path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1.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Research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by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AI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CE4AA9D-01EC-13A7-64E8-D969BEB9D8CF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467CA0-5CC7-E990-D048-6FB32C8F5DE7}"/>
              </a:ext>
            </a:extLst>
          </p:cNvPr>
          <p:cNvSpPr txBox="1"/>
          <p:nvPr/>
        </p:nvSpPr>
        <p:spPr>
          <a:xfrm>
            <a:off x="521567" y="984567"/>
            <a:ext cx="6235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effectLst/>
                <a:cs typeface="+mn-ea"/>
                <a:sym typeface="+mn-lt"/>
              </a:rPr>
              <a:t>1.3</a:t>
            </a:r>
            <a:r>
              <a:rPr lang="zh-CN" altLang="en-US" sz="3200" b="1" dirty="0">
                <a:effectLst/>
                <a:cs typeface="+mn-ea"/>
                <a:sym typeface="+mn-lt"/>
              </a:rPr>
              <a:t> </a:t>
            </a:r>
            <a:r>
              <a:rPr lang="en-US" altLang="zh-CN" sz="3200" b="1" dirty="0">
                <a:effectLst/>
                <a:cs typeface="+mn-ea"/>
                <a:sym typeface="+mn-lt"/>
              </a:rPr>
              <a:t>LLM</a:t>
            </a:r>
            <a:r>
              <a:rPr lang="zh-CN" altLang="en-US" sz="3200" b="1" dirty="0">
                <a:effectLst/>
                <a:cs typeface="+mn-ea"/>
                <a:sym typeface="+mn-lt"/>
              </a:rPr>
              <a:t>被试模拟（</a:t>
            </a:r>
            <a:r>
              <a:rPr lang="en-US" altLang="zh-CN" sz="3200" b="1" dirty="0">
                <a:effectLst/>
                <a:cs typeface="+mn-ea"/>
                <a:sym typeface="+mn-lt"/>
              </a:rPr>
              <a:t>Doubtful</a:t>
            </a:r>
            <a:r>
              <a:rPr lang="zh-CN" altLang="en-US" sz="3200" b="1" dirty="0">
                <a:effectLst/>
                <a:cs typeface="+mn-ea"/>
                <a:sym typeface="+mn-lt"/>
              </a:rPr>
              <a:t>）</a:t>
            </a:r>
            <a:endParaRPr lang="en-US" altLang="zh-CN" sz="3200" b="1" dirty="0">
              <a:effectLst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CDCBA03-1E03-E2A7-D600-FF1DEA999265}"/>
              </a:ext>
            </a:extLst>
          </p:cNvPr>
          <p:cNvSpPr txBox="1"/>
          <p:nvPr/>
        </p:nvSpPr>
        <p:spPr>
          <a:xfrm>
            <a:off x="521567" y="1576997"/>
            <a:ext cx="10211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cs typeface="+mn-ea"/>
                <a:sym typeface="+mn-lt"/>
              </a:rPr>
              <a:t>AI+</a:t>
            </a:r>
            <a:r>
              <a:rPr lang="zh-CN" altLang="en-US" sz="2000" b="1" dirty="0">
                <a:effectLst/>
                <a:cs typeface="+mn-ea"/>
                <a:sym typeface="+mn-lt"/>
              </a:rPr>
              <a:t>管理学（</a:t>
            </a:r>
            <a:r>
              <a:rPr lang="en-US" altLang="zh-CN" sz="2000" b="1" dirty="0">
                <a:effectLst/>
                <a:cs typeface="+mn-ea"/>
                <a:sym typeface="+mn-lt"/>
              </a:rPr>
              <a:t>or</a:t>
            </a:r>
            <a:r>
              <a:rPr lang="zh-CN" altLang="en-US" sz="2000" b="1" dirty="0">
                <a:effectLst/>
                <a:cs typeface="+mn-ea"/>
                <a:sym typeface="+mn-lt"/>
              </a:rPr>
              <a:t>心理学）涉及较多，外语则涉及教学应用</a:t>
            </a:r>
            <a:endParaRPr lang="en-US" altLang="zh-CN" sz="2000" b="1" dirty="0">
              <a:effectLst/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5B6632B-11E2-016D-7719-BE718E920A2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5" b="14282"/>
          <a:stretch/>
        </p:blipFill>
        <p:spPr>
          <a:xfrm>
            <a:off x="2661843" y="1944183"/>
            <a:ext cx="8191264" cy="412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69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Path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1.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Research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by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AI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CE4AA9D-01EC-13A7-64E8-D969BEB9D8CF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467CA0-5CC7-E990-D048-6FB32C8F5DE7}"/>
              </a:ext>
            </a:extLst>
          </p:cNvPr>
          <p:cNvSpPr txBox="1"/>
          <p:nvPr/>
        </p:nvSpPr>
        <p:spPr>
          <a:xfrm>
            <a:off x="521567" y="984567"/>
            <a:ext cx="6235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effectLst/>
                <a:cs typeface="+mn-ea"/>
                <a:sym typeface="+mn-lt"/>
              </a:rPr>
              <a:t>1.3</a:t>
            </a:r>
            <a:r>
              <a:rPr lang="zh-CN" altLang="en-US" sz="3200" b="1" dirty="0">
                <a:effectLst/>
                <a:cs typeface="+mn-ea"/>
                <a:sym typeface="+mn-lt"/>
              </a:rPr>
              <a:t> </a:t>
            </a:r>
            <a:r>
              <a:rPr lang="en-US" altLang="zh-CN" sz="3200" b="1" dirty="0">
                <a:effectLst/>
                <a:cs typeface="+mn-ea"/>
                <a:sym typeface="+mn-lt"/>
              </a:rPr>
              <a:t>LLM</a:t>
            </a:r>
            <a:r>
              <a:rPr lang="zh-CN" altLang="en-US" sz="3200" b="1" dirty="0">
                <a:effectLst/>
                <a:cs typeface="+mn-ea"/>
                <a:sym typeface="+mn-lt"/>
              </a:rPr>
              <a:t>被试模拟（</a:t>
            </a:r>
            <a:r>
              <a:rPr lang="en-US" altLang="zh-CN" sz="3200" b="1" dirty="0">
                <a:effectLst/>
                <a:cs typeface="+mn-ea"/>
                <a:sym typeface="+mn-lt"/>
              </a:rPr>
              <a:t>Doubtful</a:t>
            </a:r>
            <a:r>
              <a:rPr lang="zh-CN" altLang="en-US" sz="3200" b="1" dirty="0">
                <a:effectLst/>
                <a:cs typeface="+mn-ea"/>
                <a:sym typeface="+mn-lt"/>
              </a:rPr>
              <a:t>）</a:t>
            </a:r>
            <a:endParaRPr lang="en-US" altLang="zh-CN" sz="3200" b="1" dirty="0">
              <a:effectLst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CDCBA03-1E03-E2A7-D600-FF1DEA999265}"/>
              </a:ext>
            </a:extLst>
          </p:cNvPr>
          <p:cNvSpPr txBox="1"/>
          <p:nvPr/>
        </p:nvSpPr>
        <p:spPr>
          <a:xfrm>
            <a:off x="521567" y="1576997"/>
            <a:ext cx="10211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cs typeface="+mn-ea"/>
                <a:sym typeface="+mn-lt"/>
              </a:rPr>
              <a:t>AI+</a:t>
            </a:r>
            <a:r>
              <a:rPr lang="zh-CN" altLang="en-US" sz="2000" b="1" dirty="0">
                <a:effectLst/>
                <a:cs typeface="+mn-ea"/>
                <a:sym typeface="+mn-lt"/>
              </a:rPr>
              <a:t>管理学（</a:t>
            </a:r>
            <a:r>
              <a:rPr lang="en-US" altLang="zh-CN" sz="2000" b="1" dirty="0">
                <a:effectLst/>
                <a:cs typeface="+mn-ea"/>
                <a:sym typeface="+mn-lt"/>
              </a:rPr>
              <a:t>or</a:t>
            </a:r>
            <a:r>
              <a:rPr lang="zh-CN" altLang="en-US" sz="2000" b="1" dirty="0">
                <a:effectLst/>
                <a:cs typeface="+mn-ea"/>
                <a:sym typeface="+mn-lt"/>
              </a:rPr>
              <a:t>心理学）涉及较多，外语则涉及教学应用</a:t>
            </a:r>
            <a:endParaRPr lang="en-US" altLang="zh-CN" sz="2000" b="1" dirty="0">
              <a:effectLst/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B2E4898-2143-65C6-B3DA-A52671599E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59"/>
          <a:stretch/>
        </p:blipFill>
        <p:spPr>
          <a:xfrm>
            <a:off x="2715962" y="2161350"/>
            <a:ext cx="7772400" cy="411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231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Path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cs typeface="+mn-ea"/>
                <a:sym typeface="+mn-lt"/>
              </a:rPr>
              <a:t>2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.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Research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cs typeface="+mn-ea"/>
                <a:sym typeface="+mn-lt"/>
              </a:rPr>
              <a:t>on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AI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C6102AE-4B19-C0C5-0A1A-57D2EB57302B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FA7D2D-7E72-145F-37F8-511490CECD5A}"/>
              </a:ext>
            </a:extLst>
          </p:cNvPr>
          <p:cNvSpPr txBox="1"/>
          <p:nvPr/>
        </p:nvSpPr>
        <p:spPr>
          <a:xfrm>
            <a:off x="521567" y="984567"/>
            <a:ext cx="6235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effectLst/>
                <a:cs typeface="+mn-ea"/>
                <a:sym typeface="+mn-lt"/>
              </a:rPr>
              <a:t>2.1</a:t>
            </a:r>
            <a:r>
              <a:rPr lang="zh-CN" altLang="en-US" sz="3200" b="1" dirty="0">
                <a:effectLst/>
                <a:cs typeface="+mn-ea"/>
                <a:sym typeface="+mn-lt"/>
              </a:rPr>
              <a:t> </a:t>
            </a:r>
            <a:r>
              <a:rPr lang="en-US" altLang="zh-CN" sz="3200" b="1" dirty="0">
                <a:effectLst/>
                <a:cs typeface="+mn-ea"/>
                <a:sym typeface="+mn-lt"/>
              </a:rPr>
              <a:t>LLM</a:t>
            </a:r>
            <a:r>
              <a:rPr lang="zh-CN" altLang="en-US" sz="3200" b="1" dirty="0">
                <a:effectLst/>
                <a:cs typeface="+mn-ea"/>
                <a:sym typeface="+mn-lt"/>
              </a:rPr>
              <a:t>语言能力评估</a:t>
            </a:r>
            <a:endParaRPr lang="en-US" altLang="zh-CN" sz="3200" b="1" dirty="0">
              <a:effectLst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D20F4B-F7BD-CD8C-B766-EB5165620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9805"/>
            <a:ext cx="5574433" cy="15101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134A802-52C0-8DE8-E4A9-4B32D54C7D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263" y="784468"/>
            <a:ext cx="7177972" cy="214599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E61A5EB-498F-3489-0F9B-9CECE4353227}"/>
              </a:ext>
            </a:extLst>
          </p:cNvPr>
          <p:cNvSpPr txBox="1"/>
          <p:nvPr/>
        </p:nvSpPr>
        <p:spPr>
          <a:xfrm>
            <a:off x="694544" y="3429000"/>
            <a:ext cx="11497456" cy="2677656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语音（</a:t>
            </a:r>
            <a:r>
              <a:rPr lang="en-US" altLang="zh-CN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Sounds</a:t>
            </a:r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）</a:t>
            </a:r>
            <a:r>
              <a:rPr lang="zh-CN" altLang="en-US" sz="2000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：</a:t>
            </a:r>
          </a:p>
          <a:p>
            <a:pPr algn="ctr"/>
            <a:r>
              <a:rPr lang="zh-CN" altLang="en-US" dirty="0"/>
              <a:t>语音形状关联（</a:t>
            </a:r>
            <a:r>
              <a:rPr lang="en-US" altLang="zh-CN" dirty="0"/>
              <a:t>Sound-shape association</a:t>
            </a:r>
            <a:r>
              <a:rPr lang="zh-CN" altLang="en-US" dirty="0"/>
              <a:t>）</a:t>
            </a:r>
          </a:p>
          <a:p>
            <a:pPr algn="ctr"/>
            <a:r>
              <a:rPr lang="zh-CN" altLang="en-US" dirty="0"/>
              <a:t>语音性别关联（</a:t>
            </a:r>
            <a:r>
              <a:rPr lang="en-US" altLang="zh-CN" dirty="0"/>
              <a:t>Sound-gender association</a:t>
            </a:r>
            <a:r>
              <a:rPr lang="zh-CN" altLang="en-US" dirty="0"/>
              <a:t>）</a:t>
            </a:r>
          </a:p>
          <a:p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词汇（</a:t>
            </a:r>
            <a:r>
              <a:rPr lang="en-US" altLang="zh-CN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Words</a:t>
            </a:r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）</a:t>
            </a:r>
            <a:r>
              <a:rPr lang="zh-CN" altLang="en-US" sz="2000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：</a:t>
            </a:r>
          </a:p>
          <a:p>
            <a:pPr algn="ctr"/>
            <a:r>
              <a:rPr lang="zh-CN" altLang="en-US" dirty="0"/>
              <a:t>词长与预测性（</a:t>
            </a:r>
            <a:r>
              <a:rPr lang="en-US" altLang="zh-CN" dirty="0"/>
              <a:t>Word length and predictivity</a:t>
            </a:r>
            <a:r>
              <a:rPr lang="zh-CN" altLang="en-US" dirty="0"/>
              <a:t>）</a:t>
            </a:r>
          </a:p>
          <a:p>
            <a:pPr algn="ctr"/>
            <a:r>
              <a:rPr lang="zh-CN" altLang="en-US" dirty="0"/>
              <a:t>词义启动（</a:t>
            </a:r>
            <a:r>
              <a:rPr lang="en-US" altLang="zh-CN" dirty="0"/>
              <a:t>Word meaning priming</a:t>
            </a:r>
            <a:r>
              <a:rPr lang="zh-CN" altLang="en-US" dirty="0"/>
              <a:t>）</a:t>
            </a:r>
          </a:p>
          <a:p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句法（</a:t>
            </a:r>
            <a:r>
              <a:rPr lang="en-US" altLang="zh-CN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Syntax</a:t>
            </a:r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）</a:t>
            </a:r>
            <a:r>
              <a:rPr lang="zh-CN" altLang="en-US" sz="2000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：</a:t>
            </a:r>
          </a:p>
          <a:p>
            <a:pPr algn="ctr"/>
            <a:r>
              <a:rPr lang="zh-CN" altLang="en-US" dirty="0"/>
              <a:t>句法结构启动（</a:t>
            </a:r>
            <a:r>
              <a:rPr lang="en-US" altLang="zh-CN" dirty="0"/>
              <a:t>Structural priming</a:t>
            </a:r>
            <a:r>
              <a:rPr lang="zh-CN" altLang="en-US" dirty="0"/>
              <a:t>）</a:t>
            </a:r>
          </a:p>
          <a:p>
            <a:pPr algn="ctr"/>
            <a:r>
              <a:rPr lang="zh-CN" altLang="en-US" dirty="0"/>
              <a:t>句法歧义解析（</a:t>
            </a:r>
            <a:r>
              <a:rPr lang="en-US" altLang="zh-CN" dirty="0"/>
              <a:t>Syntactic ambiguity resolution</a:t>
            </a:r>
            <a:r>
              <a:rPr lang="zh-CN" altLang="en-US" dirty="0"/>
              <a:t>）</a:t>
            </a:r>
            <a:endParaRPr lang="en-US" altLang="zh-CN" b="1" dirty="0"/>
          </a:p>
          <a:p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语义（</a:t>
            </a:r>
            <a:r>
              <a:rPr lang="en-US" altLang="zh-CN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Meaning</a:t>
            </a:r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）</a:t>
            </a:r>
            <a:r>
              <a:rPr lang="zh-CN" altLang="en-US" sz="2000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：</a:t>
            </a:r>
          </a:p>
          <a:p>
            <a:pPr algn="ctr"/>
            <a:r>
              <a:rPr lang="zh-CN" altLang="en-US" dirty="0"/>
              <a:t>不合理句子解释（</a:t>
            </a:r>
            <a:r>
              <a:rPr lang="en-US" altLang="zh-CN" dirty="0"/>
              <a:t>Implausible sentence interpretation</a:t>
            </a:r>
            <a:r>
              <a:rPr lang="zh-CN" altLang="en-US" dirty="0"/>
              <a:t>）</a:t>
            </a:r>
          </a:p>
          <a:p>
            <a:pPr algn="ctr"/>
            <a:r>
              <a:rPr lang="zh-CN" altLang="en-US" dirty="0"/>
              <a:t>语义幻觉（</a:t>
            </a:r>
            <a:r>
              <a:rPr lang="en-US" altLang="zh-CN" dirty="0"/>
              <a:t>Semantic illusions</a:t>
            </a:r>
            <a:r>
              <a:rPr lang="zh-CN" altLang="en-US" dirty="0"/>
              <a:t>）</a:t>
            </a:r>
          </a:p>
          <a:p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语篇（</a:t>
            </a:r>
            <a:r>
              <a:rPr lang="en-US" altLang="zh-CN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Discourse</a:t>
            </a:r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）</a:t>
            </a:r>
            <a:r>
              <a:rPr lang="zh-CN" altLang="en-US" sz="2000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：</a:t>
            </a:r>
          </a:p>
          <a:p>
            <a:pPr algn="ctr"/>
            <a:r>
              <a:rPr lang="zh-CN" altLang="en-US" dirty="0"/>
              <a:t>隐含因果关系（</a:t>
            </a:r>
            <a:r>
              <a:rPr lang="en-US" altLang="zh-CN" dirty="0"/>
              <a:t>Implicit causality</a:t>
            </a:r>
            <a:r>
              <a:rPr lang="zh-CN" altLang="en-US" dirty="0"/>
              <a:t>）</a:t>
            </a:r>
          </a:p>
          <a:p>
            <a:pPr algn="ctr"/>
            <a:r>
              <a:rPr lang="zh-CN" altLang="en-US" dirty="0"/>
              <a:t>推理能力（</a:t>
            </a:r>
            <a:r>
              <a:rPr lang="en-US" altLang="zh-CN" dirty="0"/>
              <a:t>Drawing inferences</a:t>
            </a:r>
            <a:r>
              <a:rPr lang="zh-CN" altLang="en-US" dirty="0"/>
              <a:t>）</a:t>
            </a:r>
          </a:p>
          <a:p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交互敏感性（</a:t>
            </a:r>
            <a:r>
              <a:rPr lang="en-US" altLang="zh-CN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Interlocutor sensitivity</a:t>
            </a:r>
            <a:r>
              <a:rPr lang="zh-CN" altLang="en-US" sz="20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）</a:t>
            </a:r>
            <a:r>
              <a:rPr lang="zh-CN" altLang="en-US" sz="2000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：</a:t>
            </a:r>
          </a:p>
          <a:p>
            <a:pPr algn="ctr"/>
            <a:r>
              <a:rPr lang="zh-CN" altLang="en-US" dirty="0"/>
              <a:t>单词意义访问（</a:t>
            </a:r>
            <a:r>
              <a:rPr lang="en-US" altLang="zh-CN" dirty="0"/>
              <a:t>Word meaning access</a:t>
            </a:r>
            <a:r>
              <a:rPr lang="zh-CN" altLang="en-US" dirty="0"/>
              <a:t>）</a:t>
            </a:r>
          </a:p>
          <a:p>
            <a:pPr algn="ctr"/>
            <a:r>
              <a:rPr lang="zh-CN" altLang="en-US" dirty="0"/>
              <a:t>词汇检索（</a:t>
            </a:r>
            <a:r>
              <a:rPr lang="en-US" altLang="zh-CN" dirty="0"/>
              <a:t>Lexical retrieval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840751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Path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cs typeface="+mn-ea"/>
                <a:sym typeface="+mn-lt"/>
              </a:rPr>
              <a:t>2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.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Research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cs typeface="+mn-ea"/>
                <a:sym typeface="+mn-lt"/>
              </a:rPr>
              <a:t>on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AI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C6102AE-4B19-C0C5-0A1A-57D2EB57302B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FA7D2D-7E72-145F-37F8-511490CECD5A}"/>
              </a:ext>
            </a:extLst>
          </p:cNvPr>
          <p:cNvSpPr txBox="1"/>
          <p:nvPr/>
        </p:nvSpPr>
        <p:spPr>
          <a:xfrm>
            <a:off x="521566" y="984567"/>
            <a:ext cx="120102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effectLst/>
                <a:cs typeface="+mn-ea"/>
                <a:sym typeface="+mn-lt"/>
              </a:rPr>
              <a:t>2.2</a:t>
            </a:r>
            <a:r>
              <a:rPr lang="zh-CN" altLang="en-US" sz="3200" b="1" dirty="0">
                <a:effectLst/>
                <a:cs typeface="+mn-ea"/>
                <a:sym typeface="+mn-lt"/>
              </a:rPr>
              <a:t> 经典范式的</a:t>
            </a:r>
            <a:r>
              <a:rPr lang="en-US" altLang="zh-CN" sz="3200" b="1" dirty="0">
                <a:effectLst/>
                <a:cs typeface="+mn-ea"/>
                <a:sym typeface="+mn-lt"/>
              </a:rPr>
              <a:t>LLM</a:t>
            </a:r>
            <a:r>
              <a:rPr lang="zh-CN" altLang="en-US" sz="3200" b="1" dirty="0">
                <a:effectLst/>
                <a:cs typeface="+mn-ea"/>
                <a:sym typeface="+mn-lt"/>
              </a:rPr>
              <a:t>复现：</a:t>
            </a:r>
            <a:r>
              <a:rPr lang="zh-CN" altLang="en-US" sz="2000" b="1" dirty="0">
                <a:effectLst/>
                <a:cs typeface="+mn-ea"/>
                <a:sym typeface="+mn-lt"/>
              </a:rPr>
              <a:t>最节约成本使</a:t>
            </a:r>
            <a:r>
              <a:rPr lang="en-US" altLang="zh-CN" sz="2000" b="1" dirty="0">
                <a:effectLst/>
                <a:cs typeface="+mn-ea"/>
                <a:sym typeface="+mn-lt"/>
              </a:rPr>
              <a:t>LLM</a:t>
            </a:r>
            <a:r>
              <a:rPr lang="zh-CN" altLang="en-US" sz="2000" b="1" dirty="0">
                <a:effectLst/>
                <a:cs typeface="+mn-ea"/>
                <a:sym typeface="+mn-lt"/>
              </a:rPr>
              <a:t>提示工程范式</a:t>
            </a:r>
            <a:r>
              <a:rPr lang="en-US" altLang="zh-CN" sz="2000" b="1" dirty="0">
                <a:cs typeface="+mn-ea"/>
                <a:sym typeface="+mn-lt"/>
              </a:rPr>
              <a:t>m</a:t>
            </a:r>
            <a:r>
              <a:rPr lang="en-US" altLang="zh-CN" sz="2000" b="1" dirty="0">
                <a:effectLst/>
                <a:cs typeface="+mn-ea"/>
                <a:sym typeface="+mn-lt"/>
              </a:rPr>
              <a:t>atch</a:t>
            </a:r>
            <a:r>
              <a:rPr lang="zh-CN" altLang="en-US" sz="2000" b="1" dirty="0">
                <a:effectLst/>
                <a:cs typeface="+mn-ea"/>
                <a:sym typeface="+mn-lt"/>
              </a:rPr>
              <a:t>现实人类被试</a:t>
            </a:r>
            <a:endParaRPr lang="en-US" altLang="zh-CN" sz="3200" b="1" dirty="0">
              <a:effectLst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611B61A-7558-97EE-8CEE-79FCD044A30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4" r="7039"/>
          <a:stretch/>
        </p:blipFill>
        <p:spPr>
          <a:xfrm>
            <a:off x="6757476" y="1464469"/>
            <a:ext cx="5069764" cy="224101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E3A6892-2031-DDBE-62A3-60D9CAFD14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7033"/>
            <a:ext cx="5808400" cy="1811744"/>
          </a:xfrm>
          <a:prstGeom prst="rect">
            <a:avLst/>
          </a:prstGeom>
        </p:spPr>
      </p:pic>
      <p:sp>
        <p:nvSpPr>
          <p:cNvPr id="12" name="右箭头 11">
            <a:extLst>
              <a:ext uri="{FF2B5EF4-FFF2-40B4-BE49-F238E27FC236}">
                <a16:creationId xmlns:a16="http://schemas.microsoft.com/office/drawing/2014/main" id="{BBC00F55-F246-E141-25ED-95D5C80AE368}"/>
              </a:ext>
            </a:extLst>
          </p:cNvPr>
          <p:cNvSpPr/>
          <p:nvPr/>
        </p:nvSpPr>
        <p:spPr>
          <a:xfrm>
            <a:off x="5981075" y="2002222"/>
            <a:ext cx="524656" cy="1270416"/>
          </a:xfrm>
          <a:prstGeom prst="rightArrow">
            <a:avLst/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1B2F9F9-D9DB-CF92-62D3-ACCF22DD0E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170109"/>
            <a:ext cx="7257341" cy="1811732"/>
          </a:xfrm>
          <a:prstGeom prst="rect">
            <a:avLst/>
          </a:prstGeom>
        </p:spPr>
      </p:pic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EB61F908-51F7-3E29-925B-48A52F66A7CE}"/>
              </a:ext>
            </a:extLst>
          </p:cNvPr>
          <p:cNvCxnSpPr/>
          <p:nvPr/>
        </p:nvCxnSpPr>
        <p:spPr>
          <a:xfrm>
            <a:off x="629587" y="3858777"/>
            <a:ext cx="11197653" cy="0"/>
          </a:xfrm>
          <a:prstGeom prst="line">
            <a:avLst/>
          </a:prstGeom>
          <a:ln w="19050">
            <a:solidFill>
              <a:schemeClr val="accent3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A843264-11ED-4CA8-F848-DF4F44F7851C}"/>
              </a:ext>
            </a:extLst>
          </p:cNvPr>
          <p:cNvSpPr txBox="1"/>
          <p:nvPr/>
        </p:nvSpPr>
        <p:spPr>
          <a:xfrm>
            <a:off x="453567" y="4069395"/>
            <a:ext cx="41184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effectLst/>
              </a:rPr>
              <a:t>Matched guise technique</a:t>
            </a:r>
            <a:r>
              <a:rPr lang="zh-CN" altLang="en-US" dirty="0"/>
              <a:t>（匹配伪装技术）是一种</a:t>
            </a:r>
            <a:r>
              <a:rPr lang="zh-CN" altLang="en-US" b="1" dirty="0">
                <a:effectLst/>
              </a:rPr>
              <a:t>社会语言学方法</a:t>
            </a:r>
            <a:r>
              <a:rPr lang="zh-CN" altLang="en-US" dirty="0"/>
              <a:t>，最初用于研究听者如何基于语言或方言的不同来判断说话者的特征。通常，在这种技术中，受试者听取两种语言或方言的录音，然后判断说话者的各种特征，如社会背景、职业能力、教育水平等。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52732D-06DB-E4AF-C09B-B4A73D443C66}"/>
              </a:ext>
            </a:extLst>
          </p:cNvPr>
          <p:cNvSpPr txBox="1"/>
          <p:nvPr/>
        </p:nvSpPr>
        <p:spPr>
          <a:xfrm>
            <a:off x="9415430" y="2278304"/>
            <a:ext cx="262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effectLst/>
                <a:cs typeface="+mn-ea"/>
                <a:sym typeface="+mn-lt"/>
              </a:rPr>
              <a:t>My</a:t>
            </a:r>
            <a:r>
              <a:rPr lang="zh-CN" altLang="en-US" b="1" dirty="0">
                <a:solidFill>
                  <a:srgbClr val="C00000"/>
                </a:solidFill>
                <a:effectLst/>
                <a:cs typeface="+mn-ea"/>
                <a:sym typeface="+mn-lt"/>
              </a:rPr>
              <a:t> 年度最爱</a:t>
            </a:r>
            <a:r>
              <a:rPr lang="en-US" altLang="zh-CN" b="1" dirty="0">
                <a:solidFill>
                  <a:srgbClr val="C00000"/>
                </a:solidFill>
                <a:effectLst/>
                <a:cs typeface="+mn-ea"/>
                <a:sym typeface="+mn-lt"/>
              </a:rPr>
              <a:t>Nature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024038-617B-4B77-7D33-AB7BA55E9A9F}"/>
              </a:ext>
            </a:extLst>
          </p:cNvPr>
          <p:cNvSpPr txBox="1"/>
          <p:nvPr/>
        </p:nvSpPr>
        <p:spPr>
          <a:xfrm>
            <a:off x="3271522" y="2021276"/>
            <a:ext cx="2156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effectLst/>
                <a:cs typeface="+mn-ea"/>
                <a:sym typeface="+mn-lt"/>
              </a:rPr>
              <a:t>ACL</a:t>
            </a:r>
            <a:r>
              <a:rPr lang="zh-CN" altLang="en-US" b="1" dirty="0">
                <a:solidFill>
                  <a:srgbClr val="C00000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ffectLst/>
                <a:cs typeface="+mn-ea"/>
                <a:sym typeface="+mn-lt"/>
              </a:rPr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1267080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Path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cs typeface="+mn-ea"/>
                <a:sym typeface="+mn-lt"/>
              </a:rPr>
              <a:t>2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.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Research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cs typeface="+mn-ea"/>
                <a:sym typeface="+mn-lt"/>
              </a:rPr>
              <a:t>on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AI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C6102AE-4B19-C0C5-0A1A-57D2EB57302B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FA7D2D-7E72-145F-37F8-511490CECD5A}"/>
              </a:ext>
            </a:extLst>
          </p:cNvPr>
          <p:cNvSpPr txBox="1"/>
          <p:nvPr/>
        </p:nvSpPr>
        <p:spPr>
          <a:xfrm>
            <a:off x="521567" y="984567"/>
            <a:ext cx="6235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effectLst/>
                <a:cs typeface="+mn-ea"/>
                <a:sym typeface="+mn-lt"/>
              </a:rPr>
              <a:t>2.2</a:t>
            </a:r>
            <a:r>
              <a:rPr lang="zh-CN" altLang="en-US" sz="3200" b="1" dirty="0">
                <a:effectLst/>
                <a:cs typeface="+mn-ea"/>
                <a:sym typeface="+mn-lt"/>
              </a:rPr>
              <a:t> 经典范式的</a:t>
            </a:r>
            <a:r>
              <a:rPr lang="en-US" altLang="zh-CN" sz="3200" b="1" dirty="0">
                <a:effectLst/>
                <a:cs typeface="+mn-ea"/>
                <a:sym typeface="+mn-lt"/>
              </a:rPr>
              <a:t>LLM</a:t>
            </a:r>
            <a:r>
              <a:rPr lang="zh-CN" altLang="en-US" sz="3200" b="1" dirty="0">
                <a:effectLst/>
                <a:cs typeface="+mn-ea"/>
                <a:sym typeface="+mn-lt"/>
              </a:rPr>
              <a:t>复现</a:t>
            </a:r>
            <a:endParaRPr lang="en-US" altLang="zh-CN" sz="3200" b="1" dirty="0">
              <a:effectLst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9F2DBE-A051-EE33-013A-BCEA919032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98" y="1569342"/>
            <a:ext cx="9207049" cy="437792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23823AE-7A92-A38F-814A-10AA7C8B93DA}"/>
              </a:ext>
            </a:extLst>
          </p:cNvPr>
          <p:cNvSpPr txBox="1"/>
          <p:nvPr/>
        </p:nvSpPr>
        <p:spPr>
          <a:xfrm>
            <a:off x="9379560" y="1911642"/>
            <a:ext cx="257182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Theory of Mind (</a:t>
            </a:r>
            <a:r>
              <a:rPr lang="en-US" altLang="zh-CN" b="1" dirty="0" err="1"/>
              <a:t>ToM</a:t>
            </a:r>
            <a:r>
              <a:rPr lang="en-US" altLang="zh-CN" b="1" dirty="0"/>
              <a:t>) Task</a:t>
            </a:r>
            <a:r>
              <a:rPr lang="en-US" altLang="zh-CN" dirty="0"/>
              <a:t> </a:t>
            </a:r>
            <a:r>
              <a:rPr lang="zh-CN" altLang="en-US" dirty="0"/>
              <a:t>是心理学和认知科学中用来研究个体是否具备“心智理论”（</a:t>
            </a:r>
            <a:r>
              <a:rPr lang="en-US" altLang="zh-CN" dirty="0"/>
              <a:t>Theory of Mind, </a:t>
            </a:r>
            <a:r>
              <a:rPr lang="en-US" altLang="zh-CN" dirty="0" err="1"/>
              <a:t>ToM</a:t>
            </a:r>
            <a:r>
              <a:rPr lang="zh-CN" altLang="en-US" dirty="0"/>
              <a:t>）能力的一种实验方法。这种能力指的是理解和推测他人内心状态的能力，包括他人的信念、意图、欲望和情绪，甚至当这些状态与自己的不同或相矛盾时，也能正确地推测。</a:t>
            </a:r>
          </a:p>
        </p:txBody>
      </p:sp>
    </p:spTree>
    <p:extLst>
      <p:ext uri="{BB962C8B-B14F-4D97-AF65-F5344CB8AC3E}">
        <p14:creationId xmlns:p14="http://schemas.microsoft.com/office/powerpoint/2010/main" val="1621815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Path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cs typeface="+mn-ea"/>
                <a:sym typeface="+mn-lt"/>
              </a:rPr>
              <a:t>2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.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Research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cs typeface="+mn-ea"/>
                <a:sym typeface="+mn-lt"/>
              </a:rPr>
              <a:t>on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AI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C6102AE-4B19-C0C5-0A1A-57D2EB57302B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FA7D2D-7E72-145F-37F8-511490CECD5A}"/>
              </a:ext>
            </a:extLst>
          </p:cNvPr>
          <p:cNvSpPr txBox="1"/>
          <p:nvPr/>
        </p:nvSpPr>
        <p:spPr>
          <a:xfrm>
            <a:off x="521567" y="984567"/>
            <a:ext cx="6235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effectLst/>
                <a:cs typeface="+mn-ea"/>
                <a:sym typeface="+mn-lt"/>
              </a:rPr>
              <a:t>2.3</a:t>
            </a:r>
            <a:r>
              <a:rPr lang="zh-CN" altLang="en-US" sz="3200" b="1" dirty="0">
                <a:effectLst/>
                <a:cs typeface="+mn-ea"/>
                <a:sym typeface="+mn-lt"/>
              </a:rPr>
              <a:t> </a:t>
            </a:r>
            <a:r>
              <a:rPr lang="en-US" altLang="zh-CN" sz="3200" b="1" dirty="0">
                <a:effectLst/>
                <a:cs typeface="+mn-ea"/>
                <a:sym typeface="+mn-lt"/>
              </a:rPr>
              <a:t>LLM</a:t>
            </a:r>
            <a:r>
              <a:rPr lang="zh-CN" altLang="en-US" sz="3200" b="1" dirty="0">
                <a:effectLst/>
                <a:cs typeface="+mn-ea"/>
                <a:sym typeface="+mn-lt"/>
              </a:rPr>
              <a:t>推理及可解释性（？）</a:t>
            </a:r>
            <a:endParaRPr lang="en-US" altLang="zh-CN" sz="3200" b="1" dirty="0">
              <a:effectLst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0AD25F-10C8-6CFE-5570-137A5DCB12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376" y="2504560"/>
            <a:ext cx="5958603" cy="22010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93C326C-B938-F28F-4D33-EAE3EE4C8C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12" y="2416154"/>
            <a:ext cx="5162679" cy="253072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F4576B2-6422-E55D-6AB8-E5C34ED732C0}"/>
              </a:ext>
            </a:extLst>
          </p:cNvPr>
          <p:cNvSpPr txBox="1"/>
          <p:nvPr/>
        </p:nvSpPr>
        <p:spPr>
          <a:xfrm>
            <a:off x="5640164" y="3420428"/>
            <a:ext cx="4118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effectLst/>
              </a:rPr>
              <a:t>VS.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1517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Linguists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and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Computers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CA21981-7606-2A3D-3B75-CF48D0F412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05" y="1258100"/>
            <a:ext cx="3728755" cy="466471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2AC6DA5-62F0-4B2B-A09D-5702176BC69A}"/>
              </a:ext>
            </a:extLst>
          </p:cNvPr>
          <p:cNvSpPr txBox="1"/>
          <p:nvPr/>
        </p:nvSpPr>
        <p:spPr>
          <a:xfrm>
            <a:off x="5292538" y="1258100"/>
            <a:ext cx="62034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i="0" dirty="0">
                <a:solidFill>
                  <a:srgbClr val="202122"/>
                </a:solidFill>
                <a:effectLst/>
              </a:rPr>
              <a:t>“</a:t>
            </a:r>
            <a:r>
              <a:rPr lang="en-US" altLang="zh-CN" sz="3200" b="1" i="0" dirty="0">
                <a:solidFill>
                  <a:srgbClr val="202122"/>
                </a:solidFill>
                <a:effectLst/>
              </a:rPr>
              <a:t>Every time I fire a linguist, the performance of the speech recognizer goes up</a:t>
            </a:r>
            <a:r>
              <a:rPr lang="en-US" altLang="zh-CN" sz="3200" b="1" dirty="0">
                <a:solidFill>
                  <a:srgbClr val="202122"/>
                </a:solidFill>
              </a:rPr>
              <a:t>.</a:t>
            </a:r>
            <a:r>
              <a:rPr lang="zh-CN" altLang="en-US" sz="3200" b="1" i="0" dirty="0">
                <a:solidFill>
                  <a:srgbClr val="202122"/>
                </a:solidFill>
                <a:effectLst/>
              </a:rPr>
              <a:t>”</a:t>
            </a:r>
            <a:endParaRPr lang="zh-CN" altLang="en-US" sz="3200" b="1" dirty="0">
              <a:effectLst/>
              <a:highlight>
                <a:srgbClr val="FFFF00"/>
              </a:highlight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38D3D1-326E-8707-E6DC-A94B6719CA50}"/>
              </a:ext>
            </a:extLst>
          </p:cNvPr>
          <p:cNvSpPr txBox="1"/>
          <p:nvPr/>
        </p:nvSpPr>
        <p:spPr>
          <a:xfrm>
            <a:off x="2136404" y="5399845"/>
            <a:ext cx="2449456" cy="400110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n-US" altLang="zh-CN" sz="20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Frederick Jelinek</a:t>
            </a:r>
            <a:r>
              <a:rPr lang="en-US" altLang="zh-CN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endParaRPr lang="zh-CN" altLang="en-US" sz="2000" dirty="0"/>
          </a:p>
        </p:txBody>
      </p:sp>
      <p:sp>
        <p:nvSpPr>
          <p:cNvPr id="19" name="下箭头 18">
            <a:extLst>
              <a:ext uri="{FF2B5EF4-FFF2-40B4-BE49-F238E27FC236}">
                <a16:creationId xmlns:a16="http://schemas.microsoft.com/office/drawing/2014/main" id="{77D29519-1491-6775-8201-DACCC2F4BCCF}"/>
              </a:ext>
            </a:extLst>
          </p:cNvPr>
          <p:cNvSpPr/>
          <p:nvPr/>
        </p:nvSpPr>
        <p:spPr>
          <a:xfrm>
            <a:off x="7974767" y="3081617"/>
            <a:ext cx="1469036" cy="588364"/>
          </a:xfrm>
          <a:prstGeom prst="downArrow">
            <a:avLst/>
          </a:prstGeom>
          <a:solidFill>
            <a:schemeClr val="accent3">
              <a:lumMod val="75000"/>
              <a:lumOff val="25000"/>
            </a:schemeClr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6DA259-12C0-D16D-3FD9-97C973BA8809}"/>
              </a:ext>
            </a:extLst>
          </p:cNvPr>
          <p:cNvSpPr txBox="1"/>
          <p:nvPr/>
        </p:nvSpPr>
        <p:spPr>
          <a:xfrm>
            <a:off x="5502005" y="3923838"/>
            <a:ext cx="641456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3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Are</a:t>
            </a:r>
            <a:r>
              <a:rPr lang="zh-CN" altLang="en-US" sz="3200" dirty="0">
                <a:solidFill>
                  <a:schemeClr val="accent3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200" dirty="0">
                <a:solidFill>
                  <a:schemeClr val="accent3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we</a:t>
            </a:r>
            <a:r>
              <a:rPr lang="zh-CN" altLang="en-US" sz="3200" dirty="0">
                <a:solidFill>
                  <a:schemeClr val="accent3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200" dirty="0">
                <a:solidFill>
                  <a:schemeClr val="accent3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really</a:t>
            </a:r>
            <a:r>
              <a:rPr lang="zh-CN" altLang="en-US" sz="3200" dirty="0">
                <a:solidFill>
                  <a:schemeClr val="accent3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200" dirty="0">
                <a:solidFill>
                  <a:schemeClr val="accent3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excluded?</a:t>
            </a:r>
          </a:p>
          <a:p>
            <a:pPr algn="ctr"/>
            <a:r>
              <a:rPr lang="en-US" altLang="zh-CN" sz="2000" dirty="0">
                <a:cs typeface="+mn-ea"/>
                <a:sym typeface="+mn-lt"/>
              </a:rPr>
              <a:t>I mean, as</a:t>
            </a:r>
            <a:r>
              <a:rPr lang="zh-CN" altLang="en-US" sz="2000" dirty="0">
                <a:cs typeface="+mn-ea"/>
                <a:sym typeface="+mn-lt"/>
              </a:rPr>
              <a:t> </a:t>
            </a:r>
            <a:r>
              <a:rPr lang="en-US" altLang="zh-CN" sz="2000" dirty="0"/>
              <a:t>meaningless, subordinate, and insignificant?</a:t>
            </a:r>
            <a:endParaRPr lang="zh-CN" altLang="en-US" sz="2000" dirty="0">
              <a:effectLst/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B01E96D-74E8-6003-CA3A-D4626B7A2B67}"/>
              </a:ext>
            </a:extLst>
          </p:cNvPr>
          <p:cNvSpPr/>
          <p:nvPr/>
        </p:nvSpPr>
        <p:spPr>
          <a:xfrm>
            <a:off x="8885439" y="4991809"/>
            <a:ext cx="2449456" cy="892552"/>
          </a:xfrm>
          <a:prstGeom prst="rect">
            <a:avLst/>
          </a:prstGeom>
          <a:noFill/>
          <a:ln>
            <a:solidFill>
              <a:schemeClr val="accent3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Be</a:t>
            </a:r>
            <a:r>
              <a:rPr kumimoji="1" lang="zh-CN" altLang="en-US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Open-minded</a:t>
            </a:r>
            <a:endParaRPr kumimoji="1" lang="zh-CN" altLang="en-US" dirty="0">
              <a:solidFill>
                <a:schemeClr val="accent3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BA33B4-2E3B-9E40-AFFD-5E5284546439}"/>
              </a:ext>
            </a:extLst>
          </p:cNvPr>
          <p:cNvSpPr/>
          <p:nvPr/>
        </p:nvSpPr>
        <p:spPr>
          <a:xfrm>
            <a:off x="5865159" y="4991809"/>
            <a:ext cx="2449456" cy="892552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Up</a:t>
            </a:r>
            <a:r>
              <a:rPr kumimoji="1" lang="zh-CN" altLang="en-US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to</a:t>
            </a:r>
            <a:r>
              <a:rPr kumimoji="1" lang="zh-CN" altLang="en-US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your</a:t>
            </a:r>
            <a:r>
              <a:rPr kumimoji="1" lang="zh-CN" altLang="en-US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perspectives.</a:t>
            </a:r>
            <a:endParaRPr kumimoji="1" lang="zh-CN" altLang="en-US" dirty="0">
              <a:solidFill>
                <a:schemeClr val="accent3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171AC5-E0E9-1602-5990-E90050DFBEE8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</p:spTree>
    <p:extLst>
      <p:ext uri="{BB962C8B-B14F-4D97-AF65-F5344CB8AC3E}">
        <p14:creationId xmlns:p14="http://schemas.microsoft.com/office/powerpoint/2010/main" val="854971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50381" y="63730"/>
            <a:ext cx="804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Linguists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and</a:t>
            </a:r>
            <a:r>
              <a:rPr lang="zh-CN" altLang="en-US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Computers</a:t>
            </a:r>
            <a:endParaRPr lang="zh-CN" altLang="en-US" sz="36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0036F8-F986-E746-401F-721E043D3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67" y="-10677"/>
            <a:ext cx="671078" cy="720738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3171AC5-E0E9-1602-5990-E90050DFBEE8}"/>
              </a:ext>
            </a:extLst>
          </p:cNvPr>
          <p:cNvSpPr txBox="1"/>
          <p:nvPr/>
        </p:nvSpPr>
        <p:spPr>
          <a:xfrm>
            <a:off x="0" y="6455716"/>
            <a:ext cx="357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effectLst/>
                <a:cs typeface="+mn-ea"/>
                <a:sym typeface="+mn-lt"/>
              </a:rPr>
              <a:t>*如有任何知识性错误请随时指正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718FD0-206A-3412-7059-1DFB9F0D94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291" y="992088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60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39" y="250039"/>
            <a:ext cx="2420783" cy="67243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>
            <a:alphaModFix amt="7000"/>
          </a:blip>
          <a:srcRect b="11239"/>
          <a:stretch>
            <a:fillRect/>
          </a:stretch>
        </p:blipFill>
        <p:spPr>
          <a:xfrm>
            <a:off x="5729095" y="1083009"/>
            <a:ext cx="6506172" cy="5774991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3239952" y="1648666"/>
            <a:ext cx="8952048" cy="5209334"/>
            <a:chOff x="2607062" y="1571392"/>
            <a:chExt cx="8952048" cy="5209334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04" t="8388" b="7978"/>
            <a:stretch>
              <a:fillRect/>
            </a:stretch>
          </p:blipFill>
          <p:spPr>
            <a:xfrm flipH="1">
              <a:off x="2607062" y="1574800"/>
              <a:ext cx="8952048" cy="5205926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11062447" y="1571392"/>
              <a:ext cx="496663" cy="110984"/>
            </a:xfrm>
            <a:prstGeom prst="rect">
              <a:avLst/>
            </a:prstGeom>
            <a:solidFill>
              <a:srgbClr val="F3F8FD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0996706" y="1682376"/>
              <a:ext cx="562404" cy="45719"/>
            </a:xfrm>
            <a:prstGeom prst="rect">
              <a:avLst/>
            </a:prstGeom>
            <a:solidFill>
              <a:srgbClr val="F3F8FD"/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75113" y="1794600"/>
            <a:ext cx="80492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Are Linguists Excluded from Computational World? ‘Another Perspective’ is All You Need.</a:t>
            </a:r>
          </a:p>
        </p:txBody>
      </p:sp>
      <p:sp>
        <p:nvSpPr>
          <p:cNvPr id="21" name="矩形 20"/>
          <p:cNvSpPr/>
          <p:nvPr/>
        </p:nvSpPr>
        <p:spPr>
          <a:xfrm>
            <a:off x="543939" y="3872105"/>
            <a:ext cx="7160208" cy="61555"/>
          </a:xfrm>
          <a:prstGeom prst="rect">
            <a:avLst/>
          </a:prstGeom>
          <a:gradFill>
            <a:gsLst>
              <a:gs pos="50000">
                <a:srgbClr val="809FC4">
                  <a:alpha val="50813"/>
                </a:srgbClr>
              </a:gs>
              <a:gs pos="0">
                <a:srgbClr val="003F89"/>
              </a:gs>
              <a:gs pos="99000">
                <a:schemeClr val="bg1">
                  <a:alpha val="33000"/>
                </a:schemeClr>
              </a:gs>
            </a:gsLst>
            <a:lin ang="0" scaled="1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9875" y="4128660"/>
            <a:ext cx="80492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9"/>
                </a:solidFill>
                <a:effectLst/>
                <a:cs typeface="+mn-ea"/>
                <a:sym typeface="+mn-lt"/>
              </a:rPr>
              <a:t>分享人：刘艺萌（梁君英教授 团队）</a:t>
            </a:r>
            <a:endParaRPr lang="en-US" altLang="zh-CN" sz="2800" b="1" dirty="0">
              <a:solidFill>
                <a:srgbClr val="003F89"/>
              </a:solidFill>
              <a:effectLst/>
              <a:cs typeface="+mn-ea"/>
              <a:sym typeface="+mn-lt"/>
            </a:endParaRPr>
          </a:p>
          <a:p>
            <a:endParaRPr lang="en-US" altLang="zh-CN" sz="2800" dirty="0">
              <a:solidFill>
                <a:srgbClr val="003F89"/>
              </a:solidFill>
              <a:cs typeface="+mn-ea"/>
              <a:sym typeface="+mn-lt"/>
            </a:endParaRPr>
          </a:p>
          <a:p>
            <a:r>
              <a:rPr lang="zh-CN" altLang="en-US" sz="2800" dirty="0">
                <a:solidFill>
                  <a:srgbClr val="003F89"/>
                </a:solidFill>
                <a:cs typeface="+mn-ea"/>
                <a:sym typeface="+mn-lt"/>
              </a:rPr>
              <a:t>        </a:t>
            </a:r>
            <a:r>
              <a:rPr lang="en-US" altLang="zh-CN" sz="2800" dirty="0">
                <a:solidFill>
                  <a:srgbClr val="003F89"/>
                </a:solidFill>
                <a:cs typeface="+mn-ea"/>
                <a:sym typeface="+mn-lt"/>
              </a:rPr>
              <a:t>2024.12.25</a:t>
            </a:r>
            <a:endParaRPr lang="en-US" altLang="zh-CN" sz="2800" dirty="0">
              <a:solidFill>
                <a:srgbClr val="003F89"/>
              </a:solidFill>
              <a:effectLst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302A74-D0E4-971D-03A3-0CB4A85DD3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53" y="4679454"/>
            <a:ext cx="671078" cy="72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2832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NCwiaGRpZCI6IjViODZmYjI4OGQ0MDBjMTkxMzdlNTc2NWNiY2E3Y2M4IiwidXNlckNvdW50Ijo0fQ=="/>
</p:tagLst>
</file>

<file path=ppt/theme/theme1.xml><?xml version="1.0" encoding="utf-8"?>
<a:theme xmlns:a="http://schemas.openxmlformats.org/drawingml/2006/main" name="Office 主题​​">
  <a:themeElements>
    <a:clrScheme name="东方雅韵 中国风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AB75B"/>
      </a:accent1>
      <a:accent2>
        <a:srgbClr val="E2D8A6"/>
      </a:accent2>
      <a:accent3>
        <a:srgbClr val="200D0B"/>
      </a:accent3>
      <a:accent4>
        <a:srgbClr val="0E5765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9019b43-0e21-4163-96cb-4c9605e22c1b">
      <a:majorFont>
        <a:latin typeface="Book Antiqua"/>
        <a:ea typeface="微软雅黑"/>
        <a:cs typeface=""/>
      </a:majorFont>
      <a:minorFont>
        <a:latin typeface="Book Antiqu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Montserrat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ontserra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ontserrat"/>
        <a:ea typeface=""/>
        <a:cs typeface=""/>
        <a:font script="Jpan" typeface="ＭＳ Ｐゴシック"/>
        <a:font script="Hang" typeface="맑은 고딕"/>
        <a:font script="Hans" typeface="Montserrat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1620</Words>
  <Application>Microsoft Macintosh PowerPoint</Application>
  <PresentationFormat>宽屏</PresentationFormat>
  <Paragraphs>140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Montserrat</vt:lpstr>
      <vt:lpstr>Book Antiqua</vt:lpstr>
      <vt:lpstr>DFPLiJinHeiW8-GB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ming</dc:creator>
  <cp:lastModifiedBy> </cp:lastModifiedBy>
  <cp:revision>171</cp:revision>
  <dcterms:created xsi:type="dcterms:W3CDTF">2024-01-09T17:54:00Z</dcterms:created>
  <dcterms:modified xsi:type="dcterms:W3CDTF">2024-12-25T07:51:04Z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E4035D9A0FD741408955D2D6D61F54B2_12</vt:lpwstr>
  </property>
  <property fmtid="{D5CDD505-2E9C-101B-9397-08002B2CF9AE}" pid="3" name="KSOProductBuildVer">
    <vt:lpwstr>2052-12.1.0.18608</vt:lpwstr>
  </property>
  <property fmtid="{D5CDD505-2E9C-101B-9397-08002B2CF9AE}" pid="4" name="KSOTemplateUUID">
    <vt:lpwstr>v1.0_mb_xkIFJISz/aPnHvY/zir6cA==</vt:lpwstr>
  </property>
</Properties>
</file>