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23.JPG" ContentType="image/pn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48" r:id="rId2"/>
  </p:sldMasterIdLst>
  <p:notesMasterIdLst>
    <p:notesMasterId r:id="rId19"/>
  </p:notesMasterIdLst>
  <p:sldIdLst>
    <p:sldId id="1708" r:id="rId3"/>
    <p:sldId id="1681" r:id="rId4"/>
    <p:sldId id="1727" r:id="rId5"/>
    <p:sldId id="1714" r:id="rId6"/>
    <p:sldId id="1711" r:id="rId7"/>
    <p:sldId id="1713" r:id="rId8"/>
    <p:sldId id="1717" r:id="rId9"/>
    <p:sldId id="1721" r:id="rId10"/>
    <p:sldId id="1725" r:id="rId11"/>
    <p:sldId id="1722" r:id="rId12"/>
    <p:sldId id="1718" r:id="rId13"/>
    <p:sldId id="1723" r:id="rId14"/>
    <p:sldId id="1726" r:id="rId15"/>
    <p:sldId id="1719" r:id="rId16"/>
    <p:sldId id="1716" r:id="rId17"/>
    <p:sldId id="169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4BC5AEA-0C86-4D74-A5F9-7A3F90EB22B4}">
          <p14:sldIdLst>
            <p14:sldId id="1708"/>
            <p14:sldId id="1681"/>
            <p14:sldId id="1727"/>
            <p14:sldId id="1714"/>
            <p14:sldId id="1711"/>
            <p14:sldId id="1713"/>
            <p14:sldId id="1717"/>
            <p14:sldId id="1721"/>
            <p14:sldId id="1725"/>
            <p14:sldId id="1722"/>
            <p14:sldId id="1718"/>
            <p14:sldId id="1723"/>
            <p14:sldId id="1726"/>
            <p14:sldId id="1719"/>
            <p14:sldId id="1716"/>
            <p14:sldId id="16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1BFC"/>
    <a:srgbClr val="FE7C45"/>
    <a:srgbClr val="0067B0"/>
    <a:srgbClr val="41516B"/>
    <a:srgbClr val="FFE696"/>
    <a:srgbClr val="FF837D"/>
    <a:srgbClr val="034092"/>
    <a:srgbClr val="F2D013"/>
    <a:srgbClr val="2200B4"/>
    <a:srgbClr val="70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3" autoAdjust="0"/>
    <p:restoredTop sz="91735" autoAdjust="0"/>
  </p:normalViewPr>
  <p:slideViewPr>
    <p:cSldViewPr snapToGrid="0">
      <p:cViewPr varScale="1">
        <p:scale>
          <a:sx n="90" d="100"/>
          <a:sy n="90" d="100"/>
        </p:scale>
        <p:origin x="80" y="3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6E25A-B3D6-0642-A12C-D7878380EBD2}" type="datetimeFigureOut">
              <a:rPr kumimoji="1" lang="zh-CN" altLang="en-US" smtClean="0"/>
              <a:t>2023/11/23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154B1-2FE7-2C40-9A46-2D9422D3E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945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https://mp.weixin.qq.com/s/HhAks-FIDMD0a60AfNYYxw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2057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453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484-504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822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</a:rPr>
              <a:t>True </a:t>
            </a:r>
            <a:r>
              <a:rPr lang="en-US" altLang="zh-CN" b="0" i="0" dirty="0">
                <a:solidFill>
                  <a:srgbClr val="000000"/>
                </a:solidFill>
                <a:effectLst/>
              </a:rPr>
              <a:t>if any two atoms in a pair of residues are within 5 Å.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+mn-lt"/>
              </a:rPr>
              <a:t>Enough to represent folding propensity with these variables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, using a dual-cutoff approach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000000"/>
              </a:solidFill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8082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638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Or before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1922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AdvOT2e364b11"/>
                <a:ea typeface="宋体" panose="02010600030101010101" pitchFamily="2" charset="-122"/>
              </a:rPr>
              <a:t>have even more of an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AdvOT2e364b11"/>
              </a:rPr>
              <a:t>induced-folding character at 300 K.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3229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AdvOT2e364b11"/>
                <a:ea typeface="宋体" panose="02010600030101010101" pitchFamily="2" charset="-122"/>
              </a:rPr>
              <a:t>have even more of an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AdvOT2e364b11"/>
              </a:rPr>
              <a:t>induced-folding character at 300 K.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12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P</a:t>
            </a:r>
            <a:r>
              <a:rPr lang="en-US" altLang="zh-CN" baseline="-25000" dirty="0" err="1"/>
              <a:t>fold</a:t>
            </a:r>
            <a:r>
              <a:rPr lang="en-US" altLang="zh-CN" dirty="0"/>
              <a:t> was computed as the probability that the trajectory started from one of the frames of that bin would reach values of Q &gt; 0.95 before dissociating (Q = 0.0).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+mn-lt"/>
              </a:rPr>
              <a:t>states with intermediate levels of helicity and more conformational flexibility are more likely to make additional intermolecular contacts and ultimately form the stable native complex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0750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7447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588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AB says nothing?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3122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0F0F0F"/>
                </a:solidFill>
                <a:effectLst/>
                <a:latin typeface="Söhne"/>
              </a:rPr>
              <a:t>In the TSE, the relative helicity of each residue was very similar to its helicity in the apo ensemble. </a:t>
            </a:r>
          </a:p>
          <a:p>
            <a:r>
              <a:rPr lang="en-US" altLang="zh-CN" b="0" i="0" dirty="0">
                <a:solidFill>
                  <a:srgbClr val="0F0F0F"/>
                </a:solidFill>
                <a:effectLst/>
                <a:latin typeface="Söhne"/>
              </a:rPr>
              <a:t>The unifying feature of the TSE appears to be the insertion of L498 and L495 in the binding groove of XD, while the structure and relative orientation of the NTAIL α-</a:t>
            </a:r>
            <a:r>
              <a:rPr lang="en-US" altLang="zh-CN" b="0" i="0" dirty="0" err="1">
                <a:solidFill>
                  <a:srgbClr val="0F0F0F"/>
                </a:solidFill>
                <a:effectLst/>
                <a:latin typeface="Söhne"/>
              </a:rPr>
              <a:t>MoRE</a:t>
            </a:r>
            <a:r>
              <a:rPr lang="en-US" altLang="zh-CN" b="0" i="0" dirty="0">
                <a:solidFill>
                  <a:srgbClr val="0F0F0F"/>
                </a:solidFill>
                <a:effectLst/>
                <a:latin typeface="Söhne"/>
              </a:rPr>
              <a:t> are highly heterogeneous.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1127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Early formation of large amounts of secondary structure does not significantly facilitate progress along folding-upon-binding transition paths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0065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8000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F09C09-57F0-401E-914C-55AD4EC2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B730A-D6A8-4367-9340-616353999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7AA53-DF53-41D5-890D-1E77B922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FF102-37FF-4AB8-ABB3-62038DDF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CF96D-0341-4A5E-8974-D9D41BED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5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05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14A5CD-2F49-4758-8337-6D54A667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D55E93-1034-4BBC-9A0C-AEC9616D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62BEC-08A7-492D-A68E-D72A1488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ABE58-1D64-4DFA-8CCF-33606015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7D6C6-42D3-4F32-AC8A-75DACF54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340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504493-20B5-43D7-8EBC-6C1F35E8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9B1E5-631A-4528-8290-15E08E8B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456DF3-E16B-4C45-B923-89E73C7FA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586D4-7959-443F-AFD0-45206616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BB3DF-7BD2-457D-9B6D-1B6DC24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E9612-44B3-4E8E-8694-6FB52C18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79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6392E-6FE4-45F1-96CC-97978BC9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898865-5E57-4B42-8909-80DBC979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2D6B9-43DE-41D8-BB6E-9E1B0B256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C0E132-7240-44B0-9935-03A301827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FCBD-29DB-442A-8884-912732720B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03F58-7C49-43D5-A3D1-B3A969BE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D9A7E8-3C85-4801-9E4D-111A3B98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B2A24D-FBE5-4D56-AD80-01C1063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6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5D73AB-11D1-4981-9368-43F60872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B7B4CA-3CD6-4B49-877C-211DF73E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20833A-D84C-4AA5-A4E5-89293C09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1A098F-361B-45B7-9328-0C0CC880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07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B5D28D-AE9D-4887-A8CE-67AB1279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AFF75D-410E-4FF5-91F1-E635B2B4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B8D5D-EBBC-4D0B-81BA-D6EE7D1B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04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80F32D-4D49-416F-900C-56A021BA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A1975-CD99-4E06-9E45-D308D959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04A39-44D7-40D5-879F-9B291A6F3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018CF9-B53E-4812-BEF1-A52E0A34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403AC-06D8-4A58-A310-BBD1CF8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87A4F-9495-4E5A-9C28-E5809E5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57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ECD109-4A98-49F1-AC02-93949048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D343E-388B-4353-9336-2656832B0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BF39C-1448-4F68-AD3E-BFA9643DB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F964B-5762-4399-8D43-3F4D77D8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14C33-5019-4572-8BA2-48878300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2535E-DC52-4683-9666-75A5550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09C09-57F0-401E-914C-55AD4EC2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B730A-D6A8-4367-9340-616353999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7AA53-DF53-41D5-890D-1E77B922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FF102-37FF-4AB8-ABB3-62038DDF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CF96D-0341-4A5E-8974-D9D41BED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1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1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14A5CD-2F49-4758-8337-6D54A667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D55E93-1034-4BBC-9A0C-AEC9616D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62BEC-08A7-492D-A68E-D72A1488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ABE58-1D64-4DFA-8CCF-33606015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7D6C6-42D3-4F32-AC8A-75DACF54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789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504493-20B5-43D7-8EBC-6C1F35E8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9B1E5-631A-4528-8290-15E08E8B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456DF3-E16B-4C45-B923-89E73C7FA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586D4-7959-443F-AFD0-45206616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BB3DF-7BD2-457D-9B6D-1B6DC24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E9612-44B3-4E8E-8694-6FB52C18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655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6392E-6FE4-45F1-96CC-97978BC9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898865-5E57-4B42-8909-80DBC979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2D6B9-43DE-41D8-BB6E-9E1B0B256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C0E132-7240-44B0-9935-03A301827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FCBD-29DB-442A-8884-912732720B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03F58-7C49-43D5-A3D1-B3A969BE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D9A7E8-3C85-4801-9E4D-111A3B98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B2A24D-FBE5-4D56-AD80-01C1063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9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5D73AB-11D1-4981-9368-43F60872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B7B4CA-3CD6-4B49-877C-211DF73E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20833A-D84C-4AA5-A4E5-89293C09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1A098F-361B-45B7-9328-0C0CC880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423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B5D28D-AE9D-4887-A8CE-67AB1279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AFF75D-410E-4FF5-91F1-E635B2B4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B8D5D-EBBC-4D0B-81BA-D6EE7D1B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1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80F32D-4D49-416F-900C-56A021BA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A1975-CD99-4E06-9E45-D308D959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04A39-44D7-40D5-879F-9B291A6F3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018CF9-B53E-4812-BEF1-A52E0A34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403AC-06D8-4A58-A310-BBD1CF8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87A4F-9495-4E5A-9C28-E5809E5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745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ECD109-4A98-49F1-AC02-93949048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D343E-388B-4353-9336-2656832B0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BF39C-1448-4F68-AD3E-BFA9643DB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F964B-5762-4399-8D43-3F4D77D8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14C33-5019-4572-8BA2-48878300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2535E-DC52-4683-9666-75A5550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920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5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DD4DA5-7CDF-41C7-842B-C65E40C8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DD46D-0C86-4CE6-B4CB-E685DB67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25EA9-D021-48CB-A587-4B37D2A3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24D08-70E2-4241-866D-8CD5E7ACB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7F49E-E35F-4F73-9004-29599BB63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84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DD4DA5-7CDF-41C7-842B-C65E40C8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DD46D-0C86-4CE6-B4CB-E685DB67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25EA9-D021-48CB-A587-4B37D2A3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4E9F9-C78E-4B43-BFC4-7328A9A9B68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24D08-70E2-4241-866D-8CD5E7ACB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7F49E-E35F-4F73-9004-29599BB63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26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://dx.doi.org/10.1007/s12551-017-0346-7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73/pnas.130838111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hyperlink" Target="http://dx.doi.org/10.3389/fmicb.2019.0183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7A0399-8504-F633-7A52-F4BED10B4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74" y="917524"/>
            <a:ext cx="9314431" cy="31029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37E393-DB39-F851-B223-BDA930958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74" y="4322378"/>
            <a:ext cx="6052384" cy="2001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CBB26C-6E6E-FA5B-EC1A-7F2B1E391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286" y="4322378"/>
            <a:ext cx="2071787" cy="200197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BC71296-B7DB-8FCB-C492-290895CCA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3091" y="3078474"/>
            <a:ext cx="3121573" cy="107829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altLang="zh-CN" dirty="0"/>
              <a:t>Reporter: </a:t>
            </a:r>
            <a:r>
              <a:rPr lang="zh-CN" altLang="en-US" dirty="0"/>
              <a:t>高旭帆</a:t>
            </a:r>
            <a:endParaRPr lang="en-US" altLang="zh-C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altLang="zh-CN" dirty="0"/>
              <a:t>Date: 2023.11.24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77F6716-D275-CCF7-6D2F-85517AA3C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443" y="4322379"/>
            <a:ext cx="1595380" cy="200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5CB2CE-7B86-071D-6D5C-FFCB67D8AF24}"/>
              </a:ext>
            </a:extLst>
          </p:cNvPr>
          <p:cNvSpPr txBox="1"/>
          <p:nvPr/>
        </p:nvSpPr>
        <p:spPr>
          <a:xfrm>
            <a:off x="9701846" y="6360409"/>
            <a:ext cx="1552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+mn-lt"/>
              </a:rPr>
              <a:t>D.E. Shaw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C2414-CFC9-32A2-3E6C-A37E8BEEF7D8}"/>
              </a:ext>
            </a:extLst>
          </p:cNvPr>
          <p:cNvSpPr txBox="1"/>
          <p:nvPr/>
        </p:nvSpPr>
        <p:spPr>
          <a:xfrm>
            <a:off x="8031125" y="6360409"/>
            <a:ext cx="928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+mn-lt"/>
              </a:rPr>
              <a:t>Paul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1097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Background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412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Folding-upon-binding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4930" y="6556510"/>
            <a:ext cx="567069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2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228FCC-C401-5906-F282-135FA16ACE1B}"/>
              </a:ext>
            </a:extLst>
          </p:cNvPr>
          <p:cNvSpPr txBox="1">
            <a:spLocks/>
          </p:cNvSpPr>
          <p:nvPr/>
        </p:nvSpPr>
        <p:spPr>
          <a:xfrm>
            <a:off x="6223140" y="1178873"/>
            <a:ext cx="6061453" cy="11533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latin typeface="+mn-lt"/>
              </a:rPr>
              <a:t>Also known as coupled folding and binding, binding-induced folding, disorder-to-order transitions</a:t>
            </a:r>
          </a:p>
          <a:p>
            <a:r>
              <a:rPr lang="en-US" altLang="zh-CN" sz="1800" dirty="0">
                <a:latin typeface="+mn-lt"/>
              </a:rPr>
              <a:t>Induced fit vs conformation selection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EA2378-8C8A-5068-B5D8-BC39DAF8F8E7}"/>
              </a:ext>
            </a:extLst>
          </p:cNvPr>
          <p:cNvSpPr txBox="1">
            <a:spLocks/>
          </p:cNvSpPr>
          <p:nvPr/>
        </p:nvSpPr>
        <p:spPr>
          <a:xfrm>
            <a:off x="6223140" y="3246477"/>
            <a:ext cx="5777474" cy="37636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+mn-lt"/>
              </a:rPr>
              <a:t>Highlights:</a:t>
            </a:r>
          </a:p>
          <a:p>
            <a:r>
              <a:rPr lang="en-US" altLang="zh-CN" sz="1800" dirty="0">
                <a:latin typeface="+mn-lt"/>
              </a:rPr>
              <a:t>200-μs unbiased all-atom MD simulation with Anton</a:t>
            </a:r>
          </a:p>
          <a:p>
            <a:r>
              <a:rPr lang="en-US" altLang="zh-CN" sz="1800" dirty="0">
                <a:latin typeface="+mn-lt"/>
              </a:rPr>
              <a:t>folding-upon-binding primarily occurred through induced-folding pathways</a:t>
            </a:r>
          </a:p>
          <a:p>
            <a:pPr lvl="1"/>
            <a:r>
              <a:rPr lang="en-US" altLang="zh-CN" sz="1600" dirty="0">
                <a:latin typeface="+mn-lt"/>
              </a:rPr>
              <a:t>conformations with more helical content were more likely to unbind than with intermediate helical content</a:t>
            </a:r>
          </a:p>
          <a:p>
            <a:r>
              <a:rPr lang="en-US" altLang="zh-CN" sz="1800" dirty="0">
                <a:latin typeface="+mn-lt"/>
              </a:rPr>
              <a:t>the transition state ensemble</a:t>
            </a:r>
          </a:p>
          <a:p>
            <a:pPr lvl="1"/>
            <a:r>
              <a:rPr lang="en-US" altLang="zh-CN" sz="1600" dirty="0">
                <a:latin typeface="+mn-lt"/>
              </a:rPr>
              <a:t>just a few key intermolecular contacts</a:t>
            </a:r>
          </a:p>
          <a:p>
            <a:pPr lvl="1"/>
            <a:r>
              <a:rPr lang="en-US" altLang="zh-CN" sz="1600" dirty="0">
                <a:latin typeface="+mn-lt"/>
              </a:rPr>
              <a:t>highly structurally heterogeneous</a:t>
            </a:r>
          </a:p>
          <a:p>
            <a:endParaRPr lang="en-US" altLang="zh-CN" sz="1600" dirty="0">
              <a:latin typeface="+mn-lt"/>
            </a:endParaRPr>
          </a:p>
        </p:txBody>
      </p:sp>
      <p:pic>
        <p:nvPicPr>
          <p:cNvPr id="8" name="Picture 2" descr="anton_full">
            <a:extLst>
              <a:ext uri="{FF2B5EF4-FFF2-40B4-BE49-F238E27FC236}">
                <a16:creationId xmlns:a16="http://schemas.microsoft.com/office/drawing/2014/main" id="{85CA1EB7-09A9-D4FE-6078-ABF06824C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181" y="3840041"/>
            <a:ext cx="3781793" cy="260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ig. 2">
            <a:extLst>
              <a:ext uri="{FF2B5EF4-FFF2-40B4-BE49-F238E27FC236}">
                <a16:creationId xmlns:a16="http://schemas.microsoft.com/office/drawing/2014/main" id="{93D144FC-828F-4181-02DB-E36F48A1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99" y="1122338"/>
            <a:ext cx="5116600" cy="244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44B87B-95E9-9FE2-9DF6-EE8DAD6169B7}"/>
              </a:ext>
            </a:extLst>
          </p:cNvPr>
          <p:cNvSpPr txBox="1"/>
          <p:nvPr/>
        </p:nvSpPr>
        <p:spPr>
          <a:xfrm>
            <a:off x="1901322" y="6585183"/>
            <a:ext cx="29733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1" u="none" strike="noStrike" dirty="0" err="1">
                <a:solidFill>
                  <a:schemeClr val="bg1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Biophys</a:t>
            </a:r>
            <a:r>
              <a:rPr lang="en-US" altLang="zh-CN" sz="1400" b="0" i="1" u="none" strike="noStrike" dirty="0">
                <a:solidFill>
                  <a:schemeClr val="bg1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Rev</a:t>
            </a:r>
            <a:r>
              <a:rPr lang="en-US" altLang="zh-CN" sz="1400" b="0" i="0" u="none" strike="noStrike" dirty="0">
                <a:solidFill>
                  <a:schemeClr val="bg1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2018, 10, 2, 163–81.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57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C48F6D-ADCB-D851-6812-CB83D6BB8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800500"/>
              </p:ext>
            </p:extLst>
          </p:nvPr>
        </p:nvGraphicFramePr>
        <p:xfrm>
          <a:off x="408424" y="5321421"/>
          <a:ext cx="6722479" cy="1112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71608">
                  <a:extLst>
                    <a:ext uri="{9D8B030D-6E8A-4147-A177-3AD203B41FA5}">
                      <a16:colId xmlns:a16="http://schemas.microsoft.com/office/drawing/2014/main" val="3523332921"/>
                    </a:ext>
                  </a:extLst>
                </a:gridCol>
                <a:gridCol w="2350964">
                  <a:extLst>
                    <a:ext uri="{9D8B030D-6E8A-4147-A177-3AD203B41FA5}">
                      <a16:colId xmlns:a16="http://schemas.microsoft.com/office/drawing/2014/main" val="1318128791"/>
                    </a:ext>
                  </a:extLst>
                </a:gridCol>
                <a:gridCol w="2799907">
                  <a:extLst>
                    <a:ext uri="{9D8B030D-6E8A-4147-A177-3AD203B41FA5}">
                      <a16:colId xmlns:a16="http://schemas.microsoft.com/office/drawing/2014/main" val="944152546"/>
                    </a:ext>
                  </a:extLst>
                </a:gridCol>
              </a:tblGrid>
              <a:tr h="339246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8100" marR="381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effectLst/>
                        </a:rPr>
                        <a:t>IDPs</a:t>
                      </a:r>
                      <a:endParaRPr lang="en-US" altLang="zh-C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38100" marR="381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effectLst/>
                        </a:rPr>
                        <a:t>Ligand/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</a:rPr>
                        <a:t>Globular proteins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38100" marR="38100" marT="63500" marB="63500" anchor="ctr"/>
                </a:tc>
                <a:extLst>
                  <a:ext uri="{0D108BD9-81ED-4DB2-BD59-A6C34878D82A}">
                    <a16:rowId xmlns:a16="http://schemas.microsoft.com/office/drawing/2014/main" val="4260085654"/>
                  </a:ext>
                </a:extLst>
              </a:tr>
              <a:tr h="2894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effectLst/>
                        </a:rPr>
                        <a:t>Mechanism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Induced-fit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chemeClr val="tx1"/>
                          </a:solidFill>
                          <a:effectLst/>
                        </a:rPr>
                        <a:t>Conformation selection</a:t>
                      </a:r>
                      <a:endParaRPr lang="fr-FR" sz="16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960649234"/>
                  </a:ext>
                </a:extLst>
              </a:tr>
              <a:tr h="28945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Reason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effectLst/>
                        </a:rPr>
                        <a:t>Slow folding in free form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effectLst/>
                        </a:rPr>
                        <a:t>Rapid </a:t>
                      </a:r>
                      <a:r>
                        <a:rPr lang="fr-FR" altLang="zh-CN" sz="1600" b="0" dirty="0">
                          <a:solidFill>
                            <a:schemeClr val="tx1"/>
                          </a:solidFill>
                          <a:effectLst/>
                        </a:rPr>
                        <a:t>conformational change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69641512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D4DA04-3888-9521-9974-7C5D04E97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323502"/>
              </p:ext>
            </p:extLst>
          </p:nvPr>
        </p:nvGraphicFramePr>
        <p:xfrm>
          <a:off x="555337" y="3604049"/>
          <a:ext cx="6428652" cy="14472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2884">
                  <a:extLst>
                    <a:ext uri="{9D8B030D-6E8A-4147-A177-3AD203B41FA5}">
                      <a16:colId xmlns:a16="http://schemas.microsoft.com/office/drawing/2014/main" val="3523332921"/>
                    </a:ext>
                  </a:extLst>
                </a:gridCol>
                <a:gridCol w="2142884">
                  <a:extLst>
                    <a:ext uri="{9D8B030D-6E8A-4147-A177-3AD203B41FA5}">
                      <a16:colId xmlns:a16="http://schemas.microsoft.com/office/drawing/2014/main" val="1318128791"/>
                    </a:ext>
                  </a:extLst>
                </a:gridCol>
                <a:gridCol w="2142884">
                  <a:extLst>
                    <a:ext uri="{9D8B030D-6E8A-4147-A177-3AD203B41FA5}">
                      <a16:colId xmlns:a16="http://schemas.microsoft.com/office/drawing/2014/main" val="944152546"/>
                    </a:ext>
                  </a:extLst>
                </a:gridCol>
              </a:tblGrid>
              <a:tr h="578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</a:rPr>
                        <a:t>Minimums</a:t>
                      </a:r>
                      <a:endParaRPr lang="zh-CN" sz="16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</a:rPr>
                        <a:t>Sα Range</a:t>
                      </a:r>
                      <a:endParaRPr lang="zh-CN" sz="16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</a:rPr>
                        <a:t>Percentage in Ensemble</a:t>
                      </a:r>
                      <a:endParaRPr lang="zh-CN" sz="16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0085654"/>
                  </a:ext>
                </a:extLst>
              </a:tr>
              <a:tr h="289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</a:rPr>
                        <a:t>Disordered State</a:t>
                      </a:r>
                      <a:endParaRPr lang="zh-CN" sz="16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</a:rPr>
                        <a:t>Sα &lt; 1</a:t>
                      </a:r>
                      <a:endParaRPr lang="zh-CN" sz="16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</a:rPr>
                        <a:t>39.8%</a:t>
                      </a:r>
                      <a:endParaRPr lang="zh-CN" sz="16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0649234"/>
                  </a:ext>
                </a:extLst>
              </a:tr>
              <a:tr h="289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</a:rPr>
                        <a:t>Compact State</a:t>
                      </a:r>
                      <a:endParaRPr lang="zh-CN" sz="16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</a:rPr>
                        <a:t>3 &lt; Sα &lt; 4</a:t>
                      </a:r>
                      <a:endParaRPr lang="zh-CN" sz="16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</a:rPr>
                        <a:t>13.0%</a:t>
                      </a:r>
                      <a:endParaRPr lang="zh-CN" sz="16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6415125"/>
                  </a:ext>
                </a:extLst>
              </a:tr>
              <a:tr h="289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</a:rPr>
                        <a:t>Complete Helix</a:t>
                      </a:r>
                      <a:endParaRPr lang="zh-CN" sz="16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</a:rPr>
                        <a:t>Sα &gt; 12</a:t>
                      </a:r>
                      <a:endParaRPr lang="zh-CN" sz="16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</a:rPr>
                        <a:t>0.3%</a:t>
                      </a:r>
                      <a:endParaRPr lang="zh-CN" sz="16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2205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6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Methods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10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System setup</a:t>
            </a:r>
            <a:endParaRPr lang="zh-CN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434" y="6556510"/>
            <a:ext cx="446566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4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46D2C7-96FA-009E-9201-B21D43507982}"/>
              </a:ext>
            </a:extLst>
          </p:cNvPr>
          <p:cNvSpPr txBox="1"/>
          <p:nvPr/>
        </p:nvSpPr>
        <p:spPr>
          <a:xfrm>
            <a:off x="7173799" y="6588391"/>
            <a:ext cx="30927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altLang="zh-CN" sz="1400" b="0" i="1" u="none" strike="noStrike" dirty="0">
                <a:solidFill>
                  <a:schemeClr val="bg1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 Natl Acad Sci</a:t>
            </a:r>
            <a:r>
              <a:rPr lang="pl-PL" altLang="zh-CN" sz="1400" b="0" i="0" u="none" strike="noStrike" dirty="0">
                <a:solidFill>
                  <a:schemeClr val="bg1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2013, 110, 40.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D7473C-3677-B525-E6F7-01A2C2EF559D}"/>
              </a:ext>
            </a:extLst>
          </p:cNvPr>
          <p:cNvSpPr txBox="1"/>
          <p:nvPr/>
        </p:nvSpPr>
        <p:spPr>
          <a:xfrm>
            <a:off x="2277502" y="6588391"/>
            <a:ext cx="2372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1" u="none" strike="noStrike" dirty="0">
                <a:solidFill>
                  <a:schemeClr val="bg1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 </a:t>
            </a:r>
            <a:r>
              <a:rPr lang="en-US" altLang="zh-CN" sz="1400" b="0" i="1" u="none" strike="noStrike" dirty="0" err="1">
                <a:solidFill>
                  <a:schemeClr val="bg1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Microbiol</a:t>
            </a:r>
            <a:r>
              <a:rPr lang="en-US" altLang="zh-CN" sz="1400" b="0" i="0" u="none" strike="noStrike" dirty="0">
                <a:solidFill>
                  <a:schemeClr val="bg1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2019, 10.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742679-0F98-1F5A-3E1E-313D61770828}"/>
              </a:ext>
            </a:extLst>
          </p:cNvPr>
          <p:cNvGrpSpPr/>
          <p:nvPr/>
        </p:nvGrpSpPr>
        <p:grpSpPr>
          <a:xfrm>
            <a:off x="5995120" y="1066478"/>
            <a:ext cx="5405984" cy="5522563"/>
            <a:chOff x="6639063" y="1066478"/>
            <a:chExt cx="5405984" cy="55225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02264C3-A2D3-3401-E513-BE8630A78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29228" y="1383591"/>
              <a:ext cx="4667673" cy="330655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934D48-F03A-D43E-CF70-A1E78A4FB36A}"/>
                </a:ext>
              </a:extLst>
            </p:cNvPr>
            <p:cNvSpPr txBox="1"/>
            <p:nvPr/>
          </p:nvSpPr>
          <p:spPr>
            <a:xfrm>
              <a:off x="6639063" y="4865236"/>
              <a:ext cx="5405984" cy="17238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800" dirty="0">
                  <a:latin typeface="+mn-lt"/>
                </a:rPr>
                <a:t>A classical system to investigate folding-upon-binding (PDB id: 1T6O)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/>
                <a:t>FF: </a:t>
              </a:r>
              <a:r>
                <a:rPr lang="en-US" altLang="zh-CN" dirty="0">
                  <a:solidFill>
                    <a:srgbClr val="8B1BFC"/>
                  </a:solidFill>
                </a:rPr>
                <a:t>a99SB-</a:t>
              </a:r>
              <a:r>
                <a:rPr lang="en-US" altLang="zh-CN" i="1" dirty="0">
                  <a:solidFill>
                    <a:srgbClr val="8B1BFC"/>
                  </a:solidFill>
                </a:rPr>
                <a:t>disp</a:t>
              </a:r>
              <a:r>
                <a:rPr lang="en-US" altLang="zh-CN" dirty="0"/>
                <a:t> </a:t>
              </a:r>
              <a:r>
                <a:rPr lang="en-US" altLang="zh-CN" dirty="0" err="1"/>
                <a:t>protein+water</a:t>
              </a:r>
              <a:r>
                <a:rPr lang="en-US" altLang="zh-CN" dirty="0"/>
                <a:t>, CHARMM22 ions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/>
                <a:t>2.5 fs time step, 1:2 RESPA scheme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endParaRPr lang="en-US" altLang="zh-CN" sz="1800" dirty="0">
                <a:latin typeface="+mn-l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F433C12-C5BA-C35D-5B74-AAE259F9B2F5}"/>
                </a:ext>
              </a:extLst>
            </p:cNvPr>
            <p:cNvSpPr txBox="1"/>
            <p:nvPr/>
          </p:nvSpPr>
          <p:spPr>
            <a:xfrm>
              <a:off x="7882558" y="1066478"/>
              <a:ext cx="37599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α-helical molecular recognition element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B9DA8DF-F13C-E078-145B-53FF14C65062}"/>
              </a:ext>
            </a:extLst>
          </p:cNvPr>
          <p:cNvGrpSpPr/>
          <p:nvPr/>
        </p:nvGrpSpPr>
        <p:grpSpPr>
          <a:xfrm>
            <a:off x="468022" y="1088267"/>
            <a:ext cx="6017263" cy="5313699"/>
            <a:chOff x="158934" y="1088267"/>
            <a:chExt cx="6017263" cy="531369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D24DE8B-CDEA-C456-523C-5632DB3A33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5916"/>
            <a:stretch/>
          </p:blipFill>
          <p:spPr>
            <a:xfrm>
              <a:off x="1051131" y="1088267"/>
              <a:ext cx="4319300" cy="5313699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8EC2968-88A4-E0B1-B332-D40DB55557D7}"/>
                </a:ext>
              </a:extLst>
            </p:cNvPr>
            <p:cNvSpPr/>
            <p:nvPr/>
          </p:nvSpPr>
          <p:spPr>
            <a:xfrm>
              <a:off x="4108361" y="2099967"/>
              <a:ext cx="703275" cy="578840"/>
            </a:xfrm>
            <a:prstGeom prst="rect">
              <a:avLst/>
            </a:prstGeom>
            <a:noFill/>
            <a:ln w="19050">
              <a:solidFill>
                <a:srgbClr val="FE7C4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466AA54-5383-E780-819D-7D6E7141EF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1636" y="1576746"/>
              <a:ext cx="1364561" cy="523220"/>
            </a:xfrm>
            <a:prstGeom prst="line">
              <a:avLst/>
            </a:prstGeom>
            <a:ln w="19050">
              <a:solidFill>
                <a:srgbClr val="FE7C4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9174DDD-462D-CFAA-82D7-ED71CA6E8436}"/>
                </a:ext>
              </a:extLst>
            </p:cNvPr>
            <p:cNvCxnSpPr>
              <a:cxnSpLocks/>
            </p:cNvCxnSpPr>
            <p:nvPr/>
          </p:nvCxnSpPr>
          <p:spPr>
            <a:xfrm>
              <a:off x="4811636" y="2678807"/>
              <a:ext cx="1318713" cy="1828799"/>
            </a:xfrm>
            <a:prstGeom prst="line">
              <a:avLst/>
            </a:prstGeom>
            <a:ln w="19050">
              <a:solidFill>
                <a:srgbClr val="FE7C4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3BDCD3-B47E-6415-D4C3-D4B60E93FEBA}"/>
                </a:ext>
              </a:extLst>
            </p:cNvPr>
            <p:cNvSpPr txBox="1"/>
            <p:nvPr/>
          </p:nvSpPr>
          <p:spPr>
            <a:xfrm>
              <a:off x="158934" y="3299886"/>
              <a:ext cx="16034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/>
                <a:t>measles virus </a:t>
              </a:r>
              <a:r>
                <a:rPr lang="en-US" altLang="zh-CN" dirty="0"/>
                <a:t>(</a:t>
              </a:r>
              <a:r>
                <a:rPr lang="zh-CN" altLang="en-US" dirty="0"/>
                <a:t>麻疹病毒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4C136CF-DDE4-715D-7635-8C898FB01556}"/>
                </a:ext>
              </a:extLst>
            </p:cNvPr>
            <p:cNvSpPr txBox="1"/>
            <p:nvPr/>
          </p:nvSpPr>
          <p:spPr>
            <a:xfrm>
              <a:off x="3953991" y="1538578"/>
              <a:ext cx="112529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X domain </a:t>
              </a:r>
              <a:r>
                <a:rPr lang="zh-CN" altLang="en-US" sz="1400" dirty="0"/>
                <a:t>（</a:t>
              </a:r>
              <a:r>
                <a:rPr lang="en-US" altLang="zh-CN" sz="1400" dirty="0"/>
                <a:t>458-506</a:t>
              </a:r>
              <a:r>
                <a:rPr lang="zh-CN" altLang="en-US" sz="1400" dirty="0"/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66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Methods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10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Definitions and reaction coordinates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6720" y="6556510"/>
            <a:ext cx="375279" cy="365125"/>
          </a:xfrm>
        </p:spPr>
        <p:txBody>
          <a:bodyPr/>
          <a:lstStyle/>
          <a:p>
            <a:pPr>
              <a:lnSpc>
                <a:spcPct val="120000"/>
              </a:lnSpc>
            </a:pPr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pPr>
                <a:lnSpc>
                  <a:spcPct val="120000"/>
                </a:lnSpc>
              </a:pPr>
              <a:t>5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4FAD01-0CAB-6B16-59F6-A9BABD976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46" y="3433293"/>
            <a:ext cx="1936850" cy="6286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20594BB-12DF-673F-86E2-370611E38A37}"/>
              </a:ext>
            </a:extLst>
          </p:cNvPr>
          <p:cNvSpPr txBox="1"/>
          <p:nvPr/>
        </p:nvSpPr>
        <p:spPr>
          <a:xfrm>
            <a:off x="5197730" y="3069942"/>
            <a:ext cx="6212224" cy="139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Q is the fraction of native intermolecular contacts</a:t>
            </a:r>
            <a:endParaRPr lang="en-US" altLang="zh-CN" b="0" i="0" dirty="0">
              <a:solidFill>
                <a:srgbClr val="000000"/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</a:rPr>
              <a:t>cutoff x</a:t>
            </a:r>
            <a:r>
              <a:rPr lang="en-US" altLang="zh-CN" b="0" i="0" baseline="-25000" dirty="0">
                <a:solidFill>
                  <a:srgbClr val="000000"/>
                </a:solidFill>
                <a:effectLst/>
              </a:rPr>
              <a:t>0</a:t>
            </a:r>
            <a:r>
              <a:rPr lang="en-US" altLang="zh-CN" b="0" i="0" dirty="0">
                <a:solidFill>
                  <a:srgbClr val="000000"/>
                </a:solidFill>
                <a:effectLst/>
              </a:rPr>
              <a:t> = 5 Å</a:t>
            </a:r>
            <a:endParaRPr lang="zh-CN" altLang="en-US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</a:rPr>
              <a:t>Native contacts were defined as those in crystal structure PDB 1T6O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5E03B00-24A5-BD91-A985-052B0CD0F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69" y="1418866"/>
            <a:ext cx="2019404" cy="95889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E17A20C-50E2-1E3A-94FD-0ACD97591A13}"/>
              </a:ext>
            </a:extLst>
          </p:cNvPr>
          <p:cNvSpPr txBox="1"/>
          <p:nvPr/>
        </p:nvSpPr>
        <p:spPr>
          <a:xfrm>
            <a:off x="5178597" y="1114842"/>
            <a:ext cx="7013402" cy="164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</a:t>
            </a:r>
            <a:r>
              <a:rPr lang="en-US" altLang="zh-CN" b="0" i="0" baseline="-25000" dirty="0">
                <a:solidFill>
                  <a:srgbClr val="000000"/>
                </a:solidFill>
                <a:effectLst/>
              </a:rPr>
              <a:t>α </a:t>
            </a:r>
            <a:r>
              <a:rPr lang="en-US" altLang="zh-CN" dirty="0"/>
              <a:t>is α-helical folding order parameter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Larger S</a:t>
            </a:r>
            <a:r>
              <a:rPr lang="en-US" altLang="zh-CN" b="0" i="0" baseline="-25000" dirty="0">
                <a:solidFill>
                  <a:srgbClr val="000000"/>
                </a:solidFill>
                <a:effectLst/>
              </a:rPr>
              <a:t>α</a:t>
            </a:r>
            <a:r>
              <a:rPr lang="en-US" altLang="zh-CN" b="0" i="0" dirty="0">
                <a:solidFill>
                  <a:srgbClr val="000000"/>
                </a:solidFill>
                <a:effectLst/>
              </a:rPr>
              <a:t>: more helical content. 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000000"/>
                </a:solidFill>
                <a:effectLst/>
              </a:rPr>
              <a:t>RMSD</a:t>
            </a:r>
            <a:r>
              <a:rPr lang="en-US" altLang="zh-CN" sz="1600" b="0" i="0" baseline="-25000" dirty="0">
                <a:solidFill>
                  <a:srgbClr val="000000"/>
                </a:solidFill>
                <a:effectLst/>
              </a:rPr>
              <a:t>α</a:t>
            </a:r>
            <a:r>
              <a:rPr lang="en-US" altLang="zh-CN" sz="1600" b="0" i="0" baseline="-25000" dirty="0" err="1">
                <a:solidFill>
                  <a:srgbClr val="000000"/>
                </a:solidFill>
                <a:effectLst/>
              </a:rPr>
              <a:t>i</a:t>
            </a:r>
            <a:r>
              <a:rPr lang="en-US" altLang="zh-CN" sz="1600" b="0" i="0" dirty="0">
                <a:solidFill>
                  <a:srgbClr val="000000"/>
                </a:solidFill>
                <a:effectLst/>
              </a:rPr>
              <a:t>: RMSD of the backbone atoms of the 6-residue fragment </a:t>
            </a:r>
            <a:r>
              <a:rPr lang="en-US" altLang="zh-CN" sz="1600" b="0" i="1" dirty="0" err="1">
                <a:solidFill>
                  <a:srgbClr val="000000"/>
                </a:solidFill>
                <a:effectLst/>
              </a:rPr>
              <a:t>i</a:t>
            </a:r>
            <a:r>
              <a:rPr lang="en-US" altLang="zh-CN" sz="1600" b="0" i="0" dirty="0">
                <a:solidFill>
                  <a:srgbClr val="000000"/>
                </a:solidFill>
                <a:effectLst/>
              </a:rPr>
              <a:t> from an ideal α-helical geometry; r</a:t>
            </a:r>
            <a:r>
              <a:rPr lang="en-US" altLang="zh-CN" sz="1600" b="0" i="0" baseline="-25000" dirty="0">
                <a:solidFill>
                  <a:srgbClr val="000000"/>
                </a:solidFill>
                <a:effectLst/>
              </a:rPr>
              <a:t>0</a:t>
            </a:r>
            <a:r>
              <a:rPr lang="en-US" altLang="zh-CN" sz="1600" b="0" i="0" dirty="0">
                <a:solidFill>
                  <a:srgbClr val="000000"/>
                </a:solidFill>
                <a:effectLst/>
              </a:rPr>
              <a:t> = 0.8 Å.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000000"/>
                </a:solidFill>
                <a:effectLst/>
              </a:rPr>
              <a:t>Sum over all consecutive 6-residue segments. Ranges from 0~13.</a:t>
            </a:r>
            <a:endParaRPr lang="zh-CN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D08D05-3E6E-EBC0-9DF6-CE3C6016511F}"/>
              </a:ext>
            </a:extLst>
          </p:cNvPr>
          <p:cNvSpPr txBox="1"/>
          <p:nvPr/>
        </p:nvSpPr>
        <p:spPr>
          <a:xfrm>
            <a:off x="740769" y="4890859"/>
            <a:ext cx="10967648" cy="105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Binding and unbinding events were determined as transitions between states where Q = 0 and Q &gt; 0.95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where values of Q were smoothed using a running average with a 2 ns window.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Each frame in the trajectory was assigned as either belonging to a transition path or not.</a:t>
            </a:r>
            <a:endParaRPr lang="zh-CN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FBF80B-3B11-D6C7-96E8-816D2D331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169" y="3284716"/>
            <a:ext cx="1316117" cy="9258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EDBBEA9-A714-D797-3E1F-7F8CCA625C2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6" t="35728" r="50000" b="42427"/>
          <a:stretch/>
        </p:blipFill>
        <p:spPr>
          <a:xfrm>
            <a:off x="2962710" y="1481771"/>
            <a:ext cx="1879269" cy="77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8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951EA861-A895-FFDD-74B1-4B282AD6A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0" y="1045723"/>
            <a:ext cx="8934105" cy="329121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10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Validation of methods with apo α-</a:t>
            </a:r>
            <a:r>
              <a:rPr lang="en-US" altLang="zh-CN" sz="2400" dirty="0" err="1">
                <a:cs typeface="Times New Roman" panose="02020603050405020304" pitchFamily="18" charset="0"/>
              </a:rPr>
              <a:t>MoRE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9488" y="6556510"/>
            <a:ext cx="602511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6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69E4FD-8838-A85E-CB83-1B90D13594DA}"/>
              </a:ext>
            </a:extLst>
          </p:cNvPr>
          <p:cNvSpPr txBox="1"/>
          <p:nvPr/>
        </p:nvSpPr>
        <p:spPr>
          <a:xfrm>
            <a:off x="7423455" y="4903995"/>
            <a:ext cx="4589867" cy="1283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B:</a:t>
            </a:r>
            <a:r>
              <a:rPr lang="en-US" altLang="zh-CN" dirty="0">
                <a:solidFill>
                  <a:srgbClr val="8B1BFC"/>
                </a:solidFill>
              </a:rPr>
              <a:t> in rough agreement with experiments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helical propensity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NMR chemical shifts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residual dipolar couplings (RDCs)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9A6C69F-F6E9-A4F1-3907-B8AA789EC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111" y="1413266"/>
            <a:ext cx="3978428" cy="1769931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481003-F87A-7963-1847-58E2F907E2C8}"/>
              </a:ext>
            </a:extLst>
          </p:cNvPr>
          <p:cNvCxnSpPr>
            <a:cxnSpLocks/>
          </p:cNvCxnSpPr>
          <p:nvPr/>
        </p:nvCxnSpPr>
        <p:spPr>
          <a:xfrm flipV="1">
            <a:off x="0" y="4584611"/>
            <a:ext cx="1219199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17DDCC6-8B58-748F-E22E-01DFD3B7C448}"/>
              </a:ext>
            </a:extLst>
          </p:cNvPr>
          <p:cNvSpPr txBox="1"/>
          <p:nvPr/>
        </p:nvSpPr>
        <p:spPr>
          <a:xfrm>
            <a:off x="613325" y="4932347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A: more expanded than previously reported NTAIL α-</a:t>
            </a:r>
            <a:r>
              <a:rPr lang="en-US" altLang="zh-CN" dirty="0" err="1"/>
              <a:t>MoRE</a:t>
            </a:r>
            <a:r>
              <a:rPr lang="en-US" altLang="zh-CN" dirty="0"/>
              <a:t> MD ensembles calculated with the CHARMM22* force field.</a:t>
            </a:r>
          </a:p>
        </p:txBody>
      </p:sp>
    </p:spTree>
    <p:extLst>
      <p:ext uri="{BB962C8B-B14F-4D97-AF65-F5344CB8AC3E}">
        <p14:creationId xmlns:p14="http://schemas.microsoft.com/office/powerpoint/2010/main" val="3372645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10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Contact formation and folding occur concurrently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544" y="6556510"/>
            <a:ext cx="758455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7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2AC2413-B307-5BAD-3936-3D60D4249301}"/>
              </a:ext>
            </a:extLst>
          </p:cNvPr>
          <p:cNvSpPr txBox="1">
            <a:spLocks/>
          </p:cNvSpPr>
          <p:nvPr/>
        </p:nvSpPr>
        <p:spPr>
          <a:xfrm>
            <a:off x="715865" y="5041238"/>
            <a:ext cx="6000467" cy="11596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latin typeface="+mn-lt"/>
              </a:rPr>
              <a:t>For 0 &lt; Q &lt; 0.1, low helical content (average S</a:t>
            </a:r>
            <a:r>
              <a:rPr lang="en-US" altLang="zh-CN" sz="1800" baseline="-25000" dirty="0">
                <a:latin typeface="+mn-lt"/>
              </a:rPr>
              <a:t>α</a:t>
            </a:r>
            <a:r>
              <a:rPr lang="en-US" altLang="zh-CN" sz="1800" dirty="0">
                <a:latin typeface="+mn-lt"/>
              </a:rPr>
              <a:t> = 3.7) </a:t>
            </a:r>
          </a:p>
          <a:p>
            <a:r>
              <a:rPr lang="en-US" altLang="zh-CN" sz="1800" dirty="0">
                <a:latin typeface="+mn-lt"/>
              </a:rPr>
              <a:t>A free-energy minimum at Q = 0.85 and S</a:t>
            </a:r>
            <a:r>
              <a:rPr lang="en-US" altLang="zh-CN" sz="1800" baseline="-25000" dirty="0">
                <a:latin typeface="+mn-lt"/>
              </a:rPr>
              <a:t>α</a:t>
            </a:r>
            <a:r>
              <a:rPr lang="en-US" altLang="zh-CN" sz="1800" dirty="0">
                <a:latin typeface="+mn-lt"/>
              </a:rPr>
              <a:t> = 5</a:t>
            </a:r>
          </a:p>
          <a:p>
            <a:r>
              <a:rPr lang="en-US" altLang="zh-CN" sz="1800" dirty="0">
                <a:latin typeface="+mn-lt"/>
              </a:rPr>
              <a:t>more helical content only after Q &gt; 0.95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059DCE-3EB0-A2AE-36AF-CC4CC9B56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978" y="997467"/>
            <a:ext cx="8473527" cy="3422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D4DC0F2-5EE5-E7AA-72D3-4ADA0911CA98}"/>
              </a:ext>
            </a:extLst>
          </p:cNvPr>
          <p:cNvSpPr txBox="1"/>
          <p:nvPr/>
        </p:nvSpPr>
        <p:spPr>
          <a:xfrm>
            <a:off x="548651" y="1425607"/>
            <a:ext cx="3145220" cy="1579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Why 400K?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XD domain remained folded, but melted </a:t>
            </a:r>
            <a:r>
              <a:rPr lang="el-GR" altLang="zh-CN" sz="1600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α-</a:t>
            </a:r>
            <a:r>
              <a:rPr lang="en-US" altLang="zh-CN" sz="1600" dirty="0" err="1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MoRE</a:t>
            </a:r>
            <a:endParaRPr lang="en-US" altLang="zh-CN" sz="1600" dirty="0"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Frequent (72) binding and unbinding transitions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5A1310-AC30-6141-0427-148C48F89246}"/>
              </a:ext>
            </a:extLst>
          </p:cNvPr>
          <p:cNvSpPr txBox="1"/>
          <p:nvPr/>
        </p:nvSpPr>
        <p:spPr>
          <a:xfrm>
            <a:off x="7713097" y="5255562"/>
            <a:ext cx="3658948" cy="72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+mn-lt"/>
              </a:rPr>
              <a:t>No conformation selection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Just induced folding</a:t>
            </a:r>
            <a:endParaRPr lang="zh-CN" alt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33DF275-1EBD-1E05-E990-EE1C6ACD7B3F}"/>
              </a:ext>
            </a:extLst>
          </p:cNvPr>
          <p:cNvSpPr/>
          <p:nvPr/>
        </p:nvSpPr>
        <p:spPr>
          <a:xfrm>
            <a:off x="6716332" y="5502732"/>
            <a:ext cx="790907" cy="232268"/>
          </a:xfrm>
          <a:prstGeom prst="rightArrow">
            <a:avLst/>
          </a:prstGeom>
          <a:solidFill>
            <a:srgbClr val="8B1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5CC9BD-658C-15A3-B21E-59B223B64131}"/>
              </a:ext>
            </a:extLst>
          </p:cNvPr>
          <p:cNvCxnSpPr>
            <a:cxnSpLocks/>
          </p:cNvCxnSpPr>
          <p:nvPr/>
        </p:nvCxnSpPr>
        <p:spPr>
          <a:xfrm flipV="1">
            <a:off x="0" y="4717037"/>
            <a:ext cx="1219199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17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8871AA0-4842-D5BC-EF15-26F2AC824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85" y="1058930"/>
            <a:ext cx="9341330" cy="35053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9FFD94E-4CB1-41C7-8476-569486B26E90}"/>
                  </a:ext>
                </a:extLst>
              </p:cNvPr>
              <p:cNvSpPr txBox="1"/>
              <p:nvPr/>
            </p:nvSpPr>
            <p:spPr>
              <a:xfrm>
                <a:off x="1813869" y="161541"/>
                <a:ext cx="7280512" cy="47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40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defRPr>
                </a:lvl1pPr>
              </a:lstStyle>
              <a:p>
                <a:pPr algn="l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Q</m:t>
                        </m:r>
                      </m:e>
                    </m:acc>
                  </m:oMath>
                </a14:m>
                <a:r>
                  <a:rPr lang="en-US" altLang="zh-CN" sz="2400" dirty="0"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2400" dirty="0"/>
                          <m:t>S</m:t>
                        </m:r>
                        <m:r>
                          <m:rPr>
                            <m:nor/>
                          </m:rPr>
                          <a:rPr lang="el-GR" altLang="zh-CN" sz="2400" baseline="-25000" dirty="0"/>
                          <m:t>α</m:t>
                        </m:r>
                      </m:e>
                    </m:acc>
                  </m:oMath>
                </a14:m>
                <a:r>
                  <a:rPr lang="en-US" altLang="zh-CN" sz="2400" dirty="0">
                    <a:cs typeface="Times New Roman" panose="02020603050405020304" pitchFamily="18" charset="0"/>
                  </a:rPr>
                  <a:t> in transition paths indicates induced folding 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9FFD94E-4CB1-41C7-8476-569486B26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869" y="161541"/>
                <a:ext cx="7280512" cy="474169"/>
              </a:xfrm>
              <a:prstGeom prst="rect">
                <a:avLst/>
              </a:prstGeom>
              <a:blipFill>
                <a:blip r:embed="rId4"/>
                <a:stretch>
                  <a:fillRect t="-6410" r="-335" b="-28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632" y="6556510"/>
            <a:ext cx="525367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8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433CB-1284-6135-C4CE-89BA42909BC0}"/>
              </a:ext>
            </a:extLst>
          </p:cNvPr>
          <p:cNvSpPr txBox="1"/>
          <p:nvPr/>
        </p:nvSpPr>
        <p:spPr>
          <a:xfrm>
            <a:off x="9384694" y="1741534"/>
            <a:ext cx="2055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Each color represents a path</a:t>
            </a:r>
            <a:endParaRPr lang="zh-CN" alt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38D217-881B-026F-F8FD-79B57813108E}"/>
              </a:ext>
            </a:extLst>
          </p:cNvPr>
          <p:cNvCxnSpPr>
            <a:cxnSpLocks/>
          </p:cNvCxnSpPr>
          <p:nvPr/>
        </p:nvCxnSpPr>
        <p:spPr>
          <a:xfrm flipV="1">
            <a:off x="0" y="4740554"/>
            <a:ext cx="1219199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5BDD32-44EB-327B-B32B-6E34E1950D64}"/>
                  </a:ext>
                </a:extLst>
              </p:cNvPr>
              <p:cNvSpPr txBox="1"/>
              <p:nvPr/>
            </p:nvSpPr>
            <p:spPr>
              <a:xfrm>
                <a:off x="279896" y="1308863"/>
                <a:ext cx="3094172" cy="1546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1800" dirty="0"/>
                  <a:t>normalized time averages of Q and S</a:t>
                </a:r>
                <a:r>
                  <a:rPr lang="en-US" altLang="zh-CN" sz="1800" baseline="-25000" dirty="0"/>
                  <a:t>α</a:t>
                </a: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Q</m:t>
                        </m:r>
                      </m:e>
                    </m:acc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800" i="1" smtClean="0"/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800" dirty="0"/>
                          <m:t>S</m:t>
                        </m:r>
                        <m:r>
                          <m:rPr>
                            <m:nor/>
                          </m:rPr>
                          <a:rPr lang="el-GR" altLang="zh-CN" sz="1800" baseline="-25000" dirty="0"/>
                          <m:t>α</m:t>
                        </m:r>
                      </m:e>
                    </m:acc>
                  </m:oMath>
                </a14:m>
                <a:r>
                  <a:rPr lang="en-US" altLang="zh-CN" dirty="0"/>
                  <a:t>=0: apo MD average</a:t>
                </a: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Q</m:t>
                        </m:r>
                      </m:e>
                    </m:acc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800" dirty="0"/>
                          <m:t>S</m:t>
                        </m:r>
                        <m:r>
                          <m:rPr>
                            <m:nor/>
                          </m:rPr>
                          <a:rPr lang="el-GR" altLang="zh-CN" sz="1800" baseline="-25000" dirty="0"/>
                          <m:t>α</m:t>
                        </m:r>
                      </m:e>
                    </m:acc>
                  </m:oMath>
                </a14:m>
                <a:r>
                  <a:rPr lang="en-US" altLang="zh-CN" dirty="0"/>
                  <a:t>=1: native complex</a:t>
                </a:r>
                <a:endParaRPr lang="zh-CN" alt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5BDD32-44EB-327B-B32B-6E34E1950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96" y="1308863"/>
                <a:ext cx="3094172" cy="1546514"/>
              </a:xfrm>
              <a:prstGeom prst="rect">
                <a:avLst/>
              </a:prstGeom>
              <a:blipFill>
                <a:blip r:embed="rId5"/>
                <a:stretch>
                  <a:fillRect l="-1775" r="-2367" b="-5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7175D03B-4F4E-C4DE-0B9D-A45561714B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6097" y="5247030"/>
                <a:ext cx="5157022" cy="1076856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800" dirty="0">
                    <a:latin typeface="+mn-lt"/>
                  </a:rPr>
                  <a:t>A: 71%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800" dirty="0"/>
                          <m:t>Q</m:t>
                        </m:r>
                      </m:e>
                    </m:acc>
                  </m:oMath>
                </a14:m>
                <a:r>
                  <a:rPr lang="en-US" altLang="zh-CN" sz="1800" dirty="0">
                    <a:latin typeface="+mn-lt"/>
                  </a:rPr>
                  <a:t> larger than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800" dirty="0"/>
                          <m:t>S</m:t>
                        </m:r>
                        <m:r>
                          <m:rPr>
                            <m:nor/>
                          </m:rPr>
                          <a:rPr lang="el-GR" altLang="zh-CN" sz="1800" baseline="-25000" dirty="0"/>
                          <m:t>α</m:t>
                        </m:r>
                      </m:e>
                    </m:acc>
                  </m:oMath>
                </a14:m>
                <a:r>
                  <a:rPr lang="en-US" altLang="zh-CN" sz="1800" dirty="0">
                    <a:latin typeface="+mn-lt"/>
                  </a:rPr>
                  <a:t>, some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800" dirty="0"/>
                          <m:t>S</m:t>
                        </m:r>
                        <m:r>
                          <m:rPr>
                            <m:nor/>
                          </m:rPr>
                          <a:rPr lang="el-GR" altLang="zh-CN" sz="1800" baseline="-25000" dirty="0"/>
                          <m:t>α</m:t>
                        </m:r>
                      </m:e>
                    </m:acc>
                  </m:oMath>
                </a14:m>
                <a:r>
                  <a:rPr lang="en-US" altLang="zh-CN" sz="1800" dirty="0">
                    <a:latin typeface="+mn-lt"/>
                  </a:rPr>
                  <a:t>&lt;0</a:t>
                </a:r>
              </a:p>
              <a:p>
                <a:r>
                  <a:rPr lang="en-US" altLang="zh-CN" sz="1800" dirty="0">
                    <a:latin typeface="+mn-lt"/>
                  </a:rPr>
                  <a:t>B: </a:t>
                </a:r>
                <a:r>
                  <a:rPr lang="en-US" altLang="zh-CN" sz="1800" dirty="0"/>
                  <a:t>S</a:t>
                </a:r>
                <a:r>
                  <a:rPr lang="en-US" altLang="zh-CN" sz="1800" baseline="-25000" dirty="0"/>
                  <a:t>α </a:t>
                </a:r>
                <a:r>
                  <a:rPr lang="en-US" altLang="zh-CN" sz="1800" dirty="0"/>
                  <a:t>is low or decreases before Q goes up</a:t>
                </a:r>
              </a:p>
              <a:p>
                <a:endParaRPr lang="en-US" altLang="zh-CN" sz="1800" dirty="0">
                  <a:latin typeface="+mn-lt"/>
                </a:endParaRPr>
              </a:p>
            </p:txBody>
          </p:sp>
        </mc:Choice>
        <mc:Fallback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7175D03B-4F4E-C4DE-0B9D-A45561714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97" y="5247030"/>
                <a:ext cx="5157022" cy="1076856"/>
              </a:xfrm>
              <a:prstGeom prst="rect">
                <a:avLst/>
              </a:prstGeom>
              <a:blipFill>
                <a:blip r:embed="rId6"/>
                <a:stretch>
                  <a:fillRect l="-709" t="-5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2EA7D1F-BDB3-D33B-9469-B6C4D90AF757}"/>
              </a:ext>
            </a:extLst>
          </p:cNvPr>
          <p:cNvSpPr txBox="1"/>
          <p:nvPr/>
        </p:nvSpPr>
        <p:spPr>
          <a:xfrm>
            <a:off x="6971214" y="5058603"/>
            <a:ext cx="5093195" cy="139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On average, formation of contacts is earlier than helices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i="1" dirty="0"/>
              <a:t>unfold-to-bind</a:t>
            </a:r>
            <a:r>
              <a:rPr lang="en-US" altLang="zh-CN" dirty="0"/>
              <a:t> mechanism? No clear ordering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B3F0DBE-7617-4D1D-283F-1CBD56BFA4E8}"/>
              </a:ext>
            </a:extLst>
          </p:cNvPr>
          <p:cNvSpPr/>
          <p:nvPr/>
        </p:nvSpPr>
        <p:spPr>
          <a:xfrm>
            <a:off x="5997430" y="5502732"/>
            <a:ext cx="790907" cy="232268"/>
          </a:xfrm>
          <a:prstGeom prst="rightArrow">
            <a:avLst/>
          </a:prstGeom>
          <a:solidFill>
            <a:srgbClr val="8B1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294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10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Normalized Q and S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α</a:t>
            </a:r>
            <a:r>
              <a:rPr lang="en-US" altLang="zh-CN" sz="2400" dirty="0">
                <a:cs typeface="Times New Roman" panose="02020603050405020304" pitchFamily="18" charset="0"/>
              </a:rPr>
              <a:t> in transition paths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632" y="6556510"/>
            <a:ext cx="525367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9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F001BE-539C-5D50-CB4C-42A90ADC0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4" y="1356881"/>
            <a:ext cx="6622967" cy="4535176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69E3B1D-C831-FB8D-2313-C42433DC8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928930"/>
              </p:ext>
            </p:extLst>
          </p:nvPr>
        </p:nvGraphicFramePr>
        <p:xfrm>
          <a:off x="6892578" y="2903855"/>
          <a:ext cx="5145744" cy="112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436">
                  <a:extLst>
                    <a:ext uri="{9D8B030D-6E8A-4147-A177-3AD203B41FA5}">
                      <a16:colId xmlns:a16="http://schemas.microsoft.com/office/drawing/2014/main" val="1046337028"/>
                    </a:ext>
                  </a:extLst>
                </a:gridCol>
                <a:gridCol w="1286436">
                  <a:extLst>
                    <a:ext uri="{9D8B030D-6E8A-4147-A177-3AD203B41FA5}">
                      <a16:colId xmlns:a16="http://schemas.microsoft.com/office/drawing/2014/main" val="1391817303"/>
                    </a:ext>
                  </a:extLst>
                </a:gridCol>
                <a:gridCol w="1322933">
                  <a:extLst>
                    <a:ext uri="{9D8B030D-6E8A-4147-A177-3AD203B41FA5}">
                      <a16:colId xmlns:a16="http://schemas.microsoft.com/office/drawing/2014/main" val="3811674734"/>
                    </a:ext>
                  </a:extLst>
                </a:gridCol>
                <a:gridCol w="1249939">
                  <a:extLst>
                    <a:ext uri="{9D8B030D-6E8A-4147-A177-3AD203B41FA5}">
                      <a16:colId xmlns:a16="http://schemas.microsoft.com/office/drawing/2014/main" val="3393561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Sα Increases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Sα Decreases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Sα Equal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5282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Q Increases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0.62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0.26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0.12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7804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Q Decreases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0.42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0.46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0.12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2722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Q Equal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0.33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0.49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0.18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161368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574486E-8B5E-CA46-A8E4-343C12442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069279"/>
              </p:ext>
            </p:extLst>
          </p:nvPr>
        </p:nvGraphicFramePr>
        <p:xfrm>
          <a:off x="6892578" y="1374849"/>
          <a:ext cx="5145744" cy="112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436">
                  <a:extLst>
                    <a:ext uri="{9D8B030D-6E8A-4147-A177-3AD203B41FA5}">
                      <a16:colId xmlns:a16="http://schemas.microsoft.com/office/drawing/2014/main" val="3068341979"/>
                    </a:ext>
                  </a:extLst>
                </a:gridCol>
                <a:gridCol w="1286436">
                  <a:extLst>
                    <a:ext uri="{9D8B030D-6E8A-4147-A177-3AD203B41FA5}">
                      <a16:colId xmlns:a16="http://schemas.microsoft.com/office/drawing/2014/main" val="3416312057"/>
                    </a:ext>
                  </a:extLst>
                </a:gridCol>
                <a:gridCol w="1286436">
                  <a:extLst>
                    <a:ext uri="{9D8B030D-6E8A-4147-A177-3AD203B41FA5}">
                      <a16:colId xmlns:a16="http://schemas.microsoft.com/office/drawing/2014/main" val="1524038766"/>
                    </a:ext>
                  </a:extLst>
                </a:gridCol>
                <a:gridCol w="1286436">
                  <a:extLst>
                    <a:ext uri="{9D8B030D-6E8A-4147-A177-3AD203B41FA5}">
                      <a16:colId xmlns:a16="http://schemas.microsoft.com/office/drawing/2014/main" val="2714307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Q Increases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Q Decreases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Q Equal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8339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Sα Increases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0.66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0.24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0.11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3173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Sα Decreases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0.42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0.37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0.21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9483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Sα Equal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</a:rPr>
                        <a:t>0.55</a:t>
                      </a:r>
                      <a:endParaRPr lang="zh-CN" sz="14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0.26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</a:rPr>
                        <a:t>0.19</a:t>
                      </a:r>
                      <a:endParaRPr lang="zh-CN" sz="14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18173141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55773272-2A13-7DCF-B550-4FE6C897C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682" y="4391585"/>
            <a:ext cx="5036992" cy="12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19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8" y="161541"/>
            <a:ext cx="7223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Higher level of helicity isn’t always better for folding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1256" y="6556510"/>
            <a:ext cx="460743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10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3BE60-61E8-D17E-7DC0-8E366DA12727}"/>
              </a:ext>
            </a:extLst>
          </p:cNvPr>
          <p:cNvCxnSpPr>
            <a:cxnSpLocks/>
          </p:cNvCxnSpPr>
          <p:nvPr/>
        </p:nvCxnSpPr>
        <p:spPr>
          <a:xfrm flipV="1">
            <a:off x="0" y="4584611"/>
            <a:ext cx="1219199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431C588-6110-AE49-7002-9B84605E3D4F}"/>
              </a:ext>
            </a:extLst>
          </p:cNvPr>
          <p:cNvSpPr txBox="1">
            <a:spLocks/>
          </p:cNvSpPr>
          <p:nvPr/>
        </p:nvSpPr>
        <p:spPr>
          <a:xfrm>
            <a:off x="212651" y="5041238"/>
            <a:ext cx="6503681" cy="11596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800" dirty="0">
                <a:cs typeface="Times New Roman" panose="02020603050405020304" pitchFamily="18" charset="0"/>
              </a:rPr>
              <a:t>Probability of folding and binding for every frame</a:t>
            </a:r>
            <a:endParaRPr lang="zh-CN" altLang="en-US" sz="1800" dirty="0"/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+mn-lt"/>
              </a:rPr>
              <a:t>States with 0.2 &lt; Q &lt; 0.6, S</a:t>
            </a:r>
            <a:r>
              <a:rPr lang="el-GR" altLang="zh-CN" sz="1800" baseline="-25000" dirty="0">
                <a:latin typeface="+mn-lt"/>
              </a:rPr>
              <a:t>α</a:t>
            </a:r>
            <a:r>
              <a:rPr lang="el-GR" altLang="zh-CN" sz="1800" dirty="0">
                <a:latin typeface="+mn-lt"/>
              </a:rPr>
              <a:t> &gt; 6 </a:t>
            </a:r>
            <a:r>
              <a:rPr lang="en-US" altLang="zh-CN" sz="1800" dirty="0">
                <a:latin typeface="+mn-lt"/>
              </a:rPr>
              <a:t>were less likely to fold than states with 0.2 &lt; Q &lt; 0.6, 4 &lt; S</a:t>
            </a:r>
            <a:r>
              <a:rPr lang="el-GR" altLang="zh-CN" sz="1800" baseline="-25000" dirty="0">
                <a:latin typeface="+mn-lt"/>
              </a:rPr>
              <a:t>α</a:t>
            </a:r>
            <a:r>
              <a:rPr lang="el-GR" altLang="zh-CN" sz="1800" dirty="0">
                <a:latin typeface="+mn-lt"/>
              </a:rPr>
              <a:t> </a:t>
            </a:r>
            <a:r>
              <a:rPr lang="en-US" altLang="zh-CN" sz="1800" dirty="0">
                <a:latin typeface="+mn-lt"/>
              </a:rPr>
              <a:t>&lt;</a:t>
            </a:r>
            <a:r>
              <a:rPr lang="el-GR" altLang="zh-CN" sz="1800" dirty="0">
                <a:latin typeface="+mn-lt"/>
              </a:rPr>
              <a:t> 6 </a:t>
            </a:r>
            <a:endParaRPr lang="en-US" altLang="zh-CN" sz="1800" dirty="0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3AF0AD-1BA2-D1E5-DDEE-E3CDCC6C0F11}"/>
              </a:ext>
            </a:extLst>
          </p:cNvPr>
          <p:cNvSpPr txBox="1"/>
          <p:nvPr/>
        </p:nvSpPr>
        <p:spPr>
          <a:xfrm>
            <a:off x="7599683" y="4955435"/>
            <a:ext cx="4656112" cy="139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+mn-lt"/>
              </a:rPr>
              <a:t>states with intermediate levels of helicity are more likely to make additional intermolecular contacts and ultimately form the stable native complex</a:t>
            </a:r>
            <a:endParaRPr lang="zh-CN" alt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D3E33A1-506E-8483-D668-EC5AE3778BCE}"/>
              </a:ext>
            </a:extLst>
          </p:cNvPr>
          <p:cNvSpPr/>
          <p:nvPr/>
        </p:nvSpPr>
        <p:spPr>
          <a:xfrm>
            <a:off x="6751772" y="5509820"/>
            <a:ext cx="790907" cy="232268"/>
          </a:xfrm>
          <a:prstGeom prst="rightArrow">
            <a:avLst/>
          </a:prstGeom>
          <a:solidFill>
            <a:srgbClr val="8B1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88F03E-9F58-B54F-5ECC-1463B4D8EF66}"/>
              </a:ext>
            </a:extLst>
          </p:cNvPr>
          <p:cNvGrpSpPr>
            <a:grpSpLocks noChangeAspect="1"/>
          </p:cNvGrpSpPr>
          <p:nvPr/>
        </p:nvGrpSpPr>
        <p:grpSpPr>
          <a:xfrm>
            <a:off x="1558577" y="1348932"/>
            <a:ext cx="4019955" cy="2778332"/>
            <a:chOff x="7347099" y="691814"/>
            <a:chExt cx="4466615" cy="308703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3BDAC0F-EC7F-BE6C-D69C-AFC78D0AB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7099" y="968335"/>
              <a:ext cx="3747351" cy="281051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D802D6-709A-6651-8F4A-E70BBA39E50A}"/>
                </a:ext>
              </a:extLst>
            </p:cNvPr>
            <p:cNvSpPr txBox="1"/>
            <p:nvPr/>
          </p:nvSpPr>
          <p:spPr>
            <a:xfrm>
              <a:off x="10730580" y="1196515"/>
              <a:ext cx="1083134" cy="3761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/>
                <a:t>bound</a:t>
              </a:r>
              <a:endParaRPr lang="zh-CN" altLang="en-US" sz="16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D05492-1E2E-4755-C8F6-0967F48A28A0}"/>
                </a:ext>
              </a:extLst>
            </p:cNvPr>
            <p:cNvSpPr txBox="1"/>
            <p:nvPr/>
          </p:nvSpPr>
          <p:spPr>
            <a:xfrm>
              <a:off x="10730585" y="3178692"/>
              <a:ext cx="786026" cy="3761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/>
                <a:t>free</a:t>
              </a:r>
              <a:endParaRPr lang="zh-CN" altLang="en-US" sz="16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587EAE6-09B8-DE91-3D85-7CB8F4C90D78}"/>
                    </a:ext>
                  </a:extLst>
                </p:cNvPr>
                <p:cNvSpPr txBox="1"/>
                <p:nvPr/>
              </p:nvSpPr>
              <p:spPr>
                <a:xfrm>
                  <a:off x="8461671" y="691814"/>
                  <a:ext cx="1815248" cy="497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600" dirty="0"/>
                    <a:t>P</a:t>
                  </a:r>
                  <a:r>
                    <a:rPr lang="en-US" altLang="zh-CN" sz="1600" baseline="-25000" dirty="0" err="1"/>
                    <a:t>fold</a:t>
                  </a:r>
                  <a:r>
                    <a:rPr lang="en-US" altLang="zh-CN" sz="1600" dirty="0"/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/>
                          </m:ctrlPr>
                        </m:fPr>
                        <m:num>
                          <m:r>
                            <a:rPr lang="en-US" altLang="zh-CN" sz="1600" b="0" i="1" smtClean="0"/>
                            <m:t>2</m:t>
                          </m:r>
                        </m:num>
                        <m:den>
                          <m:r>
                            <a:rPr lang="en-US" altLang="zh-CN" sz="1600" b="0" i="1" smtClean="0"/>
                            <m:t>6</m:t>
                          </m:r>
                        </m:den>
                      </m:f>
                      <m:r>
                        <a:rPr lang="en-US" altLang="zh-CN" sz="1600" i="1"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1600" b="0" i="1" smtClean="0">
                          <a:ea typeface="Cambria Math" panose="02040503050406030204" pitchFamily="18" charset="0"/>
                        </a:rPr>
                        <m:t>0.33</m:t>
                      </m:r>
                    </m:oMath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587EAE6-09B8-DE91-3D85-7CB8F4C90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1671" y="691814"/>
                  <a:ext cx="1815248" cy="497714"/>
                </a:xfrm>
                <a:prstGeom prst="rect">
                  <a:avLst/>
                </a:prstGeom>
                <a:blipFill>
                  <a:blip r:embed="rId4"/>
                  <a:stretch>
                    <a:fillRect l="-1866"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4359315-5A61-1F0A-9980-A6B70D6E11D7}"/>
              </a:ext>
            </a:extLst>
          </p:cNvPr>
          <p:cNvGrpSpPr/>
          <p:nvPr/>
        </p:nvGrpSpPr>
        <p:grpSpPr>
          <a:xfrm>
            <a:off x="6525301" y="968335"/>
            <a:ext cx="3603010" cy="3464248"/>
            <a:chOff x="4661057" y="968335"/>
            <a:chExt cx="3603010" cy="346424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EE4AA2-A266-4F0E-5C7F-0AC7170FE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1057" y="968335"/>
              <a:ext cx="3603010" cy="3464248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B1FB799-F468-575E-2C28-3256B69A69F9}"/>
                </a:ext>
              </a:extLst>
            </p:cNvPr>
            <p:cNvSpPr/>
            <p:nvPr/>
          </p:nvSpPr>
          <p:spPr>
            <a:xfrm>
              <a:off x="5734496" y="1079832"/>
              <a:ext cx="786809" cy="97579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06594D-4F7E-C21A-4B8D-7DB596C8BD0A}"/>
                </a:ext>
              </a:extLst>
            </p:cNvPr>
            <p:cNvSpPr/>
            <p:nvPr/>
          </p:nvSpPr>
          <p:spPr>
            <a:xfrm>
              <a:off x="5734496" y="2055628"/>
              <a:ext cx="786810" cy="333153"/>
            </a:xfrm>
            <a:prstGeom prst="rect">
              <a:avLst/>
            </a:prstGeom>
            <a:noFill/>
            <a:ln w="28575">
              <a:solidFill>
                <a:srgbClr val="8B1B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07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" title="fig:">
            <a:extLst>
              <a:ext uri="{FF2B5EF4-FFF2-40B4-BE49-F238E27FC236}">
                <a16:creationId xmlns:a16="http://schemas.microsoft.com/office/drawing/2014/main" id="{72ED2193-D050-D92F-E4DD-461FD5A79CF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5899564" y="920250"/>
            <a:ext cx="5334000" cy="563626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10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Optimization of Reaction Coordinate Q into R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0372" y="6556510"/>
            <a:ext cx="531627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11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A3A86F-0E41-5CAE-46D6-AB764BFD71E4}"/>
              </a:ext>
            </a:extLst>
          </p:cNvPr>
          <p:cNvSpPr txBox="1"/>
          <p:nvPr/>
        </p:nvSpPr>
        <p:spPr>
          <a:xfrm>
            <a:off x="726897" y="2009650"/>
            <a:ext cx="4769067" cy="2056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Modification to the weight </a:t>
            </a:r>
            <a:r>
              <a:rPr lang="en-US" altLang="zh-CN" dirty="0" err="1"/>
              <a:t>w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  <a:r>
              <a:rPr lang="en-US" altLang="zh-CN" dirty="0"/>
              <a:t>was drawn from a Gaussian distribution centered at 0 with a standard deviation of 0.2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For an ideal reaction coordinate, p(TP|R) would resemble a Gaussian distribution with a maximum value of 0.5.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C81A04-B6A6-F5E1-E8B2-C2DCCF800CE2}"/>
              </a:ext>
            </a:extLst>
          </p:cNvPr>
          <p:cNvSpPr txBox="1"/>
          <p:nvPr/>
        </p:nvSpPr>
        <p:spPr>
          <a:xfrm>
            <a:off x="361142" y="1353903"/>
            <a:ext cx="50118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/>
              <a:t>Variational optimization algorithm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3546BE-6B69-A298-AA8A-13E51F37C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912" y="1359421"/>
            <a:ext cx="944675" cy="791768"/>
          </a:xfrm>
          <a:prstGeom prst="rect">
            <a:avLst/>
          </a:prstGeom>
        </p:spPr>
      </p:pic>
      <p:pic>
        <p:nvPicPr>
          <p:cNvPr id="7170" name="Picture 2" descr="Transition-state theory | Definition &amp; Facts | Britannica">
            <a:extLst>
              <a:ext uri="{FF2B5EF4-FFF2-40B4-BE49-F238E27FC236}">
                <a16:creationId xmlns:a16="http://schemas.microsoft.com/office/drawing/2014/main" id="{9444BBB6-A4E0-D445-D81F-18320F0E2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223" y="4115472"/>
            <a:ext cx="3292839" cy="246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632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10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Optimization of Reaction Coordinate Q into R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2902" y="6556510"/>
            <a:ext cx="489097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12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170ED-FC73-BA90-ADC2-889A53DA9F98}"/>
              </a:ext>
            </a:extLst>
          </p:cNvPr>
          <p:cNvSpPr txBox="1"/>
          <p:nvPr/>
        </p:nvSpPr>
        <p:spPr>
          <a:xfrm>
            <a:off x="668458" y="5225353"/>
            <a:ext cx="9517533" cy="105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Most weights are close to 0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Key contacts: insertion of residues of L495 and L498 into the XD biding groove</a:t>
            </a:r>
            <a:endParaRPr lang="zh-CN" altLang="en-US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BD463F-0501-091B-4394-557B1F257C78}"/>
              </a:ext>
            </a:extLst>
          </p:cNvPr>
          <p:cNvCxnSpPr>
            <a:cxnSpLocks/>
          </p:cNvCxnSpPr>
          <p:nvPr/>
        </p:nvCxnSpPr>
        <p:spPr>
          <a:xfrm flipV="1">
            <a:off x="0" y="4719290"/>
            <a:ext cx="1219199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041F72-98A1-B391-FAA7-963100B4F669}"/>
              </a:ext>
            </a:extLst>
          </p:cNvPr>
          <p:cNvGrpSpPr/>
          <p:nvPr/>
        </p:nvGrpSpPr>
        <p:grpSpPr>
          <a:xfrm>
            <a:off x="4097255" y="945741"/>
            <a:ext cx="6988960" cy="2498850"/>
            <a:chOff x="1545447" y="945741"/>
            <a:chExt cx="6988960" cy="24988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302B0A8-9E07-419E-ABAA-EDB4504C9A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4720" r="21863" b="20602"/>
            <a:stretch/>
          </p:blipFill>
          <p:spPr>
            <a:xfrm>
              <a:off x="1545447" y="1028973"/>
              <a:ext cx="6988960" cy="241561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3ACF71-9238-89B7-A6F7-B6F8723D4F93}"/>
                </a:ext>
              </a:extLst>
            </p:cNvPr>
            <p:cNvSpPr/>
            <p:nvPr/>
          </p:nvSpPr>
          <p:spPr>
            <a:xfrm>
              <a:off x="4671237" y="971107"/>
              <a:ext cx="396949" cy="1777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0215E4-7456-13AD-ED9D-676EE046AF2E}"/>
                </a:ext>
              </a:extLst>
            </p:cNvPr>
            <p:cNvSpPr/>
            <p:nvPr/>
          </p:nvSpPr>
          <p:spPr>
            <a:xfrm>
              <a:off x="7504359" y="945741"/>
              <a:ext cx="396949" cy="1777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1C70410-FFAE-C374-CC5F-7CFDBE6437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476" r="18493" b="63298"/>
          <a:stretch/>
        </p:blipFill>
        <p:spPr>
          <a:xfrm>
            <a:off x="1020720" y="1339156"/>
            <a:ext cx="4909890" cy="17281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B20708-EAFB-849A-702A-B75A170D6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907" y="3472943"/>
            <a:ext cx="8921655" cy="94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32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10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Optimization of Reaction Coordinate Q into R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2902" y="6556510"/>
            <a:ext cx="489097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13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11C964-E5B7-AF1E-D6B5-98987E140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19" y="1014880"/>
            <a:ext cx="5691852" cy="538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75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8" y="161541"/>
            <a:ext cx="7513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Heterogeneous Transition State Ensemble (TSE) with R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5814" y="6556510"/>
            <a:ext cx="496185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14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D32389-F644-2487-A1E6-EEC216E080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66" r="18454" b="17414"/>
          <a:stretch/>
        </p:blipFill>
        <p:spPr>
          <a:xfrm>
            <a:off x="7620319" y="991454"/>
            <a:ext cx="4456993" cy="3593066"/>
          </a:xfrm>
          <a:prstGeom prst="rect">
            <a:avLst/>
          </a:prstGeom>
        </p:spPr>
      </p:pic>
      <p:pic>
        <p:nvPicPr>
          <p:cNvPr id="8" name="Picture" title="fig:">
            <a:extLst>
              <a:ext uri="{FF2B5EF4-FFF2-40B4-BE49-F238E27FC236}">
                <a16:creationId xmlns:a16="http://schemas.microsoft.com/office/drawing/2014/main" id="{BB8BA043-32BB-5225-1776-3A926E1AC2C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282176" y="1023798"/>
            <a:ext cx="5334000" cy="275018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43295A-932D-593C-BBDA-DC9B8D3889EE}"/>
              </a:ext>
            </a:extLst>
          </p:cNvPr>
          <p:cNvSpPr txBox="1"/>
          <p:nvPr/>
        </p:nvSpPr>
        <p:spPr>
          <a:xfrm>
            <a:off x="191386" y="5375256"/>
            <a:ext cx="5844462" cy="72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A: In reasonable agreement with binomial distribution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C,D: no preferred structure/orientation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AEC981-21C7-66A8-D397-C22EB05C96B5}"/>
              </a:ext>
            </a:extLst>
          </p:cNvPr>
          <p:cNvSpPr txBox="1"/>
          <p:nvPr/>
        </p:nvSpPr>
        <p:spPr>
          <a:xfrm>
            <a:off x="6935155" y="5226012"/>
            <a:ext cx="5256844" cy="105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 is a good reaction coordinate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structure and relative orientation of the NTAIL α-</a:t>
            </a:r>
            <a:r>
              <a:rPr lang="en-US" altLang="zh-CN" dirty="0" err="1"/>
              <a:t>MoRE</a:t>
            </a:r>
            <a:r>
              <a:rPr lang="en-US" altLang="zh-CN" dirty="0"/>
              <a:t> are highly heterogeneous.</a:t>
            </a:r>
            <a:endParaRPr lang="zh-CN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9B3062-30CE-3151-D3CE-DE8D16F58C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915" b="-281"/>
          <a:stretch/>
        </p:blipFill>
        <p:spPr>
          <a:xfrm>
            <a:off x="114688" y="3881827"/>
            <a:ext cx="7950609" cy="86636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20A51B-8C90-705E-4D71-B70535AC3A65}"/>
              </a:ext>
            </a:extLst>
          </p:cNvPr>
          <p:cNvCxnSpPr>
            <a:cxnSpLocks/>
          </p:cNvCxnSpPr>
          <p:nvPr/>
        </p:nvCxnSpPr>
        <p:spPr>
          <a:xfrm flipV="1">
            <a:off x="0" y="4974469"/>
            <a:ext cx="1219199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0FDCF19-21CF-DA92-6FBB-2BD7CC534781}"/>
              </a:ext>
            </a:extLst>
          </p:cNvPr>
          <p:cNvSpPr/>
          <p:nvPr/>
        </p:nvSpPr>
        <p:spPr>
          <a:xfrm>
            <a:off x="6035848" y="5644497"/>
            <a:ext cx="790907" cy="232268"/>
          </a:xfrm>
          <a:prstGeom prst="rightArrow">
            <a:avLst/>
          </a:prstGeom>
          <a:solidFill>
            <a:srgbClr val="8B1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36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Summary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/>
          <p:nvPr/>
        </p:nvSpPr>
        <p:spPr>
          <a:xfrm>
            <a:off x="1813869" y="161541"/>
            <a:ext cx="710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/>
            <a:r>
              <a:rPr lang="en-US" altLang="zh-CN" sz="2400" dirty="0">
                <a:cs typeface="Times New Roman" panose="02020603050405020304" pitchFamily="18" charset="0"/>
              </a:rPr>
              <a:t>Discussion</a:t>
            </a:r>
            <a:endParaRPr lang="zh-CN" altLang="en-US" sz="2400" dirty="0"/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556510"/>
            <a:ext cx="487679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15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FA6D3-6B1E-4CA0-6040-A9C2C656C755}"/>
              </a:ext>
            </a:extLst>
          </p:cNvPr>
          <p:cNvSpPr txBox="1"/>
          <p:nvPr/>
        </p:nvSpPr>
        <p:spPr>
          <a:xfrm>
            <a:off x="551952" y="1242304"/>
            <a:ext cx="7364215" cy="5380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Using a state-of-the-art physics-based force field that overcomes recently documented deficiencies in descriptions of the secondary structure propensities and dimensions of disordered proteins.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The reasonably large number of folding and unfolding events observed in our simulation ensures that the observations made in this study are statistically meaningful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The dominance of pathways with more induced-folding character, in which folding occurs late in the transition path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Disordered regions may have a kinetic advantage over folded regions in progressing from an encounter complex to the stable bound state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The transition state ensemble is structurally extremely diverse, featuring helical and nonhelical structures and a range of different orientations of the peptide backbone chain</a:t>
            </a:r>
            <a:endParaRPr lang="zh-CN" altLang="en-US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826569-7484-3D8E-F21A-4234B569B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169" y="1335692"/>
            <a:ext cx="3841910" cy="47823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4DDB7D-5EF9-2511-4282-DB709E0D13BC}"/>
              </a:ext>
            </a:extLst>
          </p:cNvPr>
          <p:cNvSpPr txBox="1"/>
          <p:nvPr/>
        </p:nvSpPr>
        <p:spPr>
          <a:xfrm>
            <a:off x="7916169" y="903780"/>
            <a:ext cx="4084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cs typeface="Times New Roman" panose="02020603050405020304" pitchFamily="18" charset="0"/>
              </a:rPr>
              <a:t>Papers on the same topic/system</a:t>
            </a:r>
            <a:endParaRPr lang="zh-CN" alt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130D9B-AEE5-D973-C79E-D67F977E09B2}"/>
              </a:ext>
            </a:extLst>
          </p:cNvPr>
          <p:cNvSpPr txBox="1"/>
          <p:nvPr/>
        </p:nvSpPr>
        <p:spPr>
          <a:xfrm>
            <a:off x="7916168" y="6174970"/>
            <a:ext cx="4084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cs typeface="Times New Roman" panose="02020603050405020304" pitchFamily="18" charset="0"/>
              </a:rPr>
              <a:t>……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23975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385890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" y="117290"/>
            <a:ext cx="1385891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The end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9" name="矩形 25">
            <a:extLst>
              <a:ext uri="{FF2B5EF4-FFF2-40B4-BE49-F238E27FC236}">
                <a16:creationId xmlns:a16="http://schemas.microsoft.com/office/drawing/2014/main" id="{31F9E4F9-723C-86C2-5210-B56873CF0F21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6211A31F-A3BE-9D50-91C3-997E2FA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t>16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EA8D3A-1FBA-6380-36E8-D424F4CE542F}"/>
              </a:ext>
            </a:extLst>
          </p:cNvPr>
          <p:cNvSpPr/>
          <p:nvPr/>
        </p:nvSpPr>
        <p:spPr>
          <a:xfrm>
            <a:off x="1836660" y="2725458"/>
            <a:ext cx="8518679" cy="142757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rial"/>
                <a:ea typeface="微软雅黑"/>
                <a:cs typeface="+mn-cs"/>
              </a:rPr>
              <a:t>Thanks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90381217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50396</TotalTime>
  <Words>1140</Words>
  <Application>Microsoft Office PowerPoint</Application>
  <PresentationFormat>Widescreen</PresentationFormat>
  <Paragraphs>199</Paragraphs>
  <Slides>16</Slides>
  <Notes>15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AdvOT2e364b11</vt:lpstr>
      <vt:lpstr>Söhne</vt:lpstr>
      <vt:lpstr>等线</vt:lpstr>
      <vt:lpstr>微软雅黑</vt:lpstr>
      <vt:lpstr>Arial</vt:lpstr>
      <vt:lpstr>Cambria</vt:lpstr>
      <vt:lpstr>Cambria Math</vt:lpstr>
      <vt:lpstr>Times New Roman</vt:lpstr>
      <vt:lpstr>Wingdings</vt:lpstr>
      <vt:lpstr>1_Office 主题​​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Zhang</dc:creator>
  <cp:lastModifiedBy>Xufan Gao</cp:lastModifiedBy>
  <cp:revision>936</cp:revision>
  <dcterms:created xsi:type="dcterms:W3CDTF">2022-01-23T03:13:32Z</dcterms:created>
  <dcterms:modified xsi:type="dcterms:W3CDTF">2023-11-24T05:50:54Z</dcterms:modified>
</cp:coreProperties>
</file>