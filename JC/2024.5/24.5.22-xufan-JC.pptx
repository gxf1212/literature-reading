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Lst>
  <p:notesMasterIdLst>
    <p:notesMasterId r:id="rId18"/>
  </p:notesMasterIdLst>
  <p:sldIdLst>
    <p:sldId id="1644" r:id="rId3"/>
    <p:sldId id="1814" r:id="rId4"/>
    <p:sldId id="1823" r:id="rId5"/>
    <p:sldId id="1821" r:id="rId6"/>
    <p:sldId id="1829" r:id="rId7"/>
    <p:sldId id="1828" r:id="rId8"/>
    <p:sldId id="1832" r:id="rId9"/>
    <p:sldId id="1824" r:id="rId10"/>
    <p:sldId id="1807" r:id="rId11"/>
    <p:sldId id="1825" r:id="rId12"/>
    <p:sldId id="1826" r:id="rId13"/>
    <p:sldId id="1827" r:id="rId14"/>
    <p:sldId id="1831" r:id="rId15"/>
    <p:sldId id="1833" r:id="rId16"/>
    <p:sldId id="1698"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54ECA"/>
    <a:srgbClr val="79B6CB"/>
    <a:srgbClr val="FDB24C"/>
    <a:srgbClr val="FCC075"/>
    <a:srgbClr val="CECECD"/>
    <a:srgbClr val="9DCBD6"/>
    <a:srgbClr val="B4D4E2"/>
    <a:srgbClr val="0A7676"/>
    <a:srgbClr val="CAAA5B"/>
    <a:srgbClr val="9CC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5" autoAdjust="0"/>
    <p:restoredTop sz="88298" autoAdjust="0"/>
  </p:normalViewPr>
  <p:slideViewPr>
    <p:cSldViewPr snapToGrid="0">
      <p:cViewPr varScale="1">
        <p:scale>
          <a:sx n="97" d="100"/>
          <a:sy n="97" d="100"/>
        </p:scale>
        <p:origin x="60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1" d="100"/>
          <a:sy n="51" d="100"/>
        </p:scale>
        <p:origin x="2692"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6E25A-B3D6-0642-A12C-D7878380EBD2}" type="datetimeFigureOut">
              <a:rPr kumimoji="1" lang="zh-CN" altLang="en-US" smtClean="0"/>
              <a:t>2024/5/21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154B1-2FE7-2C40-9A46-2D9422D3E601}" type="slidenum">
              <a:rPr kumimoji="1" lang="zh-CN" altLang="en-US" smtClean="0"/>
              <a:t>‹#›</a:t>
            </a:fld>
            <a:endParaRPr kumimoji="1" lang="zh-CN" altLang="en-US"/>
          </a:p>
        </p:txBody>
      </p:sp>
    </p:spTree>
    <p:extLst>
      <p:ext uri="{BB962C8B-B14F-4D97-AF65-F5344CB8AC3E}">
        <p14:creationId xmlns:p14="http://schemas.microsoft.com/office/powerpoint/2010/main" val="2429456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2CA154B1-2FE7-2C40-9A46-2D9422D3E601}" type="slidenum">
              <a:rPr kumimoji="1" lang="zh-CN" altLang="en-US" smtClean="0"/>
              <a:t>1</a:t>
            </a:fld>
            <a:endParaRPr kumimoji="1" lang="zh-CN" altLang="en-US"/>
          </a:p>
        </p:txBody>
      </p:sp>
    </p:spTree>
    <p:extLst>
      <p:ext uri="{BB962C8B-B14F-4D97-AF65-F5344CB8AC3E}">
        <p14:creationId xmlns:p14="http://schemas.microsoft.com/office/powerpoint/2010/main" val="1752500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https://scholar.google.com/citations?hl=en&amp;user=AeVM8igAAAAJ&amp;view_op=list_works&amp;sortby=pubdate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https://www.linkedin.com/in/sanaa-mansoor/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https://www.bakerlab.org/</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2</a:t>
            </a:fld>
            <a:endParaRPr kumimoji="1" lang="zh-CN" altLang="en-US"/>
          </a:p>
        </p:txBody>
      </p:sp>
    </p:spTree>
    <p:extLst>
      <p:ext uri="{BB962C8B-B14F-4D97-AF65-F5344CB8AC3E}">
        <p14:creationId xmlns:p14="http://schemas.microsoft.com/office/powerpoint/2010/main" val="27746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3</a:t>
            </a:fld>
            <a:endParaRPr kumimoji="1" lang="zh-CN" altLang="en-US"/>
          </a:p>
        </p:txBody>
      </p:sp>
    </p:spTree>
    <p:extLst>
      <p:ext uri="{BB962C8B-B14F-4D97-AF65-F5344CB8AC3E}">
        <p14:creationId xmlns:p14="http://schemas.microsoft.com/office/powerpoint/2010/main" val="192448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https://pubs.rsc.org/en/content/articlelanding/2014/cp/c4cp00110a</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4</a:t>
            </a:fld>
            <a:endParaRPr kumimoji="1" lang="zh-CN" altLang="en-US"/>
          </a:p>
        </p:txBody>
      </p:sp>
    </p:spTree>
    <p:extLst>
      <p:ext uri="{BB962C8B-B14F-4D97-AF65-F5344CB8AC3E}">
        <p14:creationId xmlns:p14="http://schemas.microsoft.com/office/powerpoint/2010/main" val="695971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https://github.com/taldatech/soft-intro-vae-pytorch/blob/main/soft_intro_vae_tutorial/soft_intro_vae_image_code_tutorial.ipynb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https://www.youtube.com/watch?v=8zomhgKrsmQ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E414F"/>
                </a:solidFill>
                <a:effectLst/>
                <a:highlight>
                  <a:srgbClr val="FFFFFF"/>
                </a:highlight>
                <a:latin typeface="Courier New" panose="02070309020205020404" pitchFamily="49" charset="0"/>
              </a:rPr>
              <a:t>@inproceedings{Huang2018IntroVAEIV, title={</a:t>
            </a:r>
            <a:r>
              <a:rPr lang="en-US" altLang="zh-CN" b="0" i="0" dirty="0" err="1">
                <a:solidFill>
                  <a:srgbClr val="2E414F"/>
                </a:solidFill>
                <a:effectLst/>
                <a:highlight>
                  <a:srgbClr val="FFFFFF"/>
                </a:highlight>
                <a:latin typeface="Courier New" panose="02070309020205020404" pitchFamily="49" charset="0"/>
              </a:rPr>
              <a:t>IntroVAE</a:t>
            </a:r>
            <a:r>
              <a:rPr lang="en-US" altLang="zh-CN" b="0" i="0" dirty="0">
                <a:solidFill>
                  <a:srgbClr val="2E414F"/>
                </a:solidFill>
                <a:effectLst/>
                <a:highlight>
                  <a:srgbClr val="FFFFFF"/>
                </a:highlight>
                <a:latin typeface="Courier New" panose="02070309020205020404" pitchFamily="49" charset="0"/>
              </a:rPr>
              <a:t>: Introspective Variational Autoencoders for Photographic Image Synthesis}, author={</a:t>
            </a:r>
            <a:r>
              <a:rPr lang="en-US" altLang="zh-CN" b="0" i="0" dirty="0" err="1">
                <a:solidFill>
                  <a:srgbClr val="2E414F"/>
                </a:solidFill>
                <a:effectLst/>
                <a:highlight>
                  <a:srgbClr val="FFFFFF"/>
                </a:highlight>
                <a:latin typeface="Courier New" panose="02070309020205020404" pitchFamily="49" charset="0"/>
              </a:rPr>
              <a:t>Huaibo</a:t>
            </a:r>
            <a:r>
              <a:rPr lang="en-US" altLang="zh-CN" b="0" i="0" dirty="0">
                <a:solidFill>
                  <a:srgbClr val="2E414F"/>
                </a:solidFill>
                <a:effectLst/>
                <a:highlight>
                  <a:srgbClr val="FFFFFF"/>
                </a:highlight>
                <a:latin typeface="Courier New" panose="02070309020205020404" pitchFamily="49" charset="0"/>
              </a:rPr>
              <a:t> Huang and </a:t>
            </a:r>
            <a:r>
              <a:rPr lang="en-US" altLang="zh-CN" b="0" i="0" dirty="0" err="1">
                <a:solidFill>
                  <a:srgbClr val="2E414F"/>
                </a:solidFill>
                <a:effectLst/>
                <a:highlight>
                  <a:srgbClr val="FFFFFF"/>
                </a:highlight>
                <a:latin typeface="Courier New" panose="02070309020205020404" pitchFamily="49" charset="0"/>
              </a:rPr>
              <a:t>Zhihang</a:t>
            </a:r>
            <a:r>
              <a:rPr lang="en-US" altLang="zh-CN" b="0" i="0" dirty="0">
                <a:solidFill>
                  <a:srgbClr val="2E414F"/>
                </a:solidFill>
                <a:effectLst/>
                <a:highlight>
                  <a:srgbClr val="FFFFFF"/>
                </a:highlight>
                <a:latin typeface="Courier New" panose="02070309020205020404" pitchFamily="49" charset="0"/>
              </a:rPr>
              <a:t> Li and Ran He and </a:t>
            </a:r>
            <a:r>
              <a:rPr lang="en-US" altLang="zh-CN" b="0" i="0" dirty="0" err="1">
                <a:solidFill>
                  <a:srgbClr val="2E414F"/>
                </a:solidFill>
                <a:effectLst/>
                <a:highlight>
                  <a:srgbClr val="FFFFFF"/>
                </a:highlight>
                <a:latin typeface="Courier New" panose="02070309020205020404" pitchFamily="49" charset="0"/>
              </a:rPr>
              <a:t>Zhenan</a:t>
            </a:r>
            <a:r>
              <a:rPr lang="en-US" altLang="zh-CN" b="0" i="0" dirty="0">
                <a:solidFill>
                  <a:srgbClr val="2E414F"/>
                </a:solidFill>
                <a:effectLst/>
                <a:highlight>
                  <a:srgbClr val="FFFFFF"/>
                </a:highlight>
                <a:latin typeface="Courier New" panose="02070309020205020404" pitchFamily="49" charset="0"/>
              </a:rPr>
              <a:t> Sun and </a:t>
            </a:r>
            <a:r>
              <a:rPr lang="en-US" altLang="zh-CN" b="0" i="0" dirty="0" err="1">
                <a:solidFill>
                  <a:srgbClr val="2E414F"/>
                </a:solidFill>
                <a:effectLst/>
                <a:highlight>
                  <a:srgbClr val="FFFFFF"/>
                </a:highlight>
                <a:latin typeface="Courier New" panose="02070309020205020404" pitchFamily="49" charset="0"/>
              </a:rPr>
              <a:t>Tieniu</a:t>
            </a:r>
            <a:r>
              <a:rPr lang="en-US" altLang="zh-CN" b="0" i="0" dirty="0">
                <a:solidFill>
                  <a:srgbClr val="2E414F"/>
                </a:solidFill>
                <a:effectLst/>
                <a:highlight>
                  <a:srgbClr val="FFFFFF"/>
                </a:highlight>
                <a:latin typeface="Courier New" panose="02070309020205020404" pitchFamily="49" charset="0"/>
              </a:rPr>
              <a:t> Tan}, </a:t>
            </a:r>
            <a:r>
              <a:rPr lang="en-US" altLang="zh-CN" b="0" i="0" dirty="0" err="1">
                <a:solidFill>
                  <a:srgbClr val="2E414F"/>
                </a:solidFill>
                <a:effectLst/>
                <a:highlight>
                  <a:srgbClr val="FFFFFF"/>
                </a:highlight>
                <a:latin typeface="Courier New" panose="02070309020205020404" pitchFamily="49" charset="0"/>
              </a:rPr>
              <a:t>booktitle</a:t>
            </a:r>
            <a:r>
              <a:rPr lang="en-US" altLang="zh-CN" b="0" i="0" dirty="0">
                <a:solidFill>
                  <a:srgbClr val="2E414F"/>
                </a:solidFill>
                <a:effectLst/>
                <a:highlight>
                  <a:srgbClr val="FFFFFF"/>
                </a:highlight>
                <a:latin typeface="Courier New" panose="02070309020205020404" pitchFamily="49" charset="0"/>
              </a:rPr>
              <a:t>={Neural Information Processing Systems}, year={2018}, </a:t>
            </a:r>
            <a:r>
              <a:rPr lang="en-US" altLang="zh-CN" b="0" i="0" dirty="0" err="1">
                <a:solidFill>
                  <a:srgbClr val="2E414F"/>
                </a:solidFill>
                <a:effectLst/>
                <a:highlight>
                  <a:srgbClr val="FFFFFF"/>
                </a:highlight>
                <a:latin typeface="Courier New" panose="02070309020205020404" pitchFamily="49" charset="0"/>
              </a:rPr>
              <a:t>url</a:t>
            </a:r>
            <a:r>
              <a:rPr lang="en-US" altLang="zh-CN" b="0" i="0" dirty="0">
                <a:solidFill>
                  <a:srgbClr val="2E414F"/>
                </a:solidFill>
                <a:effectLst/>
                <a:highlight>
                  <a:srgbClr val="FFFFFF"/>
                </a:highlight>
                <a:latin typeface="Courier New" panose="02070309020205020404" pitchFamily="49" charset="0"/>
              </a:rPr>
              <a:t>={https://api.semanticscholar.org/CorpusID:49865829} }</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5</a:t>
            </a:fld>
            <a:endParaRPr kumimoji="1" lang="zh-CN" altLang="en-US"/>
          </a:p>
        </p:txBody>
      </p:sp>
    </p:spTree>
    <p:extLst>
      <p:ext uri="{BB962C8B-B14F-4D97-AF65-F5344CB8AC3E}">
        <p14:creationId xmlns:p14="http://schemas.microsoft.com/office/powerpoint/2010/main" val="1793075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i="0" dirty="0">
                <a:solidFill>
                  <a:srgbClr val="000000"/>
                </a:solidFill>
                <a:effectLst/>
                <a:latin typeface="ArnoPro-Regular"/>
              </a:rPr>
              <a:t>selecting distinct K-Ras conformations deposited in the PDB that are </a:t>
            </a:r>
            <a:r>
              <a:rPr lang="en-US" altLang="zh-CN" sz="1800" b="1" i="0" dirty="0">
                <a:solidFill>
                  <a:srgbClr val="000000"/>
                </a:solidFill>
                <a:effectLst/>
                <a:latin typeface="ArnoPro-Regular"/>
              </a:rPr>
              <a:t>at least an angstrom </a:t>
            </a:r>
            <a:r>
              <a:rPr lang="en-US" altLang="zh-CN" sz="1800" b="0" i="0" dirty="0">
                <a:solidFill>
                  <a:srgbClr val="000000"/>
                </a:solidFill>
                <a:effectLst/>
                <a:latin typeface="ArnoPro-Regular"/>
              </a:rPr>
              <a:t>(calculated over C-alpha coordinates) away from each other as our ‘training set crystal structures.’ </a:t>
            </a:r>
            <a:br>
              <a:rPr lang="en-US" altLang="zh-CN" dirty="0"/>
            </a:b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6</a:t>
            </a:fld>
            <a:endParaRPr kumimoji="1" lang="zh-CN" altLang="en-US"/>
          </a:p>
        </p:txBody>
      </p:sp>
    </p:spTree>
    <p:extLst>
      <p:ext uri="{BB962C8B-B14F-4D97-AF65-F5344CB8AC3E}">
        <p14:creationId xmlns:p14="http://schemas.microsoft.com/office/powerpoint/2010/main" val="2864343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7</a:t>
            </a:fld>
            <a:endParaRPr kumimoji="1" lang="zh-CN" altLang="en-US"/>
          </a:p>
        </p:txBody>
      </p:sp>
    </p:spTree>
    <p:extLst>
      <p:ext uri="{BB962C8B-B14F-4D97-AF65-F5344CB8AC3E}">
        <p14:creationId xmlns:p14="http://schemas.microsoft.com/office/powerpoint/2010/main" val="3061339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highlight>
                  <a:srgbClr val="FFFFFF"/>
                </a:highlight>
                <a:latin typeface="system-ui"/>
              </a:rPr>
              <a:t>为确保采样结构与序列大致一致且物理上合理，我们根据</a:t>
            </a:r>
            <a:r>
              <a:rPr lang="en-US" altLang="zh-CN" b="0" i="0" dirty="0">
                <a:effectLst/>
                <a:highlight>
                  <a:srgbClr val="FFFFFF"/>
                </a:highlight>
                <a:latin typeface="system-ui"/>
              </a:rPr>
              <a:t>AF2</a:t>
            </a:r>
            <a:r>
              <a:rPr lang="zh-CN" altLang="en-US" b="0" i="0" dirty="0">
                <a:effectLst/>
                <a:highlight>
                  <a:srgbClr val="FFFFFF"/>
                </a:highlight>
                <a:latin typeface="system-ui"/>
              </a:rPr>
              <a:t>预测的氨基酸序列距离分布来引导采样。从均值为</a:t>
            </a:r>
            <a:r>
              <a:rPr lang="en-US" altLang="zh-CN" b="0" i="0" dirty="0">
                <a:effectLst/>
                <a:highlight>
                  <a:srgbClr val="FFFFFF"/>
                </a:highlight>
                <a:latin typeface="system-ui"/>
              </a:rPr>
              <a:t>0</a:t>
            </a:r>
            <a:r>
              <a:rPr lang="zh-CN" altLang="en-US" b="0" i="0" dirty="0">
                <a:effectLst/>
                <a:highlight>
                  <a:srgbClr val="FFFFFF"/>
                </a:highlight>
                <a:latin typeface="system-ui"/>
              </a:rPr>
              <a:t>，方差为</a:t>
            </a:r>
            <a:r>
              <a:rPr lang="en-US" altLang="zh-CN" b="0" i="0" dirty="0">
                <a:effectLst/>
                <a:highlight>
                  <a:srgbClr val="FFFFFF"/>
                </a:highlight>
                <a:latin typeface="system-ui"/>
              </a:rPr>
              <a:t>1</a:t>
            </a:r>
            <a:r>
              <a:rPr lang="zh-CN" altLang="en-US" b="0" i="0" dirty="0">
                <a:effectLst/>
                <a:highlight>
                  <a:srgbClr val="FFFFFF"/>
                </a:highlight>
                <a:latin typeface="system-ui"/>
              </a:rPr>
              <a:t>的正态分布中生成样本，解码为相应的</a:t>
            </a:r>
            <a:r>
              <a:rPr lang="en-US" altLang="zh-CN" b="0" i="0" dirty="0" err="1">
                <a:effectLst/>
                <a:highlight>
                  <a:srgbClr val="FFFFFF"/>
                </a:highlight>
                <a:latin typeface="system-ui"/>
              </a:rPr>
              <a:t>Cb</a:t>
            </a:r>
            <a:r>
              <a:rPr lang="zh-CN" altLang="en-US" b="0" i="0" dirty="0">
                <a:effectLst/>
                <a:highlight>
                  <a:srgbClr val="FFFFFF"/>
                </a:highlight>
                <a:latin typeface="system-ui"/>
              </a:rPr>
              <a:t>距离图，计算与</a:t>
            </a:r>
            <a:r>
              <a:rPr lang="en-US" altLang="zh-CN" b="0" i="0" dirty="0">
                <a:effectLst/>
                <a:highlight>
                  <a:srgbClr val="FFFFFF"/>
                </a:highlight>
                <a:latin typeface="system-ui"/>
              </a:rPr>
              <a:t>AF2</a:t>
            </a:r>
            <a:r>
              <a:rPr lang="zh-CN" altLang="en-US" b="0" i="0" dirty="0">
                <a:effectLst/>
                <a:highlight>
                  <a:srgbClr val="FFFFFF"/>
                </a:highlight>
                <a:latin typeface="system-ui"/>
              </a:rPr>
              <a:t>预测的序列距离图的</a:t>
            </a:r>
            <a:r>
              <a:rPr lang="en-US" altLang="zh-CN" b="0" i="0" dirty="0">
                <a:effectLst/>
                <a:highlight>
                  <a:srgbClr val="FFFFFF"/>
                </a:highlight>
                <a:latin typeface="system-ui"/>
              </a:rPr>
              <a:t>CCE</a:t>
            </a:r>
            <a:r>
              <a:rPr lang="zh-CN" altLang="en-US" b="0" i="0" dirty="0">
                <a:effectLst/>
                <a:highlight>
                  <a:srgbClr val="FFFFFF"/>
                </a:highlight>
                <a:latin typeface="system-ui"/>
              </a:rPr>
              <a:t>，并通过对</a:t>
            </a:r>
            <a:r>
              <a:rPr lang="en-US" altLang="zh-CN" b="0" i="0" dirty="0">
                <a:effectLst/>
                <a:highlight>
                  <a:srgbClr val="FFFFFF"/>
                </a:highlight>
                <a:latin typeface="system-ui"/>
              </a:rPr>
              <a:t>CCE</a:t>
            </a:r>
            <a:r>
              <a:rPr lang="zh-CN" altLang="en-US" b="0" i="0" dirty="0">
                <a:effectLst/>
                <a:highlight>
                  <a:srgbClr val="FFFFFF"/>
                </a:highlight>
                <a:latin typeface="system-ui"/>
              </a:rPr>
              <a:t>值进行梯度下降进行潜在空间的局部优化，以限制从起点开始的总距离，防止收敛。解码和</a:t>
            </a:r>
            <a:r>
              <a:rPr lang="en-US" altLang="zh-CN" b="0" i="0" dirty="0">
                <a:effectLst/>
                <a:highlight>
                  <a:srgbClr val="FFFFFF"/>
                </a:highlight>
                <a:latin typeface="system-ui"/>
              </a:rPr>
              <a:t>RF</a:t>
            </a:r>
            <a:r>
              <a:rPr lang="zh-CN" altLang="en-US" b="0" i="0" dirty="0">
                <a:effectLst/>
                <a:highlight>
                  <a:srgbClr val="FFFFFF"/>
                </a:highlight>
                <a:latin typeface="system-ui"/>
              </a:rPr>
              <a:t>结构生成后，使用坐标</a:t>
            </a:r>
            <a:r>
              <a:rPr lang="en-US" altLang="zh-CN" b="0" i="0" dirty="0">
                <a:effectLst/>
                <a:highlight>
                  <a:srgbClr val="FFFFFF"/>
                </a:highlight>
                <a:latin typeface="system-ui"/>
              </a:rPr>
              <a:t>RMSD</a:t>
            </a:r>
            <a:r>
              <a:rPr lang="zh-CN" altLang="en-US" b="0" i="0" dirty="0">
                <a:effectLst/>
                <a:highlight>
                  <a:srgbClr val="FFFFFF"/>
                </a:highlight>
                <a:latin typeface="system-ui"/>
              </a:rPr>
              <a:t>评估样本，以目标晶体对整体结构和隐蔽口袋环境（定义为与配体结合口袋内</a:t>
            </a:r>
            <a:r>
              <a:rPr lang="en-US" altLang="zh-CN" b="0" i="0" dirty="0">
                <a:effectLst/>
                <a:highlight>
                  <a:srgbClr val="FFFFFF"/>
                </a:highlight>
                <a:latin typeface="system-ui"/>
              </a:rPr>
              <a:t>5</a:t>
            </a:r>
            <a:r>
              <a:rPr lang="zh-CN" altLang="en-US" b="0" i="0" dirty="0">
                <a:effectLst/>
                <a:highlight>
                  <a:srgbClr val="FFFFFF"/>
                </a:highlight>
                <a:latin typeface="system-ui"/>
              </a:rPr>
              <a:t>埃的残基）进行重构。</a:t>
            </a:r>
            <a:endParaRPr lang="en-US" altLang="zh-CN" b="0" i="0" dirty="0">
              <a:effectLst/>
              <a:highlight>
                <a:srgbClr val="FFFFFF"/>
              </a:highligh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highlight>
                  <a:srgbClr val="FFFFFF"/>
                </a:highlight>
                <a:latin typeface="system-ui"/>
              </a:rPr>
              <a:t>初始化的隐空间坐标设置为可训练的。然后，每个样本被解码成相应的模板特征，且通过径向基函数（</a:t>
            </a:r>
            <a:r>
              <a:rPr lang="en-US" altLang="zh-CN" b="0" i="0" dirty="0">
                <a:effectLst/>
                <a:highlight>
                  <a:srgbClr val="FFFFFF"/>
                </a:highlight>
                <a:latin typeface="system-ui"/>
              </a:rPr>
              <a:t>Radial Basis Function</a:t>
            </a:r>
            <a:r>
              <a:rPr lang="zh-CN" altLang="en-US" b="0" i="0" dirty="0">
                <a:effectLst/>
                <a:highlight>
                  <a:srgbClr val="FFFFFF"/>
                </a:highlight>
                <a:latin typeface="system-ui"/>
              </a:rPr>
              <a:t>，</a:t>
            </a:r>
            <a:r>
              <a:rPr lang="en-US" altLang="zh-CN" b="0" i="0" dirty="0">
                <a:effectLst/>
                <a:highlight>
                  <a:srgbClr val="FFFFFF"/>
                </a:highlight>
                <a:latin typeface="system-ui"/>
              </a:rPr>
              <a:t>RBF</a:t>
            </a:r>
            <a:r>
              <a:rPr lang="zh-CN" altLang="en-US" b="0" i="0" dirty="0">
                <a:effectLst/>
                <a:highlight>
                  <a:srgbClr val="FFFFFF"/>
                </a:highlight>
                <a:latin typeface="system-ui"/>
              </a:rPr>
              <a:t>）将</a:t>
            </a:r>
            <a:r>
              <a:rPr lang="en-US" altLang="zh-CN" b="0" i="0" dirty="0">
                <a:effectLst/>
                <a:highlight>
                  <a:srgbClr val="FFFFFF"/>
                </a:highlight>
                <a:latin typeface="system-ui"/>
              </a:rPr>
              <a:t>Cβ</a:t>
            </a:r>
            <a:r>
              <a:rPr lang="zh-CN" altLang="en-US" b="0" i="0" dirty="0">
                <a:effectLst/>
                <a:highlight>
                  <a:srgbClr val="FFFFFF"/>
                </a:highlight>
                <a:latin typeface="system-ui"/>
              </a:rPr>
              <a:t>距离离散化以确保反向传播。作者选择优化的得分指标是所有</a:t>
            </a:r>
            <a:r>
              <a:rPr lang="en-US" altLang="zh-CN" b="0" i="0" dirty="0">
                <a:effectLst/>
                <a:highlight>
                  <a:srgbClr val="FFFFFF"/>
                </a:highlight>
                <a:latin typeface="system-ui"/>
              </a:rPr>
              <a:t>5</a:t>
            </a:r>
            <a:r>
              <a:rPr lang="zh-CN" altLang="en-US" b="0" i="0" dirty="0">
                <a:effectLst/>
                <a:highlight>
                  <a:srgbClr val="FFFFFF"/>
                </a:highlight>
                <a:latin typeface="system-ui"/>
              </a:rPr>
              <a:t>个</a:t>
            </a:r>
            <a:r>
              <a:rPr lang="en-US" altLang="zh-CN" b="0" i="0" dirty="0">
                <a:effectLst/>
                <a:highlight>
                  <a:srgbClr val="FFFFFF"/>
                </a:highlight>
                <a:latin typeface="system-ui"/>
              </a:rPr>
              <a:t>AF2</a:t>
            </a:r>
            <a:r>
              <a:rPr lang="zh-CN" altLang="en-US" b="0" i="0" dirty="0">
                <a:effectLst/>
                <a:highlight>
                  <a:srgbClr val="FFFFFF"/>
                </a:highlight>
                <a:latin typeface="system-ui"/>
              </a:rPr>
              <a:t>预测的目标结构和生成的</a:t>
            </a:r>
            <a:r>
              <a:rPr lang="en-US" altLang="zh-CN" b="0" i="0" dirty="0">
                <a:effectLst/>
                <a:highlight>
                  <a:srgbClr val="FFFFFF"/>
                </a:highlight>
                <a:latin typeface="system-ui"/>
              </a:rPr>
              <a:t>Cβ</a:t>
            </a:r>
            <a:r>
              <a:rPr lang="zh-CN" altLang="en-US" b="0" i="0" dirty="0">
                <a:effectLst/>
                <a:highlight>
                  <a:srgbClr val="FFFFFF"/>
                </a:highlight>
                <a:latin typeface="system-ui"/>
              </a:rPr>
              <a:t>距离之间的最小分类交叉熵（</a:t>
            </a:r>
            <a:r>
              <a:rPr lang="en-US" altLang="zh-CN" b="0" i="0" dirty="0">
                <a:effectLst/>
                <a:highlight>
                  <a:srgbClr val="FFFFFF"/>
                </a:highlight>
                <a:latin typeface="system-ui"/>
              </a:rPr>
              <a:t>categorical </a:t>
            </a:r>
            <a:r>
              <a:rPr lang="en-US" altLang="zh-CN" b="0" i="0" dirty="0" err="1">
                <a:effectLst/>
                <a:highlight>
                  <a:srgbClr val="FFFFFF"/>
                </a:highlight>
                <a:latin typeface="system-ui"/>
              </a:rPr>
              <a:t>crossentropy</a:t>
            </a:r>
            <a:r>
              <a:rPr lang="zh-CN" altLang="en-US" b="0" i="0" dirty="0">
                <a:effectLst/>
                <a:highlight>
                  <a:srgbClr val="FFFFFF"/>
                </a:highlight>
                <a:latin typeface="system-ui"/>
              </a:rPr>
              <a:t>，</a:t>
            </a:r>
            <a:r>
              <a:rPr lang="en-US" altLang="zh-CN" b="0" i="0" dirty="0">
                <a:effectLst/>
                <a:highlight>
                  <a:srgbClr val="FFFFFF"/>
                </a:highlight>
                <a:latin typeface="system-ui"/>
              </a:rPr>
              <a:t>CCE</a:t>
            </a:r>
            <a:r>
              <a:rPr lang="zh-CN" altLang="en-US" b="0" i="0" dirty="0">
                <a:effectLst/>
                <a:highlight>
                  <a:srgbClr val="FFFFFF"/>
                </a:highlight>
                <a:latin typeface="system-ui"/>
              </a:rPr>
              <a:t>）。</a:t>
            </a:r>
            <a:r>
              <a:rPr lang="en-US" altLang="zh-CN" b="0" i="0" dirty="0">
                <a:effectLst/>
                <a:highlight>
                  <a:srgbClr val="FFFFFF"/>
                </a:highlight>
                <a:latin typeface="system-ui"/>
              </a:rPr>
              <a:t>Adam</a:t>
            </a:r>
            <a:r>
              <a:rPr lang="zh-CN" altLang="en-US" b="0" i="0" dirty="0">
                <a:effectLst/>
                <a:highlight>
                  <a:srgbClr val="FFFFFF"/>
                </a:highlight>
                <a:latin typeface="system-ui"/>
              </a:rPr>
              <a:t>优化器修改隐空间样本以最小化这一得分指标。这个过程重复进行直到收敛。为了确保维持多样性，限制隐空间坐标只在其初始起点坐标的欧几里得距离</a:t>
            </a:r>
            <a:r>
              <a:rPr lang="en-US" altLang="zh-CN" b="0" i="0" dirty="0">
                <a:effectLst/>
                <a:highlight>
                  <a:srgbClr val="FFFFFF"/>
                </a:highlight>
                <a:latin typeface="system-ui"/>
              </a:rPr>
              <a:t>d</a:t>
            </a:r>
            <a:r>
              <a:rPr lang="zh-CN" altLang="en-US" b="0" i="0" dirty="0">
                <a:effectLst/>
                <a:highlight>
                  <a:srgbClr val="FFFFFF"/>
                </a:highlight>
                <a:latin typeface="system-ui"/>
              </a:rPr>
              <a:t>（</a:t>
            </a:r>
            <a:r>
              <a:rPr lang="en-US" altLang="zh-CN" b="0" i="0" dirty="0">
                <a:effectLst/>
                <a:highlight>
                  <a:srgbClr val="FFFFFF"/>
                </a:highlight>
                <a:latin typeface="system-ui"/>
              </a:rPr>
              <a:t>=10</a:t>
            </a:r>
            <a:r>
              <a:rPr lang="zh-CN" altLang="en-US" b="0" i="0" dirty="0">
                <a:effectLst/>
                <a:highlight>
                  <a:srgbClr val="FFFFFF"/>
                </a:highlight>
                <a:latin typeface="system-ui"/>
              </a:rPr>
              <a:t>）内探索。</a:t>
            </a:r>
            <a:r>
              <a:rPr lang="zh-CN" altLang="en-US" b="0" i="0" dirty="0">
                <a:effectLst/>
                <a:latin typeface="system-ui"/>
              </a:rPr>
              <a:t>该探索技术的目标是搜索隐空间，以找到比初始随机生成坐标更好的解决方案。最终收敛的隐空间坐标被解码成各自的模板特征，并连同目标</a:t>
            </a:r>
            <a:r>
              <a:rPr lang="en-US" altLang="zh-CN" b="0" i="0" dirty="0">
                <a:effectLst/>
                <a:latin typeface="system-ui"/>
              </a:rPr>
              <a:t>MSA</a:t>
            </a:r>
            <a:r>
              <a:rPr lang="zh-CN" altLang="en-US" b="0" i="0" dirty="0">
                <a:effectLst/>
                <a:latin typeface="system-ui"/>
              </a:rPr>
              <a:t>一起传入</a:t>
            </a:r>
            <a:r>
              <a:rPr lang="en-US" altLang="zh-CN" b="0" i="0" dirty="0" err="1">
                <a:effectLst/>
                <a:latin typeface="system-ui"/>
              </a:rPr>
              <a:t>RoseTTAFold</a:t>
            </a:r>
            <a:r>
              <a:rPr lang="zh-CN" altLang="en-US" b="0" i="0" dirty="0">
                <a:effectLst/>
                <a:latin typeface="system-ui"/>
              </a:rPr>
              <a:t>进行结构建模。</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8</a:t>
            </a:fld>
            <a:endParaRPr kumimoji="1" lang="zh-CN" altLang="en-US"/>
          </a:p>
        </p:txBody>
      </p:sp>
    </p:spTree>
    <p:extLst>
      <p:ext uri="{BB962C8B-B14F-4D97-AF65-F5344CB8AC3E}">
        <p14:creationId xmlns:p14="http://schemas.microsoft.com/office/powerpoint/2010/main" val="158555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9</a:t>
            </a:fld>
            <a:endParaRPr kumimoji="1" lang="zh-CN" altLang="en-US"/>
          </a:p>
        </p:txBody>
      </p:sp>
    </p:spTree>
    <p:extLst>
      <p:ext uri="{BB962C8B-B14F-4D97-AF65-F5344CB8AC3E}">
        <p14:creationId xmlns:p14="http://schemas.microsoft.com/office/powerpoint/2010/main" val="3525936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Closest</a:t>
            </a:r>
            <a:r>
              <a:rPr lang="zh-CN" altLang="en-US" dirty="0"/>
              <a:t>这件事就表明，不能预测未知的</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10</a:t>
            </a:fld>
            <a:endParaRPr kumimoji="1" lang="zh-CN" altLang="en-US"/>
          </a:p>
        </p:txBody>
      </p:sp>
    </p:spTree>
    <p:extLst>
      <p:ext uri="{BB962C8B-B14F-4D97-AF65-F5344CB8AC3E}">
        <p14:creationId xmlns:p14="http://schemas.microsoft.com/office/powerpoint/2010/main" val="1507591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11</a:t>
            </a:fld>
            <a:endParaRPr kumimoji="1" lang="zh-CN" altLang="en-US"/>
          </a:p>
        </p:txBody>
      </p:sp>
    </p:spTree>
    <p:extLst>
      <p:ext uri="{BB962C8B-B14F-4D97-AF65-F5344CB8AC3E}">
        <p14:creationId xmlns:p14="http://schemas.microsoft.com/office/powerpoint/2010/main" val="2179324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Physics-based Rosetta GA-ligand docking method</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12</a:t>
            </a:fld>
            <a:endParaRPr kumimoji="1" lang="zh-CN" altLang="en-US"/>
          </a:p>
        </p:txBody>
      </p:sp>
    </p:spTree>
    <p:extLst>
      <p:ext uri="{BB962C8B-B14F-4D97-AF65-F5344CB8AC3E}">
        <p14:creationId xmlns:p14="http://schemas.microsoft.com/office/powerpoint/2010/main" val="2499890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13</a:t>
            </a:fld>
            <a:endParaRPr kumimoji="1" lang="zh-CN" altLang="en-US"/>
          </a:p>
        </p:txBody>
      </p:sp>
    </p:spTree>
    <p:extLst>
      <p:ext uri="{BB962C8B-B14F-4D97-AF65-F5344CB8AC3E}">
        <p14:creationId xmlns:p14="http://schemas.microsoft.com/office/powerpoint/2010/main" val="4099296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14</a:t>
            </a:fld>
            <a:endParaRPr kumimoji="1" lang="zh-CN" altLang="en-US"/>
          </a:p>
        </p:txBody>
      </p:sp>
    </p:spTree>
    <p:extLst>
      <p:ext uri="{BB962C8B-B14F-4D97-AF65-F5344CB8AC3E}">
        <p14:creationId xmlns:p14="http://schemas.microsoft.com/office/powerpoint/2010/main" val="3799520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15</a:t>
            </a:fld>
            <a:endParaRPr kumimoji="1" lang="zh-CN" altLang="en-US"/>
          </a:p>
        </p:txBody>
      </p:sp>
    </p:spTree>
    <p:extLst>
      <p:ext uri="{BB962C8B-B14F-4D97-AF65-F5344CB8AC3E}">
        <p14:creationId xmlns:p14="http://schemas.microsoft.com/office/powerpoint/2010/main" val="2534115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F09C09-57F0-401E-914C-55AD4EC2FB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EECB730A-D6A8-4367-9340-616353999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A7AA53-DF53-41D5-890D-1E77B922FA7F}"/>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88BFF102-37FF-4AB8-ABB3-62038DDFD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F96D-0341-4A5E-8974-D9D41BED2B01}"/>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2425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lnSpc>
                <a:spcPct val="120000"/>
              </a:lnSpc>
              <a:defRPr sz="2600">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69058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CC14A5CD-2F49-4758-8337-6D54A6674856}"/>
              </a:ext>
            </a:extLst>
          </p:cNvPr>
          <p:cNvSpPr>
            <a:spLocks noGrp="1"/>
          </p:cNvSpPr>
          <p:nvPr>
            <p:ph type="title"/>
          </p:nvPr>
        </p:nvSpPr>
        <p:spPr>
          <a:xfrm>
            <a:off x="831850" y="1709738"/>
            <a:ext cx="10515600" cy="2852737"/>
          </a:xfrm>
        </p:spPr>
        <p:txBody>
          <a:bodyPr anchor="b"/>
          <a:lstStyle>
            <a:lvl1pPr>
              <a:defRPr sz="6000">
                <a:latin typeface="+mn-lt"/>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37D55E93-1034-4BBC-9A0C-AEC9616D2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1462BEC-08A7-492D-A68E-D72A14887871}"/>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137ABE58-1D64-4DFA-8CCF-33606015D7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E7D6C6-42D3-4F32-AC8A-75DACF54468B}"/>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44834083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A9504493-20B5-43D7-8EBC-6C1F35E8A8DC}"/>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19F9B1E5-631A-4528-8290-15E08E8BC7B3}"/>
              </a:ext>
            </a:extLst>
          </p:cNvPr>
          <p:cNvSpPr>
            <a:spLocks noGrp="1"/>
          </p:cNvSpPr>
          <p:nvPr>
            <p:ph sz="half" idx="1"/>
          </p:nvPr>
        </p:nvSpPr>
        <p:spPr>
          <a:xfrm>
            <a:off x="838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a:extLst>
              <a:ext uri="{FF2B5EF4-FFF2-40B4-BE49-F238E27FC236}">
                <a16:creationId xmlns:a16="http://schemas.microsoft.com/office/drawing/2014/main" id="{A0456DF3-E16B-4C45-B923-89E73C7FA79E}"/>
              </a:ext>
            </a:extLst>
          </p:cNvPr>
          <p:cNvSpPr>
            <a:spLocks noGrp="1"/>
          </p:cNvSpPr>
          <p:nvPr>
            <p:ph sz="half" idx="2"/>
          </p:nvPr>
        </p:nvSpPr>
        <p:spPr>
          <a:xfrm>
            <a:off x="6172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8A7586D4-7959-443F-AFD0-452066166E56}"/>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6" name="页脚占位符 5">
            <a:extLst>
              <a:ext uri="{FF2B5EF4-FFF2-40B4-BE49-F238E27FC236}">
                <a16:creationId xmlns:a16="http://schemas.microsoft.com/office/drawing/2014/main" id="{C7DBB3DF-7BD2-457D-9B6D-1B6DC24B9B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CE9612-44B3-4E8E-8694-6FB52C188A25}"/>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634791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392E-6FE4-45F1-96CC-97978BC91995}"/>
              </a:ext>
            </a:extLst>
          </p:cNvPr>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E898865-5E57-4B42-8909-80DBC9797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AE2D6B9-43DE-41D8-BB6E-9E1B0B256954}"/>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a:extLst>
              <a:ext uri="{FF2B5EF4-FFF2-40B4-BE49-F238E27FC236}">
                <a16:creationId xmlns:a16="http://schemas.microsoft.com/office/drawing/2014/main" id="{41C0E132-7240-44B0-9935-03A301827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DB8FCBD-29DB-442A-8884-912732720BE0}"/>
              </a:ext>
            </a:extLst>
          </p:cNvPr>
          <p:cNvSpPr>
            <a:spLocks noGrp="1"/>
          </p:cNvSpPr>
          <p:nvPr>
            <p:ph sz="quarter" idx="4" hasCustomPrompt="1"/>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a:extLst>
              <a:ext uri="{FF2B5EF4-FFF2-40B4-BE49-F238E27FC236}">
                <a16:creationId xmlns:a16="http://schemas.microsoft.com/office/drawing/2014/main" id="{AB003F58-7C49-43D5-A3D1-B3A969BE0A8F}"/>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8" name="页脚占位符 7">
            <a:extLst>
              <a:ext uri="{FF2B5EF4-FFF2-40B4-BE49-F238E27FC236}">
                <a16:creationId xmlns:a16="http://schemas.microsoft.com/office/drawing/2014/main" id="{4DD9A7E8-3C85-4801-9E4D-111A3B981AA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B2A24D-FBE5-4D56-AD80-01C1063713F2}"/>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Tree>
    <p:extLst>
      <p:ext uri="{BB962C8B-B14F-4D97-AF65-F5344CB8AC3E}">
        <p14:creationId xmlns:p14="http://schemas.microsoft.com/office/powerpoint/2010/main" val="1935963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5D73AB-11D1-4981-9368-43F60872835D}"/>
              </a:ext>
            </a:extLst>
          </p:cNvPr>
          <p:cNvSpPr>
            <a:spLocks noGrp="1"/>
          </p:cNvSpPr>
          <p:nvPr>
            <p:ph type="title"/>
          </p:nvPr>
        </p:nvSpPr>
        <p:spPr/>
        <p:txBody>
          <a:bodyPr>
            <a:normAutofit/>
          </a:bodyPr>
          <a:lstStyle>
            <a:lvl1pPr>
              <a:lnSpc>
                <a:spcPct val="120000"/>
              </a:lnSpc>
              <a:defRPr sz="40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DBB7B4CA-3CD6-4B49-877C-211DF73E561A}"/>
              </a:ext>
            </a:extLst>
          </p:cNvPr>
          <p:cNvSpPr>
            <a:spLocks noGrp="1"/>
          </p:cNvSpPr>
          <p:nvPr>
            <p:ph type="dt" sz="half" idx="10"/>
          </p:nvPr>
        </p:nvSpPr>
        <p:spPr/>
        <p:txBody>
          <a:bodyPr/>
          <a:lstStyle>
            <a:lvl1pPr>
              <a:lnSpc>
                <a:spcPct val="120000"/>
              </a:lnSpc>
              <a:defRPr/>
            </a:lvl1pPr>
          </a:lstStyle>
          <a:p>
            <a:fld id="{B084E9F9-C78E-4B43-BFC4-7328A9A9B681}" type="datetimeFigureOut">
              <a:rPr lang="zh-CN" altLang="en-US" smtClean="0"/>
              <a:pPr/>
              <a:t>2024/5/21</a:t>
            </a:fld>
            <a:endParaRPr lang="zh-CN" altLang="en-US"/>
          </a:p>
        </p:txBody>
      </p:sp>
      <p:sp>
        <p:nvSpPr>
          <p:cNvPr id="4" name="页脚占位符 3">
            <a:extLst>
              <a:ext uri="{FF2B5EF4-FFF2-40B4-BE49-F238E27FC236}">
                <a16:creationId xmlns:a16="http://schemas.microsoft.com/office/drawing/2014/main" id="{2320833A-D84C-4AA5-A4E5-89293C0941FE}"/>
              </a:ext>
            </a:extLst>
          </p:cNvPr>
          <p:cNvSpPr>
            <a:spLocks noGrp="1"/>
          </p:cNvSpPr>
          <p:nvPr>
            <p:ph type="ftr" sz="quarter" idx="11"/>
          </p:nvPr>
        </p:nvSpPr>
        <p:spPr/>
        <p:txBody>
          <a:bodyPr/>
          <a:lstStyle>
            <a:lvl1pPr>
              <a:lnSpc>
                <a:spcPct val="120000"/>
              </a:lnSpc>
              <a:defRPr/>
            </a:lvl1pPr>
          </a:lstStyle>
          <a:p>
            <a:endParaRPr lang="zh-CN" altLang="en-US"/>
          </a:p>
        </p:txBody>
      </p:sp>
      <p:sp>
        <p:nvSpPr>
          <p:cNvPr id="5" name="灯片编号占位符 4">
            <a:extLst>
              <a:ext uri="{FF2B5EF4-FFF2-40B4-BE49-F238E27FC236}">
                <a16:creationId xmlns:a16="http://schemas.microsoft.com/office/drawing/2014/main" id="{131A098F-361B-45B7-9328-0C0CC88000DE}"/>
              </a:ext>
            </a:extLst>
          </p:cNvPr>
          <p:cNvSpPr>
            <a:spLocks noGrp="1"/>
          </p:cNvSpPr>
          <p:nvPr>
            <p:ph type="sldNum" sz="quarter" idx="12"/>
          </p:nvPr>
        </p:nvSpPr>
        <p:spPr/>
        <p:txBody>
          <a:bodyPr/>
          <a:lstStyle>
            <a:lvl1pPr>
              <a:lnSpc>
                <a:spcPct val="120000"/>
              </a:lnSpc>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2449071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日期占位符 1">
            <a:extLst>
              <a:ext uri="{FF2B5EF4-FFF2-40B4-BE49-F238E27FC236}">
                <a16:creationId xmlns:a16="http://schemas.microsoft.com/office/drawing/2014/main" id="{83B5D28D-AE9D-4887-A8CE-67AB1279BCB6}"/>
              </a:ext>
            </a:extLst>
          </p:cNvPr>
          <p:cNvSpPr>
            <a:spLocks noGrp="1"/>
          </p:cNvSpPr>
          <p:nvPr>
            <p:ph type="dt" sz="half" idx="10"/>
          </p:nvPr>
        </p:nvSpPr>
        <p:spPr/>
        <p:txBody>
          <a:bodyPr/>
          <a:lstStyle>
            <a:lvl1pPr>
              <a:lnSpc>
                <a:spcPct val="120000"/>
              </a:lnSpc>
              <a:defRPr/>
            </a:lvl1pPr>
          </a:lstStyle>
          <a:p>
            <a:fld id="{B084E9F9-C78E-4B43-BFC4-7328A9A9B681}" type="datetimeFigureOut">
              <a:rPr lang="zh-CN" altLang="en-US" smtClean="0"/>
              <a:pPr/>
              <a:t>2024/5/21</a:t>
            </a:fld>
            <a:endParaRPr lang="zh-CN" altLang="en-US"/>
          </a:p>
        </p:txBody>
      </p:sp>
      <p:sp>
        <p:nvSpPr>
          <p:cNvPr id="3" name="页脚占位符 2">
            <a:extLst>
              <a:ext uri="{FF2B5EF4-FFF2-40B4-BE49-F238E27FC236}">
                <a16:creationId xmlns:a16="http://schemas.microsoft.com/office/drawing/2014/main" id="{76AFF75D-410E-4FF5-91F1-E635B2B4D253}"/>
              </a:ext>
            </a:extLst>
          </p:cNvPr>
          <p:cNvSpPr>
            <a:spLocks noGrp="1"/>
          </p:cNvSpPr>
          <p:nvPr>
            <p:ph type="ftr" sz="quarter" idx="11"/>
          </p:nvPr>
        </p:nvSpPr>
        <p:spPr/>
        <p:txBody>
          <a:bodyPr/>
          <a:lstStyle>
            <a:lvl1pPr>
              <a:lnSpc>
                <a:spcPct val="120000"/>
              </a:lnSpc>
              <a:defRPr/>
            </a:lvl1pPr>
          </a:lstStyle>
          <a:p>
            <a:endParaRPr lang="zh-CN" altLang="en-US"/>
          </a:p>
        </p:txBody>
      </p:sp>
      <p:sp>
        <p:nvSpPr>
          <p:cNvPr id="4" name="灯片编号占位符 3">
            <a:extLst>
              <a:ext uri="{FF2B5EF4-FFF2-40B4-BE49-F238E27FC236}">
                <a16:creationId xmlns:a16="http://schemas.microsoft.com/office/drawing/2014/main" id="{2B2B8D5D-EBBC-4D0B-81BA-D6EE7D1B9F09}"/>
              </a:ext>
            </a:extLst>
          </p:cNvPr>
          <p:cNvSpPr>
            <a:spLocks noGrp="1"/>
          </p:cNvSpPr>
          <p:nvPr>
            <p:ph type="sldNum" sz="quarter" idx="12"/>
          </p:nvPr>
        </p:nvSpPr>
        <p:spPr/>
        <p:txBody>
          <a:bodyPr/>
          <a:lstStyle>
            <a:lvl1pPr>
              <a:lnSpc>
                <a:spcPct val="120000"/>
              </a:lnSpc>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3369040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7180F32D-4D49-416F-900C-56A021BAA253}"/>
              </a:ext>
            </a:extLst>
          </p:cNvPr>
          <p:cNvSpPr>
            <a:spLocks noGrp="1"/>
          </p:cNvSpPr>
          <p:nvPr>
            <p:ph type="title"/>
          </p:nvPr>
        </p:nvSpPr>
        <p:spPr>
          <a:xfrm>
            <a:off x="839788" y="457200"/>
            <a:ext cx="3932237" cy="1600200"/>
          </a:xfrm>
        </p:spPr>
        <p:txBody>
          <a:bodyPr anchor="b"/>
          <a:lstStyle>
            <a:lvl1pPr>
              <a:defRPr sz="32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89A1975-CD99-4E06-9E45-D308D959EDC9}"/>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a:extLst>
              <a:ext uri="{FF2B5EF4-FFF2-40B4-BE49-F238E27FC236}">
                <a16:creationId xmlns:a16="http://schemas.microsoft.com/office/drawing/2014/main" id="{90C04A39-44D7-40D5-879F-9B291A6F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4018CF9-B53E-4812-BEF1-A52E0A34A819}"/>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6" name="页脚占位符 5">
            <a:extLst>
              <a:ext uri="{FF2B5EF4-FFF2-40B4-BE49-F238E27FC236}">
                <a16:creationId xmlns:a16="http://schemas.microsoft.com/office/drawing/2014/main" id="{0FA403AC-06D8-4A58-A310-BBD1CF8993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87A4F-9495-4E5A-9C28-E5809E59EB63}"/>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8957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F1ECD109-4A98-49F1-AC02-939490484F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BD343E-388B-4353-9336-2656832B0C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9FBF39C-1448-4F68-AD3E-BFA9643DB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A9F964B-5762-4399-8D43-3F4D77D8A5F2}"/>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6" name="页脚占位符 5">
            <a:extLst>
              <a:ext uri="{FF2B5EF4-FFF2-40B4-BE49-F238E27FC236}">
                <a16:creationId xmlns:a16="http://schemas.microsoft.com/office/drawing/2014/main" id="{75F14C33-5019-4572-8BA2-48878300B1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02535E-DC52-4683-9666-75A5550FD9C7}"/>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0709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F09C09-57F0-401E-914C-55AD4EC2FB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EECB730A-D6A8-4367-9340-616353999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A7AA53-DF53-41D5-890D-1E77B922FA7F}"/>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88BFF102-37FF-4AB8-ABB3-62038DDFD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F96D-0341-4A5E-8974-D9D41BED2B01}"/>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01917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lnSpc>
                <a:spcPct val="120000"/>
              </a:lnSpc>
              <a:defRPr sz="2600">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3211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CC14A5CD-2F49-4758-8337-6D54A6674856}"/>
              </a:ext>
            </a:extLst>
          </p:cNvPr>
          <p:cNvSpPr>
            <a:spLocks noGrp="1"/>
          </p:cNvSpPr>
          <p:nvPr>
            <p:ph type="title"/>
          </p:nvPr>
        </p:nvSpPr>
        <p:spPr>
          <a:xfrm>
            <a:off x="831850" y="1709738"/>
            <a:ext cx="10515600" cy="2852737"/>
          </a:xfrm>
        </p:spPr>
        <p:txBody>
          <a:bodyPr anchor="b"/>
          <a:lstStyle>
            <a:lvl1pPr>
              <a:defRPr sz="6000">
                <a:latin typeface="+mn-lt"/>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37D55E93-1034-4BBC-9A0C-AEC9616D2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1462BEC-08A7-492D-A68E-D72A14887871}"/>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137ABE58-1D64-4DFA-8CCF-33606015D7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E7D6C6-42D3-4F32-AC8A-75DACF54468B}"/>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79778957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A9504493-20B5-43D7-8EBC-6C1F35E8A8DC}"/>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19F9B1E5-631A-4528-8290-15E08E8BC7B3}"/>
              </a:ext>
            </a:extLst>
          </p:cNvPr>
          <p:cNvSpPr>
            <a:spLocks noGrp="1"/>
          </p:cNvSpPr>
          <p:nvPr>
            <p:ph sz="half" idx="1"/>
          </p:nvPr>
        </p:nvSpPr>
        <p:spPr>
          <a:xfrm>
            <a:off x="838200" y="1825625"/>
            <a:ext cx="5181600" cy="435133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a:extLst>
              <a:ext uri="{FF2B5EF4-FFF2-40B4-BE49-F238E27FC236}">
                <a16:creationId xmlns:a16="http://schemas.microsoft.com/office/drawing/2014/main" id="{A0456DF3-E16B-4C45-B923-89E73C7FA79E}"/>
              </a:ext>
            </a:extLst>
          </p:cNvPr>
          <p:cNvSpPr>
            <a:spLocks noGrp="1"/>
          </p:cNvSpPr>
          <p:nvPr>
            <p:ph sz="half" idx="2"/>
          </p:nvPr>
        </p:nvSpPr>
        <p:spPr>
          <a:xfrm>
            <a:off x="6172200" y="1825625"/>
            <a:ext cx="5181600" cy="435133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8A7586D4-7959-443F-AFD0-452066166E56}"/>
              </a:ext>
            </a:extLst>
          </p:cNvPr>
          <p:cNvSpPr>
            <a:spLocks noGrp="1"/>
          </p:cNvSpPr>
          <p:nvPr>
            <p:ph type="dt" sz="half" idx="10"/>
          </p:nvPr>
        </p:nvSpPr>
        <p:spPr/>
        <p:txBody>
          <a:bodyPr/>
          <a:lstStyle>
            <a:lvl1pPr>
              <a:defRPr>
                <a:latin typeface="+mn-lt"/>
              </a:defRPr>
            </a:lvl1pPr>
          </a:lstStyle>
          <a:p>
            <a:fld id="{B084E9F9-C78E-4B43-BFC4-7328A9A9B681}" type="datetimeFigureOut">
              <a:rPr lang="zh-CN" altLang="en-US" smtClean="0"/>
              <a:pPr/>
              <a:t>2024/5/21</a:t>
            </a:fld>
            <a:endParaRPr lang="zh-CN" altLang="en-US"/>
          </a:p>
        </p:txBody>
      </p:sp>
      <p:sp>
        <p:nvSpPr>
          <p:cNvPr id="6" name="页脚占位符 5">
            <a:extLst>
              <a:ext uri="{FF2B5EF4-FFF2-40B4-BE49-F238E27FC236}">
                <a16:creationId xmlns:a16="http://schemas.microsoft.com/office/drawing/2014/main" id="{C7DBB3DF-7BD2-457D-9B6D-1B6DC24B9BA4}"/>
              </a:ext>
            </a:extLst>
          </p:cNvPr>
          <p:cNvSpPr>
            <a:spLocks noGrp="1"/>
          </p:cNvSpPr>
          <p:nvPr>
            <p:ph type="ftr" sz="quarter" idx="11"/>
          </p:nvPr>
        </p:nvSpPr>
        <p:spPr/>
        <p:txBody>
          <a:bodyPr/>
          <a:lstStyle>
            <a:lvl1pPr>
              <a:defRPr>
                <a:latin typeface="+mn-lt"/>
              </a:defRPr>
            </a:lvl1pPr>
          </a:lstStyle>
          <a:p>
            <a:endParaRPr lang="zh-CN" altLang="en-US"/>
          </a:p>
        </p:txBody>
      </p:sp>
      <p:sp>
        <p:nvSpPr>
          <p:cNvPr id="7" name="灯片编号占位符 6">
            <a:extLst>
              <a:ext uri="{FF2B5EF4-FFF2-40B4-BE49-F238E27FC236}">
                <a16:creationId xmlns:a16="http://schemas.microsoft.com/office/drawing/2014/main" id="{90CE9612-44B3-4E8E-8694-6FB52C188A25}"/>
              </a:ext>
            </a:extLst>
          </p:cNvPr>
          <p:cNvSpPr>
            <a:spLocks noGrp="1"/>
          </p:cNvSpPr>
          <p:nvPr>
            <p:ph type="sldNum" sz="quarter" idx="12"/>
          </p:nvPr>
        </p:nvSpPr>
        <p:spPr/>
        <p:txBody>
          <a:bodyPr/>
          <a:lstStyle>
            <a:lvl1pPr>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651655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392E-6FE4-45F1-96CC-97978BC91995}"/>
              </a:ext>
            </a:extLst>
          </p:cNvPr>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E898865-5E57-4B42-8909-80DBC9797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AE2D6B9-43DE-41D8-BB6E-9E1B0B256954}"/>
              </a:ext>
            </a:extLst>
          </p:cNvPr>
          <p:cNvSpPr>
            <a:spLocks noGrp="1"/>
          </p:cNvSpPr>
          <p:nvPr>
            <p:ph sz="half" idx="2"/>
          </p:nvPr>
        </p:nvSpPr>
        <p:spPr>
          <a:xfrm>
            <a:off x="839788" y="2505075"/>
            <a:ext cx="5157787" cy="368458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a:extLst>
              <a:ext uri="{FF2B5EF4-FFF2-40B4-BE49-F238E27FC236}">
                <a16:creationId xmlns:a16="http://schemas.microsoft.com/office/drawing/2014/main" id="{41C0E132-7240-44B0-9935-03A301827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DB8FCBD-29DB-442A-8884-912732720BE0}"/>
              </a:ext>
            </a:extLst>
          </p:cNvPr>
          <p:cNvSpPr>
            <a:spLocks noGrp="1"/>
          </p:cNvSpPr>
          <p:nvPr>
            <p:ph sz="quarter" idx="4" hasCustomPrompt="1"/>
          </p:nvPr>
        </p:nvSpPr>
        <p:spPr>
          <a:xfrm>
            <a:off x="6172200" y="2505075"/>
            <a:ext cx="5183188" cy="368458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a:extLst>
              <a:ext uri="{FF2B5EF4-FFF2-40B4-BE49-F238E27FC236}">
                <a16:creationId xmlns:a16="http://schemas.microsoft.com/office/drawing/2014/main" id="{AB003F58-7C49-43D5-A3D1-B3A969BE0A8F}"/>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8" name="页脚占位符 7">
            <a:extLst>
              <a:ext uri="{FF2B5EF4-FFF2-40B4-BE49-F238E27FC236}">
                <a16:creationId xmlns:a16="http://schemas.microsoft.com/office/drawing/2014/main" id="{4DD9A7E8-3C85-4801-9E4D-111A3B981AA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B2A24D-FBE5-4D56-AD80-01C1063713F2}"/>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Tree>
    <p:extLst>
      <p:ext uri="{BB962C8B-B14F-4D97-AF65-F5344CB8AC3E}">
        <p14:creationId xmlns:p14="http://schemas.microsoft.com/office/powerpoint/2010/main" val="336549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5D73AB-11D1-4981-9368-43F60872835D}"/>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DBB7B4CA-3CD6-4B49-877C-211DF73E561A}"/>
              </a:ext>
            </a:extLst>
          </p:cNvPr>
          <p:cNvSpPr>
            <a:spLocks noGrp="1"/>
          </p:cNvSpPr>
          <p:nvPr>
            <p:ph type="dt" sz="half" idx="10"/>
          </p:nvPr>
        </p:nvSpPr>
        <p:spPr/>
        <p:txBody>
          <a:bodyPr/>
          <a:lstStyle>
            <a:lvl1pPr>
              <a:defRPr>
                <a:latin typeface="+mn-lt"/>
              </a:defRPr>
            </a:lvl1pPr>
          </a:lstStyle>
          <a:p>
            <a:fld id="{B084E9F9-C78E-4B43-BFC4-7328A9A9B681}" type="datetimeFigureOut">
              <a:rPr lang="zh-CN" altLang="en-US" smtClean="0"/>
              <a:pPr/>
              <a:t>2024/5/21</a:t>
            </a:fld>
            <a:endParaRPr lang="zh-CN" altLang="en-US"/>
          </a:p>
        </p:txBody>
      </p:sp>
      <p:sp>
        <p:nvSpPr>
          <p:cNvPr id="4" name="页脚占位符 3">
            <a:extLst>
              <a:ext uri="{FF2B5EF4-FFF2-40B4-BE49-F238E27FC236}">
                <a16:creationId xmlns:a16="http://schemas.microsoft.com/office/drawing/2014/main" id="{2320833A-D84C-4AA5-A4E5-89293C0941FE}"/>
              </a:ext>
            </a:extLst>
          </p:cNvPr>
          <p:cNvSpPr>
            <a:spLocks noGrp="1"/>
          </p:cNvSpPr>
          <p:nvPr>
            <p:ph type="ftr" sz="quarter" idx="11"/>
          </p:nvPr>
        </p:nvSpPr>
        <p:spPr/>
        <p:txBody>
          <a:bodyPr/>
          <a:lstStyle>
            <a:lvl1pPr>
              <a:defRPr>
                <a:latin typeface="+mn-lt"/>
              </a:defRPr>
            </a:lvl1pPr>
          </a:lstStyle>
          <a:p>
            <a:endParaRPr lang="zh-CN" altLang="en-US"/>
          </a:p>
        </p:txBody>
      </p:sp>
      <p:sp>
        <p:nvSpPr>
          <p:cNvPr id="5" name="灯片编号占位符 4">
            <a:extLst>
              <a:ext uri="{FF2B5EF4-FFF2-40B4-BE49-F238E27FC236}">
                <a16:creationId xmlns:a16="http://schemas.microsoft.com/office/drawing/2014/main" id="{131A098F-361B-45B7-9328-0C0CC88000DE}"/>
              </a:ext>
            </a:extLst>
          </p:cNvPr>
          <p:cNvSpPr>
            <a:spLocks noGrp="1"/>
          </p:cNvSpPr>
          <p:nvPr>
            <p:ph type="sldNum" sz="quarter" idx="12"/>
          </p:nvPr>
        </p:nvSpPr>
        <p:spPr/>
        <p:txBody>
          <a:bodyPr/>
          <a:lstStyle>
            <a:lvl1pPr>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874423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日期占位符 1">
            <a:extLst>
              <a:ext uri="{FF2B5EF4-FFF2-40B4-BE49-F238E27FC236}">
                <a16:creationId xmlns:a16="http://schemas.microsoft.com/office/drawing/2014/main" id="{83B5D28D-AE9D-4887-A8CE-67AB1279BCB6}"/>
              </a:ext>
            </a:extLst>
          </p:cNvPr>
          <p:cNvSpPr>
            <a:spLocks noGrp="1"/>
          </p:cNvSpPr>
          <p:nvPr>
            <p:ph type="dt" sz="half" idx="10"/>
          </p:nvPr>
        </p:nvSpPr>
        <p:spPr/>
        <p:txBody>
          <a:bodyPr/>
          <a:lstStyle>
            <a:lvl1pPr>
              <a:defRPr>
                <a:latin typeface="+mn-lt"/>
              </a:defRPr>
            </a:lvl1pPr>
          </a:lstStyle>
          <a:p>
            <a:fld id="{B084E9F9-C78E-4B43-BFC4-7328A9A9B681}" type="datetimeFigureOut">
              <a:rPr lang="zh-CN" altLang="en-US" smtClean="0"/>
              <a:pPr/>
              <a:t>2024/5/21</a:t>
            </a:fld>
            <a:endParaRPr lang="zh-CN" altLang="en-US"/>
          </a:p>
        </p:txBody>
      </p:sp>
      <p:sp>
        <p:nvSpPr>
          <p:cNvPr id="3" name="页脚占位符 2">
            <a:extLst>
              <a:ext uri="{FF2B5EF4-FFF2-40B4-BE49-F238E27FC236}">
                <a16:creationId xmlns:a16="http://schemas.microsoft.com/office/drawing/2014/main" id="{76AFF75D-410E-4FF5-91F1-E635B2B4D253}"/>
              </a:ext>
            </a:extLst>
          </p:cNvPr>
          <p:cNvSpPr>
            <a:spLocks noGrp="1"/>
          </p:cNvSpPr>
          <p:nvPr>
            <p:ph type="ftr" sz="quarter" idx="11"/>
          </p:nvPr>
        </p:nvSpPr>
        <p:spPr/>
        <p:txBody>
          <a:bodyPr/>
          <a:lstStyle>
            <a:lvl1pPr>
              <a:defRPr>
                <a:latin typeface="+mn-lt"/>
              </a:defRPr>
            </a:lvl1pPr>
          </a:lstStyle>
          <a:p>
            <a:endParaRPr lang="zh-CN" altLang="en-US"/>
          </a:p>
        </p:txBody>
      </p:sp>
      <p:sp>
        <p:nvSpPr>
          <p:cNvPr id="4" name="灯片编号占位符 3">
            <a:extLst>
              <a:ext uri="{FF2B5EF4-FFF2-40B4-BE49-F238E27FC236}">
                <a16:creationId xmlns:a16="http://schemas.microsoft.com/office/drawing/2014/main" id="{2B2B8D5D-EBBC-4D0B-81BA-D6EE7D1B9F09}"/>
              </a:ext>
            </a:extLst>
          </p:cNvPr>
          <p:cNvSpPr>
            <a:spLocks noGrp="1"/>
          </p:cNvSpPr>
          <p:nvPr>
            <p:ph type="sldNum" sz="quarter" idx="12"/>
          </p:nvPr>
        </p:nvSpPr>
        <p:spPr/>
        <p:txBody>
          <a:bodyPr/>
          <a:lstStyle>
            <a:lvl1pPr>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383316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7180F32D-4D49-416F-900C-56A021BAA253}"/>
              </a:ext>
            </a:extLst>
          </p:cNvPr>
          <p:cNvSpPr>
            <a:spLocks noGrp="1"/>
          </p:cNvSpPr>
          <p:nvPr>
            <p:ph type="title"/>
          </p:nvPr>
        </p:nvSpPr>
        <p:spPr>
          <a:xfrm>
            <a:off x="839788" y="457200"/>
            <a:ext cx="3932237" cy="1600200"/>
          </a:xfrm>
        </p:spPr>
        <p:txBody>
          <a:bodyPr anchor="b"/>
          <a:lstStyle>
            <a:lvl1pPr>
              <a:defRPr sz="32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89A1975-CD99-4E06-9E45-D308D959EDC9}"/>
              </a:ext>
            </a:extLst>
          </p:cNvPr>
          <p:cNvSpPr>
            <a:spLocks noGrp="1"/>
          </p:cNvSpPr>
          <p:nvPr>
            <p:ph idx="1"/>
          </p:nvPr>
        </p:nvSpPr>
        <p:spPr>
          <a:xfrm>
            <a:off x="5183188" y="987425"/>
            <a:ext cx="6172200" cy="4873625"/>
          </a:xfrm>
        </p:spPr>
        <p:txBody>
          <a:bodyPr/>
          <a:lstStyle>
            <a:lvl1pPr>
              <a:lnSpc>
                <a:spcPct val="120000"/>
              </a:lnSpc>
              <a:defRPr sz="3200">
                <a:latin typeface="+mn-lt"/>
              </a:defRPr>
            </a:lvl1pPr>
            <a:lvl2pPr>
              <a:lnSpc>
                <a:spcPct val="120000"/>
              </a:lnSpc>
              <a:defRPr sz="2800">
                <a:latin typeface="+mn-lt"/>
              </a:defRPr>
            </a:lvl2pPr>
            <a:lvl3pPr>
              <a:lnSpc>
                <a:spcPct val="120000"/>
              </a:lnSpc>
              <a:defRPr sz="2400">
                <a:latin typeface="+mn-lt"/>
              </a:defRPr>
            </a:lvl3pPr>
            <a:lvl4pPr>
              <a:lnSpc>
                <a:spcPct val="120000"/>
              </a:lnSpc>
              <a:defRPr sz="2000">
                <a:latin typeface="+mn-lt"/>
              </a:defRPr>
            </a:lvl4pPr>
            <a:lvl5pPr>
              <a:lnSpc>
                <a:spcPct val="120000"/>
              </a:lnSpc>
              <a:defRPr sz="2000">
                <a:latin typeface="+mn-lt"/>
              </a:defRPr>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a:extLst>
              <a:ext uri="{FF2B5EF4-FFF2-40B4-BE49-F238E27FC236}">
                <a16:creationId xmlns:a16="http://schemas.microsoft.com/office/drawing/2014/main" id="{90C04A39-44D7-40D5-879F-9B291A6F34D4}"/>
              </a:ext>
            </a:extLst>
          </p:cNvPr>
          <p:cNvSpPr>
            <a:spLocks noGrp="1"/>
          </p:cNvSpPr>
          <p:nvPr>
            <p:ph type="body" sz="half" idx="2"/>
          </p:nvPr>
        </p:nvSpPr>
        <p:spPr>
          <a:xfrm>
            <a:off x="839788" y="2057400"/>
            <a:ext cx="3932237" cy="3811588"/>
          </a:xfrm>
        </p:spPr>
        <p:txBody>
          <a:bodyPr/>
          <a:lstStyle>
            <a:lvl1pPr marL="0" indent="0">
              <a:lnSpc>
                <a:spcPct val="12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日期占位符 4">
            <a:extLst>
              <a:ext uri="{FF2B5EF4-FFF2-40B4-BE49-F238E27FC236}">
                <a16:creationId xmlns:a16="http://schemas.microsoft.com/office/drawing/2014/main" id="{64018CF9-B53E-4812-BEF1-A52E0A34A819}"/>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6" name="页脚占位符 5">
            <a:extLst>
              <a:ext uri="{FF2B5EF4-FFF2-40B4-BE49-F238E27FC236}">
                <a16:creationId xmlns:a16="http://schemas.microsoft.com/office/drawing/2014/main" id="{0FA403AC-06D8-4A58-A310-BBD1CF8993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87A4F-9495-4E5A-9C28-E5809E59EB63}"/>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767457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F1ECD109-4A98-49F1-AC02-939490484F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BD343E-388B-4353-9336-2656832B0C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a:extLst>
              <a:ext uri="{FF2B5EF4-FFF2-40B4-BE49-F238E27FC236}">
                <a16:creationId xmlns:a16="http://schemas.microsoft.com/office/drawing/2014/main" id="{A9FBF39C-1448-4F68-AD3E-BFA9643DB6F1}"/>
              </a:ext>
            </a:extLst>
          </p:cNvPr>
          <p:cNvSpPr>
            <a:spLocks noGrp="1"/>
          </p:cNvSpPr>
          <p:nvPr>
            <p:ph type="body" sz="half" idx="2"/>
          </p:nvPr>
        </p:nvSpPr>
        <p:spPr>
          <a:xfrm>
            <a:off x="839788" y="2057400"/>
            <a:ext cx="3932237" cy="3811588"/>
          </a:xfrm>
        </p:spPr>
        <p:txBody>
          <a:bodyPr/>
          <a:lstStyle>
            <a:lvl1pPr marL="0" indent="0">
              <a:lnSpc>
                <a:spcPct val="12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日期占位符 4">
            <a:extLst>
              <a:ext uri="{FF2B5EF4-FFF2-40B4-BE49-F238E27FC236}">
                <a16:creationId xmlns:a16="http://schemas.microsoft.com/office/drawing/2014/main" id="{CA9F964B-5762-4399-8D43-3F4D77D8A5F2}"/>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6" name="页脚占位符 5">
            <a:extLst>
              <a:ext uri="{FF2B5EF4-FFF2-40B4-BE49-F238E27FC236}">
                <a16:creationId xmlns:a16="http://schemas.microsoft.com/office/drawing/2014/main" id="{75F14C33-5019-4572-8BA2-48878300B1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02535E-DC52-4683-9666-75A5550FD9C7}"/>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84920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lnSpc>
                <a:spcPct val="120000"/>
              </a:lnSpc>
              <a:defRPr sz="2600">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08359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1.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占位符 1">
            <a:extLst>
              <a:ext uri="{FF2B5EF4-FFF2-40B4-BE49-F238E27FC236}">
                <a16:creationId xmlns:a16="http://schemas.microsoft.com/office/drawing/2014/main" id="{5BDD4DA5-7CDF-41C7-842B-C65E40C8EC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55DD46D-0C86-4CE6-B4CB-E685DB67B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6825EA9-D021-48CB-A587-4B37D2A314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5EC24D08-70E2-4241-866D-8CD5E7ACB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FE7F49E-E35F-4F73-9004-29599BB63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42368476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txStyles>
    <p:titleStyle>
      <a:lvl1pPr algn="l" defTabSz="914400" rtl="0" eaLnBrk="1" latinLnBrk="0" hangingPunct="1">
        <a:lnSpc>
          <a:spcPct val="90000"/>
        </a:lnSpc>
        <a:spcBef>
          <a:spcPct val="0"/>
        </a:spcBef>
        <a:buNone/>
        <a:defRPr sz="4000" kern="1200">
          <a:solidFill>
            <a:schemeClr val="tx1"/>
          </a:solidFill>
          <a:latin typeface="+mn-lt"/>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600" kern="120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占位符 1">
            <a:extLst>
              <a:ext uri="{FF2B5EF4-FFF2-40B4-BE49-F238E27FC236}">
                <a16:creationId xmlns:a16="http://schemas.microsoft.com/office/drawing/2014/main" id="{5BDD4DA5-7CDF-41C7-842B-C65E40C8EC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55DD46D-0C86-4CE6-B4CB-E685DB67B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6825EA9-D021-48CB-A587-4B37D2A314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4E9F9-C78E-4B43-BFC4-7328A9A9B681}" type="datetimeFigureOut">
              <a:rPr lang="zh-CN" altLang="en-US" smtClean="0"/>
              <a:t>2024/5/21</a:t>
            </a:fld>
            <a:endParaRPr lang="zh-CN" altLang="en-US"/>
          </a:p>
        </p:txBody>
      </p:sp>
      <p:sp>
        <p:nvSpPr>
          <p:cNvPr id="5" name="页脚占位符 4">
            <a:extLst>
              <a:ext uri="{FF2B5EF4-FFF2-40B4-BE49-F238E27FC236}">
                <a16:creationId xmlns:a16="http://schemas.microsoft.com/office/drawing/2014/main" id="{5EC24D08-70E2-4241-866D-8CD5E7ACB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FE7F49E-E35F-4F73-9004-29599BB63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02526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xStyles>
    <p:titleStyle>
      <a:lvl1pPr algn="l" defTabSz="914400" rtl="0" eaLnBrk="1" latinLnBrk="0" hangingPunct="1">
        <a:lnSpc>
          <a:spcPct val="90000"/>
        </a:lnSpc>
        <a:spcBef>
          <a:spcPct val="0"/>
        </a:spcBef>
        <a:buNone/>
        <a:defRPr sz="4000" kern="1200">
          <a:solidFill>
            <a:schemeClr val="tx1"/>
          </a:solidFill>
          <a:latin typeface="+mn-lt"/>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7.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BC71296-B7DB-8FCB-C492-290895CCAC7E}"/>
              </a:ext>
            </a:extLst>
          </p:cNvPr>
          <p:cNvSpPr>
            <a:spLocks noGrp="1"/>
          </p:cNvSpPr>
          <p:nvPr>
            <p:ph type="subTitle" idx="1"/>
          </p:nvPr>
        </p:nvSpPr>
        <p:spPr>
          <a:xfrm>
            <a:off x="4507588" y="4989550"/>
            <a:ext cx="4122063" cy="1646993"/>
          </a:xfrm>
        </p:spPr>
        <p:txBody>
          <a:bodyPr>
            <a:normAutofit/>
          </a:bodyPr>
          <a:lstStyle/>
          <a:p>
            <a:pPr marL="342900" indent="-342900" algn="l">
              <a:lnSpc>
                <a:spcPct val="150000"/>
              </a:lnSpc>
              <a:buFont typeface="Wingdings" panose="05000000000000000000" pitchFamily="2" charset="2"/>
              <a:buChar char="Ø"/>
            </a:pPr>
            <a:r>
              <a:rPr lang="en-US" altLang="zh-CN" dirty="0"/>
              <a:t>Reporter: </a:t>
            </a:r>
            <a:r>
              <a:rPr lang="zh-CN" altLang="en-US" dirty="0"/>
              <a:t>高旭帆</a:t>
            </a:r>
            <a:endParaRPr lang="en-US" altLang="zh-CN" dirty="0"/>
          </a:p>
          <a:p>
            <a:pPr marL="342900" indent="-342900" algn="l">
              <a:lnSpc>
                <a:spcPct val="150000"/>
              </a:lnSpc>
              <a:buFont typeface="Wingdings" panose="05000000000000000000" pitchFamily="2" charset="2"/>
              <a:buChar char="Ø"/>
            </a:pPr>
            <a:r>
              <a:rPr lang="en-US" altLang="zh-CN" dirty="0"/>
              <a:t>Date: 2024.5.22</a:t>
            </a:r>
          </a:p>
        </p:txBody>
      </p:sp>
      <p:pic>
        <p:nvPicPr>
          <p:cNvPr id="10" name="Picture 9">
            <a:extLst>
              <a:ext uri="{FF2B5EF4-FFF2-40B4-BE49-F238E27FC236}">
                <a16:creationId xmlns:a16="http://schemas.microsoft.com/office/drawing/2014/main" id="{29B4CF7C-1BEE-2A35-4409-A27420F37F5D}"/>
              </a:ext>
            </a:extLst>
          </p:cNvPr>
          <p:cNvPicPr>
            <a:picLocks noChangeAspect="1"/>
          </p:cNvPicPr>
          <p:nvPr/>
        </p:nvPicPr>
        <p:blipFill>
          <a:blip r:embed="rId3"/>
          <a:stretch>
            <a:fillRect/>
          </a:stretch>
        </p:blipFill>
        <p:spPr>
          <a:xfrm>
            <a:off x="739496" y="1746186"/>
            <a:ext cx="10840007" cy="2489328"/>
          </a:xfrm>
          <a:prstGeom prst="rect">
            <a:avLst/>
          </a:prstGeom>
        </p:spPr>
      </p:pic>
    </p:spTree>
    <p:extLst>
      <p:ext uri="{BB962C8B-B14F-4D97-AF65-F5344CB8AC3E}">
        <p14:creationId xmlns:p14="http://schemas.microsoft.com/office/powerpoint/2010/main" val="355416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Intro</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Authors</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2</a:t>
            </a:fld>
            <a:endParaRPr lang="zh-CN" altLang="en-US" dirty="0">
              <a:solidFill>
                <a:schemeClr val="accent1"/>
              </a:solidFill>
            </a:endParaRPr>
          </a:p>
        </p:txBody>
      </p:sp>
      <p:pic>
        <p:nvPicPr>
          <p:cNvPr id="1026" name="Picture 2">
            <a:extLst>
              <a:ext uri="{FF2B5EF4-FFF2-40B4-BE49-F238E27FC236}">
                <a16:creationId xmlns:a16="http://schemas.microsoft.com/office/drawing/2014/main" id="{36EE4BC6-9566-6F1B-7AC0-C71D3AD57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317" y="1430656"/>
            <a:ext cx="1950720" cy="1950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117D316-CAF4-0FE3-CF49-5DF21CFC2B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316" y="4247029"/>
            <a:ext cx="1950721" cy="195072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62F0E19-4165-5892-8949-1F3310B8D125}"/>
              </a:ext>
            </a:extLst>
          </p:cNvPr>
          <p:cNvSpPr txBox="1"/>
          <p:nvPr/>
        </p:nvSpPr>
        <p:spPr>
          <a:xfrm>
            <a:off x="2654575" y="1547790"/>
            <a:ext cx="4975514" cy="1723805"/>
          </a:xfrm>
          <a:prstGeom prst="rect">
            <a:avLst/>
          </a:prstGeom>
          <a:noFill/>
        </p:spPr>
        <p:txBody>
          <a:bodyPr wrap="square">
            <a:spAutoFit/>
          </a:bodyPr>
          <a:lstStyle/>
          <a:p>
            <a:pPr>
              <a:lnSpc>
                <a:spcPct val="120000"/>
              </a:lnSpc>
            </a:pPr>
            <a:r>
              <a:rPr lang="en-US" altLang="zh-CN" dirty="0"/>
              <a:t>Sanaa Mansoor</a:t>
            </a:r>
          </a:p>
          <a:p>
            <a:pPr marL="285750" indent="-285750">
              <a:lnSpc>
                <a:spcPct val="120000"/>
              </a:lnSpc>
              <a:buFont typeface="Wingdings" panose="05000000000000000000" pitchFamily="2" charset="2"/>
              <a:buChar char="Ø"/>
            </a:pPr>
            <a:r>
              <a:rPr lang="en-US" altLang="zh-CN" dirty="0"/>
              <a:t>Previous PhD in Baker Lab (now in X) </a:t>
            </a:r>
          </a:p>
          <a:p>
            <a:pPr marL="285750" indent="-285750">
              <a:lnSpc>
                <a:spcPct val="120000"/>
              </a:lnSpc>
              <a:buFont typeface="Wingdings" panose="05000000000000000000" pitchFamily="2" charset="2"/>
              <a:buChar char="Ø"/>
            </a:pPr>
            <a:r>
              <a:rPr lang="en-US" altLang="zh-CN" dirty="0"/>
              <a:t>Research: use deep learning (specifically generative models) for protein structure refinement and design.</a:t>
            </a:r>
            <a:endParaRPr lang="zh-CN" altLang="en-US" dirty="0"/>
          </a:p>
        </p:txBody>
      </p:sp>
      <p:sp>
        <p:nvSpPr>
          <p:cNvPr id="12" name="TextBox 11">
            <a:extLst>
              <a:ext uri="{FF2B5EF4-FFF2-40B4-BE49-F238E27FC236}">
                <a16:creationId xmlns:a16="http://schemas.microsoft.com/office/drawing/2014/main" id="{F6E9F067-3BDD-3006-21C8-F5952F59E9DA}"/>
              </a:ext>
            </a:extLst>
          </p:cNvPr>
          <p:cNvSpPr txBox="1"/>
          <p:nvPr/>
        </p:nvSpPr>
        <p:spPr>
          <a:xfrm>
            <a:off x="2654575" y="3971886"/>
            <a:ext cx="5475014" cy="2388603"/>
          </a:xfrm>
          <a:prstGeom prst="rect">
            <a:avLst/>
          </a:prstGeom>
          <a:noFill/>
        </p:spPr>
        <p:txBody>
          <a:bodyPr wrap="square">
            <a:spAutoFit/>
          </a:bodyPr>
          <a:lstStyle/>
          <a:p>
            <a:pPr>
              <a:lnSpc>
                <a:spcPct val="120000"/>
              </a:lnSpc>
            </a:pPr>
            <a:r>
              <a:rPr lang="en-US" altLang="zh-CN" dirty="0"/>
              <a:t>David Baker, PhD</a:t>
            </a:r>
          </a:p>
          <a:p>
            <a:pPr marL="285750" indent="-285750">
              <a:lnSpc>
                <a:spcPct val="120000"/>
              </a:lnSpc>
              <a:buFont typeface="Wingdings" panose="05000000000000000000" pitchFamily="2" charset="2"/>
              <a:buChar char="Ø"/>
            </a:pPr>
            <a:r>
              <a:rPr lang="en-US" altLang="zh-CN" dirty="0"/>
              <a:t>Director, Institute for Protein Design, School of Medicine, University of Washington</a:t>
            </a:r>
          </a:p>
          <a:p>
            <a:pPr marL="285750" indent="-285750">
              <a:lnSpc>
                <a:spcPct val="120000"/>
              </a:lnSpc>
              <a:buFont typeface="Wingdings" panose="05000000000000000000" pitchFamily="2" charset="2"/>
              <a:buChar char="Ø"/>
            </a:pPr>
            <a:r>
              <a:rPr lang="en-US" altLang="zh-CN" dirty="0"/>
              <a:t>Investigator, Howard Hughes Medical Institute</a:t>
            </a:r>
          </a:p>
          <a:p>
            <a:pPr marL="285750" indent="-285750">
              <a:lnSpc>
                <a:spcPct val="120000"/>
              </a:lnSpc>
              <a:buFont typeface="Wingdings" panose="05000000000000000000" pitchFamily="2" charset="2"/>
              <a:buChar char="Ø"/>
            </a:pPr>
            <a:r>
              <a:rPr lang="en-US" altLang="zh-CN" dirty="0"/>
              <a:t>Member of the National Academy of Sciences</a:t>
            </a:r>
          </a:p>
          <a:p>
            <a:pPr marL="285750" indent="-285750">
              <a:lnSpc>
                <a:spcPct val="120000"/>
              </a:lnSpc>
              <a:buFont typeface="Wingdings" panose="05000000000000000000" pitchFamily="2" charset="2"/>
              <a:buChar char="Ø"/>
            </a:pPr>
            <a:r>
              <a:rPr lang="en-US" altLang="zh-CN" dirty="0"/>
              <a:t>2021 Breakthrough Prize in Life Sciences </a:t>
            </a:r>
          </a:p>
          <a:p>
            <a:pPr marL="285750" indent="-285750">
              <a:lnSpc>
                <a:spcPct val="120000"/>
              </a:lnSpc>
              <a:buFont typeface="Wingdings" panose="05000000000000000000" pitchFamily="2" charset="2"/>
              <a:buChar char="Ø"/>
            </a:pPr>
            <a:r>
              <a:rPr lang="en-US" altLang="zh-CN" dirty="0"/>
              <a:t>The world’s 100 Most Influential People in health.</a:t>
            </a:r>
            <a:endParaRPr lang="zh-CN" altLang="en-US" dirty="0"/>
          </a:p>
        </p:txBody>
      </p:sp>
      <p:sp>
        <p:nvSpPr>
          <p:cNvPr id="19" name="TextBox 18">
            <a:extLst>
              <a:ext uri="{FF2B5EF4-FFF2-40B4-BE49-F238E27FC236}">
                <a16:creationId xmlns:a16="http://schemas.microsoft.com/office/drawing/2014/main" id="{1411FE6F-1AD4-8F0D-D5A0-918B313F7F53}"/>
              </a:ext>
            </a:extLst>
          </p:cNvPr>
          <p:cNvSpPr txBox="1"/>
          <p:nvPr/>
        </p:nvSpPr>
        <p:spPr>
          <a:xfrm>
            <a:off x="7895036" y="1529228"/>
            <a:ext cx="4296964" cy="1059008"/>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en-US" altLang="zh-CN" dirty="0" err="1"/>
              <a:t>Minkyung</a:t>
            </a:r>
            <a:r>
              <a:rPr lang="en-US" altLang="zh-CN" dirty="0"/>
              <a:t> Baek and </a:t>
            </a:r>
            <a:r>
              <a:rPr lang="en-US" altLang="zh-CN" dirty="0" err="1"/>
              <a:t>Hahnbeom</a:t>
            </a:r>
            <a:r>
              <a:rPr lang="en-US" altLang="zh-CN" dirty="0"/>
              <a:t> Park are previous postdocs</a:t>
            </a:r>
          </a:p>
          <a:p>
            <a:pPr marL="285750" indent="-285750">
              <a:lnSpc>
                <a:spcPct val="120000"/>
              </a:lnSpc>
              <a:buFont typeface="Wingdings" panose="05000000000000000000" pitchFamily="2" charset="2"/>
              <a:buChar char="Ø"/>
            </a:pPr>
            <a:r>
              <a:rPr lang="en-US" altLang="zh-CN" dirty="0" err="1"/>
              <a:t>Gyu</a:t>
            </a:r>
            <a:r>
              <a:rPr lang="en-US" altLang="zh-CN" dirty="0"/>
              <a:t> Rie Lee is a staff</a:t>
            </a:r>
            <a:endParaRPr lang="zh-CN" altLang="en-US" dirty="0"/>
          </a:p>
        </p:txBody>
      </p:sp>
      <p:pic>
        <p:nvPicPr>
          <p:cNvPr id="1032" name="Picture 8" descr="RoseTTAFold Protein Folding Molecular Dynamics SW | Exxact Corporation">
            <a:extLst>
              <a:ext uri="{FF2B5EF4-FFF2-40B4-BE49-F238E27FC236}">
                <a16:creationId xmlns:a16="http://schemas.microsoft.com/office/drawing/2014/main" id="{56E19E8A-A5C9-978E-96D9-20F494F60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6813" y="2790460"/>
            <a:ext cx="2886300" cy="879364"/>
          </a:xfrm>
          <a:prstGeom prst="rect">
            <a:avLst/>
          </a:prstGeom>
          <a:noFill/>
          <a:extLst>
            <a:ext uri="{909E8E84-426E-40DD-AFC4-6F175D3DCCD1}">
              <a14:hiddenFill xmlns:a14="http://schemas.microsoft.com/office/drawing/2010/main">
                <a:solidFill>
                  <a:srgbClr val="FFFFFF"/>
                </a:solidFill>
              </a14:hiddenFill>
            </a:ext>
          </a:extLst>
        </p:spPr>
      </p:pic>
      <p:sp>
        <p:nvSpPr>
          <p:cNvPr id="20" name="AutoShape 10">
            <a:extLst>
              <a:ext uri="{FF2B5EF4-FFF2-40B4-BE49-F238E27FC236}">
                <a16:creationId xmlns:a16="http://schemas.microsoft.com/office/drawing/2014/main" id="{6ADC41D1-8CD3-6FC5-B382-E584D32D7C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2" name="Picture 21">
            <a:extLst>
              <a:ext uri="{FF2B5EF4-FFF2-40B4-BE49-F238E27FC236}">
                <a16:creationId xmlns:a16="http://schemas.microsoft.com/office/drawing/2014/main" id="{F7636228-9FE8-9028-808D-218FEA290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28382" y="3840935"/>
            <a:ext cx="2443162" cy="2443162"/>
          </a:xfrm>
          <a:prstGeom prst="rect">
            <a:avLst/>
          </a:prstGeom>
        </p:spPr>
      </p:pic>
    </p:spTree>
    <p:extLst>
      <p:ext uri="{BB962C8B-B14F-4D97-AF65-F5344CB8AC3E}">
        <p14:creationId xmlns:p14="http://schemas.microsoft.com/office/powerpoint/2010/main" val="3065170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Intro</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Highlights</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3</a:t>
            </a:fld>
            <a:endParaRPr lang="zh-CN" altLang="en-US" dirty="0">
              <a:solidFill>
                <a:schemeClr val="accent1"/>
              </a:solidFill>
            </a:endParaRPr>
          </a:p>
        </p:txBody>
      </p:sp>
      <p:pic>
        <p:nvPicPr>
          <p:cNvPr id="4098" name="Picture 2">
            <a:extLst>
              <a:ext uri="{FF2B5EF4-FFF2-40B4-BE49-F238E27FC236}">
                <a16:creationId xmlns:a16="http://schemas.microsoft.com/office/drawing/2014/main" id="{8A3CB4DA-25AE-A308-2DF3-DE995AD928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57" y="1584115"/>
            <a:ext cx="5104655" cy="33005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BE874CF-18DB-ED79-B124-2A865993C743}"/>
              </a:ext>
            </a:extLst>
          </p:cNvPr>
          <p:cNvSpPr txBox="1"/>
          <p:nvPr/>
        </p:nvSpPr>
        <p:spPr>
          <a:xfrm>
            <a:off x="5600700" y="1105212"/>
            <a:ext cx="6401921" cy="5047792"/>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en-US" altLang="zh-CN" dirty="0"/>
              <a:t>Innovative Approach: Combines </a:t>
            </a:r>
            <a:r>
              <a:rPr lang="en-US" altLang="zh-CN" dirty="0">
                <a:solidFill>
                  <a:srgbClr val="954ECA"/>
                </a:solidFill>
              </a:rPr>
              <a:t>Soft-Introspective Variational Autoencoder (SI-VAE)</a:t>
            </a:r>
            <a:r>
              <a:rPr lang="en-US" altLang="zh-CN" dirty="0"/>
              <a:t> with </a:t>
            </a:r>
            <a:r>
              <a:rPr lang="en-US" altLang="zh-CN" dirty="0" err="1">
                <a:solidFill>
                  <a:srgbClr val="954ECA"/>
                </a:solidFill>
              </a:rPr>
              <a:t>RoseTTAFold</a:t>
            </a:r>
            <a:r>
              <a:rPr lang="en-US" altLang="zh-CN" dirty="0"/>
              <a:t> to generate high-quality protein conformations, addressing the challenge of protein structure diversity.</a:t>
            </a:r>
          </a:p>
          <a:p>
            <a:pPr marL="285750" indent="-285750">
              <a:lnSpc>
                <a:spcPct val="120000"/>
              </a:lnSpc>
              <a:buFont typeface="Wingdings" panose="05000000000000000000" pitchFamily="2" charset="2"/>
              <a:buChar char="Ø"/>
            </a:pPr>
            <a:r>
              <a:rPr lang="en-US" altLang="zh-CN" dirty="0"/>
              <a:t>Data Sources: Uses K-Ras </a:t>
            </a:r>
            <a:r>
              <a:rPr lang="en-US" altLang="zh-CN" dirty="0">
                <a:solidFill>
                  <a:srgbClr val="954ECA"/>
                </a:solidFill>
              </a:rPr>
              <a:t>crystal structures and MD snapshots</a:t>
            </a:r>
            <a:r>
              <a:rPr lang="en-US" altLang="zh-CN" dirty="0"/>
              <a:t>, encoded as 2D template features by </a:t>
            </a:r>
            <a:r>
              <a:rPr lang="en-US" altLang="zh-CN" dirty="0" err="1"/>
              <a:t>RoseTTAFold</a:t>
            </a:r>
            <a:r>
              <a:rPr lang="en-US" altLang="zh-CN" dirty="0"/>
              <a:t>.</a:t>
            </a:r>
          </a:p>
          <a:p>
            <a:pPr marL="285750" indent="-285750">
              <a:lnSpc>
                <a:spcPct val="120000"/>
              </a:lnSpc>
              <a:buFont typeface="Wingdings" panose="05000000000000000000" pitchFamily="2" charset="2"/>
              <a:buChar char="Ø"/>
            </a:pPr>
            <a:r>
              <a:rPr lang="en-US" altLang="zh-CN" dirty="0"/>
              <a:t>High Accuracy: Achieves </a:t>
            </a:r>
            <a:r>
              <a:rPr lang="en-US" altLang="zh-CN" dirty="0">
                <a:solidFill>
                  <a:srgbClr val="954ECA"/>
                </a:solidFill>
              </a:rPr>
              <a:t>sub-1 Å RMSD </a:t>
            </a:r>
            <a:r>
              <a:rPr lang="en-US" altLang="zh-CN" dirty="0"/>
              <a:t>for 13 out of 20 targets, outperforming MD simulations and AlphaFold2.</a:t>
            </a:r>
          </a:p>
          <a:p>
            <a:pPr marL="285750" indent="-285750">
              <a:lnSpc>
                <a:spcPct val="120000"/>
              </a:lnSpc>
              <a:buFont typeface="Wingdings" panose="05000000000000000000" pitchFamily="2" charset="2"/>
              <a:buChar char="Ø"/>
            </a:pPr>
            <a:r>
              <a:rPr lang="en-US" altLang="zh-CN" dirty="0"/>
              <a:t>Latent Space Sampling: Employs gradient optimization in latent space to ensure generated structures are consistent and plausible.</a:t>
            </a:r>
          </a:p>
          <a:p>
            <a:pPr marL="285750" indent="-285750">
              <a:lnSpc>
                <a:spcPct val="120000"/>
              </a:lnSpc>
              <a:buFont typeface="Wingdings" panose="05000000000000000000" pitchFamily="2" charset="2"/>
              <a:buChar char="Ø"/>
            </a:pPr>
            <a:r>
              <a:rPr lang="en-US" altLang="zh-CN" dirty="0"/>
              <a:t>Drug Discovery Potential: Improves identification of </a:t>
            </a:r>
            <a:r>
              <a:rPr lang="en-US" altLang="zh-CN" dirty="0">
                <a:solidFill>
                  <a:srgbClr val="954ECA"/>
                </a:solidFill>
              </a:rPr>
              <a:t>hidden binding pockets</a:t>
            </a:r>
            <a:r>
              <a:rPr lang="en-US" altLang="zh-CN" dirty="0"/>
              <a:t>, enhancing accuracy and efficiency in drug design.</a:t>
            </a:r>
            <a:endParaRPr lang="zh-CN" altLang="en-US" dirty="0"/>
          </a:p>
        </p:txBody>
      </p:sp>
      <p:sp>
        <p:nvSpPr>
          <p:cNvPr id="14" name="TextBox 13">
            <a:extLst>
              <a:ext uri="{FF2B5EF4-FFF2-40B4-BE49-F238E27FC236}">
                <a16:creationId xmlns:a16="http://schemas.microsoft.com/office/drawing/2014/main" id="{6753CC81-973C-0B10-7A09-034C6365581B}"/>
              </a:ext>
            </a:extLst>
          </p:cNvPr>
          <p:cNvSpPr txBox="1"/>
          <p:nvPr/>
        </p:nvSpPr>
        <p:spPr>
          <a:xfrm>
            <a:off x="1000399" y="5432874"/>
            <a:ext cx="3803969" cy="369332"/>
          </a:xfrm>
          <a:prstGeom prst="rect">
            <a:avLst/>
          </a:prstGeom>
          <a:noFill/>
        </p:spPr>
        <p:txBody>
          <a:bodyPr wrap="square">
            <a:spAutoFit/>
          </a:bodyPr>
          <a:lstStyle/>
          <a:p>
            <a:pPr algn="ctr"/>
            <a:r>
              <a:rPr lang="en-US" altLang="zh-CN" b="1" dirty="0"/>
              <a:t>Fast and efficient Sampling!</a:t>
            </a:r>
            <a:endParaRPr lang="zh-CN" altLang="en-US" b="1" dirty="0"/>
          </a:p>
        </p:txBody>
      </p:sp>
    </p:spTree>
    <p:extLst>
      <p:ext uri="{BB962C8B-B14F-4D97-AF65-F5344CB8AC3E}">
        <p14:creationId xmlns:p14="http://schemas.microsoft.com/office/powerpoint/2010/main" val="3765096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Background</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Protein ensemble generation is challenging</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4</a:t>
            </a:fld>
            <a:endParaRPr lang="zh-CN" altLang="en-US" dirty="0">
              <a:solidFill>
                <a:schemeClr val="accent1"/>
              </a:solidFill>
            </a:endParaRPr>
          </a:p>
        </p:txBody>
      </p:sp>
      <p:sp>
        <p:nvSpPr>
          <p:cNvPr id="8" name="TextBox 7">
            <a:extLst>
              <a:ext uri="{FF2B5EF4-FFF2-40B4-BE49-F238E27FC236}">
                <a16:creationId xmlns:a16="http://schemas.microsoft.com/office/drawing/2014/main" id="{E66289B7-67E1-8CB5-189C-9A60CF2D156E}"/>
              </a:ext>
            </a:extLst>
          </p:cNvPr>
          <p:cNvSpPr txBox="1"/>
          <p:nvPr/>
        </p:nvSpPr>
        <p:spPr>
          <a:xfrm>
            <a:off x="6214946" y="959234"/>
            <a:ext cx="5605730" cy="5712589"/>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en-US" altLang="zh-CN" dirty="0"/>
              <a:t>Drugs often target the </a:t>
            </a:r>
            <a:r>
              <a:rPr lang="en-US" altLang="zh-CN" dirty="0">
                <a:solidFill>
                  <a:srgbClr val="954ECA"/>
                </a:solidFill>
              </a:rPr>
              <a:t>functional conformations </a:t>
            </a:r>
            <a:r>
              <a:rPr lang="en-US" altLang="zh-CN" dirty="0"/>
              <a:t>of proteins, which may differ significantly from their native states</a:t>
            </a:r>
          </a:p>
          <a:p>
            <a:pPr marL="285750" indent="-285750">
              <a:lnSpc>
                <a:spcPct val="120000"/>
              </a:lnSpc>
              <a:buFont typeface="Wingdings" panose="05000000000000000000" pitchFamily="2" charset="2"/>
              <a:buChar char="Ø"/>
            </a:pPr>
            <a:r>
              <a:rPr lang="en-US" altLang="zh-CN" dirty="0"/>
              <a:t>Traditional protein structure prediction methods, such as AlphaFold and </a:t>
            </a:r>
            <a:r>
              <a:rPr lang="en-US" altLang="zh-CN" dirty="0" err="1"/>
              <a:t>RoseTTAFold</a:t>
            </a:r>
            <a:r>
              <a:rPr lang="en-US" altLang="zh-CN" dirty="0"/>
              <a:t>, primarily generate </a:t>
            </a:r>
            <a:r>
              <a:rPr lang="en-US" altLang="zh-CN" dirty="0">
                <a:solidFill>
                  <a:srgbClr val="954ECA"/>
                </a:solidFill>
              </a:rPr>
              <a:t>a single structure </a:t>
            </a:r>
            <a:r>
              <a:rPr lang="en-US" altLang="zh-CN" dirty="0"/>
              <a:t>rather than an ensemble of structures. </a:t>
            </a:r>
          </a:p>
          <a:p>
            <a:pPr marL="285750" indent="-285750">
              <a:lnSpc>
                <a:spcPct val="120000"/>
              </a:lnSpc>
              <a:buFont typeface="Wingdings" panose="05000000000000000000" pitchFamily="2" charset="2"/>
              <a:buChar char="Ø"/>
            </a:pPr>
            <a:r>
              <a:rPr lang="en-US" altLang="zh-CN" dirty="0"/>
              <a:t>Molecular dynamics (MD) trajectories generate protein conformational ensembles by simulating the movements. However, MD may fail to </a:t>
            </a:r>
            <a:r>
              <a:rPr lang="en-US" altLang="zh-CN" dirty="0">
                <a:solidFill>
                  <a:srgbClr val="954ECA"/>
                </a:solidFill>
              </a:rPr>
              <a:t>identify</a:t>
            </a:r>
            <a:r>
              <a:rPr lang="en-US" altLang="zh-CN" dirty="0">
                <a:solidFill>
                  <a:srgbClr val="7030A0"/>
                </a:solidFill>
              </a:rPr>
              <a:t> </a:t>
            </a:r>
            <a:r>
              <a:rPr lang="en-US" altLang="zh-CN" dirty="0">
                <a:solidFill>
                  <a:srgbClr val="954ECA"/>
                </a:solidFill>
              </a:rPr>
              <a:t>hidden binding pockets</a:t>
            </a:r>
            <a:r>
              <a:rPr lang="en-US" altLang="zh-CN" dirty="0"/>
              <a:t> in unbound structures and requires </a:t>
            </a:r>
            <a:r>
              <a:rPr lang="en-US" altLang="zh-CN" dirty="0">
                <a:solidFill>
                  <a:srgbClr val="954ECA"/>
                </a:solidFill>
              </a:rPr>
              <a:t>computationally expensive</a:t>
            </a:r>
            <a:r>
              <a:rPr lang="en-US" altLang="zh-CN" dirty="0"/>
              <a:t> simulations.</a:t>
            </a:r>
          </a:p>
          <a:p>
            <a:pPr marL="285750" indent="-285750">
              <a:lnSpc>
                <a:spcPct val="120000"/>
              </a:lnSpc>
              <a:buFont typeface="Wingdings" panose="05000000000000000000" pitchFamily="2" charset="2"/>
              <a:buChar char="Ø"/>
            </a:pPr>
            <a:r>
              <a:rPr lang="en-US" altLang="zh-CN" dirty="0"/>
              <a:t>Sampling in the latent space of a VAE provides a solution for generating conformational ensembles of specific protein sequences. This approach can </a:t>
            </a:r>
            <a:r>
              <a:rPr lang="en-US" altLang="zh-CN" dirty="0">
                <a:solidFill>
                  <a:srgbClr val="954ECA"/>
                </a:solidFill>
              </a:rPr>
              <a:t>overcome energy barriers </a:t>
            </a:r>
            <a:r>
              <a:rPr lang="en-US" altLang="zh-CN" dirty="0"/>
              <a:t>to sample different conformational states.</a:t>
            </a:r>
          </a:p>
        </p:txBody>
      </p:sp>
      <p:pic>
        <p:nvPicPr>
          <p:cNvPr id="3074" name="Picture 2">
            <a:extLst>
              <a:ext uri="{FF2B5EF4-FFF2-40B4-BE49-F238E27FC236}">
                <a16:creationId xmlns:a16="http://schemas.microsoft.com/office/drawing/2014/main" id="{E4BC716D-3744-CB40-8FA5-9ED8115BD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48876" y="1449099"/>
            <a:ext cx="5386145" cy="4732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235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Background</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Soft-Introspective VAE</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5</a:t>
            </a:fld>
            <a:endParaRPr lang="zh-CN" altLang="en-US" dirty="0">
              <a:solidFill>
                <a:schemeClr val="accent1"/>
              </a:solidFill>
            </a:endParaRPr>
          </a:p>
        </p:txBody>
      </p:sp>
      <p:sp>
        <p:nvSpPr>
          <p:cNvPr id="8" name="TextBox 7">
            <a:extLst>
              <a:ext uri="{FF2B5EF4-FFF2-40B4-BE49-F238E27FC236}">
                <a16:creationId xmlns:a16="http://schemas.microsoft.com/office/drawing/2014/main" id="{E66289B7-67E1-8CB5-189C-9A60CF2D156E}"/>
              </a:ext>
            </a:extLst>
          </p:cNvPr>
          <p:cNvSpPr txBox="1"/>
          <p:nvPr/>
        </p:nvSpPr>
        <p:spPr>
          <a:xfrm>
            <a:off x="200025" y="4183052"/>
            <a:ext cx="2071688" cy="1059008"/>
          </a:xfrm>
          <a:prstGeom prst="rect">
            <a:avLst/>
          </a:prstGeom>
          <a:noFill/>
        </p:spPr>
        <p:txBody>
          <a:bodyPr wrap="square">
            <a:spAutoFit/>
          </a:bodyPr>
          <a:lstStyle/>
          <a:p>
            <a:pPr>
              <a:lnSpc>
                <a:spcPct val="120000"/>
              </a:lnSpc>
            </a:pPr>
            <a:r>
              <a:rPr lang="en-US" altLang="zh-CN" dirty="0" err="1"/>
              <a:t>IntroVAE</a:t>
            </a:r>
            <a:r>
              <a:rPr lang="en-US" altLang="zh-CN" dirty="0"/>
              <a:t>: add a discriminator after the generator</a:t>
            </a:r>
          </a:p>
        </p:txBody>
      </p:sp>
      <p:pic>
        <p:nvPicPr>
          <p:cNvPr id="12290" name="Picture 2">
            <a:extLst>
              <a:ext uri="{FF2B5EF4-FFF2-40B4-BE49-F238E27FC236}">
                <a16:creationId xmlns:a16="http://schemas.microsoft.com/office/drawing/2014/main" id="{27734660-0EC8-E056-5177-16F445389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22234"/>
            <a:ext cx="6496917" cy="30099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ADC094D-7FA6-2F3F-FD44-19786641D896}"/>
              </a:ext>
            </a:extLst>
          </p:cNvPr>
          <p:cNvPicPr>
            <a:picLocks noChangeAspect="1"/>
          </p:cNvPicPr>
          <p:nvPr/>
        </p:nvPicPr>
        <p:blipFill>
          <a:blip r:embed="rId4"/>
          <a:stretch>
            <a:fillRect/>
          </a:stretch>
        </p:blipFill>
        <p:spPr>
          <a:xfrm>
            <a:off x="7364992" y="922234"/>
            <a:ext cx="4222169" cy="2964294"/>
          </a:xfrm>
          <a:prstGeom prst="rect">
            <a:avLst/>
          </a:prstGeom>
        </p:spPr>
      </p:pic>
      <p:pic>
        <p:nvPicPr>
          <p:cNvPr id="9" name="Picture 8">
            <a:extLst>
              <a:ext uri="{FF2B5EF4-FFF2-40B4-BE49-F238E27FC236}">
                <a16:creationId xmlns:a16="http://schemas.microsoft.com/office/drawing/2014/main" id="{C668DB21-8FBC-3727-E7F6-01EDE8B443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6961" y="4099060"/>
            <a:ext cx="9220200" cy="2457450"/>
          </a:xfrm>
          <a:prstGeom prst="rect">
            <a:avLst/>
          </a:prstGeom>
        </p:spPr>
      </p:pic>
    </p:spTree>
    <p:extLst>
      <p:ext uri="{BB962C8B-B14F-4D97-AF65-F5344CB8AC3E}">
        <p14:creationId xmlns:p14="http://schemas.microsoft.com/office/powerpoint/2010/main" val="2254131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Methods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Data &amp; Loss</a:t>
            </a: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6</a:t>
            </a:fld>
            <a:endParaRPr lang="zh-CN" altLang="en-US" dirty="0">
              <a:solidFill>
                <a:schemeClr val="accent1"/>
              </a:solidFill>
            </a:endParaRPr>
          </a:p>
        </p:txBody>
      </p:sp>
      <p:sp>
        <p:nvSpPr>
          <p:cNvPr id="8" name="TextBox 7">
            <a:extLst>
              <a:ext uri="{FF2B5EF4-FFF2-40B4-BE49-F238E27FC236}">
                <a16:creationId xmlns:a16="http://schemas.microsoft.com/office/drawing/2014/main" id="{F9568E22-9DE2-DDD7-415C-BD7805DF1BE4}"/>
              </a:ext>
            </a:extLst>
          </p:cNvPr>
          <p:cNvSpPr txBox="1"/>
          <p:nvPr/>
        </p:nvSpPr>
        <p:spPr>
          <a:xfrm>
            <a:off x="614362" y="1070028"/>
            <a:ext cx="6665119" cy="5380191"/>
          </a:xfrm>
          <a:prstGeom prst="rect">
            <a:avLst/>
          </a:prstGeom>
          <a:noFill/>
        </p:spPr>
        <p:txBody>
          <a:bodyPr wrap="square">
            <a:spAutoFit/>
          </a:bodyPr>
          <a:lstStyle/>
          <a:p>
            <a:pPr>
              <a:lnSpc>
                <a:spcPct val="120000"/>
              </a:lnSpc>
            </a:pPr>
            <a:r>
              <a:rPr lang="en-US" altLang="zh-CN" dirty="0"/>
              <a:t>Model system: K-Ras</a:t>
            </a:r>
          </a:p>
          <a:p>
            <a:pPr marL="285750" indent="-285750">
              <a:lnSpc>
                <a:spcPct val="120000"/>
              </a:lnSpc>
              <a:buFont typeface="Wingdings" panose="05000000000000000000" pitchFamily="2" charset="2"/>
              <a:buChar char="Ø"/>
            </a:pPr>
            <a:r>
              <a:rPr lang="en-US" altLang="zh-CN" dirty="0"/>
              <a:t>Clinical significance</a:t>
            </a:r>
          </a:p>
          <a:p>
            <a:pPr marL="285750" indent="-285750">
              <a:lnSpc>
                <a:spcPct val="120000"/>
              </a:lnSpc>
              <a:buFont typeface="Wingdings" panose="05000000000000000000" pitchFamily="2" charset="2"/>
              <a:buChar char="Ø"/>
            </a:pPr>
            <a:r>
              <a:rPr lang="en-US" altLang="zh-CN" dirty="0"/>
              <a:t>Many available structures</a:t>
            </a:r>
            <a:endParaRPr lang="zh-CN" altLang="en-US" dirty="0"/>
          </a:p>
          <a:p>
            <a:pPr>
              <a:lnSpc>
                <a:spcPct val="120000"/>
              </a:lnSpc>
            </a:pPr>
            <a:r>
              <a:rPr lang="en-US" altLang="zh-CN" dirty="0"/>
              <a:t>K-Ras Structures</a:t>
            </a:r>
          </a:p>
          <a:p>
            <a:pPr marL="285750" indent="-285750">
              <a:lnSpc>
                <a:spcPct val="120000"/>
              </a:lnSpc>
              <a:buFont typeface="Wingdings" panose="05000000000000000000" pitchFamily="2" charset="2"/>
              <a:buChar char="Ø"/>
            </a:pPr>
            <a:r>
              <a:rPr lang="en-US" altLang="zh-CN" dirty="0"/>
              <a:t>20 K-Ras structures with ligands were chosen for study.</a:t>
            </a:r>
          </a:p>
          <a:p>
            <a:pPr marL="285750" indent="-285750">
              <a:lnSpc>
                <a:spcPct val="120000"/>
              </a:lnSpc>
              <a:buFont typeface="Wingdings" panose="05000000000000000000" pitchFamily="2" charset="2"/>
              <a:buChar char="Ø"/>
            </a:pPr>
            <a:r>
              <a:rPr lang="en-US" altLang="zh-CN" dirty="0"/>
              <a:t>Each starting structure </a:t>
            </a:r>
            <a:r>
              <a:rPr lang="zh-CN" altLang="en-US" dirty="0"/>
              <a:t>→</a:t>
            </a:r>
            <a:r>
              <a:rPr lang="en-US" altLang="zh-CN" dirty="0"/>
              <a:t> 1000 MD snapshots (5*10 ns).</a:t>
            </a:r>
          </a:p>
          <a:p>
            <a:pPr>
              <a:lnSpc>
                <a:spcPct val="120000"/>
              </a:lnSpc>
            </a:pPr>
            <a:endParaRPr lang="en-US" altLang="zh-CN" dirty="0"/>
          </a:p>
          <a:p>
            <a:pPr>
              <a:lnSpc>
                <a:spcPct val="120000"/>
              </a:lnSpc>
            </a:pPr>
            <a:r>
              <a:rPr lang="en-US" altLang="zh-CN" dirty="0"/>
              <a:t>Data Conversion:</a:t>
            </a:r>
          </a:p>
          <a:p>
            <a:pPr marL="285750" indent="-285750">
              <a:lnSpc>
                <a:spcPct val="120000"/>
              </a:lnSpc>
              <a:buFont typeface="Wingdings" panose="05000000000000000000" pitchFamily="2" charset="2"/>
              <a:buChar char="Ø"/>
            </a:pPr>
            <a:r>
              <a:rPr lang="en-US" altLang="zh-CN" dirty="0"/>
              <a:t>Structures were converted into 2D template features using </a:t>
            </a:r>
            <a:r>
              <a:rPr lang="en-US" altLang="zh-CN" dirty="0" err="1"/>
              <a:t>RoseTTAFold</a:t>
            </a:r>
            <a:r>
              <a:rPr lang="en-US" altLang="zh-CN" dirty="0"/>
              <a:t>.</a:t>
            </a:r>
          </a:p>
          <a:p>
            <a:pPr marL="285750" indent="-285750">
              <a:lnSpc>
                <a:spcPct val="120000"/>
              </a:lnSpc>
              <a:buFont typeface="Wingdings" panose="05000000000000000000" pitchFamily="2" charset="2"/>
              <a:buChar char="Ø"/>
            </a:pPr>
            <a:r>
              <a:rPr lang="en-US" altLang="zh-CN" dirty="0"/>
              <a:t>Features captured 6D transformations within a 20 Å range, focusing on Cβ−Cβ distances.</a:t>
            </a:r>
          </a:p>
          <a:p>
            <a:pPr marL="285750" indent="-285750">
              <a:lnSpc>
                <a:spcPct val="120000"/>
              </a:lnSpc>
              <a:buFont typeface="Wingdings" panose="05000000000000000000" pitchFamily="2" charset="2"/>
              <a:buChar char="Ø"/>
            </a:pPr>
            <a:r>
              <a:rPr lang="en-US" altLang="zh-CN" dirty="0"/>
              <a:t>Cartesian coordinates were extracted from N, Ca, C, and </a:t>
            </a:r>
            <a:r>
              <a:rPr lang="en-US" altLang="zh-CN" dirty="0" err="1"/>
              <a:t>Cb</a:t>
            </a:r>
            <a:r>
              <a:rPr lang="en-US" altLang="zh-CN" dirty="0"/>
              <a:t> atoms.</a:t>
            </a:r>
          </a:p>
          <a:p>
            <a:pPr marL="285750" indent="-285750">
              <a:lnSpc>
                <a:spcPct val="120000"/>
              </a:lnSpc>
              <a:buFont typeface="Wingdings" panose="05000000000000000000" pitchFamily="2" charset="2"/>
              <a:buChar char="Ø"/>
            </a:pPr>
            <a:r>
              <a:rPr lang="en-US" altLang="zh-CN" dirty="0"/>
              <a:t>6D coordinates included pairwise distances and angles (omega, theta, phi).</a:t>
            </a:r>
          </a:p>
        </p:txBody>
      </p:sp>
      <p:pic>
        <p:nvPicPr>
          <p:cNvPr id="13314" name="Picture 2" descr="图片">
            <a:extLst>
              <a:ext uri="{FF2B5EF4-FFF2-40B4-BE49-F238E27FC236}">
                <a16:creationId xmlns:a16="http://schemas.microsoft.com/office/drawing/2014/main" id="{AA636263-E694-7EC3-5599-E54D22AAF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8412" y="3429000"/>
            <a:ext cx="4114830" cy="107823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图片">
            <a:extLst>
              <a:ext uri="{FF2B5EF4-FFF2-40B4-BE49-F238E27FC236}">
                <a16:creationId xmlns:a16="http://schemas.microsoft.com/office/drawing/2014/main" id="{85E33713-40F3-C522-B742-04B4F3A0E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8412" y="4596009"/>
            <a:ext cx="4114830" cy="64770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ACD40B6-6240-EFA7-EB89-C7AC851D1EBC}"/>
              </a:ext>
            </a:extLst>
          </p:cNvPr>
          <p:cNvSpPr txBox="1"/>
          <p:nvPr/>
        </p:nvSpPr>
        <p:spPr>
          <a:xfrm>
            <a:off x="8193883" y="5407925"/>
            <a:ext cx="3550444" cy="115467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sz="1600" dirty="0"/>
              <a:t>L</a:t>
            </a:r>
            <a:r>
              <a:rPr lang="en-US" altLang="zh-CN" sz="1600" baseline="-25000" dirty="0"/>
              <a:t>r</a:t>
            </a:r>
            <a:r>
              <a:rPr lang="en-US" altLang="zh-CN" sz="1600" dirty="0"/>
              <a:t>(x) = reconstruction loss</a:t>
            </a:r>
          </a:p>
          <a:p>
            <a:pPr marL="285750" indent="-285750">
              <a:lnSpc>
                <a:spcPct val="150000"/>
              </a:lnSpc>
              <a:buFont typeface="Wingdings" panose="05000000000000000000" pitchFamily="2" charset="2"/>
              <a:buChar char="Ø"/>
            </a:pPr>
            <a:r>
              <a:rPr lang="en-US" altLang="zh-CN" sz="1600" dirty="0"/>
              <a:t>KL(x) = KL divergence</a:t>
            </a:r>
          </a:p>
          <a:p>
            <a:pPr marL="285750" indent="-285750">
              <a:lnSpc>
                <a:spcPct val="150000"/>
              </a:lnSpc>
              <a:buFont typeface="Wingdings" panose="05000000000000000000" pitchFamily="2" charset="2"/>
              <a:buChar char="Ø"/>
            </a:pPr>
            <a:r>
              <a:rPr lang="en-US" altLang="zh-CN" sz="1600" dirty="0"/>
              <a:t>L</a:t>
            </a:r>
            <a:r>
              <a:rPr lang="en-US" altLang="zh-CN" sz="1600" baseline="-25000" dirty="0"/>
              <a:t>r</a:t>
            </a:r>
            <a:r>
              <a:rPr lang="en-US" altLang="zh-CN" sz="1600" dirty="0"/>
              <a:t>(Dec(z)) = GAN-like loss</a:t>
            </a:r>
            <a:endParaRPr lang="zh-CN" altLang="en-US" sz="1600" dirty="0"/>
          </a:p>
        </p:txBody>
      </p:sp>
      <p:pic>
        <p:nvPicPr>
          <p:cNvPr id="14" name="Picture 2">
            <a:extLst>
              <a:ext uri="{FF2B5EF4-FFF2-40B4-BE49-F238E27FC236}">
                <a16:creationId xmlns:a16="http://schemas.microsoft.com/office/drawing/2014/main" id="{61CE3A56-69B3-7C46-397D-50C3FC24D0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0387" r="77049" b="13424"/>
          <a:stretch/>
        </p:blipFill>
        <p:spPr bwMode="auto">
          <a:xfrm>
            <a:off x="8193883" y="1070028"/>
            <a:ext cx="2688909" cy="1983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879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Methods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Training details</a:t>
            </a: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7</a:t>
            </a:fld>
            <a:endParaRPr lang="zh-CN" altLang="en-US" dirty="0">
              <a:solidFill>
                <a:schemeClr val="accent1"/>
              </a:solidFill>
            </a:endParaRPr>
          </a:p>
        </p:txBody>
      </p:sp>
      <p:sp>
        <p:nvSpPr>
          <p:cNvPr id="8" name="TextBox 7">
            <a:extLst>
              <a:ext uri="{FF2B5EF4-FFF2-40B4-BE49-F238E27FC236}">
                <a16:creationId xmlns:a16="http://schemas.microsoft.com/office/drawing/2014/main" id="{F9568E22-9DE2-DDD7-415C-BD7805DF1BE4}"/>
              </a:ext>
            </a:extLst>
          </p:cNvPr>
          <p:cNvSpPr txBox="1"/>
          <p:nvPr/>
        </p:nvSpPr>
        <p:spPr>
          <a:xfrm>
            <a:off x="269476" y="1071115"/>
            <a:ext cx="11091451" cy="571258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dirty="0"/>
              <a:t>Soft-Introspective VAE (SI-VAE) was used, incorporating adversarial losses similar to GANs but trained introspectively.</a:t>
            </a:r>
          </a:p>
          <a:p>
            <a:pPr marL="285750" indent="-285750">
              <a:lnSpc>
                <a:spcPct val="120000"/>
              </a:lnSpc>
              <a:buFont typeface="Arial" panose="020B0604020202020204" pitchFamily="34" charset="0"/>
              <a:buChar char="•"/>
            </a:pPr>
            <a:r>
              <a:rPr lang="en-US" altLang="zh-CN" dirty="0"/>
              <a:t>General architecture included </a:t>
            </a:r>
            <a:r>
              <a:rPr lang="en-US" altLang="zh-CN" dirty="0">
                <a:solidFill>
                  <a:srgbClr val="954ECA"/>
                </a:solidFill>
              </a:rPr>
              <a:t>CNNs</a:t>
            </a:r>
            <a:r>
              <a:rPr lang="en-US" altLang="zh-CN" dirty="0"/>
              <a:t> with 3 </a:t>
            </a:r>
            <a:r>
              <a:rPr lang="en-US" altLang="zh-CN" dirty="0" err="1"/>
              <a:t>ResNet</a:t>
            </a:r>
            <a:r>
              <a:rPr lang="en-US" altLang="zh-CN" dirty="0"/>
              <a:t> blocks, 64 convolutional kernels each, and </a:t>
            </a:r>
            <a:r>
              <a:rPr lang="en-US" altLang="zh-CN" dirty="0" err="1"/>
              <a:t>BatchNorm</a:t>
            </a:r>
            <a:r>
              <a:rPr lang="en-US" altLang="zh-CN" dirty="0"/>
              <a:t> with Leaky </a:t>
            </a:r>
            <a:r>
              <a:rPr lang="en-US" altLang="zh-CN" dirty="0" err="1"/>
              <a:t>ReLU</a:t>
            </a:r>
            <a:r>
              <a:rPr lang="en-US" altLang="zh-CN" dirty="0"/>
              <a:t> activation.</a:t>
            </a:r>
          </a:p>
          <a:p>
            <a:pPr marL="285750" indent="-285750">
              <a:lnSpc>
                <a:spcPct val="120000"/>
              </a:lnSpc>
              <a:buFont typeface="Arial" panose="020B0604020202020204" pitchFamily="34" charset="0"/>
              <a:buChar char="•"/>
            </a:pPr>
            <a:r>
              <a:rPr lang="en-US" altLang="zh-CN" dirty="0"/>
              <a:t>Optimization was done using Adam optimizer (β1=0.9, β2=0.999), learning rate 1×10</a:t>
            </a:r>
            <a:r>
              <a:rPr lang="en-US" altLang="zh-CN" baseline="30000" dirty="0"/>
              <a:t>−3</a:t>
            </a:r>
            <a:r>
              <a:rPr lang="en-US" altLang="zh-CN" dirty="0"/>
              <a:t>, batch size 64.</a:t>
            </a:r>
          </a:p>
          <a:p>
            <a:pPr>
              <a:lnSpc>
                <a:spcPct val="120000"/>
              </a:lnSpc>
            </a:pPr>
            <a:endParaRPr lang="en-US" altLang="zh-CN" dirty="0"/>
          </a:p>
          <a:p>
            <a:pPr marL="285750" indent="-285750">
              <a:lnSpc>
                <a:spcPct val="120000"/>
              </a:lnSpc>
              <a:buFont typeface="Arial" panose="020B0604020202020204" pitchFamily="34" charset="0"/>
              <a:buChar char="•"/>
            </a:pPr>
            <a:r>
              <a:rPr lang="en-US" altLang="zh-CN" dirty="0"/>
              <a:t>Latent space sampling was performed using Gaussian distribution and gradient optimization.</a:t>
            </a:r>
          </a:p>
          <a:p>
            <a:pPr marL="285750" indent="-285750">
              <a:lnSpc>
                <a:spcPct val="120000"/>
              </a:lnSpc>
              <a:buFont typeface="Arial" panose="020B0604020202020204" pitchFamily="34" charset="0"/>
              <a:buChar char="•"/>
            </a:pPr>
            <a:r>
              <a:rPr lang="en-US" altLang="zh-CN" dirty="0"/>
              <a:t>Samples were decoded into template features, and distances were discretized using Radial Basis Function (RBF).</a:t>
            </a:r>
          </a:p>
          <a:p>
            <a:pPr marL="285750" indent="-285750">
              <a:lnSpc>
                <a:spcPct val="120000"/>
              </a:lnSpc>
              <a:buFont typeface="Arial" panose="020B0604020202020204" pitchFamily="34" charset="0"/>
              <a:buChar char="•"/>
            </a:pPr>
            <a:r>
              <a:rPr lang="en-US" altLang="zh-CN" dirty="0"/>
              <a:t>Optimization aimed to minimize categorical cross-entropy (CCE) between generated structures and AF2 predictions.</a:t>
            </a:r>
          </a:p>
          <a:p>
            <a:pPr marL="285750" indent="-285750">
              <a:lnSpc>
                <a:spcPct val="120000"/>
              </a:lnSpc>
              <a:buFont typeface="Arial" panose="020B0604020202020204" pitchFamily="34" charset="0"/>
              <a:buChar char="•"/>
            </a:pPr>
            <a:r>
              <a:rPr lang="en-US" altLang="zh-CN" dirty="0"/>
              <a:t>Final optimized latent vectors were decoded into template features and used with </a:t>
            </a:r>
            <a:r>
              <a:rPr lang="en-US" altLang="zh-CN" dirty="0" err="1"/>
              <a:t>RoseTTAFold</a:t>
            </a:r>
            <a:r>
              <a:rPr lang="en-US" altLang="zh-CN" dirty="0"/>
              <a:t> for 3D structure generation.</a:t>
            </a:r>
          </a:p>
          <a:p>
            <a:pPr>
              <a:lnSpc>
                <a:spcPct val="120000"/>
              </a:lnSpc>
            </a:pPr>
            <a:endParaRPr lang="en-US" altLang="zh-CN" dirty="0"/>
          </a:p>
          <a:p>
            <a:pPr marL="285750" indent="-285750">
              <a:lnSpc>
                <a:spcPct val="120000"/>
              </a:lnSpc>
              <a:buFont typeface="Wingdings" panose="05000000000000000000" pitchFamily="2" charset="2"/>
              <a:buChar char="Ø"/>
            </a:pPr>
            <a:r>
              <a:rPr lang="en-US" altLang="zh-CN" dirty="0">
                <a:solidFill>
                  <a:srgbClr val="954ECA"/>
                </a:solidFill>
              </a:rPr>
              <a:t>Train with MD snapshots</a:t>
            </a:r>
          </a:p>
          <a:p>
            <a:pPr marL="285750" indent="-285750">
              <a:lnSpc>
                <a:spcPct val="120000"/>
              </a:lnSpc>
              <a:buFont typeface="Wingdings" panose="05000000000000000000" pitchFamily="2" charset="2"/>
              <a:buChar char="Ø"/>
            </a:pPr>
            <a:r>
              <a:rPr lang="en-US" altLang="zh-CN" dirty="0">
                <a:solidFill>
                  <a:srgbClr val="954ECA"/>
                </a:solidFill>
              </a:rPr>
              <a:t>Sample from latent space with CCE restraint</a:t>
            </a:r>
            <a:endParaRPr lang="zh-CN" altLang="en-US" dirty="0">
              <a:solidFill>
                <a:srgbClr val="954ECA"/>
              </a:solidFill>
            </a:endParaRPr>
          </a:p>
          <a:p>
            <a:pPr marL="285750" indent="-285750">
              <a:lnSpc>
                <a:spcPct val="120000"/>
              </a:lnSpc>
              <a:buFont typeface="Wingdings" panose="05000000000000000000" pitchFamily="2" charset="2"/>
              <a:buChar char="Ø"/>
            </a:pPr>
            <a:r>
              <a:rPr lang="en-US" altLang="zh-CN" dirty="0">
                <a:solidFill>
                  <a:srgbClr val="954ECA"/>
                </a:solidFill>
              </a:rPr>
              <a:t>Try to generate held-out crystal structures</a:t>
            </a:r>
          </a:p>
        </p:txBody>
      </p:sp>
      <p:pic>
        <p:nvPicPr>
          <p:cNvPr id="2" name="Picture 1">
            <a:extLst>
              <a:ext uri="{FF2B5EF4-FFF2-40B4-BE49-F238E27FC236}">
                <a16:creationId xmlns:a16="http://schemas.microsoft.com/office/drawing/2014/main" id="{192B5C70-920E-98DE-98A7-2064C526A661}"/>
              </a:ext>
            </a:extLst>
          </p:cNvPr>
          <p:cNvPicPr>
            <a:picLocks noChangeAspect="1"/>
          </p:cNvPicPr>
          <p:nvPr/>
        </p:nvPicPr>
        <p:blipFill>
          <a:blip r:embed="rId3"/>
          <a:stretch>
            <a:fillRect/>
          </a:stretch>
        </p:blipFill>
        <p:spPr>
          <a:xfrm>
            <a:off x="7742151" y="5337323"/>
            <a:ext cx="4180373" cy="1359136"/>
          </a:xfrm>
          <a:prstGeom prst="rect">
            <a:avLst/>
          </a:prstGeom>
        </p:spPr>
      </p:pic>
    </p:spTree>
    <p:extLst>
      <p:ext uri="{BB962C8B-B14F-4D97-AF65-F5344CB8AC3E}">
        <p14:creationId xmlns:p14="http://schemas.microsoft.com/office/powerpoint/2010/main" val="7087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Figure 1. VAE structure reconstruction accuracy </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8</a:t>
            </a:fld>
            <a:endParaRPr lang="zh-CN" altLang="en-US" dirty="0">
              <a:solidFill>
                <a:schemeClr val="accent1"/>
              </a:solidFill>
            </a:endParaRPr>
          </a:p>
        </p:txBody>
      </p:sp>
      <p:pic>
        <p:nvPicPr>
          <p:cNvPr id="7170" name="Picture 2">
            <a:extLst>
              <a:ext uri="{FF2B5EF4-FFF2-40B4-BE49-F238E27FC236}">
                <a16:creationId xmlns:a16="http://schemas.microsoft.com/office/drawing/2014/main" id="{841E8EF4-14C5-BE62-11E6-775BBB4C3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125" y="1285940"/>
            <a:ext cx="9361750" cy="35691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DE9A666-1610-FD00-390D-97E17B7B0DF9}"/>
              </a:ext>
            </a:extLst>
          </p:cNvPr>
          <p:cNvSpPr txBox="1"/>
          <p:nvPr/>
        </p:nvSpPr>
        <p:spPr>
          <a:xfrm>
            <a:off x="813478" y="5057372"/>
            <a:ext cx="10565044" cy="1391407"/>
          </a:xfrm>
          <a:prstGeom prst="rect">
            <a:avLst/>
          </a:prstGeom>
          <a:noFill/>
        </p:spPr>
        <p:txBody>
          <a:bodyPr wrap="square">
            <a:spAutoFit/>
          </a:bodyPr>
          <a:lstStyle/>
          <a:p>
            <a:pPr>
              <a:lnSpc>
                <a:spcPct val="120000"/>
              </a:lnSpc>
            </a:pPr>
            <a:r>
              <a:rPr lang="en-US" altLang="zh-CN" dirty="0"/>
              <a:t>C-alpha coordinate RMSD (angstrom) of the closest AF2 predicted model and the </a:t>
            </a:r>
            <a:r>
              <a:rPr lang="en-US" altLang="zh-CN" dirty="0">
                <a:solidFill>
                  <a:srgbClr val="954ECA"/>
                </a:solidFill>
              </a:rPr>
              <a:t>reconstructed model</a:t>
            </a:r>
            <a:r>
              <a:rPr lang="en-US" altLang="zh-CN" dirty="0"/>
              <a:t> from the VAE decoded template features generated using </a:t>
            </a:r>
            <a:r>
              <a:rPr lang="en-US" altLang="zh-CN" dirty="0" err="1"/>
              <a:t>RoseTTAFold</a:t>
            </a:r>
            <a:r>
              <a:rPr lang="en-US" altLang="zh-CN" dirty="0"/>
              <a:t>. Structural superimpositions for 3 targets are highlighted on the top with </a:t>
            </a:r>
            <a:r>
              <a:rPr lang="en-US" altLang="zh-CN" dirty="0">
                <a:solidFill>
                  <a:schemeClr val="bg1">
                    <a:lumMod val="65000"/>
                  </a:schemeClr>
                </a:solidFill>
              </a:rPr>
              <a:t>the target crystal in gray</a:t>
            </a:r>
            <a:r>
              <a:rPr lang="en-US" altLang="zh-CN" dirty="0"/>
              <a:t>, </a:t>
            </a:r>
            <a:r>
              <a:rPr lang="en-US" altLang="zh-CN" dirty="0">
                <a:solidFill>
                  <a:srgbClr val="79B6CB"/>
                </a:solidFill>
              </a:rPr>
              <a:t>the AF2 prediction in blue</a:t>
            </a:r>
            <a:r>
              <a:rPr lang="en-US" altLang="zh-CN" dirty="0"/>
              <a:t>, and </a:t>
            </a:r>
            <a:r>
              <a:rPr lang="en-US" altLang="zh-CN" dirty="0">
                <a:solidFill>
                  <a:srgbClr val="FDB24C"/>
                </a:solidFill>
              </a:rPr>
              <a:t>the VAE reconstruction in orange</a:t>
            </a:r>
            <a:r>
              <a:rPr lang="en-US" altLang="zh-CN" dirty="0"/>
              <a:t>.</a:t>
            </a:r>
            <a:endParaRPr lang="zh-CN" altLang="en-US" dirty="0"/>
          </a:p>
        </p:txBody>
      </p:sp>
    </p:spTree>
    <p:extLst>
      <p:ext uri="{BB962C8B-B14F-4D97-AF65-F5344CB8AC3E}">
        <p14:creationId xmlns:p14="http://schemas.microsoft.com/office/powerpoint/2010/main" val="4227511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Figure 2. Latent </a:t>
            </a:r>
            <a:r>
              <a:rPr kumimoji="0" lang="fr-FR" altLang="zh-CN" sz="2400" b="1" i="0" u="none" strike="noStrike" kern="1200" cap="none" spc="0" normalizeH="0" baseline="0" noProof="0" dirty="0" err="1">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space</a:t>
            </a:r>
            <a:r>
              <a:rPr kumimoji="0" lang="fr-FR"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 PCA </a:t>
            </a:r>
            <a:r>
              <a:rPr kumimoji="0" lang="fr-FR" altLang="zh-CN" sz="2400" b="1" i="0" u="none" strike="noStrike" kern="1200" cap="none" spc="0" normalizeH="0" baseline="0" noProof="0" dirty="0" err="1">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analysis</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9</a:t>
            </a:fld>
            <a:endParaRPr lang="zh-CN" altLang="en-US" dirty="0">
              <a:solidFill>
                <a:schemeClr val="accent1"/>
              </a:solidFill>
            </a:endParaRPr>
          </a:p>
        </p:txBody>
      </p:sp>
      <p:pic>
        <p:nvPicPr>
          <p:cNvPr id="8194" name="Picture 2">
            <a:extLst>
              <a:ext uri="{FF2B5EF4-FFF2-40B4-BE49-F238E27FC236}">
                <a16:creationId xmlns:a16="http://schemas.microsoft.com/office/drawing/2014/main" id="{12E1F70B-00D3-5967-CC33-A73A0951A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036" y="1281440"/>
            <a:ext cx="5283992" cy="52187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4A96A33-95A6-359E-0077-735F4E7DB699}"/>
              </a:ext>
            </a:extLst>
          </p:cNvPr>
          <p:cNvSpPr txBox="1"/>
          <p:nvPr/>
        </p:nvSpPr>
        <p:spPr>
          <a:xfrm>
            <a:off x="6598290" y="4096551"/>
            <a:ext cx="5139255" cy="1391407"/>
          </a:xfrm>
          <a:prstGeom prst="rect">
            <a:avLst/>
          </a:prstGeom>
          <a:noFill/>
        </p:spPr>
        <p:txBody>
          <a:bodyPr wrap="square">
            <a:spAutoFit/>
          </a:bodyPr>
          <a:lstStyle/>
          <a:p>
            <a:pPr>
              <a:lnSpc>
                <a:spcPct val="120000"/>
              </a:lnSpc>
            </a:pPr>
            <a:r>
              <a:rPr lang="en-US" altLang="zh-CN" dirty="0"/>
              <a:t>Each subplot displays a 2D PCA projection of the </a:t>
            </a:r>
            <a:r>
              <a:rPr lang="en-US" altLang="zh-CN" dirty="0">
                <a:solidFill>
                  <a:srgbClr val="954ECA"/>
                </a:solidFill>
              </a:rPr>
              <a:t>256-dimensional latent space</a:t>
            </a:r>
            <a:r>
              <a:rPr lang="en-US" altLang="zh-CN" dirty="0"/>
              <a:t>. The training and generated samples </a:t>
            </a:r>
            <a:r>
              <a:rPr lang="en-US" altLang="zh-CN" dirty="0">
                <a:solidFill>
                  <a:srgbClr val="954ECA"/>
                </a:solidFill>
              </a:rPr>
              <a:t>have similar distributions </a:t>
            </a:r>
            <a:r>
              <a:rPr lang="en-US" altLang="zh-CN" dirty="0"/>
              <a:t>and surround the crystal structure.</a:t>
            </a:r>
            <a:endParaRPr lang="zh-CN" altLang="en-US" dirty="0"/>
          </a:p>
        </p:txBody>
      </p:sp>
    </p:spTree>
    <p:extLst>
      <p:ext uri="{BB962C8B-B14F-4D97-AF65-F5344CB8AC3E}">
        <p14:creationId xmlns:p14="http://schemas.microsoft.com/office/powerpoint/2010/main" val="3497941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22075" y="0"/>
            <a:ext cx="5701357"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Figure 3. K-Ras overall structure reconstruction evaluation</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10</a:t>
            </a:fld>
            <a:endParaRPr lang="zh-CN" altLang="en-US" dirty="0">
              <a:solidFill>
                <a:schemeClr val="accent1"/>
              </a:solidFill>
            </a:endParaRPr>
          </a:p>
        </p:txBody>
      </p:sp>
      <p:pic>
        <p:nvPicPr>
          <p:cNvPr id="9218" name="Picture 2">
            <a:extLst>
              <a:ext uri="{FF2B5EF4-FFF2-40B4-BE49-F238E27FC236}">
                <a16:creationId xmlns:a16="http://schemas.microsoft.com/office/drawing/2014/main" id="{A885F2FC-21A1-DA79-038A-712FF3891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1612" y="1017874"/>
            <a:ext cx="8836944" cy="404336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3C44777-6873-E918-DAFB-CFF605750524}"/>
              </a:ext>
            </a:extLst>
          </p:cNvPr>
          <p:cNvSpPr txBox="1"/>
          <p:nvPr/>
        </p:nvSpPr>
        <p:spPr>
          <a:xfrm>
            <a:off x="778669" y="5107559"/>
            <a:ext cx="10929376" cy="1542474"/>
          </a:xfrm>
          <a:prstGeom prst="rect">
            <a:avLst/>
          </a:prstGeom>
          <a:noFill/>
        </p:spPr>
        <p:txBody>
          <a:bodyPr wrap="square">
            <a:spAutoFit/>
          </a:bodyPr>
          <a:lstStyle/>
          <a:p>
            <a:pPr>
              <a:lnSpc>
                <a:spcPct val="120000"/>
              </a:lnSpc>
            </a:pPr>
            <a:r>
              <a:rPr lang="en-US" altLang="zh-CN" sz="1600" dirty="0"/>
              <a:t>The VAE enables sampling closer to </a:t>
            </a:r>
            <a:r>
              <a:rPr lang="en-US" altLang="zh-CN" sz="1600" dirty="0">
                <a:solidFill>
                  <a:srgbClr val="954ECA"/>
                </a:solidFill>
              </a:rPr>
              <a:t>held-out K-Ras crystal structures </a:t>
            </a:r>
            <a:r>
              <a:rPr lang="en-US" altLang="zh-CN" sz="1600" dirty="0"/>
              <a:t>than MD, MD template features passed into </a:t>
            </a:r>
            <a:r>
              <a:rPr lang="en-US" altLang="zh-CN" sz="1600" dirty="0" err="1"/>
              <a:t>RoseTTAFold</a:t>
            </a:r>
            <a:r>
              <a:rPr lang="en-US" altLang="zh-CN" sz="1600" dirty="0"/>
              <a:t>, or AlphaFold generated structures. For each test crystal structure (name below bars), a VAE model was trained using MD simulation data from all crystal structures with greater than 1 Å C-alpha RMSD and used to generate a structure ensemble. Bars indicate the coordinate error to the test crystal of </a:t>
            </a:r>
            <a:r>
              <a:rPr lang="en-US" altLang="zh-CN" sz="1600" dirty="0">
                <a:solidFill>
                  <a:srgbClr val="954ECA"/>
                </a:solidFill>
              </a:rPr>
              <a:t>the closest train crystal, the closest training sample, the closest AF2 model, the closest MD + </a:t>
            </a:r>
            <a:r>
              <a:rPr lang="en-US" altLang="zh-CN" sz="1600" dirty="0" err="1">
                <a:solidFill>
                  <a:srgbClr val="954ECA"/>
                </a:solidFill>
              </a:rPr>
              <a:t>RoseTTAFold</a:t>
            </a:r>
            <a:r>
              <a:rPr lang="en-US" altLang="zh-CN" sz="1600" dirty="0">
                <a:solidFill>
                  <a:srgbClr val="954ECA"/>
                </a:solidFill>
              </a:rPr>
              <a:t> sample, and the closest VAE generated sample.</a:t>
            </a:r>
            <a:endParaRPr lang="zh-CN" altLang="en-US" sz="1600" dirty="0">
              <a:solidFill>
                <a:srgbClr val="954ECA"/>
              </a:solidFill>
            </a:endParaRPr>
          </a:p>
        </p:txBody>
      </p:sp>
    </p:spTree>
    <p:extLst>
      <p:ext uri="{BB962C8B-B14F-4D97-AF65-F5344CB8AC3E}">
        <p14:creationId xmlns:p14="http://schemas.microsoft.com/office/powerpoint/2010/main" val="2068570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22075" y="7321"/>
            <a:ext cx="6065688"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Figure 4. K-Ras cryptic pocket reconstruction evaluation </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11</a:t>
            </a:fld>
            <a:endParaRPr lang="zh-CN" altLang="en-US" dirty="0">
              <a:solidFill>
                <a:schemeClr val="accent1"/>
              </a:solidFill>
            </a:endParaRPr>
          </a:p>
        </p:txBody>
      </p:sp>
      <p:pic>
        <p:nvPicPr>
          <p:cNvPr id="10242" name="Picture 2">
            <a:extLst>
              <a:ext uri="{FF2B5EF4-FFF2-40B4-BE49-F238E27FC236}">
                <a16:creationId xmlns:a16="http://schemas.microsoft.com/office/drawing/2014/main" id="{1CFF0BE2-816F-4868-9F34-25073A8B2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2287" y="1173477"/>
            <a:ext cx="7738231" cy="3802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232E9D2-6FA5-388D-2FC7-CCB1EFA64BE5}"/>
              </a:ext>
            </a:extLst>
          </p:cNvPr>
          <p:cNvSpPr txBox="1"/>
          <p:nvPr/>
        </p:nvSpPr>
        <p:spPr>
          <a:xfrm>
            <a:off x="702879" y="5165103"/>
            <a:ext cx="10786241" cy="1391407"/>
          </a:xfrm>
          <a:prstGeom prst="rect">
            <a:avLst/>
          </a:prstGeom>
          <a:noFill/>
        </p:spPr>
        <p:txBody>
          <a:bodyPr wrap="square">
            <a:spAutoFit/>
          </a:bodyPr>
          <a:lstStyle/>
          <a:p>
            <a:pPr>
              <a:lnSpc>
                <a:spcPct val="120000"/>
              </a:lnSpc>
            </a:pPr>
            <a:r>
              <a:rPr lang="en-US" altLang="zh-CN" dirty="0"/>
              <a:t>As in Figure 3, but with the C-alpha coordinate error to the test crystal structure computed over </a:t>
            </a:r>
            <a:r>
              <a:rPr lang="en-US" altLang="zh-CN" dirty="0">
                <a:solidFill>
                  <a:srgbClr val="954ECA"/>
                </a:solidFill>
              </a:rPr>
              <a:t>only the binding site residues </a:t>
            </a:r>
            <a:r>
              <a:rPr lang="en-US" altLang="zh-CN" dirty="0"/>
              <a:t>(defined as the residues within 5 Å in C-alpha coordinate space of the ligand binding pocket). The structural superimpositions (top) show the ligand inhibitor docked in the target crystal with the cryptic binding pocket and the ligand highlighted in orange on the target crystal structure.</a:t>
            </a:r>
            <a:endParaRPr lang="zh-CN" altLang="en-US" dirty="0"/>
          </a:p>
        </p:txBody>
      </p:sp>
    </p:spTree>
    <p:extLst>
      <p:ext uri="{BB962C8B-B14F-4D97-AF65-F5344CB8AC3E}">
        <p14:creationId xmlns:p14="http://schemas.microsoft.com/office/powerpoint/2010/main" val="2558433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Methods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Docking Workflow</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12</a:t>
            </a:fld>
            <a:endParaRPr lang="zh-CN" altLang="en-US" dirty="0">
              <a:solidFill>
                <a:schemeClr val="accent1"/>
              </a:solidFill>
            </a:endParaRPr>
          </a:p>
        </p:txBody>
      </p:sp>
      <p:pic>
        <p:nvPicPr>
          <p:cNvPr id="8" name="Picture 7">
            <a:extLst>
              <a:ext uri="{FF2B5EF4-FFF2-40B4-BE49-F238E27FC236}">
                <a16:creationId xmlns:a16="http://schemas.microsoft.com/office/drawing/2014/main" id="{D49EACC7-F989-44B8-97F0-3A03C7D646D2}"/>
              </a:ext>
            </a:extLst>
          </p:cNvPr>
          <p:cNvPicPr>
            <a:picLocks noChangeAspect="1"/>
          </p:cNvPicPr>
          <p:nvPr/>
        </p:nvPicPr>
        <p:blipFill>
          <a:blip r:embed="rId3"/>
          <a:stretch>
            <a:fillRect/>
          </a:stretch>
        </p:blipFill>
        <p:spPr>
          <a:xfrm>
            <a:off x="3316251" y="1259684"/>
            <a:ext cx="5216440" cy="5266034"/>
          </a:xfrm>
          <a:prstGeom prst="rect">
            <a:avLst/>
          </a:prstGeom>
        </p:spPr>
      </p:pic>
    </p:spTree>
    <p:extLst>
      <p:ext uri="{BB962C8B-B14F-4D97-AF65-F5344CB8AC3E}">
        <p14:creationId xmlns:p14="http://schemas.microsoft.com/office/powerpoint/2010/main" val="3676822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22075" y="0"/>
            <a:ext cx="5950325"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Figure 5. Small molecule docking into VAE generated ensembles</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13</a:t>
            </a:fld>
            <a:endParaRPr lang="zh-CN" altLang="en-US" dirty="0">
              <a:solidFill>
                <a:schemeClr val="accent1"/>
              </a:solidFill>
            </a:endParaRPr>
          </a:p>
        </p:txBody>
      </p:sp>
      <p:pic>
        <p:nvPicPr>
          <p:cNvPr id="11266" name="Picture 2">
            <a:extLst>
              <a:ext uri="{FF2B5EF4-FFF2-40B4-BE49-F238E27FC236}">
                <a16:creationId xmlns:a16="http://schemas.microsoft.com/office/drawing/2014/main" id="{08100F41-3A6B-D48A-5B93-AD912879A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8933" y="1099153"/>
            <a:ext cx="9565481" cy="37788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5317E63-6C86-A975-6473-D026671C0F99}"/>
              </a:ext>
            </a:extLst>
          </p:cNvPr>
          <p:cNvSpPr txBox="1"/>
          <p:nvPr/>
        </p:nvSpPr>
        <p:spPr>
          <a:xfrm>
            <a:off x="850106" y="5070785"/>
            <a:ext cx="10963136" cy="1542474"/>
          </a:xfrm>
          <a:prstGeom prst="rect">
            <a:avLst/>
          </a:prstGeom>
          <a:noFill/>
        </p:spPr>
        <p:txBody>
          <a:bodyPr wrap="square">
            <a:spAutoFit/>
          </a:bodyPr>
          <a:lstStyle/>
          <a:p>
            <a:pPr>
              <a:lnSpc>
                <a:spcPct val="120000"/>
              </a:lnSpc>
            </a:pPr>
            <a:r>
              <a:rPr lang="en-US" altLang="zh-CN" sz="1600" dirty="0"/>
              <a:t>Ligands from held-out crystal structures were docked into protein conformers using the GA-ligand dock. Left: the held-out crystal structure complex (column 1) and the closest docked complex (in terms of coordinate RMSD over the ligand atoms) among the training set crystal structures (column 2), the MD snapshots (column 3), the AlphaFold models (column 4), and the VAE ensembles (column 5). The closest C-alpha RMSDs of the cryptic pocket of docked structures and lowest RMSD over ligand atoms (ligand RMSD) are indicated on the bar charts on the right.</a:t>
            </a:r>
            <a:endParaRPr lang="zh-CN" altLang="en-US" sz="1600" dirty="0"/>
          </a:p>
        </p:txBody>
      </p:sp>
    </p:spTree>
    <p:extLst>
      <p:ext uri="{BB962C8B-B14F-4D97-AF65-F5344CB8AC3E}">
        <p14:creationId xmlns:p14="http://schemas.microsoft.com/office/powerpoint/2010/main" val="2186757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Summary</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rPr>
              <a:t>Summary &amp; Thoughts </a:t>
            </a:r>
            <a:endParaRPr kumimoji="0" lang="zh-CN" altLang="en-US" sz="2400" b="1" i="0" u="none" strike="noStrike" kern="1200" cap="none" spc="0" normalizeH="0" baseline="0" noProof="0" dirty="0">
              <a:ln>
                <a:noFill/>
              </a:ln>
              <a:solidFill>
                <a:srgbClr val="D86E1E"/>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14</a:t>
            </a:fld>
            <a:endParaRPr lang="zh-CN" altLang="en-US" dirty="0">
              <a:solidFill>
                <a:schemeClr val="accent1"/>
              </a:solidFill>
            </a:endParaRPr>
          </a:p>
        </p:txBody>
      </p:sp>
      <p:sp>
        <p:nvSpPr>
          <p:cNvPr id="8" name="TextBox 7">
            <a:extLst>
              <a:ext uri="{FF2B5EF4-FFF2-40B4-BE49-F238E27FC236}">
                <a16:creationId xmlns:a16="http://schemas.microsoft.com/office/drawing/2014/main" id="{14570BD3-6646-A468-0E1C-D5F13652A506}"/>
              </a:ext>
            </a:extLst>
          </p:cNvPr>
          <p:cNvSpPr txBox="1"/>
          <p:nvPr/>
        </p:nvSpPr>
        <p:spPr>
          <a:xfrm>
            <a:off x="471357" y="1010105"/>
            <a:ext cx="11515856" cy="5967724"/>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marL="342900" indent="-342900">
              <a:lnSpc>
                <a:spcPct val="120000"/>
              </a:lnSpc>
              <a:buFont typeface="Arial" panose="020B0604020202020204" pitchFamily="34" charset="0"/>
              <a:buChar char="•"/>
            </a:pPr>
            <a:r>
              <a:rPr lang="en-US" altLang="zh-CN" sz="2000" dirty="0"/>
              <a:t>This study proposes a VAE-based method for generating protein conformational ensembles.</a:t>
            </a:r>
          </a:p>
          <a:p>
            <a:pPr marL="342900" indent="-342900">
              <a:lnSpc>
                <a:spcPct val="120000"/>
              </a:lnSpc>
              <a:buFont typeface="Arial" panose="020B0604020202020204" pitchFamily="34" charset="0"/>
              <a:buChar char="•"/>
            </a:pPr>
            <a:r>
              <a:rPr lang="en-US" altLang="zh-CN" sz="2000" dirty="0"/>
              <a:t>The approach has advantages in capturing hidden binding pockets and is more efficient and accurate than traditional MD simulations and single-state structure prediction methods.</a:t>
            </a:r>
          </a:p>
          <a:p>
            <a:pPr marL="342900" indent="-342900">
              <a:lnSpc>
                <a:spcPct val="120000"/>
              </a:lnSpc>
              <a:buFont typeface="Arial" panose="020B0604020202020204" pitchFamily="34" charset="0"/>
              <a:buChar char="•"/>
            </a:pPr>
            <a:endParaRPr lang="en-US" altLang="zh-CN" sz="2000" dirty="0"/>
          </a:p>
          <a:p>
            <a:pPr marL="342900" indent="-342900">
              <a:lnSpc>
                <a:spcPct val="120000"/>
              </a:lnSpc>
              <a:buFont typeface="Arial" panose="020B0604020202020204" pitchFamily="34" charset="0"/>
              <a:buChar char="•"/>
            </a:pPr>
            <a:r>
              <a:rPr lang="en-US" altLang="zh-CN" sz="2000" dirty="0"/>
              <a:t>Limitations</a:t>
            </a:r>
          </a:p>
          <a:p>
            <a:pPr marL="800100" lvl="1" indent="-342900">
              <a:lnSpc>
                <a:spcPct val="120000"/>
              </a:lnSpc>
              <a:buFont typeface="Arial" panose="020B0604020202020204" pitchFamily="34" charset="0"/>
              <a:buChar char="•"/>
            </a:pPr>
            <a:r>
              <a:rPr lang="en-US" altLang="zh-CN" sz="2000" dirty="0"/>
              <a:t>The differences between many of the different conformations are also ∼1 Å in Cα RMSD</a:t>
            </a:r>
          </a:p>
          <a:p>
            <a:pPr marL="800100" lvl="1" indent="-342900">
              <a:lnSpc>
                <a:spcPct val="120000"/>
              </a:lnSpc>
              <a:buFont typeface="Arial" panose="020B0604020202020204" pitchFamily="34" charset="0"/>
              <a:buChar char="•"/>
            </a:pPr>
            <a:r>
              <a:rPr lang="en-US" altLang="zh-CN" sz="2000" dirty="0"/>
              <a:t>The use of AF2 CCE to guide sampling could limit diversity</a:t>
            </a:r>
          </a:p>
          <a:p>
            <a:pPr marL="285750" indent="-285750">
              <a:lnSpc>
                <a:spcPct val="120000"/>
              </a:lnSpc>
              <a:buFont typeface="Arial" panose="020B0604020202020204" pitchFamily="34" charset="0"/>
              <a:buChar char="•"/>
            </a:pPr>
            <a:r>
              <a:rPr lang="en-US" altLang="zh-CN" sz="2000" dirty="0"/>
              <a:t>Future improvements can be made to the VAE architecture and training process to enhance the performance and accuracy of protein conformational ensemble generation.</a:t>
            </a:r>
          </a:p>
          <a:p>
            <a:pPr marL="285750" indent="-285750">
              <a:lnSpc>
                <a:spcPct val="120000"/>
              </a:lnSpc>
              <a:buFont typeface="Arial" panose="020B0604020202020204" pitchFamily="34" charset="0"/>
              <a:buChar char="•"/>
            </a:pPr>
            <a:endParaRPr lang="en-US" altLang="zh-CN" sz="2000" dirty="0"/>
          </a:p>
          <a:p>
            <a:pPr marL="285750" indent="-285750">
              <a:lnSpc>
                <a:spcPct val="120000"/>
              </a:lnSpc>
              <a:buFont typeface="Arial" panose="020B0604020202020204" pitchFamily="34" charset="0"/>
              <a:buChar char="•"/>
            </a:pPr>
            <a:r>
              <a:rPr lang="en-US" altLang="zh-CN" sz="2000" dirty="0"/>
              <a:t>My thoughts</a:t>
            </a:r>
          </a:p>
          <a:p>
            <a:pPr marL="742950" lvl="1" indent="-285750">
              <a:lnSpc>
                <a:spcPct val="120000"/>
              </a:lnSpc>
              <a:buFont typeface="Arial" panose="020B0604020202020204" pitchFamily="34" charset="0"/>
              <a:buChar char="•"/>
            </a:pPr>
            <a:r>
              <a:rPr lang="en-US" altLang="zh-CN" sz="2000" dirty="0"/>
              <a:t>Ensemble generation is a cutting-edge research topic</a:t>
            </a:r>
          </a:p>
          <a:p>
            <a:pPr marL="742950" lvl="1" indent="-285750">
              <a:lnSpc>
                <a:spcPct val="120000"/>
              </a:lnSpc>
              <a:buFont typeface="Arial" panose="020B0604020202020204" pitchFamily="34" charset="0"/>
              <a:buChar char="•"/>
            </a:pPr>
            <a:r>
              <a:rPr lang="en-US" altLang="zh-CN" sz="2000" dirty="0"/>
              <a:t>AI models can overcoming the energy barriers in MD sampling, and is less time-consuming</a:t>
            </a:r>
          </a:p>
          <a:p>
            <a:pPr marL="742950" lvl="1" indent="-285750">
              <a:lnSpc>
                <a:spcPct val="120000"/>
              </a:lnSpc>
              <a:buFont typeface="Arial" panose="020B0604020202020204" pitchFamily="34" charset="0"/>
              <a:buChar char="•"/>
            </a:pPr>
            <a:r>
              <a:rPr lang="en-US" altLang="zh-CN" sz="2000" dirty="0"/>
              <a:t>Lack of training data</a:t>
            </a:r>
          </a:p>
          <a:p>
            <a:pPr marL="742950" lvl="1" indent="-285750">
              <a:lnSpc>
                <a:spcPct val="120000"/>
              </a:lnSpc>
              <a:buFont typeface="Arial" panose="020B0604020202020204" pitchFamily="34" charset="0"/>
              <a:buChar char="•"/>
            </a:pPr>
            <a:r>
              <a:rPr lang="en-US" altLang="zh-CN" sz="2000" dirty="0"/>
              <a:t>Biomolecules are interacting; it’s hard to sample conformation selection.</a:t>
            </a:r>
          </a:p>
          <a:p>
            <a:pPr marL="285750" indent="-285750">
              <a:lnSpc>
                <a:spcPct val="120000"/>
              </a:lnSpc>
              <a:buFont typeface="Arial" panose="020B0604020202020204" pitchFamily="34" charset="0"/>
              <a:buChar char="•"/>
            </a:pPr>
            <a:endParaRPr lang="en-US" altLang="zh-CN" sz="2000" dirty="0"/>
          </a:p>
        </p:txBody>
      </p:sp>
    </p:spTree>
    <p:extLst>
      <p:ext uri="{BB962C8B-B14F-4D97-AF65-F5344CB8AC3E}">
        <p14:creationId xmlns:p14="http://schemas.microsoft.com/office/powerpoint/2010/main" val="2926948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EA8D3A-1FBA-6380-36E8-D424F4CE542F}"/>
              </a:ext>
            </a:extLst>
          </p:cNvPr>
          <p:cNvSpPr/>
          <p:nvPr/>
        </p:nvSpPr>
        <p:spPr>
          <a:xfrm>
            <a:off x="6451600" y="1997918"/>
            <a:ext cx="5091189" cy="295106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6600" b="1" i="0" u="none" strike="noStrike" kern="1200" cap="none" spc="0" normalizeH="0" baseline="0" noProof="0" dirty="0">
                <a:ln w="9525">
                  <a:solidFill>
                    <a:prstClr val="white"/>
                  </a:solidFill>
                  <a:prstDash val="solid"/>
                </a:ln>
                <a:solidFill>
                  <a:srgbClr val="5B9BD5"/>
                </a:solidFill>
                <a:effectLst>
                  <a:outerShdw blurRad="12700" dist="38100" dir="2700000" algn="tl" rotWithShape="0">
                    <a:srgbClr val="5B9BD5">
                      <a:lumMod val="60000"/>
                      <a:lumOff val="40000"/>
                    </a:srgbClr>
                  </a:outerShdw>
                </a:effectLst>
                <a:uLnTx/>
                <a:uFillTx/>
                <a:latin typeface="Arial"/>
                <a:ea typeface="微软雅黑"/>
                <a:cs typeface="+mn-cs"/>
              </a:rPr>
              <a:t>Thanks for listening!</a:t>
            </a:r>
          </a:p>
        </p:txBody>
      </p:sp>
      <p:pic>
        <p:nvPicPr>
          <p:cNvPr id="6148" name="Picture 4" descr="Figure 5">
            <a:extLst>
              <a:ext uri="{FF2B5EF4-FFF2-40B4-BE49-F238E27FC236}">
                <a16:creationId xmlns:a16="http://schemas.microsoft.com/office/drawing/2014/main" id="{3086FC05-3539-5611-258F-FE06D935F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11" y="3621407"/>
            <a:ext cx="5314157" cy="323659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Fig. 1">
            <a:extLst>
              <a:ext uri="{FF2B5EF4-FFF2-40B4-BE49-F238E27FC236}">
                <a16:creationId xmlns:a16="http://schemas.microsoft.com/office/drawing/2014/main" id="{2870CBC7-6489-CB68-9B47-4103E6307D0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040" t="30746" b="29896"/>
          <a:stretch/>
        </p:blipFill>
        <p:spPr bwMode="auto">
          <a:xfrm>
            <a:off x="649211" y="159171"/>
            <a:ext cx="4965358" cy="3462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970543"/>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68615</TotalTime>
  <Words>1689</Words>
  <Application>Microsoft Office PowerPoint</Application>
  <PresentationFormat>Widescreen</PresentationFormat>
  <Paragraphs>136</Paragraphs>
  <Slides>15</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ArnoPro-Regular</vt:lpstr>
      <vt:lpstr>system-ui</vt:lpstr>
      <vt:lpstr>等线</vt:lpstr>
      <vt:lpstr>Arial</vt:lpstr>
      <vt:lpstr>Courier New</vt:lpstr>
      <vt:lpstr>Times New Roman</vt:lpstr>
      <vt:lpstr>Wingdings</vt:lpstr>
      <vt:lpstr>1_Office 主题​​</vt:lpstr>
      <vt:lpstr>Office 主题​​</vt:lpstr>
      <vt:lpstr>PowerPoint Presentation</vt:lpstr>
      <vt:lpstr>Authors</vt:lpstr>
      <vt:lpstr>Highlights</vt:lpstr>
      <vt:lpstr>Protein ensemble generation is challenging</vt:lpstr>
      <vt:lpstr>Soft-Introspective VAE</vt:lpstr>
      <vt:lpstr>Data &amp; Loss</vt:lpstr>
      <vt:lpstr>Training details</vt:lpstr>
      <vt:lpstr>Figure 1. VAE structure reconstruction accuracy </vt:lpstr>
      <vt:lpstr>Figure 2. Latent space PCA analysis</vt:lpstr>
      <vt:lpstr>Figure 3. K-Ras overall structure reconstruction evaluation</vt:lpstr>
      <vt:lpstr>Figure 4. K-Ras cryptic pocket reconstruction evaluation </vt:lpstr>
      <vt:lpstr>Docking Workflow</vt:lpstr>
      <vt:lpstr>Figure 5. Small molecule docking into VAE generated ensembles</vt:lpstr>
      <vt:lpstr>Summary &amp; Thoughts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Dong Zhang</dc:creator>
  <cp:lastModifiedBy>Xufan Gao</cp:lastModifiedBy>
  <cp:revision>1154</cp:revision>
  <cp:lastPrinted>2023-11-24T12:45:53Z</cp:lastPrinted>
  <dcterms:created xsi:type="dcterms:W3CDTF">2022-01-23T03:13:32Z</dcterms:created>
  <dcterms:modified xsi:type="dcterms:W3CDTF">2024-05-22T12:20:43Z</dcterms:modified>
</cp:coreProperties>
</file>