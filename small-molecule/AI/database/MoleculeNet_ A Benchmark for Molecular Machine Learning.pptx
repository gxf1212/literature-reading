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10" Target="ppt/slideLayouts/slideLayout7.xml" Type="http://schemas.openxmlformats.org/officeDocument/2006/relationships/slideLayout"/><Relationship Id="rId11" Target="ppt/slideLayouts/slideLayout8.xml" Type="http://schemas.openxmlformats.org/officeDocument/2006/relationships/slideLayout"/><Relationship Id="rId12" Target="ppt/slideLayouts/slideLayout9.xml" Type="http://schemas.openxmlformats.org/officeDocument/2006/relationships/slideLayout"/><Relationship Id="rId13" Target="ppt/slideLayouts/slideLayout10.xml" Type="http://schemas.openxmlformats.org/officeDocument/2006/relationships/slideLayout"/><Relationship Id="rId14" Target="ppt/slideLayouts/slideLayout11.xml" Type="http://schemas.openxmlformats.org/officeDocument/2006/relationships/slideLayout"/><Relationship Id="rId15" Target="docProps/custom.xml" Type="http://schemas.openxmlformats.org/officeDocument/2006/relationships/custom-properties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ppt/slideLayouts/slideLayout2.xml" Type="http://schemas.openxmlformats.org/officeDocument/2006/relationships/slideLayout"/><Relationship Id="rId6" Target="ppt/slideLayouts/slideLayout3.xml" Type="http://schemas.openxmlformats.org/officeDocument/2006/relationships/slideLayout"/><Relationship Id="rId7" Target="ppt/slideLayouts/slideLayout4.xml" Type="http://schemas.openxmlformats.org/officeDocument/2006/relationships/slideLayout"/><Relationship Id="rId8" Target="ppt/slideLayouts/slideLayout5.xml" Type="http://schemas.openxmlformats.org/officeDocument/2006/relationships/slideLayout"/><Relationship Id="rId9" Target="ppt/slideLayouts/slideLayout6.xml" Type="http://schemas.openxmlformats.org/officeDocument/2006/relationships/slideLayout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4" d="100"/>
          <a:sy n="114" d="100"/>
        </p:scale>
        <p:origin x="912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false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标题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type="subTitle" idx="1"/>
          </p:nvPr>
        </p:nvSpPr>
        <p:spPr>
          <a:xfrm>
            <a:off x="980266" y="3237426"/>
            <a:ext cx="6786562" cy="1048678"/>
          </a:xfrm>
        </p:spPr>
        <p:txBody>
          <a:bodyPr vert="horz" anchor="ctr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chemeClr val="accent4"/>
                </a:solidFill>
                <a:latin typeface="Arial"/>
                <a:ea typeface="Arial"/>
              </a:rPr>
              <a:t>Click to edit Master subtitle style</a:t>
            </a:r>
          </a:p>
        </p:txBody>
      </p:sp>
      <p:sp>
        <p:nvSpPr>
          <p:cNvPr name="AutoShape 4" id="4"/>
          <p:cNvSpPr/>
          <p:nvPr>
            <p:ph type="ctrTitle"/>
          </p:nvPr>
        </p:nvSpPr>
        <p:spPr>
          <a:xfrm>
            <a:off x="980266" y="1136650"/>
            <a:ext cx="6786562" cy="2360716"/>
          </a:xfrm>
        </p:spPr>
        <p:txBody>
          <a:bodyPr vert="horz" anchor="ctr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Click to edit Master </a:t>
            </a:r>
            <a:br>
              <a:rPr lang="en-US" b="true" i="false" sz="48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</a:br>
            <a:r>
              <a:rPr lang="en-US" b="true" i="false" sz="48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title style</a:t>
            </a:r>
          </a:p>
        </p:txBody>
      </p:sp>
      <p:sp>
        <p:nvSpPr>
          <p:cNvPr name="AutoShape 5" id="5"/>
          <p:cNvSpPr/>
          <p:nvPr>
            <p:ph type="body" sz="quarter" idx="10"/>
          </p:nvPr>
        </p:nvSpPr>
        <p:spPr>
          <a:xfrm>
            <a:off x="980266" y="5094260"/>
            <a:ext cx="5357061" cy="296271"/>
          </a:xfrm>
        </p:spPr>
        <p:txBody>
          <a:bodyPr vert="horz" anchor="ctr" tIns="45720" lIns="91440" bIns="45720" rIns="91440">
            <a:no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500" baseline="0" u="none">
                <a:solidFill>
                  <a:srgbClr val="F0F0F0">
                    <a:lumMod val="75000"/>
                  </a:srgbClr>
                </a:solidFill>
                <a:latin typeface="Arial"/>
                <a:ea typeface="Arial"/>
              </a:rPr>
              <a:t>Signature</a:t>
            </a:r>
          </a:p>
        </p:txBody>
      </p:sp>
      <p:sp>
        <p:nvSpPr>
          <p:cNvPr name="AutoShape 6" id="6"/>
          <p:cNvSpPr/>
          <p:nvPr>
            <p:ph type="body" sz="quarter" idx="11"/>
          </p:nvPr>
        </p:nvSpPr>
        <p:spPr>
          <a:xfrm>
            <a:off x="980266" y="5419201"/>
            <a:ext cx="5357061" cy="296271"/>
          </a:xfrm>
        </p:spPr>
        <p:txBody>
          <a:bodyPr vert="horz" anchor="ctr" tIns="45720" lIns="91440" bIns="45720" rIns="91440">
            <a:no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500" baseline="0" u="none">
                <a:solidFill>
                  <a:srgbClr val="F0F0F0">
                    <a:lumMod val="75000"/>
                  </a:srgbClr>
                </a:solidFill>
                <a:latin typeface="Arial"/>
                <a:ea typeface="Arial"/>
              </a:rPr>
              <a:t>Date</a:t>
            </a:r>
          </a:p>
        </p:txBody>
      </p:sp>
      <p:pic>
        <p:nvPicPr>
          <p:cNvPr name="image2.png" id="7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209550" y="4953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obj" idx="1"/>
          </p:nvPr>
        </p:nvSpPr>
        <p:spPr>
          <a:xfrm>
            <a:off x="669924" y="1123950"/>
            <a:ext cx="10850563" cy="5019675"/>
          </a:xfr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 showMasterSp="false">
  <p:cSld name="末尾幻灯片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name="image2.png" id="3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>
            <a:off x="209550" y="495300"/>
            <a:ext cx="12192000" cy="6858000"/>
          </a:xfrm>
          <a:prstGeom prst="rect">
            <a:avLst/>
          </a:prstGeom>
        </p:spPr>
      </p:pic>
      <p:sp>
        <p:nvSpPr>
          <p:cNvPr name="AutoShape 4" id="4"/>
          <p:cNvSpPr/>
          <p:nvPr>
            <p:ph type="ctrTitle"/>
          </p:nvPr>
        </p:nvSpPr>
        <p:spPr>
          <a:xfrm>
            <a:off x="1454398" y="1396009"/>
            <a:ext cx="5426076" cy="1621509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ct val="0"/>
              </a:spcBef>
            </a:pPr>
            <a:r>
              <a:rPr lang="en-US" b="true" i="false" sz="72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Arial"/>
                <a:ea typeface="Arial"/>
              </a:rPr>
              <a:t>Conclusion</a:t>
            </a:r>
          </a:p>
        </p:txBody>
      </p:sp>
      <p:sp>
        <p:nvSpPr>
          <p:cNvPr name="AutoShape 5" id="5"/>
          <p:cNvSpPr/>
          <p:nvPr>
            <p:ph type="body" sz="quarter" idx="18"/>
          </p:nvPr>
        </p:nvSpPr>
        <p:spPr>
          <a:xfrm>
            <a:off x="1451001" y="3511745"/>
            <a:ext cx="5426076" cy="310871"/>
          </a:xfrm>
        </p:spPr>
        <p:txBody>
          <a:bodyPr vert="horz" anchor="t" tIns="45720" lIns="91440" bIns="45720" rIns="91440">
            <a:normAutofit/>
          </a:bodyPr>
          <a:p>
            <a:pPr fontAlgn="auto" algn="l" indent="-228589" marR="0" marL="228589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b="false" i="false" sz="15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Data</a:t>
            </a:r>
          </a:p>
        </p:txBody>
      </p:sp>
      <p:sp>
        <p:nvSpPr>
          <p:cNvPr name="AutoShape 6" id="6"/>
          <p:cNvSpPr/>
          <p:nvPr>
            <p:ph type="body" sz="quarter" idx="10"/>
          </p:nvPr>
        </p:nvSpPr>
        <p:spPr>
          <a:xfrm>
            <a:off x="1451002" y="3215474"/>
            <a:ext cx="5426076" cy="296271"/>
          </a:xfrm>
        </p:spPr>
        <p:txBody>
          <a:bodyPr vert="horz" anchor="ctr" tIns="45720" lIns="91440" bIns="45720" rIns="91440">
            <a:no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5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Signature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showMasterSp="false">
  <p:cSld name="节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image1.jpg" id="2"/>
          <p:cNvPicPr>
            <a:picLocks noChangeAspect="true"/>
          </p:cNvPicPr>
          <p:nvPr/>
        </p:nvPicPr>
        <p:blipFill>
          <a:blip r:embed="rId2"/>
          <a:stretch>
            <a:fillRect t="0" l="0" b="0" r="0"/>
          </a:stretch>
        </p:blipFill>
        <p:spPr>
          <a:xfrm flipH="true">
            <a:off x="0" y="0"/>
            <a:ext cx="12192000" cy="6858000"/>
          </a:xfrm>
          <a:prstGeom prst="rect">
            <a:avLst/>
          </a:prstGeom>
        </p:spPr>
      </p:pic>
      <p:pic>
        <p:nvPicPr>
          <p:cNvPr name="image2.png" id="3"/>
          <p:cNvPicPr>
            <a:picLocks noChangeAspect="true"/>
          </p:cNvPicPr>
          <p:nvPr/>
        </p:nvPicPr>
        <p:blipFill>
          <a:blip r:embed="rId3"/>
          <a:stretch>
            <a:fillRect t="0" l="0" b="0" r="0"/>
          </a:stretch>
        </p:blipFill>
        <p:spPr>
          <a:xfrm flipH="true">
            <a:off x="-671512" y="812165"/>
            <a:ext cx="12192000" cy="6858000"/>
          </a:xfrm>
          <a:prstGeom prst="rect">
            <a:avLst/>
          </a:prstGeom>
        </p:spPr>
      </p:pic>
      <p:sp>
        <p:nvSpPr>
          <p:cNvPr name="AutoShape 4" id="4"/>
          <p:cNvSpPr/>
          <p:nvPr>
            <p:ph type="title"/>
          </p:nvPr>
        </p:nvSpPr>
        <p:spPr>
          <a:xfrm>
            <a:off x="5787424" y="3142015"/>
            <a:ext cx="5419185" cy="895350"/>
          </a:xfrm>
        </p:spPr>
        <p:txBody>
          <a:bodyPr vert="horz" anchor="b" tIns="45720" lIns="91440" bIns="45720" rIns="91440">
            <a:no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5" id="5"/>
          <p:cNvSpPr/>
          <p:nvPr>
            <p:ph type="body" idx="1"/>
          </p:nvPr>
        </p:nvSpPr>
        <p:spPr>
          <a:xfrm>
            <a:off x="5787423" y="4114354"/>
            <a:ext cx="5419185" cy="1015623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100000"/>
              </a:lnSpc>
              <a:spcBef>
                <a:spcPts val="1000"/>
              </a:spcBef>
            </a:pPr>
            <a:r>
              <a:rPr lang="en-US" b="false" i="false" sz="11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</a:rPr>
              <a:t>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obj" sz="half" idx="2"/>
          </p:nvPr>
        </p:nvSpPr>
        <p:spPr>
          <a:xfrm>
            <a:off x="6172199" y="1130300"/>
            <a:ext cx="5348287" cy="5006975"/>
          </a:xfr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obj" sz="half" idx="13"/>
          </p:nvPr>
        </p:nvSpPr>
        <p:spPr>
          <a:xfrm>
            <a:off x="669924" y="1130300"/>
            <a:ext cx="5348287" cy="5006975"/>
          </a:xfr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5" id="5"/>
          <p:cNvSpPr/>
          <p:nvPr>
            <p:ph type="dt" sz="half" idx="14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6" id="6"/>
          <p:cNvSpPr/>
          <p:nvPr>
            <p:ph type="ftr" sz="quarter" idx="15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name="AutoShape 7" id="7"/>
          <p:cNvSpPr/>
          <p:nvPr>
            <p:ph type="sldNum" sz="quarter" idx="16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body" idx="1"/>
          </p:nvPr>
        </p:nvSpPr>
        <p:spPr>
          <a:xfrm>
            <a:off x="665163" y="1135380"/>
            <a:ext cx="5326061" cy="448976"/>
          </a:xfrm>
        </p:spPr>
        <p:txBody>
          <a:bodyPr vert="horz" anchor="ctr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20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obj" sz="half" idx="2"/>
          </p:nvPr>
        </p:nvSpPr>
        <p:spPr>
          <a:xfrm>
            <a:off x="671514" y="1685956"/>
            <a:ext cx="5326061" cy="4503707"/>
          </a:xfr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body" sz="quarter" idx="3"/>
          </p:nvPr>
        </p:nvSpPr>
        <p:spPr>
          <a:xfrm>
            <a:off x="6194426" y="1135380"/>
            <a:ext cx="5326061" cy="448976"/>
          </a:xfrm>
        </p:spPr>
        <p:txBody>
          <a:bodyPr vert="horz" anchor="ctr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true" i="false" sz="20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name="AutoShape 5" id="5"/>
          <p:cNvSpPr/>
          <p:nvPr>
            <p:ph type="obj" sz="quarter" idx="4"/>
          </p:nvPr>
        </p:nvSpPr>
        <p:spPr>
          <a:xfrm>
            <a:off x="6172199" y="1685956"/>
            <a:ext cx="5348287" cy="4503707"/>
          </a:xfr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6" id="6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7" id="7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8" id="8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name="AutoShape 9" id="9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4" id="4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name="AutoShape 5" id="5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pic" idx="1"/>
          </p:nvPr>
        </p:nvSpPr>
        <p:spPr>
          <a:xfrm>
            <a:off x="5183188" y="1130299"/>
            <a:ext cx="6337300" cy="5006975"/>
          </a:xfrm>
          <a:solidFill>
            <a:srgbClr val="FFFFFF">
              <a:lumMod val="95000"/>
            </a:srgbClr>
          </a:solidFill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Picture</a:t>
            </a:r>
          </a:p>
        </p:txBody>
      </p:sp>
      <p:sp>
        <p:nvSpPr>
          <p:cNvPr name="AutoShape 3" id="3"/>
          <p:cNvSpPr/>
          <p:nvPr>
            <p:ph type="body" sz="half" idx="2"/>
          </p:nvPr>
        </p:nvSpPr>
        <p:spPr>
          <a:xfrm>
            <a:off x="669924" y="1138237"/>
            <a:ext cx="4282322" cy="4999037"/>
          </a:xfrm>
        </p:spPr>
        <p:txBody>
          <a:bodyPr vert="horz" anchor="t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</p:txBody>
      </p:sp>
      <p:sp>
        <p:nvSpPr>
          <p:cNvPr name="AutoShape 4" id="4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5" id="5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6" id="6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name="AutoShape 7" id="7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 showMasterSp="false">
  <p:cSld name="竖排标题与文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8610599" y="1130300"/>
            <a:ext cx="2909888" cy="5006974"/>
          </a:xfrm>
        </p:spPr>
        <p:txBody>
          <a:bodyPr vert="eaVert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0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9925" y="1130300"/>
            <a:ext cx="7795065" cy="5006973"/>
          </a:xfrm>
        </p:spPr>
        <p:txBody>
          <a:bodyPr vert="eaVert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 vert="horz" anchor="ctr" tIns="45720" lIns="91440" bIns="45720" rIns="91440">
            <a:normAutofit/>
          </a:bodyPr>
          <a:p>
            <a:pPr algn="ctr" marL="0"/>
            <a:r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5" id="5"/>
          <p:cNvSpPr/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000" baseline="0" u="none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OfficePLUS </a:t>
            </a:r>
          </a:p>
        </p:txBody>
      </p:sp>
      <p:sp>
        <p:nvSpPr>
          <p:cNvPr name="AutoShape 6" id="6"/>
          <p:cNvSpPr/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 vert="horz" anchor="ctr" tIns="45720" lIns="91440" bIns="45720" rIns="91440">
            <a:normAutofit/>
          </a:bodyPr>
          <a:p>
            <a:pPr algn="r" marL="0"/>
            <a:fld type="slidenum" id="{3386411A-70EE-422D-B97C-F56BEE3FF077}">
              <a:rPr lang="zh-CN" b="false" i="false" sz="1000" baseline="0" u="none" altLang="en-US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9.xml" Type="http://schemas.openxmlformats.org/officeDocument/2006/relationships/slideLayout"/><Relationship Id="rId11" Target="../slideLayouts/slideLayout10.xml" Type="http://schemas.openxmlformats.org/officeDocument/2006/relationships/slideLayout"/><Relationship Id="rId12" Target="../slideLayouts/slideLayout11.xml" Type="http://schemas.openxmlformats.org/officeDocument/2006/relationships/slideLayout"/><Relationship Id="rId2" Target="../theme/theme1.xml" Type="http://schemas.openxmlformats.org/officeDocument/2006/relationships/theme"/><Relationship Id="rId3" Target="../slideLayouts/slideLayout2.xml" Type="http://schemas.openxmlformats.org/officeDocument/2006/relationships/slideLayout"/><Relationship Id="rId4" Target="../slideLayouts/slideLayout3.xml" Type="http://schemas.openxmlformats.org/officeDocument/2006/relationships/slideLayout"/><Relationship Id="rId5" Target="../slideLayouts/slideLayout4.xml" Type="http://schemas.openxmlformats.org/officeDocument/2006/relationships/slideLayout"/><Relationship Id="rId6" Target="../slideLayouts/slideLayout5.xml" Type="http://schemas.openxmlformats.org/officeDocument/2006/relationships/slideLayout"/><Relationship Id="rId7" Target="../slideLayouts/slideLayout6.xml" Type="http://schemas.openxmlformats.org/officeDocument/2006/relationships/slideLayout"/><Relationship Id="rId8" Target="../slideLayouts/slideLayout7.xml" Type="http://schemas.openxmlformats.org/officeDocument/2006/relationships/slideLayout"/><Relationship Id="rId9" Target="../slideLayouts/slideLayout8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/>
                </a:solidFill>
                <a:latin typeface="Arial"/>
                <a:ea typeface="Arial"/>
              </a:rPr>
              <a:t>Click to edit Master title style</a:t>
            </a:r>
          </a:p>
        </p:txBody>
      </p:sp>
      <p:sp>
        <p:nvSpPr>
          <p:cNvPr name="AutoShape 3" id="3"/>
          <p:cNvSpPr/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anchor="t" tIns="45720" lIns="91440" bIns="45720" rIns="91440">
            <a:normAutofit/>
          </a:bodyPr>
          <a:p>
            <a:pPr algn="l" indent="-228589" marL="228589">
              <a:lnSpc>
                <a:spcPct val="90000"/>
              </a:lnSpc>
              <a:spcBef>
                <a:spcPts val="1000"/>
              </a:spcBef>
            </a:pPr>
            <a:r>
              <a:rPr lang="en-US" b="false" i="false" sz="2000" baseline="0" u="none">
                <a:solidFill>
                  <a:srgbClr val="000000"/>
                </a:solidFill>
                <a:latin typeface="Arial"/>
                <a:ea typeface="Arial"/>
              </a:rPr>
              <a:t>Edit Master text styles</a:t>
            </a:r>
          </a:p>
          <a:p>
            <a:pPr algn="l" indent="-228589" lvl="1" marL="685766">
              <a:lnSpc>
                <a:spcPct val="90000"/>
              </a:lnSpc>
              <a:spcBef>
                <a:spcPts val="500"/>
              </a:spcBef>
            </a:pPr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Second level</a:t>
            </a:r>
          </a:p>
          <a:p>
            <a:pPr algn="l" indent="-228589" lvl="2" marL="1142942">
              <a:lnSpc>
                <a:spcPct val="90000"/>
              </a:lnSpc>
              <a:spcBef>
                <a:spcPts val="500"/>
              </a:spcBef>
            </a:pPr>
            <a:r>
              <a:rPr lang="en-US" b="false" i="false" sz="1600" baseline="0" u="none">
                <a:solidFill>
                  <a:srgbClr val="000000"/>
                </a:solidFill>
                <a:latin typeface="Arial"/>
                <a:ea typeface="Arial"/>
              </a:rPr>
              <a:t>Third level</a:t>
            </a:r>
          </a:p>
          <a:p>
            <a:pPr algn="l" indent="-228589" lvl="3" marL="1600120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Fourth level</a:t>
            </a:r>
          </a:p>
          <a:p>
            <a:pPr algn="l" indent="-228589" lvl="4" marL="2057298">
              <a:lnSpc>
                <a:spcPct val="90000"/>
              </a:lnSpc>
              <a:spcBef>
                <a:spcPts val="500"/>
              </a:spcBef>
            </a:pPr>
            <a:r>
              <a:rPr lang="en-US" b="false" i="false" sz="1400" baseline="0" u="none">
                <a:solidFill>
                  <a:srgbClr val="000000"/>
                </a:solidFill>
                <a:latin typeface="Arial"/>
                <a:ea typeface="Arial"/>
              </a:rPr>
              <a:t>Fifth level</a:t>
            </a:r>
          </a:p>
        </p:txBody>
      </p:sp>
      <p:sp>
        <p:nvSpPr>
          <p:cNvPr name="AutoShape 4" id="4"/>
          <p:cNvSpPr/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zh-CN" b="false" i="false" sz="1800" baseline="0" u="none" altLang="en-US">
                <a:solidFill>
                  <a:srgbClr val="000000"/>
                </a:solidFill>
                <a:latin typeface="Arial"/>
                <a:ea typeface="Arial"/>
              </a:rPr>
              <a:t>2024/7/31</a:t>
            </a:r>
          </a:p>
        </p:txBody>
      </p:sp>
      <p:sp>
        <p:nvSpPr>
          <p:cNvPr name="AutoShape 5" id="5"/>
          <p:cNvSpPr/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r>
              <a:rPr lang="en-US" b="false" i="false" sz="1800" baseline="0" u="none">
                <a:solidFill>
                  <a:srgbClr val="000000"/>
                </a:solidFill>
                <a:latin typeface="Arial"/>
                <a:ea typeface="Arial"/>
              </a:rPr>
              <a:t>OfficePLUS</a:t>
            </a:r>
          </a:p>
        </p:txBody>
      </p:sp>
      <p:sp>
        <p:nvSpPr>
          <p:cNvPr name="AutoShape 6" id="6"/>
          <p:cNvSpPr/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anchor="ctr" tIns="45720" lIns="91440" bIns="45720" rIns="91440">
            <a:normAutofit/>
          </a:bodyPr>
          <a:p>
            <a:pPr algn="l" marL="0"/>
            <a:fld type="slidenum" id="{3386411A-70EE-422D-B97C-F56BEE3FF077}">
              <a:rPr lang="zh-CN" b="false" i="false" sz="1800" baseline="0" u="none" altLang="en-US">
                <a:solidFill>
                  <a:srgbClr val="000000"/>
                </a:solidFill>
                <a:latin typeface="Arial"/>
                <a:ea typeface="Arial"/>
              </a:rPr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ftr="true" dt="false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5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9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subTitle" idx="1"/>
          </p:nvPr>
        </p:nvSpPr>
        <p:spPr>
          <a:xfrm>
            <a:off x="980266" y="3237426"/>
            <a:ext cx="6786562" cy="1048678"/>
          </a:xfrm>
        </p:spPr>
        <p:txBody>
          <a:bodyPr vert="horz" anchor="ctr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ts val="1000"/>
              </a:spcBef>
            </a:pPr>
            <a:r>
              <a:rPr lang="zh-CN" b="false" i="false" sz="1400" baseline="0" u="none" altLang="en-US">
                <a:solidFill>
                  <a:schemeClr val="accent4"/>
                </a:solidFill>
                <a:latin typeface="微软雅黑"/>
                <a:ea typeface="微软雅黑"/>
              </a:rPr>
              <a:t>Reporter</a:t>
            </a:r>
          </a:p>
        </p:txBody>
      </p:sp>
      <p:sp>
        <p:nvSpPr>
          <p:cNvPr name="AutoShape 3" id="3"/>
          <p:cNvSpPr/>
          <p:nvPr>
            <p:ph type="ctrTitle"/>
          </p:nvPr>
        </p:nvSpPr>
        <p:spPr>
          <a:xfrm>
            <a:off x="980266" y="1606043"/>
            <a:ext cx="6786562" cy="1421928"/>
          </a:xfrm>
        </p:spPr>
        <p:txBody>
          <a:bodyPr vert="horz" anchor="ctr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4800" baseline="0" u="none"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MoleculeNet: A Benchmark for Molecular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979095" y="1130300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vert="horz" rot="0" anchor="ctr" wrap="square" tIns="45720" lIns="810000" bIns="45720" rIns="91440">
            <a:prstTxWarp prst="textNoShape">
              <a:avLst/>
            </a:prstTxWarp>
            <a:no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Introduction</a:t>
            </a:r>
          </a:p>
        </p:txBody>
      </p:sp>
      <p:sp>
        <p:nvSpPr>
          <p:cNvPr name="AutoShape 3" id="3"/>
          <p:cNvSpPr/>
          <p:nvPr/>
        </p:nvSpPr>
        <p:spPr>
          <a:xfrm flipH="true" rot="19800000">
            <a:off x="2558631" y="941372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2818740" y="1186757"/>
            <a:ext cx="470000" cy="43088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>
            <a:off x="2979095" y="1977072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vert="horz" rot="0" anchor="ctr" wrap="square" tIns="45720" lIns="810000" bIns="45720" rIns="91440">
            <a:prstTxWarp prst="textNoShape">
              <a:avLst/>
            </a:prstTxWarp>
            <a:no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Related Work</a:t>
            </a:r>
          </a:p>
        </p:txBody>
      </p:sp>
      <p:sp>
        <p:nvSpPr>
          <p:cNvPr name="AutoShape 6" id="6"/>
          <p:cNvSpPr/>
          <p:nvPr/>
        </p:nvSpPr>
        <p:spPr>
          <a:xfrm flipH="true" rot="19800000">
            <a:off x="2558631" y="1788144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2818740" y="2033530"/>
            <a:ext cx="470000" cy="43088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2979095" y="2823844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vert="horz" rot="0" anchor="ctr" wrap="square" tIns="45720" lIns="810000" bIns="45720" rIns="91440">
            <a:prstTxWarp prst="textNoShape">
              <a:avLst/>
            </a:prstTxWarp>
            <a:no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Methods</a:t>
            </a:r>
          </a:p>
        </p:txBody>
      </p:sp>
      <p:sp>
        <p:nvSpPr>
          <p:cNvPr name="AutoShape 9" id="9"/>
          <p:cNvSpPr/>
          <p:nvPr/>
        </p:nvSpPr>
        <p:spPr>
          <a:xfrm flipH="true" rot="19800000">
            <a:off x="2558631" y="2634916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0" id="10"/>
          <p:cNvSpPr txBox="true"/>
          <p:nvPr/>
        </p:nvSpPr>
        <p:spPr>
          <a:xfrm>
            <a:off x="2818740" y="2880301"/>
            <a:ext cx="470000" cy="43088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2979095" y="3670616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vert="horz" rot="0" anchor="ctr" wrap="square" tIns="45720" lIns="810000" bIns="45720" rIns="91440">
            <a:prstTxWarp prst="textNoShape">
              <a:avLst/>
            </a:prstTxWarp>
            <a:no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Benchmark Results and Analysis</a:t>
            </a:r>
          </a:p>
        </p:txBody>
      </p:sp>
      <p:sp>
        <p:nvSpPr>
          <p:cNvPr name="AutoShape 12" id="12"/>
          <p:cNvSpPr/>
          <p:nvPr/>
        </p:nvSpPr>
        <p:spPr>
          <a:xfrm flipH="true" rot="19800000">
            <a:off x="2558631" y="3481688"/>
            <a:ext cx="840930" cy="724933"/>
          </a:xfrm>
          <a:prstGeom prst="triangle">
            <a:avLst/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3" id="13"/>
          <p:cNvSpPr txBox="true"/>
          <p:nvPr/>
        </p:nvSpPr>
        <p:spPr>
          <a:xfrm>
            <a:off x="2818740" y="3727073"/>
            <a:ext cx="470000" cy="43088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2979095" y="4517387"/>
            <a:ext cx="7039548" cy="537098"/>
          </a:xfrm>
          <a:prstGeom prst="homePlate">
            <a:avLst/>
          </a:prstGeom>
          <a:noFill/>
          <a:ln w="12700" cap="flat" cmpd="sng">
            <a:solidFill>
              <a:srgbClr val="FFFFFF">
                <a:lumMod val="65000"/>
              </a:srgbClr>
            </a:solidFill>
            <a:prstDash val="solid"/>
          </a:ln>
        </p:spPr>
        <p:txBody>
          <a:bodyPr vert="horz" rot="0" anchor="ctr" wrap="square" tIns="45720" lIns="810000" bIns="45720" rIns="91440">
            <a:prstTxWarp prst="textNoShape">
              <a:avLst/>
            </a:prstTxWarp>
            <a:noAutofit/>
          </a:bodyPr>
          <a:p>
            <a:pPr algn="l" marL="0">
              <a:lnSpc>
                <a:spcPct val="12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Conclusion</a:t>
            </a:r>
          </a:p>
        </p:txBody>
      </p:sp>
      <p:sp>
        <p:nvSpPr>
          <p:cNvPr name="AutoShape 15" id="15"/>
          <p:cNvSpPr/>
          <p:nvPr/>
        </p:nvSpPr>
        <p:spPr>
          <a:xfrm flipH="true" rot="19800000">
            <a:off x="2558631" y="4328459"/>
            <a:ext cx="840930" cy="724933"/>
          </a:xfrm>
          <a:prstGeom prst="triangle">
            <a:avLst/>
          </a:pr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16" id="16"/>
          <p:cNvSpPr txBox="true"/>
          <p:nvPr/>
        </p:nvSpPr>
        <p:spPr>
          <a:xfrm>
            <a:off x="2818740" y="4573843"/>
            <a:ext cx="470000" cy="430887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marL="0">
              <a:defRPr/>
            </a:pPr>
            <a:r>
              <a:rPr lang="en-US" b="true" i="false" sz="2000" baseline="0" u="none">
                <a:solidFill>
                  <a:srgbClr val="FFFFFF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811491" y="1376706"/>
            <a:ext cx="2044149" cy="369332"/>
          </a:xfrm>
          <a:prstGeom prst="rect">
            <a:avLst/>
          </a:prstGeom>
        </p:spPr>
        <p:txBody>
          <a:bodyPr vert="horz" anchor="t" wrap="square" tIns="45720" lIns="91440" bIns="45720" rIns="91440">
            <a:noAutofit/>
          </a:bodyPr>
          <a:p>
            <a:pPr algn="l" marL="0"/>
            <a:r>
              <a:rPr lang="zh-CN" b="false" i="false" sz="2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anchor="t" wrap="square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pc="100" baseline="0" u="none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9600" spc="100" baseline="0" u="none">
                <a:solidFill>
                  <a:schemeClr val="accent4"/>
                </a:solidFill>
                <a:latin typeface="Arial"/>
                <a:ea typeface="Arial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Rise of Molecular Machine Learning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6389735" y="1613923"/>
            <a:ext cx="5123712" cy="1023317"/>
          </a:xfrm>
          <a:prstGeom prst="rect">
            <a:avLst/>
          </a:prstGeom>
          <a:noFill/>
        </p:spPr>
        <p:txBody>
          <a:bodyPr vert="horz" anchor="t" wrap="square" tIns="45700" lIns="91412" bIns="45700" rIns="91412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Cheminformatics has long utilized machine learning for chemical modeling, like QSAR.</a:t>
            </a:r>
          </a:p>
        </p:txBody>
      </p:sp>
      <p:sp>
        <p:nvSpPr>
          <p:cNvPr name="AutoShape 4" id="4"/>
          <p:cNvSpPr/>
          <p:nvPr/>
        </p:nvSpPr>
        <p:spPr>
          <a:xfrm>
            <a:off x="6399707" y="1245352"/>
            <a:ext cx="5120779" cy="338514"/>
          </a:xfrm>
          <a:prstGeom prst="rect">
            <a:avLst/>
          </a:prstGeom>
          <a:noFill/>
        </p:spPr>
        <p:txBody>
          <a:bodyPr vert="horz" anchor="ctr" wrap="square" tIns="45700" lIns="91412" bIns="45700" rIns="91412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Traditional Chemoinformatics</a:t>
            </a:r>
          </a:p>
        </p:txBody>
      </p:sp>
      <p:sp>
        <p:nvSpPr>
          <p:cNvPr name="AutoShape 5" id="5"/>
          <p:cNvSpPr/>
          <p:nvPr/>
        </p:nvSpPr>
        <p:spPr>
          <a:xfrm>
            <a:off x="5780434" y="1418686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5931071" y="1574777"/>
            <a:ext cx="214542" cy="203634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9800" y="63664"/>
                </a:moveTo>
                <a:lnTo>
                  <a:pt x="119800" y="63664"/>
                </a:lnTo>
                <a:cubicBezTo>
                  <a:pt x="119800" y="66596"/>
                  <a:pt x="118405" y="69528"/>
                  <a:pt x="114219" y="69528"/>
                </a:cubicBezTo>
                <a:cubicBezTo>
                  <a:pt x="112823" y="69528"/>
                  <a:pt x="111428" y="68062"/>
                  <a:pt x="111428" y="68062"/>
                </a:cubicBezTo>
                <a:lnTo>
                  <a:pt x="111428" y="68062"/>
                </a:lnTo>
                <a:cubicBezTo>
                  <a:pt x="60598" y="14869"/>
                  <a:pt x="60598" y="14869"/>
                  <a:pt x="60598" y="14869"/>
                </a:cubicBezTo>
                <a:lnTo>
                  <a:pt x="60598" y="14869"/>
                </a:lnTo>
                <a:lnTo>
                  <a:pt x="60598" y="14869"/>
                </a:lnTo>
                <a:lnTo>
                  <a:pt x="60598" y="14869"/>
                </a:lnTo>
                <a:cubicBezTo>
                  <a:pt x="9966" y="68062"/>
                  <a:pt x="9966" y="68062"/>
                  <a:pt x="9966" y="68062"/>
                </a:cubicBezTo>
                <a:lnTo>
                  <a:pt x="9966" y="68062"/>
                </a:lnTo>
                <a:cubicBezTo>
                  <a:pt x="8571" y="68062"/>
                  <a:pt x="7176" y="69528"/>
                  <a:pt x="5780" y="69528"/>
                </a:cubicBezTo>
                <a:cubicBezTo>
                  <a:pt x="2990" y="69528"/>
                  <a:pt x="0" y="66596"/>
                  <a:pt x="0" y="63664"/>
                </a:cubicBezTo>
                <a:cubicBezTo>
                  <a:pt x="0" y="62198"/>
                  <a:pt x="0" y="60523"/>
                  <a:pt x="1395" y="59057"/>
                </a:cubicBezTo>
                <a:cubicBezTo>
                  <a:pt x="56411" y="1465"/>
                  <a:pt x="56411" y="1465"/>
                  <a:pt x="56411" y="1465"/>
                </a:cubicBezTo>
                <a:cubicBezTo>
                  <a:pt x="57807" y="0"/>
                  <a:pt x="59202" y="0"/>
                  <a:pt x="60598" y="0"/>
                </a:cubicBez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lnTo>
                  <a:pt x="60598" y="0"/>
                </a:lnTo>
                <a:cubicBezTo>
                  <a:pt x="61993" y="0"/>
                  <a:pt x="63388" y="1465"/>
                  <a:pt x="64784" y="1465"/>
                </a:cubicBezTo>
                <a:lnTo>
                  <a:pt x="64784" y="1465"/>
                </a:lnTo>
                <a:cubicBezTo>
                  <a:pt x="85913" y="25130"/>
                  <a:pt x="85913" y="25130"/>
                  <a:pt x="85913" y="25130"/>
                </a:cubicBezTo>
                <a:cubicBezTo>
                  <a:pt x="85913" y="19267"/>
                  <a:pt x="85913" y="19267"/>
                  <a:pt x="85913" y="19267"/>
                </a:cubicBezTo>
                <a:cubicBezTo>
                  <a:pt x="85913" y="16335"/>
                  <a:pt x="88903" y="13193"/>
                  <a:pt x="91694" y="13193"/>
                </a:cubicBezTo>
                <a:cubicBezTo>
                  <a:pt x="95880" y="13193"/>
                  <a:pt x="97275" y="16335"/>
                  <a:pt x="97275" y="19267"/>
                </a:cubicBezTo>
                <a:cubicBezTo>
                  <a:pt x="97275" y="36858"/>
                  <a:pt x="97275" y="36858"/>
                  <a:pt x="97275" y="36858"/>
                </a:cubicBezTo>
                <a:cubicBezTo>
                  <a:pt x="118405" y="59057"/>
                  <a:pt x="118405" y="59057"/>
                  <a:pt x="118405" y="59057"/>
                </a:cubicBezTo>
                <a:lnTo>
                  <a:pt x="118405" y="59057"/>
                </a:lnTo>
                <a:cubicBezTo>
                  <a:pt x="119800" y="60523"/>
                  <a:pt x="119800" y="62198"/>
                  <a:pt x="119800" y="63664"/>
                </a:cubicBezTo>
                <a:close/>
                <a:moveTo>
                  <a:pt x="108438" y="72460"/>
                </a:moveTo>
                <a:lnTo>
                  <a:pt x="108438" y="72460"/>
                </a:lnTo>
                <a:cubicBezTo>
                  <a:pt x="108438" y="90261"/>
                  <a:pt x="108438" y="90261"/>
                  <a:pt x="108438" y="90261"/>
                </a:cubicBezTo>
                <a:cubicBezTo>
                  <a:pt x="108438" y="99057"/>
                  <a:pt x="108438" y="99057"/>
                  <a:pt x="108438" y="99057"/>
                </a:cubicBezTo>
                <a:cubicBezTo>
                  <a:pt x="108438" y="113926"/>
                  <a:pt x="108438" y="113926"/>
                  <a:pt x="108438" y="113926"/>
                </a:cubicBezTo>
                <a:cubicBezTo>
                  <a:pt x="108438" y="118324"/>
                  <a:pt x="107043" y="119790"/>
                  <a:pt x="102857" y="119790"/>
                </a:cubicBezTo>
                <a:cubicBezTo>
                  <a:pt x="91694" y="119790"/>
                  <a:pt x="91694" y="119790"/>
                  <a:pt x="91694" y="119790"/>
                </a:cubicBezTo>
                <a:cubicBezTo>
                  <a:pt x="91694" y="72460"/>
                  <a:pt x="91694" y="72460"/>
                  <a:pt x="91694" y="72460"/>
                </a:cubicBezTo>
                <a:cubicBezTo>
                  <a:pt x="69169" y="72460"/>
                  <a:pt x="69169" y="72460"/>
                  <a:pt x="69169" y="72460"/>
                </a:cubicBezTo>
                <a:cubicBezTo>
                  <a:pt x="69169" y="119790"/>
                  <a:pt x="69169" y="119790"/>
                  <a:pt x="69169" y="119790"/>
                </a:cubicBezTo>
                <a:cubicBezTo>
                  <a:pt x="16943" y="119790"/>
                  <a:pt x="16943" y="119790"/>
                  <a:pt x="16943" y="119790"/>
                </a:cubicBezTo>
                <a:cubicBezTo>
                  <a:pt x="14152" y="119790"/>
                  <a:pt x="11362" y="118324"/>
                  <a:pt x="11362" y="113926"/>
                </a:cubicBezTo>
                <a:cubicBezTo>
                  <a:pt x="11362" y="99057"/>
                  <a:pt x="11362" y="99057"/>
                  <a:pt x="11362" y="99057"/>
                </a:cubicBezTo>
                <a:cubicBezTo>
                  <a:pt x="11362" y="90261"/>
                  <a:pt x="11362" y="90261"/>
                  <a:pt x="11362" y="90261"/>
                </a:cubicBezTo>
                <a:cubicBezTo>
                  <a:pt x="11362" y="72460"/>
                  <a:pt x="11362" y="72460"/>
                  <a:pt x="11362" y="72460"/>
                </a:cubicBezTo>
                <a:cubicBezTo>
                  <a:pt x="60598" y="22198"/>
                  <a:pt x="60598" y="22198"/>
                  <a:pt x="60598" y="22198"/>
                </a:cubicBezTo>
                <a:lnTo>
                  <a:pt x="108438" y="72460"/>
                </a:lnTo>
                <a:close/>
                <a:moveTo>
                  <a:pt x="50830" y="72460"/>
                </a:moveTo>
                <a:lnTo>
                  <a:pt x="50830" y="72460"/>
                </a:lnTo>
                <a:cubicBezTo>
                  <a:pt x="28305" y="72460"/>
                  <a:pt x="28305" y="72460"/>
                  <a:pt x="28305" y="72460"/>
                </a:cubicBezTo>
                <a:cubicBezTo>
                  <a:pt x="28305" y="96125"/>
                  <a:pt x="28305" y="96125"/>
                  <a:pt x="28305" y="96125"/>
                </a:cubicBezTo>
                <a:cubicBezTo>
                  <a:pt x="50830" y="96125"/>
                  <a:pt x="50830" y="96125"/>
                  <a:pt x="50830" y="96125"/>
                </a:cubicBezTo>
                <a:lnTo>
                  <a:pt x="50830" y="72460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7" id="7"/>
          <p:cNvSpPr/>
          <p:nvPr/>
        </p:nvSpPr>
        <p:spPr>
          <a:xfrm>
            <a:off x="6389735" y="3317363"/>
            <a:ext cx="5123712" cy="1023317"/>
          </a:xfrm>
          <a:prstGeom prst="rect">
            <a:avLst/>
          </a:prstGeom>
          <a:noFill/>
        </p:spPr>
        <p:txBody>
          <a:bodyPr vert="horz" anchor="t" wrap="square" tIns="45700" lIns="91412" bIns="45700" rIns="91412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Deep learning methods have recently garnered increased attention in the scientific community.</a:t>
            </a:r>
          </a:p>
        </p:txBody>
      </p:sp>
      <p:sp>
        <p:nvSpPr>
          <p:cNvPr name="AutoShape 8" id="8"/>
          <p:cNvSpPr/>
          <p:nvPr/>
        </p:nvSpPr>
        <p:spPr>
          <a:xfrm>
            <a:off x="6399707" y="2948792"/>
            <a:ext cx="5120779" cy="338514"/>
          </a:xfrm>
          <a:prstGeom prst="rect">
            <a:avLst/>
          </a:prstGeom>
          <a:noFill/>
        </p:spPr>
        <p:txBody>
          <a:bodyPr vert="horz" anchor="ctr" wrap="square" tIns="45700" lIns="91412" bIns="45700" rIns="91412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Deep Learning Revolution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5780434" y="3122126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5931071" y="3286049"/>
            <a:ext cx="214542" cy="187970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7009" y="65310"/>
                </a:moveTo>
                <a:lnTo>
                  <a:pt x="117009" y="65310"/>
                </a:lnTo>
                <a:lnTo>
                  <a:pt x="117009" y="65310"/>
                </a:lnTo>
                <a:cubicBezTo>
                  <a:pt x="61993" y="91073"/>
                  <a:pt x="61993" y="91073"/>
                  <a:pt x="61993" y="91073"/>
                </a:cubicBezTo>
                <a:lnTo>
                  <a:pt x="61993" y="91073"/>
                </a:lnTo>
                <a:lnTo>
                  <a:pt x="61993" y="91073"/>
                </a:lnTo>
                <a:lnTo>
                  <a:pt x="61993" y="91073"/>
                </a:lnTo>
                <a:cubicBezTo>
                  <a:pt x="61993" y="92655"/>
                  <a:pt x="60598" y="92655"/>
                  <a:pt x="60598" y="92655"/>
                </a:cubicBezTo>
                <a:cubicBezTo>
                  <a:pt x="59202" y="92655"/>
                  <a:pt x="59202" y="92655"/>
                  <a:pt x="57807" y="91073"/>
                </a:cubicBezTo>
                <a:lnTo>
                  <a:pt x="57807" y="91073"/>
                </a:lnTo>
                <a:lnTo>
                  <a:pt x="57807" y="91073"/>
                </a:lnTo>
                <a:lnTo>
                  <a:pt x="57807" y="91073"/>
                </a:lnTo>
                <a:cubicBezTo>
                  <a:pt x="2990" y="65310"/>
                  <a:pt x="2990" y="65310"/>
                  <a:pt x="2990" y="65310"/>
                </a:cubicBezTo>
                <a:lnTo>
                  <a:pt x="2990" y="65310"/>
                </a:lnTo>
                <a:cubicBezTo>
                  <a:pt x="1395" y="65310"/>
                  <a:pt x="0" y="62146"/>
                  <a:pt x="0" y="60564"/>
                </a:cubicBezTo>
                <a:cubicBezTo>
                  <a:pt x="0" y="55819"/>
                  <a:pt x="2990" y="54237"/>
                  <a:pt x="5780" y="54237"/>
                </a:cubicBezTo>
                <a:cubicBezTo>
                  <a:pt x="7176" y="54237"/>
                  <a:pt x="7176" y="54237"/>
                  <a:pt x="8571" y="54237"/>
                </a:cubicBezTo>
                <a:lnTo>
                  <a:pt x="8571" y="54237"/>
                </a:lnTo>
                <a:lnTo>
                  <a:pt x="8571" y="54237"/>
                </a:lnTo>
                <a:lnTo>
                  <a:pt x="8571" y="54237"/>
                </a:lnTo>
                <a:cubicBezTo>
                  <a:pt x="60598" y="78192"/>
                  <a:pt x="60598" y="78192"/>
                  <a:pt x="60598" y="78192"/>
                </a:cubicBezTo>
                <a:cubicBezTo>
                  <a:pt x="112823" y="54237"/>
                  <a:pt x="112823" y="54237"/>
                  <a:pt x="112823" y="54237"/>
                </a:cubicBezTo>
                <a:lnTo>
                  <a:pt x="112823" y="54237"/>
                </a:lnTo>
                <a:lnTo>
                  <a:pt x="112823" y="54237"/>
                </a:lnTo>
                <a:lnTo>
                  <a:pt x="112823" y="54237"/>
                </a:lnTo>
                <a:lnTo>
                  <a:pt x="114219" y="54237"/>
                </a:lnTo>
                <a:cubicBezTo>
                  <a:pt x="118405" y="54237"/>
                  <a:pt x="119800" y="55819"/>
                  <a:pt x="119800" y="60564"/>
                </a:cubicBezTo>
                <a:cubicBezTo>
                  <a:pt x="119800" y="62146"/>
                  <a:pt x="118405" y="65310"/>
                  <a:pt x="117009" y="65310"/>
                </a:cubicBezTo>
                <a:close/>
                <a:moveTo>
                  <a:pt x="117009" y="38192"/>
                </a:moveTo>
                <a:lnTo>
                  <a:pt x="117009" y="38192"/>
                </a:lnTo>
                <a:lnTo>
                  <a:pt x="117009" y="38192"/>
                </a:lnTo>
                <a:cubicBezTo>
                  <a:pt x="61993" y="63728"/>
                  <a:pt x="61993" y="63728"/>
                  <a:pt x="61993" y="63728"/>
                </a:cubicBezTo>
                <a:lnTo>
                  <a:pt x="61993" y="63728"/>
                </a:lnTo>
                <a:lnTo>
                  <a:pt x="61993" y="63728"/>
                </a:lnTo>
                <a:lnTo>
                  <a:pt x="61993" y="63728"/>
                </a:lnTo>
                <a:lnTo>
                  <a:pt x="60598" y="63728"/>
                </a:lnTo>
                <a:cubicBezTo>
                  <a:pt x="59202" y="63728"/>
                  <a:pt x="59202" y="63728"/>
                  <a:pt x="57807" y="63728"/>
                </a:cubicBezTo>
                <a:lnTo>
                  <a:pt x="57807" y="63728"/>
                </a:lnTo>
                <a:lnTo>
                  <a:pt x="57807" y="63728"/>
                </a:lnTo>
                <a:lnTo>
                  <a:pt x="57807" y="63728"/>
                </a:lnTo>
                <a:cubicBezTo>
                  <a:pt x="2990" y="38192"/>
                  <a:pt x="2990" y="38192"/>
                  <a:pt x="2990" y="38192"/>
                </a:cubicBezTo>
                <a:lnTo>
                  <a:pt x="2990" y="38192"/>
                </a:lnTo>
                <a:cubicBezTo>
                  <a:pt x="1395" y="36610"/>
                  <a:pt x="0" y="35028"/>
                  <a:pt x="0" y="31864"/>
                </a:cubicBezTo>
                <a:cubicBezTo>
                  <a:pt x="0" y="30282"/>
                  <a:pt x="1395" y="27118"/>
                  <a:pt x="2990" y="27118"/>
                </a:cubicBezTo>
                <a:lnTo>
                  <a:pt x="2990" y="27118"/>
                </a:lnTo>
                <a:cubicBezTo>
                  <a:pt x="57807" y="1581"/>
                  <a:pt x="57807" y="1581"/>
                  <a:pt x="57807" y="1581"/>
                </a:cubicBezTo>
                <a:lnTo>
                  <a:pt x="57807" y="1581"/>
                </a:lnTo>
                <a:lnTo>
                  <a:pt x="57807" y="1581"/>
                </a:lnTo>
                <a:lnTo>
                  <a:pt x="57807" y="1581"/>
                </a:lnTo>
                <a:cubicBezTo>
                  <a:pt x="59202" y="0"/>
                  <a:pt x="59202" y="0"/>
                  <a:pt x="60598" y="0"/>
                </a:cubicBezTo>
                <a:cubicBezTo>
                  <a:pt x="60598" y="0"/>
                  <a:pt x="61993" y="0"/>
                  <a:pt x="61993" y="1581"/>
                </a:cubicBezTo>
                <a:lnTo>
                  <a:pt x="61993" y="1581"/>
                </a:lnTo>
                <a:lnTo>
                  <a:pt x="61993" y="1581"/>
                </a:lnTo>
                <a:lnTo>
                  <a:pt x="61993" y="1581"/>
                </a:lnTo>
                <a:cubicBezTo>
                  <a:pt x="117009" y="27118"/>
                  <a:pt x="117009" y="27118"/>
                  <a:pt x="117009" y="27118"/>
                </a:cubicBezTo>
                <a:lnTo>
                  <a:pt x="117009" y="27118"/>
                </a:lnTo>
                <a:cubicBezTo>
                  <a:pt x="118405" y="27118"/>
                  <a:pt x="119800" y="30282"/>
                  <a:pt x="119800" y="31864"/>
                </a:cubicBezTo>
                <a:cubicBezTo>
                  <a:pt x="119800" y="35028"/>
                  <a:pt x="118405" y="36610"/>
                  <a:pt x="117009" y="38192"/>
                </a:cubicBezTo>
                <a:close/>
                <a:moveTo>
                  <a:pt x="5780" y="81355"/>
                </a:moveTo>
                <a:lnTo>
                  <a:pt x="5780" y="81355"/>
                </a:lnTo>
                <a:cubicBezTo>
                  <a:pt x="7176" y="81355"/>
                  <a:pt x="7176" y="81355"/>
                  <a:pt x="8571" y="81355"/>
                </a:cubicBezTo>
                <a:lnTo>
                  <a:pt x="8571" y="81355"/>
                </a:lnTo>
                <a:lnTo>
                  <a:pt x="8571" y="81355"/>
                </a:lnTo>
                <a:lnTo>
                  <a:pt x="8571" y="81355"/>
                </a:lnTo>
                <a:cubicBezTo>
                  <a:pt x="60598" y="106892"/>
                  <a:pt x="60598" y="106892"/>
                  <a:pt x="60598" y="106892"/>
                </a:cubicBezTo>
                <a:cubicBezTo>
                  <a:pt x="112823" y="81355"/>
                  <a:pt x="112823" y="81355"/>
                  <a:pt x="112823" y="81355"/>
                </a:cubicBezTo>
                <a:lnTo>
                  <a:pt x="112823" y="81355"/>
                </a:lnTo>
                <a:lnTo>
                  <a:pt x="112823" y="81355"/>
                </a:lnTo>
                <a:lnTo>
                  <a:pt x="112823" y="81355"/>
                </a:lnTo>
                <a:lnTo>
                  <a:pt x="114219" y="81355"/>
                </a:lnTo>
                <a:cubicBezTo>
                  <a:pt x="118405" y="81355"/>
                  <a:pt x="119800" y="84519"/>
                  <a:pt x="119800" y="87683"/>
                </a:cubicBezTo>
                <a:cubicBezTo>
                  <a:pt x="119800" y="91073"/>
                  <a:pt x="118405" y="92655"/>
                  <a:pt x="117009" y="94237"/>
                </a:cubicBezTo>
                <a:lnTo>
                  <a:pt x="117009" y="94237"/>
                </a:lnTo>
                <a:cubicBezTo>
                  <a:pt x="61993" y="119774"/>
                  <a:pt x="61993" y="119774"/>
                  <a:pt x="61993" y="119774"/>
                </a:cubicBezTo>
                <a:lnTo>
                  <a:pt x="61993" y="119774"/>
                </a:lnTo>
                <a:lnTo>
                  <a:pt x="61993" y="119774"/>
                </a:lnTo>
                <a:lnTo>
                  <a:pt x="61993" y="119774"/>
                </a:lnTo>
                <a:lnTo>
                  <a:pt x="60598" y="119774"/>
                </a:lnTo>
                <a:cubicBezTo>
                  <a:pt x="59202" y="119774"/>
                  <a:pt x="59202" y="119774"/>
                  <a:pt x="57807" y="119774"/>
                </a:cubicBezTo>
                <a:lnTo>
                  <a:pt x="57807" y="119774"/>
                </a:lnTo>
                <a:lnTo>
                  <a:pt x="57807" y="119774"/>
                </a:lnTo>
                <a:lnTo>
                  <a:pt x="57807" y="119774"/>
                </a:lnTo>
                <a:cubicBezTo>
                  <a:pt x="2990" y="94237"/>
                  <a:pt x="2990" y="94237"/>
                  <a:pt x="2990" y="94237"/>
                </a:cubicBezTo>
                <a:lnTo>
                  <a:pt x="2990" y="94237"/>
                </a:lnTo>
                <a:cubicBezTo>
                  <a:pt x="1395" y="92655"/>
                  <a:pt x="0" y="91073"/>
                  <a:pt x="0" y="87683"/>
                </a:cubicBezTo>
                <a:cubicBezTo>
                  <a:pt x="0" y="84519"/>
                  <a:pt x="2990" y="81355"/>
                  <a:pt x="5780" y="8135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11" id="11"/>
          <p:cNvSpPr/>
          <p:nvPr/>
        </p:nvSpPr>
        <p:spPr>
          <a:xfrm>
            <a:off x="6403664" y="5105715"/>
            <a:ext cx="5123712" cy="1023317"/>
          </a:xfrm>
          <a:prstGeom prst="rect">
            <a:avLst/>
          </a:prstGeom>
          <a:noFill/>
        </p:spPr>
        <p:txBody>
          <a:bodyPr vert="horz" anchor="t" wrap="square" tIns="45700" lIns="91412" bIns="45700" rIns="91412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Data-driven analysis is now routine in virtual screening, chemical property prediction, and quantum chemistry calculations.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6399710" y="4737144"/>
            <a:ext cx="5120779" cy="338514"/>
          </a:xfrm>
          <a:prstGeom prst="rect">
            <a:avLst/>
          </a:prstGeom>
          <a:noFill/>
        </p:spPr>
        <p:txBody>
          <a:bodyPr vert="horz" anchor="ctr" wrap="square" tIns="45700" lIns="91412" bIns="45700" rIns="91412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Data-Driven Chemical Analysis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790410" y="4910478"/>
            <a:ext cx="515816" cy="515816"/>
          </a:xfrm>
          <a:prstGeom prst="ellipse">
            <a:avLst/>
          </a:prstGeom>
          <a:solidFill>
            <a:srgbClr val="768395">
              <a:lumMod val="20000"/>
              <a:lumOff val="80000"/>
            </a:srgbClr>
          </a:solidFill>
          <a:ln cap="flat" cmpd="sng">
            <a:prstDash val="solid"/>
          </a:ln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4" id="14"/>
          <p:cNvSpPr/>
          <p:nvPr/>
        </p:nvSpPr>
        <p:spPr>
          <a:xfrm>
            <a:off x="5961405" y="5061870"/>
            <a:ext cx="173826" cy="213032"/>
          </a:xfrm>
          <a:custGeom>
            <a:avLst/>
            <a:gdLst/>
            <a:ahLst/>
            <a:cxnLst/>
            <a:rect r="r" b="b" t="t" l="l"/>
            <a:pathLst>
              <a:path w="120000" h="120000" stroke="true" fill="norm" extrusionOk="false">
                <a:moveTo>
                  <a:pt x="112868" y="119800"/>
                </a:moveTo>
                <a:lnTo>
                  <a:pt x="112868" y="119800"/>
                </a:lnTo>
                <a:cubicBezTo>
                  <a:pt x="6885" y="119800"/>
                  <a:pt x="6885" y="119800"/>
                  <a:pt x="6885" y="119800"/>
                </a:cubicBezTo>
                <a:cubicBezTo>
                  <a:pt x="1721" y="119800"/>
                  <a:pt x="0" y="117004"/>
                  <a:pt x="0" y="114209"/>
                </a:cubicBezTo>
                <a:cubicBezTo>
                  <a:pt x="0" y="64891"/>
                  <a:pt x="0" y="64891"/>
                  <a:pt x="0" y="64891"/>
                </a:cubicBezTo>
                <a:cubicBezTo>
                  <a:pt x="0" y="62096"/>
                  <a:pt x="1721" y="59101"/>
                  <a:pt x="6885" y="59101"/>
                </a:cubicBezTo>
                <a:cubicBezTo>
                  <a:pt x="17213" y="59101"/>
                  <a:pt x="17213" y="59101"/>
                  <a:pt x="17213" y="59101"/>
                </a:cubicBezTo>
                <a:cubicBezTo>
                  <a:pt x="17213" y="33743"/>
                  <a:pt x="17213" y="33743"/>
                  <a:pt x="17213" y="33743"/>
                </a:cubicBezTo>
                <a:cubicBezTo>
                  <a:pt x="17213" y="13976"/>
                  <a:pt x="36393" y="0"/>
                  <a:pt x="59016" y="0"/>
                </a:cubicBezTo>
                <a:cubicBezTo>
                  <a:pt x="83360" y="0"/>
                  <a:pt x="100573" y="13976"/>
                  <a:pt x="100573" y="33743"/>
                </a:cubicBezTo>
                <a:cubicBezTo>
                  <a:pt x="100573" y="36539"/>
                  <a:pt x="98852" y="39534"/>
                  <a:pt x="93688" y="39534"/>
                </a:cubicBezTo>
                <a:cubicBezTo>
                  <a:pt x="90245" y="39534"/>
                  <a:pt x="86803" y="36539"/>
                  <a:pt x="86803" y="33743"/>
                </a:cubicBezTo>
                <a:cubicBezTo>
                  <a:pt x="86803" y="21164"/>
                  <a:pt x="74754" y="11181"/>
                  <a:pt x="59016" y="11181"/>
                </a:cubicBezTo>
                <a:cubicBezTo>
                  <a:pt x="43278" y="11181"/>
                  <a:pt x="31229" y="21164"/>
                  <a:pt x="31229" y="33743"/>
                </a:cubicBezTo>
                <a:cubicBezTo>
                  <a:pt x="31229" y="59101"/>
                  <a:pt x="31229" y="59101"/>
                  <a:pt x="31229" y="59101"/>
                </a:cubicBezTo>
                <a:cubicBezTo>
                  <a:pt x="86803" y="59101"/>
                  <a:pt x="86803" y="59101"/>
                  <a:pt x="86803" y="59101"/>
                </a:cubicBezTo>
                <a:cubicBezTo>
                  <a:pt x="100573" y="59101"/>
                  <a:pt x="100573" y="59101"/>
                  <a:pt x="100573" y="59101"/>
                </a:cubicBezTo>
                <a:cubicBezTo>
                  <a:pt x="112868" y="59101"/>
                  <a:pt x="112868" y="59101"/>
                  <a:pt x="112868" y="59101"/>
                </a:cubicBezTo>
                <a:cubicBezTo>
                  <a:pt x="116311" y="59101"/>
                  <a:pt x="119754" y="62096"/>
                  <a:pt x="119754" y="64891"/>
                </a:cubicBezTo>
                <a:cubicBezTo>
                  <a:pt x="119754" y="114209"/>
                  <a:pt x="119754" y="114209"/>
                  <a:pt x="119754" y="114209"/>
                </a:cubicBezTo>
                <a:cubicBezTo>
                  <a:pt x="119754" y="117004"/>
                  <a:pt x="116311" y="119800"/>
                  <a:pt x="112868" y="119800"/>
                </a:cubicBezTo>
                <a:close/>
                <a:moveTo>
                  <a:pt x="59016" y="70482"/>
                </a:moveTo>
                <a:lnTo>
                  <a:pt x="59016" y="70482"/>
                </a:lnTo>
                <a:cubicBezTo>
                  <a:pt x="52131" y="70482"/>
                  <a:pt x="45000" y="76073"/>
                  <a:pt x="45000" y="81863"/>
                </a:cubicBezTo>
                <a:cubicBezTo>
                  <a:pt x="45000" y="86056"/>
                  <a:pt x="48688" y="90249"/>
                  <a:pt x="52131" y="91647"/>
                </a:cubicBezTo>
                <a:cubicBezTo>
                  <a:pt x="52131" y="103028"/>
                  <a:pt x="52131" y="103028"/>
                  <a:pt x="52131" y="103028"/>
                </a:cubicBezTo>
                <a:cubicBezTo>
                  <a:pt x="52131" y="105823"/>
                  <a:pt x="55573" y="108618"/>
                  <a:pt x="59016" y="108618"/>
                </a:cubicBezTo>
                <a:cubicBezTo>
                  <a:pt x="64180" y="108618"/>
                  <a:pt x="65901" y="105823"/>
                  <a:pt x="65901" y="103028"/>
                </a:cubicBezTo>
                <a:cubicBezTo>
                  <a:pt x="65901" y="91647"/>
                  <a:pt x="65901" y="91647"/>
                  <a:pt x="65901" y="91647"/>
                </a:cubicBezTo>
                <a:cubicBezTo>
                  <a:pt x="71065" y="90249"/>
                  <a:pt x="72786" y="86056"/>
                  <a:pt x="72786" y="81863"/>
                </a:cubicBezTo>
                <a:cubicBezTo>
                  <a:pt x="72786" y="76073"/>
                  <a:pt x="67622" y="70482"/>
                  <a:pt x="59016" y="70482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15" id="15"/>
          <p:cNvCxnSpPr/>
          <p:nvPr/>
        </p:nvCxnSpPr>
        <p:spPr>
          <a:xfrm>
            <a:off x="5411498" y="1130300"/>
            <a:ext cx="0" cy="4998732"/>
          </a:xfrm>
          <a:prstGeom prst="line">
            <a:avLst/>
          </a:prstGeom>
          <a:ln w="6350" cap="flat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name="Connector 16" id="16"/>
          <p:cNvCxnSpPr/>
          <p:nvPr/>
        </p:nvCxnSpPr>
        <p:spPr>
          <a:xfrm>
            <a:off x="6500434" y="2780008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cxnSp>
        <p:nvCxnSpPr>
          <p:cNvPr name="Connector 17" id="17"/>
          <p:cNvCxnSpPr/>
          <p:nvPr/>
        </p:nvCxnSpPr>
        <p:spPr>
          <a:xfrm>
            <a:off x="6500434" y="4596015"/>
            <a:ext cx="3751723" cy="0"/>
          </a:xfrm>
          <a:prstGeom prst="line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</a:ln>
        </p:spPr>
      </p:cxnSp>
      <p:sp>
        <p:nvSpPr>
          <p:cNvPr name="Freeform 18" id="18"/>
          <p:cNvSpPr/>
          <p:nvPr/>
        </p:nvSpPr>
        <p:spPr>
          <a:xfrm rot="18900000">
            <a:off x="2336843" y="1411245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19" id="19"/>
          <p:cNvSpPr/>
          <p:nvPr/>
        </p:nvSpPr>
        <p:spPr>
          <a:xfrm rot="18900000">
            <a:off x="3664261" y="2736478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0" id="20"/>
          <p:cNvSpPr/>
          <p:nvPr/>
        </p:nvSpPr>
        <p:spPr>
          <a:xfrm rot="18900000">
            <a:off x="3190552" y="2255521"/>
            <a:ext cx="923985" cy="949110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1" id="21"/>
          <p:cNvSpPr/>
          <p:nvPr/>
        </p:nvSpPr>
        <p:spPr>
          <a:xfrm rot="18900000">
            <a:off x="2242663" y="2823942"/>
            <a:ext cx="1309121" cy="1309121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2" id="22"/>
          <p:cNvSpPr/>
          <p:nvPr/>
        </p:nvSpPr>
        <p:spPr>
          <a:xfrm rot="18900000">
            <a:off x="3570080" y="4149175"/>
            <a:ext cx="1309121" cy="1309121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3" id="23"/>
          <p:cNvSpPr/>
          <p:nvPr/>
        </p:nvSpPr>
        <p:spPr>
          <a:xfrm rot="18900000">
            <a:off x="3096371" y="3668218"/>
            <a:ext cx="923984" cy="949110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4" id="24"/>
          <p:cNvSpPr/>
          <p:nvPr/>
        </p:nvSpPr>
        <p:spPr>
          <a:xfrm rot="18900000">
            <a:off x="826086" y="2905680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5" id="25"/>
          <p:cNvSpPr/>
          <p:nvPr/>
        </p:nvSpPr>
        <p:spPr>
          <a:xfrm rot="18900000">
            <a:off x="2153504" y="4230914"/>
            <a:ext cx="1309121" cy="1309120"/>
          </a:xfrm>
          <a:custGeom>
            <a:avLst/>
            <a:gdLst/>
            <a:ahLst/>
            <a:cxnLst/>
            <a:rect r="r" b="b" t="t" l="l"/>
            <a:pathLst>
              <a:path w="19679" h="19679" stroke="true" fill="norm" extrusionOk="false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6" id="26"/>
          <p:cNvSpPr/>
          <p:nvPr/>
        </p:nvSpPr>
        <p:spPr>
          <a:xfrm rot="18900000">
            <a:off x="1679795" y="3749957"/>
            <a:ext cx="923984" cy="949110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0"/>
                </a:moveTo>
                <a:cubicBezTo>
                  <a:pt x="2960" y="2851"/>
                  <a:pt x="4637" y="6730"/>
                  <a:pt x="4660" y="10784"/>
                </a:cubicBezTo>
                <a:cubicBezTo>
                  <a:pt x="4684" y="14829"/>
                  <a:pt x="3060" y="18718"/>
                  <a:pt x="144" y="21600"/>
                </a:cubicBezTo>
                <a:lnTo>
                  <a:pt x="21358" y="21288"/>
                </a:lnTo>
                <a:cubicBezTo>
                  <a:pt x="18644" y="18590"/>
                  <a:pt x="17078" y="14994"/>
                  <a:pt x="16974" y="11219"/>
                </a:cubicBezTo>
                <a:cubicBezTo>
                  <a:pt x="16858" y="7040"/>
                  <a:pt x="18534" y="3002"/>
                  <a:pt x="21600" y="75"/>
                </a:cubicBezTo>
                <a:lnTo>
                  <a:pt x="0" y="0"/>
                </a:lnTo>
                <a:close/>
              </a:path>
            </a:pathLst>
          </a:custGeom>
          <a:solidFill>
            <a:srgbClr val="768395">
              <a:lumMod val="20000"/>
              <a:lumOff val="80000"/>
            </a:srgbClr>
          </a:solidFill>
          <a:ln w="12700"/>
        </p:spPr>
        <p:txBody>
          <a:bodyPr vert="horz" anchor="ctr" tIns="121919" lIns="121919" bIns="121919" rIns="121919">
            <a:normAutofit/>
          </a:bodyPr>
          <a:p>
            <a:pPr algn="l" marL="0"/>
          </a:p>
        </p:txBody>
      </p:sp>
      <p:sp>
        <p:nvSpPr>
          <p:cNvPr name="Freeform 27" id="27"/>
          <p:cNvSpPr/>
          <p:nvPr/>
        </p:nvSpPr>
        <p:spPr>
          <a:xfrm>
            <a:off x="4067048" y="3142330"/>
            <a:ext cx="522451" cy="503142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28" id="28"/>
          <p:cNvSpPr/>
          <p:nvPr/>
        </p:nvSpPr>
        <p:spPr>
          <a:xfrm>
            <a:off x="2755181" y="1841799"/>
            <a:ext cx="460986" cy="443948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29" id="29"/>
          <p:cNvSpPr/>
          <p:nvPr/>
        </p:nvSpPr>
        <p:spPr>
          <a:xfrm>
            <a:off x="2646146" y="4691087"/>
            <a:ext cx="371729" cy="357990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30" id="30"/>
          <p:cNvSpPr/>
          <p:nvPr/>
        </p:nvSpPr>
        <p:spPr>
          <a:xfrm>
            <a:off x="1304273" y="3398329"/>
            <a:ext cx="394553" cy="379970"/>
          </a:xfrm>
          <a:custGeom>
            <a:avLst/>
            <a:gdLst/>
            <a:ahLst/>
            <a:cxnLst/>
            <a:rect r="r" b="b" t="t" l="l"/>
            <a:pathLst>
              <a:path w="609050" h="586540" stroke="true" fill="norm" extrusionOk="true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none" tIns="45720" lIns="91440" bIns="45720" rIns="91440">
            <a:normAutofit/>
          </a:bodyPr>
          <a:p>
            <a:pPr algn="l" marL="0"/>
          </a:p>
        </p:txBody>
      </p:sp>
      <p:sp>
        <p:nvSpPr>
          <p:cNvPr name="Freeform 31" id="31"/>
          <p:cNvSpPr/>
          <p:nvPr/>
        </p:nvSpPr>
        <p:spPr>
          <a:xfrm rot="16200000">
            <a:off x="2626108" y="3190739"/>
            <a:ext cx="587546" cy="601470"/>
          </a:xfrm>
          <a:custGeom>
            <a:avLst/>
            <a:gdLst/>
            <a:ahLst/>
            <a:cxnLst/>
            <a:rect r="r" b="b" t="t" l="l"/>
            <a:pathLst>
              <a:path w="452" h="462" stroke="true" fill="norm" extrusionOk="true">
                <a:moveTo>
                  <a:pt x="275" y="301"/>
                </a:moveTo>
                <a:lnTo>
                  <a:pt x="275" y="301"/>
                </a:lnTo>
                <a:cubicBezTo>
                  <a:pt x="275" y="301"/>
                  <a:pt x="451" y="169"/>
                  <a:pt x="434" y="26"/>
                </a:cubicBezTo>
                <a:lnTo>
                  <a:pt x="434" y="18"/>
                </a:lnTo>
                <a:cubicBezTo>
                  <a:pt x="425" y="18"/>
                  <a:pt x="425" y="18"/>
                  <a:pt x="425" y="18"/>
                </a:cubicBezTo>
                <a:cubicBezTo>
                  <a:pt x="284" y="0"/>
                  <a:pt x="159" y="178"/>
                  <a:pt x="159" y="178"/>
                </a:cubicBezTo>
                <a:cubicBezTo>
                  <a:pt x="53" y="159"/>
                  <a:pt x="62" y="186"/>
                  <a:pt x="9" y="301"/>
                </a:cubicBezTo>
                <a:cubicBezTo>
                  <a:pt x="0" y="328"/>
                  <a:pt x="18" y="328"/>
                  <a:pt x="35" y="328"/>
                </a:cubicBezTo>
                <a:cubicBezTo>
                  <a:pt x="53" y="319"/>
                  <a:pt x="88" y="310"/>
                  <a:pt x="88" y="310"/>
                </a:cubicBezTo>
                <a:cubicBezTo>
                  <a:pt x="151" y="372"/>
                  <a:pt x="151" y="372"/>
                  <a:pt x="151" y="372"/>
                </a:cubicBezTo>
                <a:cubicBezTo>
                  <a:pt x="151" y="372"/>
                  <a:pt x="141" y="407"/>
                  <a:pt x="133" y="425"/>
                </a:cubicBezTo>
                <a:cubicBezTo>
                  <a:pt x="124" y="443"/>
                  <a:pt x="133" y="461"/>
                  <a:pt x="151" y="452"/>
                </a:cubicBezTo>
                <a:cubicBezTo>
                  <a:pt x="266" y="398"/>
                  <a:pt x="292" y="407"/>
                  <a:pt x="275" y="301"/>
                </a:cubicBezTo>
                <a:close/>
                <a:moveTo>
                  <a:pt x="301" y="150"/>
                </a:moveTo>
                <a:lnTo>
                  <a:pt x="301" y="150"/>
                </a:lnTo>
                <a:cubicBezTo>
                  <a:pt x="284" y="133"/>
                  <a:pt x="284" y="115"/>
                  <a:pt x="301" y="97"/>
                </a:cubicBezTo>
                <a:cubicBezTo>
                  <a:pt x="319" y="80"/>
                  <a:pt x="345" y="80"/>
                  <a:pt x="354" y="97"/>
                </a:cubicBezTo>
                <a:cubicBezTo>
                  <a:pt x="372" y="115"/>
                  <a:pt x="372" y="133"/>
                  <a:pt x="354" y="150"/>
                </a:cubicBezTo>
                <a:cubicBezTo>
                  <a:pt x="345" y="169"/>
                  <a:pt x="319" y="169"/>
                  <a:pt x="301" y="15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tIns="45720" lIns="91440" bIns="45720" rIns="91440">
            <a:normAutofit/>
          </a:bodyPr>
          <a:p>
            <a:pPr algn="ctr" marL="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4099223" y="2413920"/>
            <a:ext cx="3993554" cy="2449261"/>
          </a:xfrm>
          <a:custGeom>
            <a:avLst/>
            <a:gdLst/>
            <a:ahLst/>
            <a:cxnLst/>
            <a:rect r="r" b="b" t="t" l="l"/>
            <a:pathLst>
              <a:path w="3993554" h="2449261" stroke="true" fill="norm" extrusionOk="true">
                <a:moveTo>
                  <a:pt x="1996777" y="0"/>
                </a:moveTo>
                <a:cubicBezTo>
                  <a:pt x="3030642" y="0"/>
                  <a:pt x="3880990" y="963784"/>
                  <a:pt x="3983245" y="2198839"/>
                </a:cubicBezTo>
                <a:lnTo>
                  <a:pt x="3993554" y="2449261"/>
                </a:lnTo>
                <a:lnTo>
                  <a:pt x="3581819" y="2449261"/>
                </a:lnTo>
                <a:lnTo>
                  <a:pt x="3549617" y="2038630"/>
                </a:lnTo>
                <a:cubicBezTo>
                  <a:pt x="3401818" y="1110163"/>
                  <a:pt x="2762748" y="411736"/>
                  <a:pt x="1996777" y="411736"/>
                </a:cubicBezTo>
                <a:cubicBezTo>
                  <a:pt x="1230807" y="411736"/>
                  <a:pt x="591737" y="1110163"/>
                  <a:pt x="443938" y="2038630"/>
                </a:cubicBezTo>
                <a:lnTo>
                  <a:pt x="411735" y="2449261"/>
                </a:lnTo>
                <a:lnTo>
                  <a:pt x="0" y="2449261"/>
                </a:lnTo>
                <a:lnTo>
                  <a:pt x="10309" y="2198839"/>
                </a:lnTo>
                <a:cubicBezTo>
                  <a:pt x="112564" y="963784"/>
                  <a:pt x="962913" y="0"/>
                  <a:pt x="1996777" y="0"/>
                </a:cubicBezTo>
                <a:close/>
              </a:path>
            </a:pathLst>
          </a:custGeom>
          <a:gradFill>
            <a:gsLst>
              <a:gs pos="57000">
                <a:srgbClr val="F08300">
                  <a:alpha val="0"/>
                  <a:lumMod val="0"/>
                  <a:lumOff val="100000"/>
                </a:srgbClr>
              </a:gs>
              <a:gs pos="100000">
                <a:srgbClr val="FFFFFF">
                  <a:alpha val="85000"/>
                  <a:lumMod val="85000"/>
                </a:srgbClr>
              </a:gs>
            </a:gsLst>
            <a:lin ang="16200000"/>
          </a:gradFill>
          <a:ln cap="flat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4189282" y="3299235"/>
            <a:ext cx="611616" cy="678630"/>
          </a:xfrm>
          <a:custGeom>
            <a:avLst/>
            <a:gdLst/>
            <a:ahLst/>
            <a:cxnLst/>
            <a:rect r="r" b="b" t="t" l="l"/>
            <a:pathLst>
              <a:path w="1369" h="1519" stroke="true" fill="norm" extrusionOk="true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4" id="4"/>
          <p:cNvSpPr/>
          <p:nvPr/>
        </p:nvSpPr>
        <p:spPr>
          <a:xfrm>
            <a:off x="4333128" y="3487679"/>
            <a:ext cx="323925" cy="301741"/>
          </a:xfrm>
          <a:custGeom>
            <a:avLst/>
            <a:gdLst/>
            <a:ahLst/>
            <a:cxnLst/>
            <a:rect r="r" b="b" t="t" l="l"/>
            <a:pathLst>
              <a:path w="606862" h="565300" stroke="true" fill="norm" extrusionOk="true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7391102" y="3299235"/>
            <a:ext cx="611616" cy="678630"/>
          </a:xfrm>
          <a:custGeom>
            <a:avLst/>
            <a:gdLst/>
            <a:ahLst/>
            <a:cxnLst/>
            <a:rect r="r" b="b" t="t" l="l"/>
            <a:pathLst>
              <a:path w="1369" h="1519" stroke="true" fill="norm" extrusionOk="true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6" id="6"/>
          <p:cNvSpPr/>
          <p:nvPr/>
        </p:nvSpPr>
        <p:spPr>
          <a:xfrm>
            <a:off x="7534948" y="3487679"/>
            <a:ext cx="323925" cy="301741"/>
          </a:xfrm>
          <a:custGeom>
            <a:avLst/>
            <a:gdLst/>
            <a:ahLst/>
            <a:cxnLst/>
            <a:rect r="r" b="b" t="t" l="l"/>
            <a:pathLst>
              <a:path w="606862" h="565300" stroke="true" fill="norm" extrusionOk="true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755948" y="2369249"/>
            <a:ext cx="33432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Limitations of Current Evaluation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755948" y="2956981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Algorithmic progress is limited by the lack of standard benchmarks for comparing methods.</a:t>
            </a:r>
          </a:p>
        </p:txBody>
      </p:sp>
      <p:sp>
        <p:nvSpPr>
          <p:cNvPr name="Freeform 9" id="9"/>
          <p:cNvSpPr/>
          <p:nvPr/>
        </p:nvSpPr>
        <p:spPr>
          <a:xfrm>
            <a:off x="5245582" y="1831268"/>
            <a:ext cx="1700413" cy="880638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7317"/>
                </a:moveTo>
                <a:lnTo>
                  <a:pt x="6301" y="21600"/>
                </a:lnTo>
                <a:lnTo>
                  <a:pt x="21600" y="0"/>
                </a:lnTo>
                <a:lnTo>
                  <a:pt x="0" y="17317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10" id="10"/>
          <p:cNvSpPr/>
          <p:nvPr/>
        </p:nvSpPr>
        <p:spPr>
          <a:xfrm>
            <a:off x="5866064" y="1831437"/>
            <a:ext cx="1080065" cy="1336259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5166"/>
                </a:moveTo>
                <a:lnTo>
                  <a:pt x="14073" y="21600"/>
                </a:lnTo>
                <a:lnTo>
                  <a:pt x="21600" y="0"/>
                </a:lnTo>
                <a:lnTo>
                  <a:pt x="0" y="15166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11" id="11"/>
          <p:cNvSpPr/>
          <p:nvPr/>
        </p:nvSpPr>
        <p:spPr>
          <a:xfrm>
            <a:off x="5247270" y="1830797"/>
            <a:ext cx="1699148" cy="70515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21600"/>
                </a:moveTo>
                <a:lnTo>
                  <a:pt x="11443" y="17896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12" id="1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Need for Benchmarking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182836" y="2358453"/>
            <a:ext cx="33432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MoleculeNet Solution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182836" y="2946185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is a large-scale benchmark for molecular machine learning.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Features</a:t>
            </a:r>
          </a:p>
        </p:txBody>
      </p:sp>
      <p:sp>
        <p:nvSpPr>
          <p:cNvPr name="Freeform 3" id="3"/>
          <p:cNvSpPr/>
          <p:nvPr/>
        </p:nvSpPr>
        <p:spPr>
          <a:xfrm rot="5400000">
            <a:off x="2258640" y="2139967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4" id="4"/>
          <p:cNvSpPr/>
          <p:nvPr/>
        </p:nvSpPr>
        <p:spPr>
          <a:xfrm>
            <a:off x="669925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Curated Datasets</a:t>
            </a:r>
          </a:p>
        </p:txBody>
      </p:sp>
      <p:sp>
        <p:nvSpPr>
          <p:cNvPr name="AutoShape 5" id="5"/>
          <p:cNvSpPr/>
          <p:nvPr/>
        </p:nvSpPr>
        <p:spPr>
          <a:xfrm>
            <a:off x="669925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curates multiple public datasets.</a:t>
            </a:r>
          </a:p>
        </p:txBody>
      </p:sp>
      <p:sp>
        <p:nvSpPr>
          <p:cNvPr name="Freeform 6" id="6"/>
          <p:cNvSpPr/>
          <p:nvPr/>
        </p:nvSpPr>
        <p:spPr>
          <a:xfrm rot="5400000">
            <a:off x="5909616" y="2139967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7" id="7"/>
          <p:cNvSpPr/>
          <p:nvPr/>
        </p:nvSpPr>
        <p:spPr>
          <a:xfrm>
            <a:off x="4320901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Evaluation Metrics</a:t>
            </a:r>
          </a:p>
        </p:txBody>
      </p:sp>
      <p:sp>
        <p:nvSpPr>
          <p:cNvPr name="AutoShape 8" id="8"/>
          <p:cNvSpPr/>
          <p:nvPr/>
        </p:nvSpPr>
        <p:spPr>
          <a:xfrm>
            <a:off x="4320901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It establishes metrics for evaluation.</a:t>
            </a:r>
          </a:p>
        </p:txBody>
      </p:sp>
      <p:sp>
        <p:nvSpPr>
          <p:cNvPr name="Freeform 9" id="9"/>
          <p:cNvSpPr/>
          <p:nvPr/>
        </p:nvSpPr>
        <p:spPr>
          <a:xfrm rot="5400000">
            <a:off x="9548608" y="2139967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10" id="10"/>
          <p:cNvSpPr/>
          <p:nvPr/>
        </p:nvSpPr>
        <p:spPr>
          <a:xfrm>
            <a:off x="7959893" y="1789044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Open-Source Implementations</a:t>
            </a:r>
          </a:p>
        </p:txBody>
      </p:sp>
      <p:sp>
        <p:nvSpPr>
          <p:cNvPr name="AutoShape 11" id="11"/>
          <p:cNvSpPr/>
          <p:nvPr/>
        </p:nvSpPr>
        <p:spPr>
          <a:xfrm>
            <a:off x="7959893" y="2673763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offers high-quality open-source implementations molecular featurization and learning algorithms.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anchor="t" wrap="square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Related Work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pc="100" baseline="0" u="none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9600" spc="100" baseline="0" u="none">
                <a:solidFill>
                  <a:schemeClr val="accent4"/>
                </a:solidFill>
                <a:latin typeface="Arial"/>
                <a:ea typeface="Arial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>
            <a:off x="0" y="2367573"/>
            <a:ext cx="12192000" cy="0"/>
          </a:xfrm>
          <a:prstGeom prst="line">
            <a:avLst/>
          </a:prstGeom>
          <a:ln w="12700" cap="flat" cmpd="sng">
            <a:solidFill>
              <a:srgbClr val="FFFFFF">
                <a:lumMod val="50000"/>
              </a:srgbClr>
            </a:solidFill>
            <a:prstDash val="sysDash"/>
          </a:ln>
        </p:spPr>
      </p:cxnSp>
      <p:sp>
        <p:nvSpPr>
          <p:cNvPr name="AutoShape 3" id="3"/>
          <p:cNvSpPr/>
          <p:nvPr/>
        </p:nvSpPr>
        <p:spPr>
          <a:xfrm>
            <a:off x="1232430" y="1902478"/>
            <a:ext cx="930191" cy="930190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4" id="4"/>
          <p:cNvSpPr txBox="true"/>
          <p:nvPr/>
        </p:nvSpPr>
        <p:spPr>
          <a:xfrm>
            <a:off x="230588" y="2897508"/>
            <a:ext cx="290222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Public Databases</a:t>
            </a:r>
            <a:endParaRPr lang="en-US" sz="1100"/>
          </a:p>
        </p:txBody>
      </p:sp>
      <p:sp>
        <p:nvSpPr>
          <p:cNvPr name="TextBox 5" id="5"/>
          <p:cNvSpPr txBox="true"/>
          <p:nvPr/>
        </p:nvSpPr>
        <p:spPr>
          <a:xfrm>
            <a:off x="230590" y="3483748"/>
            <a:ext cx="2902223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PubChem, ChEMBL, and ChemSpider gather vast amounts of chemical data.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>
            <a:off x="1517214" y="2176190"/>
            <a:ext cx="356471" cy="349610"/>
          </a:xfrm>
          <a:custGeom>
            <a:avLst/>
            <a:gdLst/>
            <a:ahLst/>
            <a:cxnLst/>
            <a:rect r="r" b="b" t="t" l="l"/>
            <a:pathLst>
              <a:path w="594321" h="582881" stroke="true" fill="norm" extrusionOk="true">
                <a:moveTo>
                  <a:pt x="418375" y="222528"/>
                </a:moveTo>
                <a:lnTo>
                  <a:pt x="384902" y="272673"/>
                </a:lnTo>
                <a:lnTo>
                  <a:pt x="418375" y="272673"/>
                </a:lnTo>
                <a:close/>
                <a:moveTo>
                  <a:pt x="425069" y="169041"/>
                </a:moveTo>
                <a:lnTo>
                  <a:pt x="448978" y="169041"/>
                </a:lnTo>
                <a:lnTo>
                  <a:pt x="448978" y="272673"/>
                </a:lnTo>
                <a:lnTo>
                  <a:pt x="470496" y="272673"/>
                </a:lnTo>
                <a:lnTo>
                  <a:pt x="470496" y="300372"/>
                </a:lnTo>
                <a:lnTo>
                  <a:pt x="448978" y="300372"/>
                </a:lnTo>
                <a:lnTo>
                  <a:pt x="448978" y="337622"/>
                </a:lnTo>
                <a:lnTo>
                  <a:pt x="418375" y="337622"/>
                </a:lnTo>
                <a:lnTo>
                  <a:pt x="418375" y="300372"/>
                </a:lnTo>
                <a:lnTo>
                  <a:pt x="351430" y="300372"/>
                </a:lnTo>
                <a:lnTo>
                  <a:pt x="351430" y="276016"/>
                </a:lnTo>
                <a:close/>
                <a:moveTo>
                  <a:pt x="280632" y="168581"/>
                </a:moveTo>
                <a:cubicBezTo>
                  <a:pt x="289241" y="168581"/>
                  <a:pt x="296894" y="169536"/>
                  <a:pt x="303589" y="171924"/>
                </a:cubicBezTo>
                <a:cubicBezTo>
                  <a:pt x="310763" y="174789"/>
                  <a:pt x="316024" y="178131"/>
                  <a:pt x="320807" y="182429"/>
                </a:cubicBezTo>
                <a:cubicBezTo>
                  <a:pt x="325590" y="186727"/>
                  <a:pt x="328937" y="191979"/>
                  <a:pt x="331329" y="198187"/>
                </a:cubicBezTo>
                <a:cubicBezTo>
                  <a:pt x="333720" y="203917"/>
                  <a:pt x="334677" y="210603"/>
                  <a:pt x="334677" y="217288"/>
                </a:cubicBezTo>
                <a:cubicBezTo>
                  <a:pt x="334677" y="223973"/>
                  <a:pt x="334198" y="229703"/>
                  <a:pt x="332285" y="234956"/>
                </a:cubicBezTo>
                <a:cubicBezTo>
                  <a:pt x="330372" y="240686"/>
                  <a:pt x="327981" y="245461"/>
                  <a:pt x="324633" y="250714"/>
                </a:cubicBezTo>
                <a:cubicBezTo>
                  <a:pt x="321285" y="255012"/>
                  <a:pt x="316503" y="260264"/>
                  <a:pt x="309807" y="266472"/>
                </a:cubicBezTo>
                <a:cubicBezTo>
                  <a:pt x="303589" y="273157"/>
                  <a:pt x="295459" y="279842"/>
                  <a:pt x="285893" y="287960"/>
                </a:cubicBezTo>
                <a:cubicBezTo>
                  <a:pt x="280632" y="292735"/>
                  <a:pt x="275850" y="296556"/>
                  <a:pt x="271545" y="300376"/>
                </a:cubicBezTo>
                <a:cubicBezTo>
                  <a:pt x="267719" y="304196"/>
                  <a:pt x="264850" y="307061"/>
                  <a:pt x="262937" y="309449"/>
                </a:cubicBezTo>
                <a:lnTo>
                  <a:pt x="335155" y="309449"/>
                </a:lnTo>
                <a:lnTo>
                  <a:pt x="335155" y="337622"/>
                </a:lnTo>
                <a:lnTo>
                  <a:pt x="220849" y="337622"/>
                </a:lnTo>
                <a:cubicBezTo>
                  <a:pt x="220849" y="324252"/>
                  <a:pt x="224197" y="312314"/>
                  <a:pt x="230414" y="302763"/>
                </a:cubicBezTo>
                <a:cubicBezTo>
                  <a:pt x="233762" y="297988"/>
                  <a:pt x="238067" y="293213"/>
                  <a:pt x="243806" y="287483"/>
                </a:cubicBezTo>
                <a:cubicBezTo>
                  <a:pt x="249067" y="282230"/>
                  <a:pt x="256241" y="276022"/>
                  <a:pt x="264371" y="269337"/>
                </a:cubicBezTo>
                <a:cubicBezTo>
                  <a:pt x="271545" y="263607"/>
                  <a:pt x="277763" y="258354"/>
                  <a:pt x="283024" y="253579"/>
                </a:cubicBezTo>
                <a:cubicBezTo>
                  <a:pt x="287806" y="249281"/>
                  <a:pt x="292111" y="244984"/>
                  <a:pt x="294980" y="241164"/>
                </a:cubicBezTo>
                <a:cubicBezTo>
                  <a:pt x="298328" y="237343"/>
                  <a:pt x="300241" y="233523"/>
                  <a:pt x="301676" y="229703"/>
                </a:cubicBezTo>
                <a:cubicBezTo>
                  <a:pt x="303111" y="225883"/>
                  <a:pt x="303589" y="221585"/>
                  <a:pt x="303589" y="216810"/>
                </a:cubicBezTo>
                <a:cubicBezTo>
                  <a:pt x="303589" y="209647"/>
                  <a:pt x="301676" y="203917"/>
                  <a:pt x="297372" y="200097"/>
                </a:cubicBezTo>
                <a:cubicBezTo>
                  <a:pt x="293546" y="196277"/>
                  <a:pt x="287806" y="194367"/>
                  <a:pt x="280154" y="194367"/>
                </a:cubicBezTo>
                <a:cubicBezTo>
                  <a:pt x="277285" y="194367"/>
                  <a:pt x="273937" y="194844"/>
                  <a:pt x="271067" y="195799"/>
                </a:cubicBezTo>
                <a:cubicBezTo>
                  <a:pt x="268197" y="197232"/>
                  <a:pt x="265806" y="199142"/>
                  <a:pt x="263893" y="201530"/>
                </a:cubicBezTo>
                <a:cubicBezTo>
                  <a:pt x="261502" y="203917"/>
                  <a:pt x="259589" y="207260"/>
                  <a:pt x="258154" y="210603"/>
                </a:cubicBezTo>
                <a:cubicBezTo>
                  <a:pt x="256719" y="214423"/>
                  <a:pt x="255763" y="218720"/>
                  <a:pt x="255763" y="223495"/>
                </a:cubicBezTo>
                <a:lnTo>
                  <a:pt x="224197" y="223495"/>
                </a:lnTo>
                <a:cubicBezTo>
                  <a:pt x="224675" y="215378"/>
                  <a:pt x="226588" y="207737"/>
                  <a:pt x="229458" y="201052"/>
                </a:cubicBezTo>
                <a:cubicBezTo>
                  <a:pt x="232806" y="193889"/>
                  <a:pt x="236632" y="188159"/>
                  <a:pt x="241415" y="183384"/>
                </a:cubicBezTo>
                <a:cubicBezTo>
                  <a:pt x="246197" y="178609"/>
                  <a:pt x="251936" y="174789"/>
                  <a:pt x="258632" y="172401"/>
                </a:cubicBezTo>
                <a:cubicBezTo>
                  <a:pt x="265328" y="169536"/>
                  <a:pt x="272502" y="168581"/>
                  <a:pt x="280632" y="168581"/>
                </a:cubicBezTo>
                <a:close/>
                <a:moveTo>
                  <a:pt x="107583" y="110843"/>
                </a:moveTo>
                <a:cubicBezTo>
                  <a:pt x="128620" y="114185"/>
                  <a:pt x="145833" y="142833"/>
                  <a:pt x="155873" y="159544"/>
                </a:cubicBezTo>
                <a:cubicBezTo>
                  <a:pt x="166870" y="178642"/>
                  <a:pt x="181213" y="206812"/>
                  <a:pt x="178344" y="227820"/>
                </a:cubicBezTo>
                <a:cubicBezTo>
                  <a:pt x="176910" y="241666"/>
                  <a:pt x="165913" y="251693"/>
                  <a:pt x="156351" y="259332"/>
                </a:cubicBezTo>
                <a:cubicBezTo>
                  <a:pt x="150614" y="264107"/>
                  <a:pt x="142486" y="270314"/>
                  <a:pt x="135314" y="274611"/>
                </a:cubicBezTo>
                <a:cubicBezTo>
                  <a:pt x="126230" y="280340"/>
                  <a:pt x="116189" y="286547"/>
                  <a:pt x="112843" y="296574"/>
                </a:cubicBezTo>
                <a:cubicBezTo>
                  <a:pt x="106149" y="317105"/>
                  <a:pt x="117146" y="337635"/>
                  <a:pt x="125752" y="352437"/>
                </a:cubicBezTo>
                <a:cubicBezTo>
                  <a:pt x="143920" y="383949"/>
                  <a:pt x="166870" y="412119"/>
                  <a:pt x="192210" y="435514"/>
                </a:cubicBezTo>
                <a:cubicBezTo>
                  <a:pt x="203207" y="445541"/>
                  <a:pt x="224244" y="463207"/>
                  <a:pt x="246237" y="461297"/>
                </a:cubicBezTo>
                <a:cubicBezTo>
                  <a:pt x="257712" y="460342"/>
                  <a:pt x="267274" y="449838"/>
                  <a:pt x="275880" y="441244"/>
                </a:cubicBezTo>
                <a:cubicBezTo>
                  <a:pt x="275880" y="441244"/>
                  <a:pt x="276358" y="441244"/>
                  <a:pt x="276358" y="441244"/>
                </a:cubicBezTo>
                <a:cubicBezTo>
                  <a:pt x="277793" y="439811"/>
                  <a:pt x="279227" y="437902"/>
                  <a:pt x="281139" y="436947"/>
                </a:cubicBezTo>
                <a:cubicBezTo>
                  <a:pt x="281139" y="436469"/>
                  <a:pt x="281618" y="436469"/>
                  <a:pt x="281618" y="435992"/>
                </a:cubicBezTo>
                <a:lnTo>
                  <a:pt x="281618" y="436469"/>
                </a:lnTo>
                <a:cubicBezTo>
                  <a:pt x="289267" y="429785"/>
                  <a:pt x="295483" y="425010"/>
                  <a:pt x="299786" y="422146"/>
                </a:cubicBezTo>
                <a:cubicBezTo>
                  <a:pt x="301220" y="421191"/>
                  <a:pt x="302655" y="420236"/>
                  <a:pt x="303611" y="419758"/>
                </a:cubicBezTo>
                <a:lnTo>
                  <a:pt x="304567" y="419281"/>
                </a:lnTo>
                <a:cubicBezTo>
                  <a:pt x="310783" y="415461"/>
                  <a:pt x="316998" y="412596"/>
                  <a:pt x="324648" y="412119"/>
                </a:cubicBezTo>
                <a:cubicBezTo>
                  <a:pt x="348076" y="411641"/>
                  <a:pt x="379153" y="436947"/>
                  <a:pt x="393497" y="449838"/>
                </a:cubicBezTo>
                <a:cubicBezTo>
                  <a:pt x="407840" y="463207"/>
                  <a:pt x="431268" y="488512"/>
                  <a:pt x="427921" y="508565"/>
                </a:cubicBezTo>
                <a:cubicBezTo>
                  <a:pt x="426965" y="515250"/>
                  <a:pt x="422662" y="520502"/>
                  <a:pt x="418837" y="524799"/>
                </a:cubicBezTo>
                <a:cubicBezTo>
                  <a:pt x="418837" y="524799"/>
                  <a:pt x="418359" y="524799"/>
                  <a:pt x="418359" y="524799"/>
                </a:cubicBezTo>
                <a:cubicBezTo>
                  <a:pt x="416446" y="527186"/>
                  <a:pt x="414056" y="528619"/>
                  <a:pt x="412143" y="530529"/>
                </a:cubicBezTo>
                <a:cubicBezTo>
                  <a:pt x="404972" y="536735"/>
                  <a:pt x="392541" y="547240"/>
                  <a:pt x="377241" y="557744"/>
                </a:cubicBezTo>
                <a:cubicBezTo>
                  <a:pt x="376763" y="557744"/>
                  <a:pt x="376763" y="557744"/>
                  <a:pt x="376763" y="557744"/>
                </a:cubicBezTo>
                <a:cubicBezTo>
                  <a:pt x="349510" y="576365"/>
                  <a:pt x="318911" y="587346"/>
                  <a:pt x="275402" y="581139"/>
                </a:cubicBezTo>
                <a:cubicBezTo>
                  <a:pt x="235718" y="575887"/>
                  <a:pt x="209422" y="561086"/>
                  <a:pt x="182648" y="542942"/>
                </a:cubicBezTo>
                <a:cubicBezTo>
                  <a:pt x="134836" y="510475"/>
                  <a:pt x="94196" y="465117"/>
                  <a:pt x="62640" y="420713"/>
                </a:cubicBezTo>
                <a:cubicBezTo>
                  <a:pt x="32997" y="378697"/>
                  <a:pt x="485" y="325222"/>
                  <a:pt x="7" y="257900"/>
                </a:cubicBezTo>
                <a:cubicBezTo>
                  <a:pt x="-471" y="208722"/>
                  <a:pt x="20566" y="173390"/>
                  <a:pt x="46384" y="148562"/>
                </a:cubicBezTo>
                <a:cubicBezTo>
                  <a:pt x="48297" y="146652"/>
                  <a:pt x="50209" y="145220"/>
                  <a:pt x="51644" y="143787"/>
                </a:cubicBezTo>
                <a:cubicBezTo>
                  <a:pt x="52122" y="143310"/>
                  <a:pt x="52600" y="142833"/>
                  <a:pt x="53078" y="142833"/>
                </a:cubicBezTo>
                <a:cubicBezTo>
                  <a:pt x="64553" y="132328"/>
                  <a:pt x="77940" y="122302"/>
                  <a:pt x="82721" y="118960"/>
                </a:cubicBezTo>
                <a:cubicBezTo>
                  <a:pt x="89893" y="113230"/>
                  <a:pt x="98021" y="108933"/>
                  <a:pt x="107583" y="110843"/>
                </a:cubicBezTo>
                <a:close/>
                <a:moveTo>
                  <a:pt x="339460" y="0"/>
                </a:moveTo>
                <a:cubicBezTo>
                  <a:pt x="480040" y="0"/>
                  <a:pt x="594321" y="114119"/>
                  <a:pt x="594321" y="254978"/>
                </a:cubicBezTo>
                <a:cubicBezTo>
                  <a:pt x="594321" y="355727"/>
                  <a:pt x="535507" y="443107"/>
                  <a:pt x="449916" y="484171"/>
                </a:cubicBezTo>
                <a:cubicBezTo>
                  <a:pt x="446090" y="472711"/>
                  <a:pt x="438440" y="461252"/>
                  <a:pt x="430311" y="451224"/>
                </a:cubicBezTo>
                <a:cubicBezTo>
                  <a:pt x="504426" y="416845"/>
                  <a:pt x="556068" y="341880"/>
                  <a:pt x="556068" y="254978"/>
                </a:cubicBezTo>
                <a:cubicBezTo>
                  <a:pt x="556068" y="135606"/>
                  <a:pt x="459001" y="38199"/>
                  <a:pt x="339460" y="38199"/>
                </a:cubicBezTo>
                <a:cubicBezTo>
                  <a:pt x="268213" y="38199"/>
                  <a:pt x="204618" y="73055"/>
                  <a:pt x="164930" y="126534"/>
                </a:cubicBezTo>
                <a:cubicBezTo>
                  <a:pt x="157758" y="116029"/>
                  <a:pt x="149151" y="105524"/>
                  <a:pt x="138631" y="97885"/>
                </a:cubicBezTo>
                <a:cubicBezTo>
                  <a:pt x="185491" y="38199"/>
                  <a:pt x="258172" y="0"/>
                  <a:pt x="33946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AutoShape 7" id="7"/>
          <p:cNvSpPr/>
          <p:nvPr/>
        </p:nvSpPr>
        <p:spPr>
          <a:xfrm>
            <a:off x="10029380" y="1902478"/>
            <a:ext cx="930191" cy="930190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>
            <a:off x="10314164" y="2176190"/>
            <a:ext cx="356471" cy="349610"/>
          </a:xfrm>
          <a:custGeom>
            <a:avLst/>
            <a:gdLst/>
            <a:ahLst/>
            <a:cxnLst/>
            <a:rect r="r" b="b" t="t" l="l"/>
            <a:pathLst>
              <a:path w="594321" h="582881" stroke="true" fill="norm" extrusionOk="true">
                <a:moveTo>
                  <a:pt x="418375" y="222528"/>
                </a:moveTo>
                <a:lnTo>
                  <a:pt x="384902" y="272673"/>
                </a:lnTo>
                <a:lnTo>
                  <a:pt x="418375" y="272673"/>
                </a:lnTo>
                <a:close/>
                <a:moveTo>
                  <a:pt x="425069" y="169041"/>
                </a:moveTo>
                <a:lnTo>
                  <a:pt x="448978" y="169041"/>
                </a:lnTo>
                <a:lnTo>
                  <a:pt x="448978" y="272673"/>
                </a:lnTo>
                <a:lnTo>
                  <a:pt x="470496" y="272673"/>
                </a:lnTo>
                <a:lnTo>
                  <a:pt x="470496" y="300372"/>
                </a:lnTo>
                <a:lnTo>
                  <a:pt x="448978" y="300372"/>
                </a:lnTo>
                <a:lnTo>
                  <a:pt x="448978" y="337622"/>
                </a:lnTo>
                <a:lnTo>
                  <a:pt x="418375" y="337622"/>
                </a:lnTo>
                <a:lnTo>
                  <a:pt x="418375" y="300372"/>
                </a:lnTo>
                <a:lnTo>
                  <a:pt x="351430" y="300372"/>
                </a:lnTo>
                <a:lnTo>
                  <a:pt x="351430" y="276016"/>
                </a:lnTo>
                <a:close/>
                <a:moveTo>
                  <a:pt x="280632" y="168581"/>
                </a:moveTo>
                <a:cubicBezTo>
                  <a:pt x="289241" y="168581"/>
                  <a:pt x="296894" y="169536"/>
                  <a:pt x="303589" y="171924"/>
                </a:cubicBezTo>
                <a:cubicBezTo>
                  <a:pt x="310763" y="174789"/>
                  <a:pt x="316024" y="178131"/>
                  <a:pt x="320807" y="182429"/>
                </a:cubicBezTo>
                <a:cubicBezTo>
                  <a:pt x="325590" y="186727"/>
                  <a:pt x="328937" y="191979"/>
                  <a:pt x="331329" y="198187"/>
                </a:cubicBezTo>
                <a:cubicBezTo>
                  <a:pt x="333720" y="203917"/>
                  <a:pt x="334677" y="210603"/>
                  <a:pt x="334677" y="217288"/>
                </a:cubicBezTo>
                <a:cubicBezTo>
                  <a:pt x="334677" y="223973"/>
                  <a:pt x="334198" y="229703"/>
                  <a:pt x="332285" y="234956"/>
                </a:cubicBezTo>
                <a:cubicBezTo>
                  <a:pt x="330372" y="240686"/>
                  <a:pt x="327981" y="245461"/>
                  <a:pt x="324633" y="250714"/>
                </a:cubicBezTo>
                <a:cubicBezTo>
                  <a:pt x="321285" y="255012"/>
                  <a:pt x="316503" y="260264"/>
                  <a:pt x="309807" y="266472"/>
                </a:cubicBezTo>
                <a:cubicBezTo>
                  <a:pt x="303589" y="273157"/>
                  <a:pt x="295459" y="279842"/>
                  <a:pt x="285893" y="287960"/>
                </a:cubicBezTo>
                <a:cubicBezTo>
                  <a:pt x="280632" y="292735"/>
                  <a:pt x="275850" y="296556"/>
                  <a:pt x="271545" y="300376"/>
                </a:cubicBezTo>
                <a:cubicBezTo>
                  <a:pt x="267719" y="304196"/>
                  <a:pt x="264850" y="307061"/>
                  <a:pt x="262937" y="309449"/>
                </a:cubicBezTo>
                <a:lnTo>
                  <a:pt x="335155" y="309449"/>
                </a:lnTo>
                <a:lnTo>
                  <a:pt x="335155" y="337622"/>
                </a:lnTo>
                <a:lnTo>
                  <a:pt x="220849" y="337622"/>
                </a:lnTo>
                <a:cubicBezTo>
                  <a:pt x="220849" y="324252"/>
                  <a:pt x="224197" y="312314"/>
                  <a:pt x="230414" y="302763"/>
                </a:cubicBezTo>
                <a:cubicBezTo>
                  <a:pt x="233762" y="297988"/>
                  <a:pt x="238067" y="293213"/>
                  <a:pt x="243806" y="287483"/>
                </a:cubicBezTo>
                <a:cubicBezTo>
                  <a:pt x="249067" y="282230"/>
                  <a:pt x="256241" y="276022"/>
                  <a:pt x="264371" y="269337"/>
                </a:cubicBezTo>
                <a:cubicBezTo>
                  <a:pt x="271545" y="263607"/>
                  <a:pt x="277763" y="258354"/>
                  <a:pt x="283024" y="253579"/>
                </a:cubicBezTo>
                <a:cubicBezTo>
                  <a:pt x="287806" y="249281"/>
                  <a:pt x="292111" y="244984"/>
                  <a:pt x="294980" y="241164"/>
                </a:cubicBezTo>
                <a:cubicBezTo>
                  <a:pt x="298328" y="237343"/>
                  <a:pt x="300241" y="233523"/>
                  <a:pt x="301676" y="229703"/>
                </a:cubicBezTo>
                <a:cubicBezTo>
                  <a:pt x="303111" y="225883"/>
                  <a:pt x="303589" y="221585"/>
                  <a:pt x="303589" y="216810"/>
                </a:cubicBezTo>
                <a:cubicBezTo>
                  <a:pt x="303589" y="209647"/>
                  <a:pt x="301676" y="203917"/>
                  <a:pt x="297372" y="200097"/>
                </a:cubicBezTo>
                <a:cubicBezTo>
                  <a:pt x="293546" y="196277"/>
                  <a:pt x="287806" y="194367"/>
                  <a:pt x="280154" y="194367"/>
                </a:cubicBezTo>
                <a:cubicBezTo>
                  <a:pt x="277285" y="194367"/>
                  <a:pt x="273937" y="194844"/>
                  <a:pt x="271067" y="195799"/>
                </a:cubicBezTo>
                <a:cubicBezTo>
                  <a:pt x="268197" y="197232"/>
                  <a:pt x="265806" y="199142"/>
                  <a:pt x="263893" y="201530"/>
                </a:cubicBezTo>
                <a:cubicBezTo>
                  <a:pt x="261502" y="203917"/>
                  <a:pt x="259589" y="207260"/>
                  <a:pt x="258154" y="210603"/>
                </a:cubicBezTo>
                <a:cubicBezTo>
                  <a:pt x="256719" y="214423"/>
                  <a:pt x="255763" y="218720"/>
                  <a:pt x="255763" y="223495"/>
                </a:cubicBezTo>
                <a:lnTo>
                  <a:pt x="224197" y="223495"/>
                </a:lnTo>
                <a:cubicBezTo>
                  <a:pt x="224675" y="215378"/>
                  <a:pt x="226588" y="207737"/>
                  <a:pt x="229458" y="201052"/>
                </a:cubicBezTo>
                <a:cubicBezTo>
                  <a:pt x="232806" y="193889"/>
                  <a:pt x="236632" y="188159"/>
                  <a:pt x="241415" y="183384"/>
                </a:cubicBezTo>
                <a:cubicBezTo>
                  <a:pt x="246197" y="178609"/>
                  <a:pt x="251936" y="174789"/>
                  <a:pt x="258632" y="172401"/>
                </a:cubicBezTo>
                <a:cubicBezTo>
                  <a:pt x="265328" y="169536"/>
                  <a:pt x="272502" y="168581"/>
                  <a:pt x="280632" y="168581"/>
                </a:cubicBezTo>
                <a:close/>
                <a:moveTo>
                  <a:pt x="107583" y="110843"/>
                </a:moveTo>
                <a:cubicBezTo>
                  <a:pt x="128620" y="114185"/>
                  <a:pt x="145833" y="142833"/>
                  <a:pt x="155873" y="159544"/>
                </a:cubicBezTo>
                <a:cubicBezTo>
                  <a:pt x="166870" y="178642"/>
                  <a:pt x="181213" y="206812"/>
                  <a:pt x="178344" y="227820"/>
                </a:cubicBezTo>
                <a:cubicBezTo>
                  <a:pt x="176910" y="241666"/>
                  <a:pt x="165913" y="251693"/>
                  <a:pt x="156351" y="259332"/>
                </a:cubicBezTo>
                <a:cubicBezTo>
                  <a:pt x="150614" y="264107"/>
                  <a:pt x="142486" y="270314"/>
                  <a:pt x="135314" y="274611"/>
                </a:cubicBezTo>
                <a:cubicBezTo>
                  <a:pt x="126230" y="280340"/>
                  <a:pt x="116189" y="286547"/>
                  <a:pt x="112843" y="296574"/>
                </a:cubicBezTo>
                <a:cubicBezTo>
                  <a:pt x="106149" y="317105"/>
                  <a:pt x="117146" y="337635"/>
                  <a:pt x="125752" y="352437"/>
                </a:cubicBezTo>
                <a:cubicBezTo>
                  <a:pt x="143920" y="383949"/>
                  <a:pt x="166870" y="412119"/>
                  <a:pt x="192210" y="435514"/>
                </a:cubicBezTo>
                <a:cubicBezTo>
                  <a:pt x="203207" y="445541"/>
                  <a:pt x="224244" y="463207"/>
                  <a:pt x="246237" y="461297"/>
                </a:cubicBezTo>
                <a:cubicBezTo>
                  <a:pt x="257712" y="460342"/>
                  <a:pt x="267274" y="449838"/>
                  <a:pt x="275880" y="441244"/>
                </a:cubicBezTo>
                <a:cubicBezTo>
                  <a:pt x="275880" y="441244"/>
                  <a:pt x="276358" y="441244"/>
                  <a:pt x="276358" y="441244"/>
                </a:cubicBezTo>
                <a:cubicBezTo>
                  <a:pt x="277793" y="439811"/>
                  <a:pt x="279227" y="437902"/>
                  <a:pt x="281139" y="436947"/>
                </a:cubicBezTo>
                <a:cubicBezTo>
                  <a:pt x="281139" y="436469"/>
                  <a:pt x="281618" y="436469"/>
                  <a:pt x="281618" y="435992"/>
                </a:cubicBezTo>
                <a:lnTo>
                  <a:pt x="281618" y="436469"/>
                </a:lnTo>
                <a:cubicBezTo>
                  <a:pt x="289267" y="429785"/>
                  <a:pt x="295483" y="425010"/>
                  <a:pt x="299786" y="422146"/>
                </a:cubicBezTo>
                <a:cubicBezTo>
                  <a:pt x="301220" y="421191"/>
                  <a:pt x="302655" y="420236"/>
                  <a:pt x="303611" y="419758"/>
                </a:cubicBezTo>
                <a:lnTo>
                  <a:pt x="304567" y="419281"/>
                </a:lnTo>
                <a:cubicBezTo>
                  <a:pt x="310783" y="415461"/>
                  <a:pt x="316998" y="412596"/>
                  <a:pt x="324648" y="412119"/>
                </a:cubicBezTo>
                <a:cubicBezTo>
                  <a:pt x="348076" y="411641"/>
                  <a:pt x="379153" y="436947"/>
                  <a:pt x="393497" y="449838"/>
                </a:cubicBezTo>
                <a:cubicBezTo>
                  <a:pt x="407840" y="463207"/>
                  <a:pt x="431268" y="488512"/>
                  <a:pt x="427921" y="508565"/>
                </a:cubicBezTo>
                <a:cubicBezTo>
                  <a:pt x="426965" y="515250"/>
                  <a:pt x="422662" y="520502"/>
                  <a:pt x="418837" y="524799"/>
                </a:cubicBezTo>
                <a:cubicBezTo>
                  <a:pt x="418837" y="524799"/>
                  <a:pt x="418359" y="524799"/>
                  <a:pt x="418359" y="524799"/>
                </a:cubicBezTo>
                <a:cubicBezTo>
                  <a:pt x="416446" y="527186"/>
                  <a:pt x="414056" y="528619"/>
                  <a:pt x="412143" y="530529"/>
                </a:cubicBezTo>
                <a:cubicBezTo>
                  <a:pt x="404972" y="536735"/>
                  <a:pt x="392541" y="547240"/>
                  <a:pt x="377241" y="557744"/>
                </a:cubicBezTo>
                <a:cubicBezTo>
                  <a:pt x="376763" y="557744"/>
                  <a:pt x="376763" y="557744"/>
                  <a:pt x="376763" y="557744"/>
                </a:cubicBezTo>
                <a:cubicBezTo>
                  <a:pt x="349510" y="576365"/>
                  <a:pt x="318911" y="587346"/>
                  <a:pt x="275402" y="581139"/>
                </a:cubicBezTo>
                <a:cubicBezTo>
                  <a:pt x="235718" y="575887"/>
                  <a:pt x="209422" y="561086"/>
                  <a:pt x="182648" y="542942"/>
                </a:cubicBezTo>
                <a:cubicBezTo>
                  <a:pt x="134836" y="510475"/>
                  <a:pt x="94196" y="465117"/>
                  <a:pt x="62640" y="420713"/>
                </a:cubicBezTo>
                <a:cubicBezTo>
                  <a:pt x="32997" y="378697"/>
                  <a:pt x="485" y="325222"/>
                  <a:pt x="7" y="257900"/>
                </a:cubicBezTo>
                <a:cubicBezTo>
                  <a:pt x="-471" y="208722"/>
                  <a:pt x="20566" y="173390"/>
                  <a:pt x="46384" y="148562"/>
                </a:cubicBezTo>
                <a:cubicBezTo>
                  <a:pt x="48297" y="146652"/>
                  <a:pt x="50209" y="145220"/>
                  <a:pt x="51644" y="143787"/>
                </a:cubicBezTo>
                <a:cubicBezTo>
                  <a:pt x="52122" y="143310"/>
                  <a:pt x="52600" y="142833"/>
                  <a:pt x="53078" y="142833"/>
                </a:cubicBezTo>
                <a:cubicBezTo>
                  <a:pt x="64553" y="132328"/>
                  <a:pt x="77940" y="122302"/>
                  <a:pt x="82721" y="118960"/>
                </a:cubicBezTo>
                <a:cubicBezTo>
                  <a:pt x="89893" y="113230"/>
                  <a:pt x="98021" y="108933"/>
                  <a:pt x="107583" y="110843"/>
                </a:cubicBezTo>
                <a:close/>
                <a:moveTo>
                  <a:pt x="339460" y="0"/>
                </a:moveTo>
                <a:cubicBezTo>
                  <a:pt x="480040" y="0"/>
                  <a:pt x="594321" y="114119"/>
                  <a:pt x="594321" y="254978"/>
                </a:cubicBezTo>
                <a:cubicBezTo>
                  <a:pt x="594321" y="355727"/>
                  <a:pt x="535507" y="443107"/>
                  <a:pt x="449916" y="484171"/>
                </a:cubicBezTo>
                <a:cubicBezTo>
                  <a:pt x="446090" y="472711"/>
                  <a:pt x="438440" y="461252"/>
                  <a:pt x="430311" y="451224"/>
                </a:cubicBezTo>
                <a:cubicBezTo>
                  <a:pt x="504426" y="416845"/>
                  <a:pt x="556068" y="341880"/>
                  <a:pt x="556068" y="254978"/>
                </a:cubicBezTo>
                <a:cubicBezTo>
                  <a:pt x="556068" y="135606"/>
                  <a:pt x="459001" y="38199"/>
                  <a:pt x="339460" y="38199"/>
                </a:cubicBezTo>
                <a:cubicBezTo>
                  <a:pt x="268213" y="38199"/>
                  <a:pt x="204618" y="73055"/>
                  <a:pt x="164930" y="126534"/>
                </a:cubicBezTo>
                <a:cubicBezTo>
                  <a:pt x="157758" y="116029"/>
                  <a:pt x="149151" y="105524"/>
                  <a:pt x="138631" y="97885"/>
                </a:cubicBezTo>
                <a:cubicBezTo>
                  <a:pt x="185491" y="38199"/>
                  <a:pt x="258172" y="0"/>
                  <a:pt x="33946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AutoShape 9" id="9"/>
          <p:cNvSpPr/>
          <p:nvPr/>
        </p:nvSpPr>
        <p:spPr>
          <a:xfrm>
            <a:off x="5630904" y="1883735"/>
            <a:ext cx="930191" cy="930190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5915688" y="2157447"/>
            <a:ext cx="356471" cy="349610"/>
          </a:xfrm>
          <a:custGeom>
            <a:avLst/>
            <a:gdLst/>
            <a:ahLst/>
            <a:cxnLst/>
            <a:rect r="r" b="b" t="t" l="l"/>
            <a:pathLst>
              <a:path w="594321" h="582881" stroke="true" fill="norm" extrusionOk="true">
                <a:moveTo>
                  <a:pt x="418375" y="222528"/>
                </a:moveTo>
                <a:lnTo>
                  <a:pt x="384902" y="272673"/>
                </a:lnTo>
                <a:lnTo>
                  <a:pt x="418375" y="272673"/>
                </a:lnTo>
                <a:close/>
                <a:moveTo>
                  <a:pt x="425069" y="169041"/>
                </a:moveTo>
                <a:lnTo>
                  <a:pt x="448978" y="169041"/>
                </a:lnTo>
                <a:lnTo>
                  <a:pt x="448978" y="272673"/>
                </a:lnTo>
                <a:lnTo>
                  <a:pt x="470496" y="272673"/>
                </a:lnTo>
                <a:lnTo>
                  <a:pt x="470496" y="300372"/>
                </a:lnTo>
                <a:lnTo>
                  <a:pt x="448978" y="300372"/>
                </a:lnTo>
                <a:lnTo>
                  <a:pt x="448978" y="337622"/>
                </a:lnTo>
                <a:lnTo>
                  <a:pt x="418375" y="337622"/>
                </a:lnTo>
                <a:lnTo>
                  <a:pt x="418375" y="300372"/>
                </a:lnTo>
                <a:lnTo>
                  <a:pt x="351430" y="300372"/>
                </a:lnTo>
                <a:lnTo>
                  <a:pt x="351430" y="276016"/>
                </a:lnTo>
                <a:close/>
                <a:moveTo>
                  <a:pt x="280632" y="168581"/>
                </a:moveTo>
                <a:cubicBezTo>
                  <a:pt x="289241" y="168581"/>
                  <a:pt x="296894" y="169536"/>
                  <a:pt x="303589" y="171924"/>
                </a:cubicBezTo>
                <a:cubicBezTo>
                  <a:pt x="310763" y="174789"/>
                  <a:pt x="316024" y="178131"/>
                  <a:pt x="320807" y="182429"/>
                </a:cubicBezTo>
                <a:cubicBezTo>
                  <a:pt x="325590" y="186727"/>
                  <a:pt x="328937" y="191979"/>
                  <a:pt x="331329" y="198187"/>
                </a:cubicBezTo>
                <a:cubicBezTo>
                  <a:pt x="333720" y="203917"/>
                  <a:pt x="334677" y="210603"/>
                  <a:pt x="334677" y="217288"/>
                </a:cubicBezTo>
                <a:cubicBezTo>
                  <a:pt x="334677" y="223973"/>
                  <a:pt x="334198" y="229703"/>
                  <a:pt x="332285" y="234956"/>
                </a:cubicBezTo>
                <a:cubicBezTo>
                  <a:pt x="330372" y="240686"/>
                  <a:pt x="327981" y="245461"/>
                  <a:pt x="324633" y="250714"/>
                </a:cubicBezTo>
                <a:cubicBezTo>
                  <a:pt x="321285" y="255012"/>
                  <a:pt x="316503" y="260264"/>
                  <a:pt x="309807" y="266472"/>
                </a:cubicBezTo>
                <a:cubicBezTo>
                  <a:pt x="303589" y="273157"/>
                  <a:pt x="295459" y="279842"/>
                  <a:pt x="285893" y="287960"/>
                </a:cubicBezTo>
                <a:cubicBezTo>
                  <a:pt x="280632" y="292735"/>
                  <a:pt x="275850" y="296556"/>
                  <a:pt x="271545" y="300376"/>
                </a:cubicBezTo>
                <a:cubicBezTo>
                  <a:pt x="267719" y="304196"/>
                  <a:pt x="264850" y="307061"/>
                  <a:pt x="262937" y="309449"/>
                </a:cubicBezTo>
                <a:lnTo>
                  <a:pt x="335155" y="309449"/>
                </a:lnTo>
                <a:lnTo>
                  <a:pt x="335155" y="337622"/>
                </a:lnTo>
                <a:lnTo>
                  <a:pt x="220849" y="337622"/>
                </a:lnTo>
                <a:cubicBezTo>
                  <a:pt x="220849" y="324252"/>
                  <a:pt x="224197" y="312314"/>
                  <a:pt x="230414" y="302763"/>
                </a:cubicBezTo>
                <a:cubicBezTo>
                  <a:pt x="233762" y="297988"/>
                  <a:pt x="238067" y="293213"/>
                  <a:pt x="243806" y="287483"/>
                </a:cubicBezTo>
                <a:cubicBezTo>
                  <a:pt x="249067" y="282230"/>
                  <a:pt x="256241" y="276022"/>
                  <a:pt x="264371" y="269337"/>
                </a:cubicBezTo>
                <a:cubicBezTo>
                  <a:pt x="271545" y="263607"/>
                  <a:pt x="277763" y="258354"/>
                  <a:pt x="283024" y="253579"/>
                </a:cubicBezTo>
                <a:cubicBezTo>
                  <a:pt x="287806" y="249281"/>
                  <a:pt x="292111" y="244984"/>
                  <a:pt x="294980" y="241164"/>
                </a:cubicBezTo>
                <a:cubicBezTo>
                  <a:pt x="298328" y="237343"/>
                  <a:pt x="300241" y="233523"/>
                  <a:pt x="301676" y="229703"/>
                </a:cubicBezTo>
                <a:cubicBezTo>
                  <a:pt x="303111" y="225883"/>
                  <a:pt x="303589" y="221585"/>
                  <a:pt x="303589" y="216810"/>
                </a:cubicBezTo>
                <a:cubicBezTo>
                  <a:pt x="303589" y="209647"/>
                  <a:pt x="301676" y="203917"/>
                  <a:pt x="297372" y="200097"/>
                </a:cubicBezTo>
                <a:cubicBezTo>
                  <a:pt x="293546" y="196277"/>
                  <a:pt x="287806" y="194367"/>
                  <a:pt x="280154" y="194367"/>
                </a:cubicBezTo>
                <a:cubicBezTo>
                  <a:pt x="277285" y="194367"/>
                  <a:pt x="273937" y="194844"/>
                  <a:pt x="271067" y="195799"/>
                </a:cubicBezTo>
                <a:cubicBezTo>
                  <a:pt x="268197" y="197232"/>
                  <a:pt x="265806" y="199142"/>
                  <a:pt x="263893" y="201530"/>
                </a:cubicBezTo>
                <a:cubicBezTo>
                  <a:pt x="261502" y="203917"/>
                  <a:pt x="259589" y="207260"/>
                  <a:pt x="258154" y="210603"/>
                </a:cubicBezTo>
                <a:cubicBezTo>
                  <a:pt x="256719" y="214423"/>
                  <a:pt x="255763" y="218720"/>
                  <a:pt x="255763" y="223495"/>
                </a:cubicBezTo>
                <a:lnTo>
                  <a:pt x="224197" y="223495"/>
                </a:lnTo>
                <a:cubicBezTo>
                  <a:pt x="224675" y="215378"/>
                  <a:pt x="226588" y="207737"/>
                  <a:pt x="229458" y="201052"/>
                </a:cubicBezTo>
                <a:cubicBezTo>
                  <a:pt x="232806" y="193889"/>
                  <a:pt x="236632" y="188159"/>
                  <a:pt x="241415" y="183384"/>
                </a:cubicBezTo>
                <a:cubicBezTo>
                  <a:pt x="246197" y="178609"/>
                  <a:pt x="251936" y="174789"/>
                  <a:pt x="258632" y="172401"/>
                </a:cubicBezTo>
                <a:cubicBezTo>
                  <a:pt x="265328" y="169536"/>
                  <a:pt x="272502" y="168581"/>
                  <a:pt x="280632" y="168581"/>
                </a:cubicBezTo>
                <a:close/>
                <a:moveTo>
                  <a:pt x="107583" y="110843"/>
                </a:moveTo>
                <a:cubicBezTo>
                  <a:pt x="128620" y="114185"/>
                  <a:pt x="145833" y="142833"/>
                  <a:pt x="155873" y="159544"/>
                </a:cubicBezTo>
                <a:cubicBezTo>
                  <a:pt x="166870" y="178642"/>
                  <a:pt x="181213" y="206812"/>
                  <a:pt x="178344" y="227820"/>
                </a:cubicBezTo>
                <a:cubicBezTo>
                  <a:pt x="176910" y="241666"/>
                  <a:pt x="165913" y="251693"/>
                  <a:pt x="156351" y="259332"/>
                </a:cubicBezTo>
                <a:cubicBezTo>
                  <a:pt x="150614" y="264107"/>
                  <a:pt x="142486" y="270314"/>
                  <a:pt x="135314" y="274611"/>
                </a:cubicBezTo>
                <a:cubicBezTo>
                  <a:pt x="126230" y="280340"/>
                  <a:pt x="116189" y="286547"/>
                  <a:pt x="112843" y="296574"/>
                </a:cubicBezTo>
                <a:cubicBezTo>
                  <a:pt x="106149" y="317105"/>
                  <a:pt x="117146" y="337635"/>
                  <a:pt x="125752" y="352437"/>
                </a:cubicBezTo>
                <a:cubicBezTo>
                  <a:pt x="143920" y="383949"/>
                  <a:pt x="166870" y="412119"/>
                  <a:pt x="192210" y="435514"/>
                </a:cubicBezTo>
                <a:cubicBezTo>
                  <a:pt x="203207" y="445541"/>
                  <a:pt x="224244" y="463207"/>
                  <a:pt x="246237" y="461297"/>
                </a:cubicBezTo>
                <a:cubicBezTo>
                  <a:pt x="257712" y="460342"/>
                  <a:pt x="267274" y="449838"/>
                  <a:pt x="275880" y="441244"/>
                </a:cubicBezTo>
                <a:cubicBezTo>
                  <a:pt x="275880" y="441244"/>
                  <a:pt x="276358" y="441244"/>
                  <a:pt x="276358" y="441244"/>
                </a:cubicBezTo>
                <a:cubicBezTo>
                  <a:pt x="277793" y="439811"/>
                  <a:pt x="279227" y="437902"/>
                  <a:pt x="281139" y="436947"/>
                </a:cubicBezTo>
                <a:cubicBezTo>
                  <a:pt x="281139" y="436469"/>
                  <a:pt x="281618" y="436469"/>
                  <a:pt x="281618" y="435992"/>
                </a:cubicBezTo>
                <a:lnTo>
                  <a:pt x="281618" y="436469"/>
                </a:lnTo>
                <a:cubicBezTo>
                  <a:pt x="289267" y="429785"/>
                  <a:pt x="295483" y="425010"/>
                  <a:pt x="299786" y="422146"/>
                </a:cubicBezTo>
                <a:cubicBezTo>
                  <a:pt x="301220" y="421191"/>
                  <a:pt x="302655" y="420236"/>
                  <a:pt x="303611" y="419758"/>
                </a:cubicBezTo>
                <a:lnTo>
                  <a:pt x="304567" y="419281"/>
                </a:lnTo>
                <a:cubicBezTo>
                  <a:pt x="310783" y="415461"/>
                  <a:pt x="316998" y="412596"/>
                  <a:pt x="324648" y="412119"/>
                </a:cubicBezTo>
                <a:cubicBezTo>
                  <a:pt x="348076" y="411641"/>
                  <a:pt x="379153" y="436947"/>
                  <a:pt x="393497" y="449838"/>
                </a:cubicBezTo>
                <a:cubicBezTo>
                  <a:pt x="407840" y="463207"/>
                  <a:pt x="431268" y="488512"/>
                  <a:pt x="427921" y="508565"/>
                </a:cubicBezTo>
                <a:cubicBezTo>
                  <a:pt x="426965" y="515250"/>
                  <a:pt x="422662" y="520502"/>
                  <a:pt x="418837" y="524799"/>
                </a:cubicBezTo>
                <a:cubicBezTo>
                  <a:pt x="418837" y="524799"/>
                  <a:pt x="418359" y="524799"/>
                  <a:pt x="418359" y="524799"/>
                </a:cubicBezTo>
                <a:cubicBezTo>
                  <a:pt x="416446" y="527186"/>
                  <a:pt x="414056" y="528619"/>
                  <a:pt x="412143" y="530529"/>
                </a:cubicBezTo>
                <a:cubicBezTo>
                  <a:pt x="404972" y="536735"/>
                  <a:pt x="392541" y="547240"/>
                  <a:pt x="377241" y="557744"/>
                </a:cubicBezTo>
                <a:cubicBezTo>
                  <a:pt x="376763" y="557744"/>
                  <a:pt x="376763" y="557744"/>
                  <a:pt x="376763" y="557744"/>
                </a:cubicBezTo>
                <a:cubicBezTo>
                  <a:pt x="349510" y="576365"/>
                  <a:pt x="318911" y="587346"/>
                  <a:pt x="275402" y="581139"/>
                </a:cubicBezTo>
                <a:cubicBezTo>
                  <a:pt x="235718" y="575887"/>
                  <a:pt x="209422" y="561086"/>
                  <a:pt x="182648" y="542942"/>
                </a:cubicBezTo>
                <a:cubicBezTo>
                  <a:pt x="134836" y="510475"/>
                  <a:pt x="94196" y="465117"/>
                  <a:pt x="62640" y="420713"/>
                </a:cubicBezTo>
                <a:cubicBezTo>
                  <a:pt x="32997" y="378697"/>
                  <a:pt x="485" y="325222"/>
                  <a:pt x="7" y="257900"/>
                </a:cubicBezTo>
                <a:cubicBezTo>
                  <a:pt x="-471" y="208722"/>
                  <a:pt x="20566" y="173390"/>
                  <a:pt x="46384" y="148562"/>
                </a:cubicBezTo>
                <a:cubicBezTo>
                  <a:pt x="48297" y="146652"/>
                  <a:pt x="50209" y="145220"/>
                  <a:pt x="51644" y="143787"/>
                </a:cubicBezTo>
                <a:cubicBezTo>
                  <a:pt x="52122" y="143310"/>
                  <a:pt x="52600" y="142833"/>
                  <a:pt x="53078" y="142833"/>
                </a:cubicBezTo>
                <a:cubicBezTo>
                  <a:pt x="64553" y="132328"/>
                  <a:pt x="77940" y="122302"/>
                  <a:pt x="82721" y="118960"/>
                </a:cubicBezTo>
                <a:cubicBezTo>
                  <a:pt x="89893" y="113230"/>
                  <a:pt x="98021" y="108933"/>
                  <a:pt x="107583" y="110843"/>
                </a:cubicBezTo>
                <a:close/>
                <a:moveTo>
                  <a:pt x="339460" y="0"/>
                </a:moveTo>
                <a:cubicBezTo>
                  <a:pt x="480040" y="0"/>
                  <a:pt x="594321" y="114119"/>
                  <a:pt x="594321" y="254978"/>
                </a:cubicBezTo>
                <a:cubicBezTo>
                  <a:pt x="594321" y="355727"/>
                  <a:pt x="535507" y="443107"/>
                  <a:pt x="449916" y="484171"/>
                </a:cubicBezTo>
                <a:cubicBezTo>
                  <a:pt x="446090" y="472711"/>
                  <a:pt x="438440" y="461252"/>
                  <a:pt x="430311" y="451224"/>
                </a:cubicBezTo>
                <a:cubicBezTo>
                  <a:pt x="504426" y="416845"/>
                  <a:pt x="556068" y="341880"/>
                  <a:pt x="556068" y="254978"/>
                </a:cubicBezTo>
                <a:cubicBezTo>
                  <a:pt x="556068" y="135606"/>
                  <a:pt x="459001" y="38199"/>
                  <a:pt x="339460" y="38199"/>
                </a:cubicBezTo>
                <a:cubicBezTo>
                  <a:pt x="268213" y="38199"/>
                  <a:pt x="204618" y="73055"/>
                  <a:pt x="164930" y="126534"/>
                </a:cubicBezTo>
                <a:cubicBezTo>
                  <a:pt x="157758" y="116029"/>
                  <a:pt x="149151" y="105524"/>
                  <a:pt x="138631" y="97885"/>
                </a:cubicBezTo>
                <a:cubicBezTo>
                  <a:pt x="185491" y="38199"/>
                  <a:pt x="258172" y="0"/>
                  <a:pt x="339460" y="0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TextBox 11" id="11"/>
          <p:cNvSpPr txBox="true"/>
          <p:nvPr/>
        </p:nvSpPr>
        <p:spPr>
          <a:xfrm>
            <a:off x="4580036" y="2897508"/>
            <a:ext cx="290222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Structural Databases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4580038" y="3483748"/>
            <a:ext cx="2902223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Crystallography Open Database and Cambridge Structural Database offer large repositories.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988819" y="2897508"/>
            <a:ext cx="290222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Protein Data Bank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988821" y="3483748"/>
            <a:ext cx="2902223" cy="1023357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protein databank (PDB) offers a repository of experimentally resolved 3D protein structures.</a:t>
            </a:r>
            <a:endParaRPr lang="en-US" sz="1100"/>
          </a:p>
        </p:txBody>
      </p:sp>
      <p:sp>
        <p:nvSpPr>
          <p:cNvPr name="AutoShape 15" id="15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Data Aggregation Efforts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5400000">
            <a:off x="3473174" y="2036600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3" id="3"/>
          <p:cNvSpPr/>
          <p:nvPr/>
        </p:nvSpPr>
        <p:spPr>
          <a:xfrm>
            <a:off x="1884459" y="1685677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Not Machine Learning Focused</a:t>
            </a:r>
          </a:p>
        </p:txBody>
      </p:sp>
      <p:sp>
        <p:nvSpPr>
          <p:cNvPr name="AutoShape 4" id="4"/>
          <p:cNvSpPr/>
          <p:nvPr/>
        </p:nvSpPr>
        <p:spPr>
          <a:xfrm>
            <a:off x="1884459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Existing collections don't define metrics for evaluating algorithmic effectiveness.</a:t>
            </a:r>
          </a:p>
        </p:txBody>
      </p:sp>
      <p:sp>
        <p:nvSpPr>
          <p:cNvPr name="Freeform 5" id="5"/>
          <p:cNvSpPr/>
          <p:nvPr/>
        </p:nvSpPr>
        <p:spPr>
          <a:xfrm rot="5400000">
            <a:off x="8759669" y="2036599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6" id="6"/>
          <p:cNvSpPr/>
          <p:nvPr/>
        </p:nvSpPr>
        <p:spPr>
          <a:xfrm>
            <a:off x="7170953" y="1704696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Inconsistent Data Splits</a:t>
            </a:r>
          </a:p>
        </p:txBody>
      </p:sp>
      <p:sp>
        <p:nvSpPr>
          <p:cNvPr name="AutoShape 7" id="7"/>
          <p:cNvSpPr/>
          <p:nvPr/>
        </p:nvSpPr>
        <p:spPr>
          <a:xfrm>
            <a:off x="7170953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There is no prescribed separation of data into training/validation/test sets critical for machine learning.</a:t>
            </a:r>
          </a:p>
        </p:txBody>
      </p:sp>
      <p:sp>
        <p:nvSpPr>
          <p:cNvPr name="AutoShape 8" id="8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Limitations of Existing Databases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5226088" y="2767486"/>
            <a:ext cx="1906808" cy="1716124"/>
          </a:xfrm>
          <a:custGeom>
            <a:avLst/>
            <a:gdLst/>
            <a:ahLst/>
            <a:cxnLst/>
            <a:rect r="r" b="b" t="t" l="l"/>
            <a:pathLst>
              <a:path w="257" h="232" stroke="true" fill="norm" extrusionOk="true">
                <a:moveTo>
                  <a:pt x="116" y="232"/>
                </a:moveTo>
                <a:cubicBezTo>
                  <a:pt x="121" y="232"/>
                  <a:pt x="124" y="229"/>
                  <a:pt x="124" y="224"/>
                </a:cubicBezTo>
                <a:cubicBezTo>
                  <a:pt x="124" y="220"/>
                  <a:pt x="121" y="216"/>
                  <a:pt x="116" y="216"/>
                </a:cubicBezTo>
                <a:cubicBezTo>
                  <a:pt x="61" y="216"/>
                  <a:pt x="16" y="171"/>
                  <a:pt x="16" y="116"/>
                </a:cubicBezTo>
                <a:cubicBezTo>
                  <a:pt x="16" y="61"/>
                  <a:pt x="61" y="16"/>
                  <a:pt x="116" y="16"/>
                </a:cubicBezTo>
                <a:cubicBezTo>
                  <a:pt x="171" y="16"/>
                  <a:pt x="216" y="61"/>
                  <a:pt x="216" y="116"/>
                </a:cubicBezTo>
                <a:cubicBezTo>
                  <a:pt x="216" y="117"/>
                  <a:pt x="217" y="134"/>
                  <a:pt x="212" y="150"/>
                </a:cubicBezTo>
                <a:cubicBezTo>
                  <a:pt x="204" y="132"/>
                  <a:pt x="204" y="132"/>
                  <a:pt x="204" y="132"/>
                </a:cubicBezTo>
                <a:cubicBezTo>
                  <a:pt x="202" y="128"/>
                  <a:pt x="198" y="126"/>
                  <a:pt x="194" y="127"/>
                </a:cubicBezTo>
                <a:cubicBezTo>
                  <a:pt x="189" y="129"/>
                  <a:pt x="187" y="134"/>
                  <a:pt x="189" y="138"/>
                </a:cubicBezTo>
                <a:cubicBezTo>
                  <a:pt x="204" y="174"/>
                  <a:pt x="204" y="174"/>
                  <a:pt x="204" y="174"/>
                </a:cubicBezTo>
                <a:cubicBezTo>
                  <a:pt x="204" y="174"/>
                  <a:pt x="204" y="174"/>
                  <a:pt x="204" y="175"/>
                </a:cubicBezTo>
                <a:cubicBezTo>
                  <a:pt x="204" y="175"/>
                  <a:pt x="204" y="175"/>
                  <a:pt x="204" y="175"/>
                </a:cubicBezTo>
                <a:cubicBezTo>
                  <a:pt x="204" y="175"/>
                  <a:pt x="204" y="175"/>
                  <a:pt x="205" y="176"/>
                </a:cubicBezTo>
                <a:cubicBezTo>
                  <a:pt x="205" y="176"/>
                  <a:pt x="205" y="176"/>
                  <a:pt x="205" y="176"/>
                </a:cubicBezTo>
                <a:cubicBezTo>
                  <a:pt x="205" y="177"/>
                  <a:pt x="206" y="177"/>
                  <a:pt x="206" y="177"/>
                </a:cubicBezTo>
                <a:cubicBezTo>
                  <a:pt x="206" y="177"/>
                  <a:pt x="207" y="178"/>
                  <a:pt x="207" y="178"/>
                </a:cubicBezTo>
                <a:cubicBezTo>
                  <a:pt x="207" y="178"/>
                  <a:pt x="207" y="178"/>
                  <a:pt x="208" y="178"/>
                </a:cubicBezTo>
                <a:cubicBezTo>
                  <a:pt x="208" y="178"/>
                  <a:pt x="208" y="179"/>
                  <a:pt x="209" y="179"/>
                </a:cubicBezTo>
                <a:cubicBezTo>
                  <a:pt x="209" y="179"/>
                  <a:pt x="209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2" y="179"/>
                  <a:pt x="212" y="179"/>
                </a:cubicBezTo>
                <a:cubicBezTo>
                  <a:pt x="212" y="179"/>
                  <a:pt x="213" y="179"/>
                  <a:pt x="213" y="179"/>
                </a:cubicBezTo>
                <a:cubicBezTo>
                  <a:pt x="213" y="179"/>
                  <a:pt x="214" y="179"/>
                  <a:pt x="214" y="179"/>
                </a:cubicBezTo>
                <a:cubicBezTo>
                  <a:pt x="214" y="178"/>
                  <a:pt x="215" y="178"/>
                  <a:pt x="215" y="178"/>
                </a:cubicBezTo>
                <a:cubicBezTo>
                  <a:pt x="215" y="178"/>
                  <a:pt x="215" y="178"/>
                  <a:pt x="215" y="178"/>
                </a:cubicBezTo>
                <a:cubicBezTo>
                  <a:pt x="252" y="157"/>
                  <a:pt x="252" y="157"/>
                  <a:pt x="252" y="157"/>
                </a:cubicBezTo>
                <a:cubicBezTo>
                  <a:pt x="256" y="154"/>
                  <a:pt x="257" y="149"/>
                  <a:pt x="255" y="146"/>
                </a:cubicBezTo>
                <a:cubicBezTo>
                  <a:pt x="253" y="142"/>
                  <a:pt x="248" y="140"/>
                  <a:pt x="244" y="143"/>
                </a:cubicBezTo>
                <a:cubicBezTo>
                  <a:pt x="228" y="152"/>
                  <a:pt x="228" y="152"/>
                  <a:pt x="228" y="152"/>
                </a:cubicBezTo>
                <a:cubicBezTo>
                  <a:pt x="233" y="134"/>
                  <a:pt x="232" y="117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rot="10800000">
            <a:off x="4300326" y="1842343"/>
            <a:ext cx="2112784" cy="1775074"/>
          </a:xfrm>
          <a:custGeom>
            <a:avLst/>
            <a:gdLst/>
            <a:ahLst/>
            <a:cxnLst/>
            <a:rect r="r" b="b" t="t" l="l"/>
            <a:pathLst>
              <a:path w="2466521" h="2072270" stroke="true" fill="norm" extrusionOk="true">
                <a:moveTo>
                  <a:pt x="370825" y="2072270"/>
                </a:moveTo>
                <a:lnTo>
                  <a:pt x="303147" y="2068853"/>
                </a:lnTo>
                <a:lnTo>
                  <a:pt x="284239" y="2066281"/>
                </a:lnTo>
                <a:cubicBezTo>
                  <a:pt x="184305" y="2038557"/>
                  <a:pt x="98017" y="1971400"/>
                  <a:pt x="47099" y="1877727"/>
                </a:cubicBezTo>
                <a:cubicBezTo>
                  <a:pt x="-20793" y="1752830"/>
                  <a:pt x="-14929" y="1600802"/>
                  <a:pt x="62381" y="1481505"/>
                </a:cubicBezTo>
                <a:cubicBezTo>
                  <a:pt x="101036" y="1421857"/>
                  <a:pt x="154456" y="1375169"/>
                  <a:pt x="215929" y="1344762"/>
                </a:cubicBezTo>
                <a:lnTo>
                  <a:pt x="307716" y="1313682"/>
                </a:lnTo>
                <a:lnTo>
                  <a:pt x="370825" y="1316868"/>
                </a:lnTo>
                <a:cubicBezTo>
                  <a:pt x="1065430" y="1316868"/>
                  <a:pt x="1636739" y="788972"/>
                  <a:pt x="1705439" y="112493"/>
                </a:cubicBezTo>
                <a:lnTo>
                  <a:pt x="1709142" y="39163"/>
                </a:lnTo>
                <a:lnTo>
                  <a:pt x="1718451" y="53001"/>
                </a:lnTo>
                <a:cubicBezTo>
                  <a:pt x="1746512" y="84662"/>
                  <a:pt x="1779046" y="112833"/>
                  <a:pt x="1815545" y="136486"/>
                </a:cubicBezTo>
                <a:cubicBezTo>
                  <a:pt x="1961542" y="231099"/>
                  <a:pt x="2147595" y="238275"/>
                  <a:pt x="2300446" y="155189"/>
                </a:cubicBezTo>
                <a:cubicBezTo>
                  <a:pt x="2338659" y="134418"/>
                  <a:pt x="2373266" y="108837"/>
                  <a:pt x="2403682" y="79431"/>
                </a:cubicBezTo>
                <a:lnTo>
                  <a:pt x="2466521" y="0"/>
                </a:lnTo>
                <a:lnTo>
                  <a:pt x="2456941" y="189728"/>
                </a:lnTo>
                <a:cubicBezTo>
                  <a:pt x="2349556" y="1247124"/>
                  <a:pt x="1456552" y="2072270"/>
                  <a:pt x="370825" y="207227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rot="10800000">
            <a:off x="6296841" y="1861421"/>
            <a:ext cx="1594833" cy="2055986"/>
          </a:xfrm>
          <a:custGeom>
            <a:avLst/>
            <a:gdLst/>
            <a:ahLst/>
            <a:cxnLst/>
            <a:rect r="r" b="b" t="t" l="l"/>
            <a:pathLst>
              <a:path w="1861852" h="2400216" stroke="true" fill="norm" extrusionOk="true">
                <a:moveTo>
                  <a:pt x="1807547" y="2400216"/>
                </a:moveTo>
                <a:lnTo>
                  <a:pt x="1674335" y="2379885"/>
                </a:lnTo>
                <a:cubicBezTo>
                  <a:pt x="718794" y="2184353"/>
                  <a:pt x="0" y="1338891"/>
                  <a:pt x="0" y="325545"/>
                </a:cubicBezTo>
                <a:lnTo>
                  <a:pt x="1464" y="296556"/>
                </a:lnTo>
                <a:lnTo>
                  <a:pt x="3139" y="284239"/>
                </a:lnTo>
                <a:cubicBezTo>
                  <a:pt x="30863" y="184305"/>
                  <a:pt x="98020" y="98017"/>
                  <a:pt x="191693" y="47099"/>
                </a:cubicBezTo>
                <a:cubicBezTo>
                  <a:pt x="316590" y="-20793"/>
                  <a:pt x="468618" y="-14929"/>
                  <a:pt x="587915" y="62381"/>
                </a:cubicBezTo>
                <a:cubicBezTo>
                  <a:pt x="647564" y="101036"/>
                  <a:pt x="694251" y="154456"/>
                  <a:pt x="724658" y="215929"/>
                </a:cubicBezTo>
                <a:lnTo>
                  <a:pt x="756229" y="309165"/>
                </a:lnTo>
                <a:lnTo>
                  <a:pt x="755402" y="325545"/>
                </a:lnTo>
                <a:cubicBezTo>
                  <a:pt x="755402" y="973843"/>
                  <a:pt x="1215258" y="1514736"/>
                  <a:pt x="1826575" y="1639830"/>
                </a:cubicBezTo>
                <a:lnTo>
                  <a:pt x="1861852" y="1645214"/>
                </a:lnTo>
                <a:lnTo>
                  <a:pt x="1799125" y="1687413"/>
                </a:lnTo>
                <a:cubicBezTo>
                  <a:pt x="1767464" y="1715474"/>
                  <a:pt x="1739293" y="1748008"/>
                  <a:pt x="1715640" y="1784507"/>
                </a:cubicBezTo>
                <a:cubicBezTo>
                  <a:pt x="1621027" y="1930504"/>
                  <a:pt x="1613851" y="2116557"/>
                  <a:pt x="1696937" y="2269408"/>
                </a:cubicBezTo>
                <a:cubicBezTo>
                  <a:pt x="1717709" y="2307621"/>
                  <a:pt x="1743290" y="2342228"/>
                  <a:pt x="1772695" y="2372644"/>
                </a:cubicBezTo>
                <a:lnTo>
                  <a:pt x="1807547" y="2400216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 rot="10800000">
            <a:off x="4308164" y="3509481"/>
            <a:ext cx="1578547" cy="1902533"/>
          </a:xfrm>
          <a:custGeom>
            <a:avLst/>
            <a:gdLst/>
            <a:ahLst/>
            <a:cxnLst/>
            <a:rect r="r" b="b" t="t" l="l"/>
            <a:pathLst>
              <a:path w="1842839" h="2221070" stroke="true" fill="norm" extrusionOk="true">
                <a:moveTo>
                  <a:pt x="1444238" y="2220782"/>
                </a:moveTo>
                <a:cubicBezTo>
                  <a:pt x="1375707" y="2218139"/>
                  <a:pt x="1307876" y="2197345"/>
                  <a:pt x="1248227" y="2158690"/>
                </a:cubicBezTo>
                <a:cubicBezTo>
                  <a:pt x="1188579" y="2120035"/>
                  <a:pt x="1141891" y="2066615"/>
                  <a:pt x="1111484" y="2005141"/>
                </a:cubicBezTo>
                <a:lnTo>
                  <a:pt x="1091568" y="1946324"/>
                </a:lnTo>
                <a:lnTo>
                  <a:pt x="1090906" y="1933225"/>
                </a:lnTo>
                <a:lnTo>
                  <a:pt x="1073259" y="1817593"/>
                </a:lnTo>
                <a:lnTo>
                  <a:pt x="1072426" y="1803275"/>
                </a:lnTo>
                <a:lnTo>
                  <a:pt x="1071057" y="1803169"/>
                </a:lnTo>
                <a:lnTo>
                  <a:pt x="1070577" y="1800023"/>
                </a:lnTo>
                <a:cubicBezTo>
                  <a:pt x="963354" y="1276037"/>
                  <a:pt x="550645" y="863328"/>
                  <a:pt x="26659" y="756105"/>
                </a:cubicBezTo>
                <a:lnTo>
                  <a:pt x="0" y="752036"/>
                </a:lnTo>
                <a:lnTo>
                  <a:pt x="71201" y="704136"/>
                </a:lnTo>
                <a:cubicBezTo>
                  <a:pt x="102862" y="676075"/>
                  <a:pt x="131033" y="643541"/>
                  <a:pt x="154686" y="607042"/>
                </a:cubicBezTo>
                <a:cubicBezTo>
                  <a:pt x="249299" y="461045"/>
                  <a:pt x="256475" y="274992"/>
                  <a:pt x="173389" y="122141"/>
                </a:cubicBezTo>
                <a:cubicBezTo>
                  <a:pt x="152618" y="83928"/>
                  <a:pt x="127037" y="49321"/>
                  <a:pt x="97631" y="18905"/>
                </a:cubicBezTo>
                <a:lnTo>
                  <a:pt x="73735" y="0"/>
                </a:lnTo>
                <a:lnTo>
                  <a:pt x="178899" y="16050"/>
                </a:lnTo>
                <a:cubicBezTo>
                  <a:pt x="1066187" y="197616"/>
                  <a:pt x="1749341" y="939580"/>
                  <a:pt x="1842408" y="1855990"/>
                </a:cubicBezTo>
                <a:lnTo>
                  <a:pt x="1842839" y="1864516"/>
                </a:lnTo>
                <a:lnTo>
                  <a:pt x="1833003" y="1936832"/>
                </a:lnTo>
                <a:cubicBezTo>
                  <a:pt x="1805279" y="2036766"/>
                  <a:pt x="1738122" y="2123054"/>
                  <a:pt x="1644449" y="2173972"/>
                </a:cubicBezTo>
                <a:cubicBezTo>
                  <a:pt x="1582001" y="2207918"/>
                  <a:pt x="1512769" y="2223425"/>
                  <a:pt x="1444238" y="2220782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 rot="10800000">
            <a:off x="5763184" y="3805353"/>
            <a:ext cx="2116163" cy="1629404"/>
          </a:xfrm>
          <a:custGeom>
            <a:avLst/>
            <a:gdLst/>
            <a:ahLst/>
            <a:cxnLst/>
            <a:rect r="r" b="b" t="t" l="l"/>
            <a:pathLst>
              <a:path w="2470467" h="1902212" stroke="true" fill="norm" extrusionOk="true">
                <a:moveTo>
                  <a:pt x="756723" y="1902212"/>
                </a:moveTo>
                <a:lnTo>
                  <a:pt x="717833" y="1844405"/>
                </a:lnTo>
                <a:cubicBezTo>
                  <a:pt x="689772" y="1812744"/>
                  <a:pt x="657238" y="1784573"/>
                  <a:pt x="620739" y="1760920"/>
                </a:cubicBezTo>
                <a:cubicBezTo>
                  <a:pt x="474742" y="1666307"/>
                  <a:pt x="288689" y="1659131"/>
                  <a:pt x="135838" y="1742217"/>
                </a:cubicBezTo>
                <a:cubicBezTo>
                  <a:pt x="97625" y="1762989"/>
                  <a:pt x="63018" y="1788570"/>
                  <a:pt x="32602" y="1817975"/>
                </a:cubicBezTo>
                <a:lnTo>
                  <a:pt x="0" y="1859186"/>
                </a:lnTo>
                <a:lnTo>
                  <a:pt x="28211" y="1674335"/>
                </a:lnTo>
                <a:cubicBezTo>
                  <a:pt x="223744" y="718794"/>
                  <a:pt x="1069206" y="0"/>
                  <a:pt x="2082551" y="0"/>
                </a:cubicBezTo>
                <a:lnTo>
                  <a:pt x="2195875" y="5722"/>
                </a:lnTo>
                <a:lnTo>
                  <a:pt x="2280810" y="41993"/>
                </a:lnTo>
                <a:cubicBezTo>
                  <a:pt x="2339758" y="77045"/>
                  <a:pt x="2389424" y="127708"/>
                  <a:pt x="2423369" y="190157"/>
                </a:cubicBezTo>
                <a:cubicBezTo>
                  <a:pt x="2491261" y="315054"/>
                  <a:pt x="2485397" y="467082"/>
                  <a:pt x="2408087" y="586379"/>
                </a:cubicBezTo>
                <a:cubicBezTo>
                  <a:pt x="2350105" y="675852"/>
                  <a:pt x="2258900" y="736163"/>
                  <a:pt x="2157128" y="756107"/>
                </a:cubicBezTo>
                <a:lnTo>
                  <a:pt x="2128954" y="757745"/>
                </a:lnTo>
                <a:lnTo>
                  <a:pt x="2082551" y="755402"/>
                </a:lnTo>
                <a:cubicBezTo>
                  <a:pt x="1434253" y="755402"/>
                  <a:pt x="893360" y="1215258"/>
                  <a:pt x="768266" y="1826575"/>
                </a:cubicBezTo>
                <a:lnTo>
                  <a:pt x="756723" y="1902212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5800302" y="3319093"/>
            <a:ext cx="591396" cy="609685"/>
          </a:xfrm>
          <a:custGeom>
            <a:avLst/>
            <a:gdLst/>
            <a:ahLst/>
            <a:cxnLst/>
            <a:rect r="r" b="b" t="t" l="l"/>
            <a:pathLst>
              <a:path w="5499" h="5677" stroke="true" fill="norm" extrusionOk="true">
                <a:moveTo>
                  <a:pt x="5363" y="3960"/>
                </a:moveTo>
                <a:cubicBezTo>
                  <a:pt x="5342" y="3930"/>
                  <a:pt x="5320" y="3902"/>
                  <a:pt x="5296" y="3876"/>
                </a:cubicBezTo>
                <a:cubicBezTo>
                  <a:pt x="5326" y="3832"/>
                  <a:pt x="5349" y="3782"/>
                  <a:pt x="5363" y="3729"/>
                </a:cubicBezTo>
                <a:cubicBezTo>
                  <a:pt x="5405" y="3570"/>
                  <a:pt x="5363" y="3403"/>
                  <a:pt x="5251" y="3283"/>
                </a:cubicBezTo>
                <a:cubicBezTo>
                  <a:pt x="5178" y="3205"/>
                  <a:pt x="5093" y="3143"/>
                  <a:pt x="4995" y="3096"/>
                </a:cubicBezTo>
                <a:cubicBezTo>
                  <a:pt x="4980" y="2847"/>
                  <a:pt x="4773" y="2649"/>
                  <a:pt x="4520" y="2649"/>
                </a:cubicBezTo>
                <a:cubicBezTo>
                  <a:pt x="4272" y="2649"/>
                  <a:pt x="4067" y="2841"/>
                  <a:pt x="4047" y="3085"/>
                </a:cubicBezTo>
                <a:cubicBezTo>
                  <a:pt x="4017" y="3098"/>
                  <a:pt x="3989" y="3112"/>
                  <a:pt x="3962" y="3128"/>
                </a:cubicBezTo>
                <a:lnTo>
                  <a:pt x="3673" y="3040"/>
                </a:lnTo>
                <a:cubicBezTo>
                  <a:pt x="3673" y="3040"/>
                  <a:pt x="3673" y="3041"/>
                  <a:pt x="3673" y="3041"/>
                </a:cubicBezTo>
                <a:lnTo>
                  <a:pt x="3133" y="2877"/>
                </a:lnTo>
                <a:cubicBezTo>
                  <a:pt x="3116" y="2825"/>
                  <a:pt x="3077" y="2779"/>
                  <a:pt x="3023" y="2741"/>
                </a:cubicBezTo>
                <a:cubicBezTo>
                  <a:pt x="3083" y="2675"/>
                  <a:pt x="3133" y="2608"/>
                  <a:pt x="3171" y="2553"/>
                </a:cubicBezTo>
                <a:cubicBezTo>
                  <a:pt x="3261" y="2421"/>
                  <a:pt x="3337" y="2280"/>
                  <a:pt x="3389" y="2144"/>
                </a:cubicBezTo>
                <a:cubicBezTo>
                  <a:pt x="3414" y="2087"/>
                  <a:pt x="3436" y="2029"/>
                  <a:pt x="3454" y="1972"/>
                </a:cubicBezTo>
                <a:cubicBezTo>
                  <a:pt x="3524" y="1914"/>
                  <a:pt x="3565" y="1826"/>
                  <a:pt x="3565" y="1734"/>
                </a:cubicBezTo>
                <a:lnTo>
                  <a:pt x="3565" y="1508"/>
                </a:lnTo>
                <a:cubicBezTo>
                  <a:pt x="3565" y="1443"/>
                  <a:pt x="3545" y="1380"/>
                  <a:pt x="3507" y="1328"/>
                </a:cubicBezTo>
                <a:lnTo>
                  <a:pt x="3507" y="1010"/>
                </a:lnTo>
                <a:cubicBezTo>
                  <a:pt x="3507" y="453"/>
                  <a:pt x="3054" y="0"/>
                  <a:pt x="2497" y="0"/>
                </a:cubicBezTo>
                <a:lnTo>
                  <a:pt x="2170" y="0"/>
                </a:lnTo>
                <a:cubicBezTo>
                  <a:pt x="1613" y="0"/>
                  <a:pt x="1160" y="453"/>
                  <a:pt x="1160" y="1010"/>
                </a:cubicBezTo>
                <a:lnTo>
                  <a:pt x="1160" y="1328"/>
                </a:lnTo>
                <a:cubicBezTo>
                  <a:pt x="1122" y="1380"/>
                  <a:pt x="1102" y="1444"/>
                  <a:pt x="1102" y="1508"/>
                </a:cubicBezTo>
                <a:lnTo>
                  <a:pt x="1102" y="1734"/>
                </a:lnTo>
                <a:cubicBezTo>
                  <a:pt x="1102" y="1826"/>
                  <a:pt x="1143" y="1914"/>
                  <a:pt x="1213" y="1972"/>
                </a:cubicBezTo>
                <a:cubicBezTo>
                  <a:pt x="1231" y="2029"/>
                  <a:pt x="1253" y="2087"/>
                  <a:pt x="1279" y="2144"/>
                </a:cubicBezTo>
                <a:cubicBezTo>
                  <a:pt x="1331" y="2280"/>
                  <a:pt x="1406" y="2421"/>
                  <a:pt x="1496" y="2552"/>
                </a:cubicBezTo>
                <a:cubicBezTo>
                  <a:pt x="1534" y="2608"/>
                  <a:pt x="1584" y="2674"/>
                  <a:pt x="1644" y="2740"/>
                </a:cubicBezTo>
                <a:cubicBezTo>
                  <a:pt x="1590" y="2779"/>
                  <a:pt x="1551" y="2825"/>
                  <a:pt x="1534" y="2877"/>
                </a:cubicBezTo>
                <a:lnTo>
                  <a:pt x="814" y="3095"/>
                </a:lnTo>
                <a:cubicBezTo>
                  <a:pt x="307" y="3241"/>
                  <a:pt x="3" y="5432"/>
                  <a:pt x="3" y="5432"/>
                </a:cubicBezTo>
                <a:lnTo>
                  <a:pt x="3" y="5432"/>
                </a:lnTo>
                <a:cubicBezTo>
                  <a:pt x="1" y="5442"/>
                  <a:pt x="0" y="5452"/>
                  <a:pt x="0" y="5462"/>
                </a:cubicBezTo>
                <a:cubicBezTo>
                  <a:pt x="0" y="5567"/>
                  <a:pt x="86" y="5653"/>
                  <a:pt x="191" y="5653"/>
                </a:cubicBezTo>
                <a:lnTo>
                  <a:pt x="4372" y="5653"/>
                </a:lnTo>
                <a:cubicBezTo>
                  <a:pt x="4418" y="5668"/>
                  <a:pt x="4468" y="5677"/>
                  <a:pt x="4520" y="5677"/>
                </a:cubicBezTo>
                <a:cubicBezTo>
                  <a:pt x="4783" y="5677"/>
                  <a:pt x="4996" y="5464"/>
                  <a:pt x="4996" y="5202"/>
                </a:cubicBezTo>
                <a:lnTo>
                  <a:pt x="4996" y="5161"/>
                </a:lnTo>
                <a:cubicBezTo>
                  <a:pt x="5091" y="5119"/>
                  <a:pt x="5175" y="5063"/>
                  <a:pt x="5248" y="4994"/>
                </a:cubicBezTo>
                <a:cubicBezTo>
                  <a:pt x="5412" y="4838"/>
                  <a:pt x="5499" y="4635"/>
                  <a:pt x="5499" y="4406"/>
                </a:cubicBezTo>
                <a:cubicBezTo>
                  <a:pt x="5499" y="4239"/>
                  <a:pt x="5453" y="4089"/>
                  <a:pt x="5363" y="3960"/>
                </a:cubicBezTo>
                <a:close/>
                <a:moveTo>
                  <a:pt x="2140" y="3663"/>
                </a:moveTo>
                <a:cubicBezTo>
                  <a:pt x="2137" y="3689"/>
                  <a:pt x="2118" y="3711"/>
                  <a:pt x="2093" y="3718"/>
                </a:cubicBezTo>
                <a:cubicBezTo>
                  <a:pt x="2087" y="3720"/>
                  <a:pt x="2081" y="3721"/>
                  <a:pt x="2075" y="3721"/>
                </a:cubicBezTo>
                <a:cubicBezTo>
                  <a:pt x="2055" y="3721"/>
                  <a:pt x="2036" y="3711"/>
                  <a:pt x="2024" y="3695"/>
                </a:cubicBezTo>
                <a:lnTo>
                  <a:pt x="1842" y="3454"/>
                </a:lnTo>
                <a:cubicBezTo>
                  <a:pt x="1833" y="3442"/>
                  <a:pt x="1829" y="3429"/>
                  <a:pt x="1829" y="3415"/>
                </a:cubicBezTo>
                <a:lnTo>
                  <a:pt x="1829" y="3028"/>
                </a:lnTo>
                <a:cubicBezTo>
                  <a:pt x="1829" y="3005"/>
                  <a:pt x="1841" y="2984"/>
                  <a:pt x="1860" y="2972"/>
                </a:cubicBezTo>
                <a:cubicBezTo>
                  <a:pt x="1880" y="2961"/>
                  <a:pt x="1904" y="2960"/>
                  <a:pt x="1924" y="2970"/>
                </a:cubicBezTo>
                <a:cubicBezTo>
                  <a:pt x="1977" y="2998"/>
                  <a:pt x="2030" y="3017"/>
                  <a:pt x="2081" y="3026"/>
                </a:cubicBezTo>
                <a:cubicBezTo>
                  <a:pt x="2112" y="3032"/>
                  <a:pt x="2135" y="3059"/>
                  <a:pt x="2135" y="3090"/>
                </a:cubicBezTo>
                <a:lnTo>
                  <a:pt x="2135" y="3252"/>
                </a:lnTo>
                <a:cubicBezTo>
                  <a:pt x="2144" y="3255"/>
                  <a:pt x="2152" y="3261"/>
                  <a:pt x="2159" y="3268"/>
                </a:cubicBezTo>
                <a:cubicBezTo>
                  <a:pt x="2171" y="3282"/>
                  <a:pt x="2177" y="3300"/>
                  <a:pt x="2175" y="3318"/>
                </a:cubicBezTo>
                <a:lnTo>
                  <a:pt x="2140" y="3663"/>
                </a:lnTo>
                <a:close/>
                <a:moveTo>
                  <a:pt x="2825" y="3454"/>
                </a:moveTo>
                <a:lnTo>
                  <a:pt x="2644" y="3695"/>
                </a:lnTo>
                <a:cubicBezTo>
                  <a:pt x="2631" y="3711"/>
                  <a:pt x="2612" y="3721"/>
                  <a:pt x="2592" y="3721"/>
                </a:cubicBezTo>
                <a:cubicBezTo>
                  <a:pt x="2586" y="3721"/>
                  <a:pt x="2580" y="3720"/>
                  <a:pt x="2574" y="3718"/>
                </a:cubicBezTo>
                <a:cubicBezTo>
                  <a:pt x="2549" y="3711"/>
                  <a:pt x="2530" y="3689"/>
                  <a:pt x="2527" y="3662"/>
                </a:cubicBezTo>
                <a:lnTo>
                  <a:pt x="2492" y="3318"/>
                </a:lnTo>
                <a:cubicBezTo>
                  <a:pt x="2490" y="3300"/>
                  <a:pt x="2496" y="3282"/>
                  <a:pt x="2508" y="3268"/>
                </a:cubicBezTo>
                <a:cubicBezTo>
                  <a:pt x="2515" y="3261"/>
                  <a:pt x="2523" y="3255"/>
                  <a:pt x="2533" y="3252"/>
                </a:cubicBezTo>
                <a:lnTo>
                  <a:pt x="2533" y="3090"/>
                </a:lnTo>
                <a:cubicBezTo>
                  <a:pt x="2533" y="3059"/>
                  <a:pt x="2555" y="3032"/>
                  <a:pt x="2586" y="3026"/>
                </a:cubicBezTo>
                <a:cubicBezTo>
                  <a:pt x="2637" y="3017"/>
                  <a:pt x="2690" y="2998"/>
                  <a:pt x="2743" y="2971"/>
                </a:cubicBezTo>
                <a:cubicBezTo>
                  <a:pt x="2763" y="2960"/>
                  <a:pt x="2787" y="2961"/>
                  <a:pt x="2807" y="2972"/>
                </a:cubicBezTo>
                <a:cubicBezTo>
                  <a:pt x="2826" y="2984"/>
                  <a:pt x="2838" y="3005"/>
                  <a:pt x="2838" y="3028"/>
                </a:cubicBezTo>
                <a:lnTo>
                  <a:pt x="2838" y="3415"/>
                </a:lnTo>
                <a:cubicBezTo>
                  <a:pt x="2838" y="3429"/>
                  <a:pt x="2834" y="3442"/>
                  <a:pt x="2825" y="3454"/>
                </a:cubicBezTo>
                <a:close/>
                <a:moveTo>
                  <a:pt x="2508" y="2684"/>
                </a:moveTo>
                <a:lnTo>
                  <a:pt x="2160" y="2684"/>
                </a:lnTo>
                <a:cubicBezTo>
                  <a:pt x="2083" y="2684"/>
                  <a:pt x="1934" y="2581"/>
                  <a:pt x="1776" y="2351"/>
                </a:cubicBezTo>
                <a:cubicBezTo>
                  <a:pt x="1651" y="2170"/>
                  <a:pt x="1564" y="1970"/>
                  <a:pt x="1544" y="1815"/>
                </a:cubicBezTo>
                <a:lnTo>
                  <a:pt x="1540" y="1788"/>
                </a:lnTo>
                <a:lnTo>
                  <a:pt x="1477" y="1747"/>
                </a:lnTo>
                <a:cubicBezTo>
                  <a:pt x="1459" y="1735"/>
                  <a:pt x="1448" y="1715"/>
                  <a:pt x="1448" y="1693"/>
                </a:cubicBezTo>
                <a:lnTo>
                  <a:pt x="1448" y="1586"/>
                </a:lnTo>
                <a:cubicBezTo>
                  <a:pt x="1448" y="1551"/>
                  <a:pt x="1477" y="1522"/>
                  <a:pt x="1513" y="1522"/>
                </a:cubicBezTo>
                <a:lnTo>
                  <a:pt x="1539" y="1522"/>
                </a:lnTo>
                <a:lnTo>
                  <a:pt x="1539" y="1406"/>
                </a:lnTo>
                <a:cubicBezTo>
                  <a:pt x="1539" y="1382"/>
                  <a:pt x="1553" y="1359"/>
                  <a:pt x="1575" y="1348"/>
                </a:cubicBezTo>
                <a:cubicBezTo>
                  <a:pt x="1664" y="1304"/>
                  <a:pt x="1841" y="1229"/>
                  <a:pt x="2024" y="1229"/>
                </a:cubicBezTo>
                <a:cubicBezTo>
                  <a:pt x="2170" y="1229"/>
                  <a:pt x="2292" y="1278"/>
                  <a:pt x="2384" y="1374"/>
                </a:cubicBezTo>
                <a:cubicBezTo>
                  <a:pt x="2500" y="1493"/>
                  <a:pt x="2633" y="1554"/>
                  <a:pt x="2781" y="1554"/>
                </a:cubicBezTo>
                <a:cubicBezTo>
                  <a:pt x="2864" y="1554"/>
                  <a:pt x="2950" y="1534"/>
                  <a:pt x="3037" y="1495"/>
                </a:cubicBezTo>
                <a:cubicBezTo>
                  <a:pt x="3057" y="1486"/>
                  <a:pt x="3080" y="1488"/>
                  <a:pt x="3098" y="1500"/>
                </a:cubicBezTo>
                <a:cubicBezTo>
                  <a:pt x="3107" y="1506"/>
                  <a:pt x="3114" y="1513"/>
                  <a:pt x="3119" y="1522"/>
                </a:cubicBezTo>
                <a:lnTo>
                  <a:pt x="3154" y="1522"/>
                </a:lnTo>
                <a:cubicBezTo>
                  <a:pt x="3190" y="1522"/>
                  <a:pt x="3219" y="1551"/>
                  <a:pt x="3219" y="1586"/>
                </a:cubicBezTo>
                <a:lnTo>
                  <a:pt x="3219" y="1693"/>
                </a:lnTo>
                <a:cubicBezTo>
                  <a:pt x="3219" y="1715"/>
                  <a:pt x="3208" y="1735"/>
                  <a:pt x="3190" y="1747"/>
                </a:cubicBezTo>
                <a:lnTo>
                  <a:pt x="3127" y="1788"/>
                </a:lnTo>
                <a:lnTo>
                  <a:pt x="3123" y="1815"/>
                </a:lnTo>
                <a:cubicBezTo>
                  <a:pt x="3103" y="1970"/>
                  <a:pt x="3016" y="2170"/>
                  <a:pt x="2891" y="2351"/>
                </a:cubicBezTo>
                <a:cubicBezTo>
                  <a:pt x="2733" y="2581"/>
                  <a:pt x="2584" y="2684"/>
                  <a:pt x="2508" y="2684"/>
                </a:cubicBezTo>
                <a:close/>
                <a:moveTo>
                  <a:pt x="5035" y="4769"/>
                </a:moveTo>
                <a:cubicBezTo>
                  <a:pt x="4947" y="4852"/>
                  <a:pt x="4830" y="4908"/>
                  <a:pt x="4686" y="4935"/>
                </a:cubicBezTo>
                <a:lnTo>
                  <a:pt x="4686" y="5202"/>
                </a:lnTo>
                <a:cubicBezTo>
                  <a:pt x="4686" y="5293"/>
                  <a:pt x="4612" y="5367"/>
                  <a:pt x="4520" y="5367"/>
                </a:cubicBezTo>
                <a:cubicBezTo>
                  <a:pt x="4429" y="5367"/>
                  <a:pt x="4355" y="5293"/>
                  <a:pt x="4355" y="5202"/>
                </a:cubicBezTo>
                <a:lnTo>
                  <a:pt x="4355" y="4944"/>
                </a:lnTo>
                <a:cubicBezTo>
                  <a:pt x="4144" y="4915"/>
                  <a:pt x="3987" y="4824"/>
                  <a:pt x="3887" y="4672"/>
                </a:cubicBezTo>
                <a:cubicBezTo>
                  <a:pt x="3857" y="4626"/>
                  <a:pt x="3851" y="4567"/>
                  <a:pt x="3873" y="4516"/>
                </a:cubicBezTo>
                <a:cubicBezTo>
                  <a:pt x="3895" y="4465"/>
                  <a:pt x="3941" y="4428"/>
                  <a:pt x="3995" y="4418"/>
                </a:cubicBezTo>
                <a:lnTo>
                  <a:pt x="4121" y="4395"/>
                </a:lnTo>
                <a:cubicBezTo>
                  <a:pt x="4185" y="4383"/>
                  <a:pt x="4250" y="4410"/>
                  <a:pt x="4287" y="4463"/>
                </a:cubicBezTo>
                <a:cubicBezTo>
                  <a:pt x="4334" y="4531"/>
                  <a:pt x="4414" y="4565"/>
                  <a:pt x="4524" y="4565"/>
                </a:cubicBezTo>
                <a:cubicBezTo>
                  <a:pt x="4693" y="4565"/>
                  <a:pt x="4693" y="4498"/>
                  <a:pt x="4693" y="4475"/>
                </a:cubicBezTo>
                <a:cubicBezTo>
                  <a:pt x="4693" y="4443"/>
                  <a:pt x="4681" y="4420"/>
                  <a:pt x="4656" y="4402"/>
                </a:cubicBezTo>
                <a:cubicBezTo>
                  <a:pt x="4629" y="4384"/>
                  <a:pt x="4581" y="4367"/>
                  <a:pt x="4512" y="4353"/>
                </a:cubicBezTo>
                <a:cubicBezTo>
                  <a:pt x="4237" y="4297"/>
                  <a:pt x="4059" y="4224"/>
                  <a:pt x="3985" y="4136"/>
                </a:cubicBezTo>
                <a:cubicBezTo>
                  <a:pt x="3909" y="4048"/>
                  <a:pt x="3872" y="3948"/>
                  <a:pt x="3872" y="3833"/>
                </a:cubicBezTo>
                <a:cubicBezTo>
                  <a:pt x="3872" y="3707"/>
                  <a:pt x="3914" y="3595"/>
                  <a:pt x="3995" y="3497"/>
                </a:cubicBezTo>
                <a:cubicBezTo>
                  <a:pt x="4074" y="3403"/>
                  <a:pt x="4195" y="3342"/>
                  <a:pt x="4355" y="3316"/>
                </a:cubicBezTo>
                <a:lnTo>
                  <a:pt x="4355" y="3124"/>
                </a:lnTo>
                <a:cubicBezTo>
                  <a:pt x="4355" y="3033"/>
                  <a:pt x="4429" y="2959"/>
                  <a:pt x="4520" y="2959"/>
                </a:cubicBezTo>
                <a:cubicBezTo>
                  <a:pt x="4612" y="2959"/>
                  <a:pt x="4686" y="3033"/>
                  <a:pt x="4686" y="3124"/>
                </a:cubicBezTo>
                <a:lnTo>
                  <a:pt x="4686" y="3319"/>
                </a:lnTo>
                <a:cubicBezTo>
                  <a:pt x="4829" y="3346"/>
                  <a:pt x="4940" y="3404"/>
                  <a:pt x="5024" y="3494"/>
                </a:cubicBezTo>
                <a:cubicBezTo>
                  <a:pt x="5063" y="3536"/>
                  <a:pt x="5078" y="3595"/>
                  <a:pt x="5064" y="3650"/>
                </a:cubicBezTo>
                <a:cubicBezTo>
                  <a:pt x="5049" y="3705"/>
                  <a:pt x="5007" y="3749"/>
                  <a:pt x="4953" y="3766"/>
                </a:cubicBezTo>
                <a:lnTo>
                  <a:pt x="4867" y="3793"/>
                </a:lnTo>
                <a:cubicBezTo>
                  <a:pt x="4805" y="3812"/>
                  <a:pt x="4737" y="3793"/>
                  <a:pt x="4693" y="3744"/>
                </a:cubicBezTo>
                <a:cubicBezTo>
                  <a:pt x="4650" y="3696"/>
                  <a:pt x="4586" y="3671"/>
                  <a:pt x="4503" y="3671"/>
                </a:cubicBezTo>
                <a:cubicBezTo>
                  <a:pt x="4436" y="3671"/>
                  <a:pt x="4356" y="3687"/>
                  <a:pt x="4356" y="3763"/>
                </a:cubicBezTo>
                <a:cubicBezTo>
                  <a:pt x="4356" y="3785"/>
                  <a:pt x="4364" y="3804"/>
                  <a:pt x="4379" y="3819"/>
                </a:cubicBezTo>
                <a:cubicBezTo>
                  <a:pt x="4396" y="3835"/>
                  <a:pt x="4444" y="3852"/>
                  <a:pt x="4521" y="3870"/>
                </a:cubicBezTo>
                <a:cubicBezTo>
                  <a:pt x="4701" y="3909"/>
                  <a:pt x="4832" y="3945"/>
                  <a:pt x="4910" y="3976"/>
                </a:cubicBezTo>
                <a:cubicBezTo>
                  <a:pt x="4990" y="4008"/>
                  <a:pt x="5057" y="4062"/>
                  <a:pt x="5110" y="4137"/>
                </a:cubicBezTo>
                <a:cubicBezTo>
                  <a:pt x="5162" y="4213"/>
                  <a:pt x="5189" y="4303"/>
                  <a:pt x="5189" y="4406"/>
                </a:cubicBezTo>
                <a:cubicBezTo>
                  <a:pt x="5189" y="4550"/>
                  <a:pt x="5137" y="4672"/>
                  <a:pt x="5035" y="47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TextBox 8" id="8"/>
          <p:cNvSpPr txBox="true"/>
          <p:nvPr/>
        </p:nvSpPr>
        <p:spPr>
          <a:xfrm>
            <a:off x="5763114" y="1960149"/>
            <a:ext cx="611964" cy="43634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7279710" y="3405765"/>
            <a:ext cx="611964" cy="43634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335917" y="3587183"/>
            <a:ext cx="611964" cy="43634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69924" y="1778348"/>
            <a:ext cx="335343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Quantum Machine Group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669924" y="2322642"/>
            <a:ext cx="3353436" cy="231601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Quantum Machine group and previous work on multitask learning introduce benchmarking collections.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168640" y="1778348"/>
            <a:ext cx="335184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MoleculeNet's Expansion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168640" y="2322642"/>
            <a:ext cx="3351848" cy="231601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incorporates data from these efforts and expands upon them significantly.</a:t>
            </a:r>
          </a:p>
        </p:txBody>
      </p:sp>
      <p:sp>
        <p:nvSpPr>
          <p:cNvPr name="AutoShape 15" id="15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Prior Benchmarking Efforts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anchor="t" wrap="square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Methods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pc="100" baseline="0" u="none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9600" spc="100" baseline="0" u="none">
                <a:solidFill>
                  <a:schemeClr val="accent4"/>
                </a:solidFill>
                <a:latin typeface="Arial"/>
                <a:ea typeface="Arial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93006" y="1650999"/>
            <a:ext cx="9805988" cy="4241801"/>
          </a:xfrm>
          <a:prstGeom prst="roundRect">
            <a:avLst>
              <a:gd name="adj" fmla="val 4784"/>
            </a:avLst>
          </a:prstGeom>
          <a:noFill/>
          <a:ln w="12700" cap="flat" cmpd="sng">
            <a:solidFill>
              <a:srgbClr val="FFFFFF">
                <a:lumMod val="75000"/>
              </a:srgbClr>
            </a:solidFill>
            <a:prstDash val="sysDash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1864915" y="1142999"/>
            <a:ext cx="1277938" cy="1463675"/>
          </a:xfrm>
          <a:custGeom>
            <a:avLst/>
            <a:gdLst/>
            <a:ahLst/>
            <a:cxnLst/>
            <a:rect r="r" b="b" t="t" l="l"/>
            <a:pathLst>
              <a:path w="13408" h="15341" stroke="true" fill="norm" extrusionOk="true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AutoShape 4" id="4"/>
          <p:cNvSpPr/>
          <p:nvPr/>
        </p:nvSpPr>
        <p:spPr>
          <a:xfrm>
            <a:off x="2027634" y="1328736"/>
            <a:ext cx="952500" cy="9525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2248233" y="1461293"/>
            <a:ext cx="511301" cy="687386"/>
          </a:xfrm>
          <a:custGeom>
            <a:avLst/>
            <a:gdLst/>
            <a:ahLst/>
            <a:cxnLst/>
            <a:rect r="r" b="b" t="t" l="l"/>
            <a:pathLst>
              <a:path w="4881" h="6573" stroke="true" fill="norm" extrusionOk="true">
                <a:moveTo>
                  <a:pt x="1812" y="553"/>
                </a:moveTo>
                <a:lnTo>
                  <a:pt x="2721" y="28"/>
                </a:lnTo>
                <a:cubicBezTo>
                  <a:pt x="2769" y="0"/>
                  <a:pt x="2828" y="35"/>
                  <a:pt x="2828" y="89"/>
                </a:cubicBezTo>
                <a:lnTo>
                  <a:pt x="2828" y="377"/>
                </a:lnTo>
                <a:lnTo>
                  <a:pt x="3391" y="377"/>
                </a:lnTo>
                <a:cubicBezTo>
                  <a:pt x="4016" y="377"/>
                  <a:pt x="4525" y="887"/>
                  <a:pt x="4525" y="1512"/>
                </a:cubicBezTo>
                <a:lnTo>
                  <a:pt x="4051" y="1512"/>
                </a:lnTo>
                <a:cubicBezTo>
                  <a:pt x="4051" y="1148"/>
                  <a:pt x="3755" y="852"/>
                  <a:pt x="3391" y="852"/>
                </a:cubicBezTo>
                <a:lnTo>
                  <a:pt x="2828" y="852"/>
                </a:lnTo>
                <a:lnTo>
                  <a:pt x="2828" y="1140"/>
                </a:lnTo>
                <a:cubicBezTo>
                  <a:pt x="2828" y="1195"/>
                  <a:pt x="2769" y="1229"/>
                  <a:pt x="2721" y="1201"/>
                </a:cubicBezTo>
                <a:lnTo>
                  <a:pt x="1812" y="676"/>
                </a:lnTo>
                <a:cubicBezTo>
                  <a:pt x="1765" y="649"/>
                  <a:pt x="1765" y="580"/>
                  <a:pt x="1812" y="553"/>
                </a:cubicBezTo>
                <a:close/>
                <a:moveTo>
                  <a:pt x="3063" y="5897"/>
                </a:moveTo>
                <a:lnTo>
                  <a:pt x="2153" y="5372"/>
                </a:lnTo>
                <a:cubicBezTo>
                  <a:pt x="2105" y="5344"/>
                  <a:pt x="2047" y="5379"/>
                  <a:pt x="2047" y="5433"/>
                </a:cubicBezTo>
                <a:lnTo>
                  <a:pt x="2047" y="5721"/>
                </a:lnTo>
                <a:lnTo>
                  <a:pt x="1484" y="5721"/>
                </a:lnTo>
                <a:cubicBezTo>
                  <a:pt x="1120" y="5721"/>
                  <a:pt x="824" y="5425"/>
                  <a:pt x="824" y="5061"/>
                </a:cubicBezTo>
                <a:lnTo>
                  <a:pt x="349" y="5061"/>
                </a:lnTo>
                <a:cubicBezTo>
                  <a:pt x="349" y="5687"/>
                  <a:pt x="859" y="6196"/>
                  <a:pt x="1484" y="6196"/>
                </a:cubicBezTo>
                <a:lnTo>
                  <a:pt x="2047" y="6196"/>
                </a:lnTo>
                <a:lnTo>
                  <a:pt x="2047" y="6484"/>
                </a:lnTo>
                <a:cubicBezTo>
                  <a:pt x="2047" y="6539"/>
                  <a:pt x="2105" y="6573"/>
                  <a:pt x="2153" y="6545"/>
                </a:cubicBezTo>
                <a:lnTo>
                  <a:pt x="3063" y="6020"/>
                </a:lnTo>
                <a:cubicBezTo>
                  <a:pt x="3109" y="5993"/>
                  <a:pt x="3109" y="5924"/>
                  <a:pt x="3063" y="5897"/>
                </a:cubicBezTo>
                <a:close/>
                <a:moveTo>
                  <a:pt x="3788" y="3008"/>
                </a:moveTo>
                <a:cubicBezTo>
                  <a:pt x="3647" y="3008"/>
                  <a:pt x="3531" y="3123"/>
                  <a:pt x="3531" y="3265"/>
                </a:cubicBezTo>
                <a:cubicBezTo>
                  <a:pt x="3531" y="3407"/>
                  <a:pt x="3645" y="3523"/>
                  <a:pt x="3788" y="3523"/>
                </a:cubicBezTo>
                <a:cubicBezTo>
                  <a:pt x="3929" y="3523"/>
                  <a:pt x="4045" y="3408"/>
                  <a:pt x="4045" y="3265"/>
                </a:cubicBezTo>
                <a:cubicBezTo>
                  <a:pt x="4045" y="3123"/>
                  <a:pt x="3929" y="3008"/>
                  <a:pt x="3788" y="3008"/>
                </a:cubicBezTo>
                <a:close/>
                <a:moveTo>
                  <a:pt x="1092" y="3008"/>
                </a:moveTo>
                <a:cubicBezTo>
                  <a:pt x="951" y="3008"/>
                  <a:pt x="835" y="3123"/>
                  <a:pt x="835" y="3265"/>
                </a:cubicBezTo>
                <a:cubicBezTo>
                  <a:pt x="835" y="3407"/>
                  <a:pt x="949" y="3523"/>
                  <a:pt x="1092" y="3523"/>
                </a:cubicBezTo>
                <a:cubicBezTo>
                  <a:pt x="1233" y="3523"/>
                  <a:pt x="1349" y="3408"/>
                  <a:pt x="1349" y="3265"/>
                </a:cubicBezTo>
                <a:cubicBezTo>
                  <a:pt x="1349" y="3123"/>
                  <a:pt x="1233" y="3008"/>
                  <a:pt x="1092" y="3008"/>
                </a:cubicBezTo>
                <a:close/>
                <a:moveTo>
                  <a:pt x="4881" y="2177"/>
                </a:moveTo>
                <a:lnTo>
                  <a:pt x="4881" y="4353"/>
                </a:lnTo>
                <a:cubicBezTo>
                  <a:pt x="4881" y="4587"/>
                  <a:pt x="4692" y="4776"/>
                  <a:pt x="4459" y="4776"/>
                </a:cubicBezTo>
                <a:lnTo>
                  <a:pt x="423" y="4776"/>
                </a:lnTo>
                <a:cubicBezTo>
                  <a:pt x="189" y="4776"/>
                  <a:pt x="0" y="4587"/>
                  <a:pt x="0" y="4353"/>
                </a:cubicBezTo>
                <a:lnTo>
                  <a:pt x="0" y="2177"/>
                </a:lnTo>
                <a:cubicBezTo>
                  <a:pt x="0" y="1944"/>
                  <a:pt x="189" y="1755"/>
                  <a:pt x="423" y="1755"/>
                </a:cubicBezTo>
                <a:lnTo>
                  <a:pt x="4459" y="1755"/>
                </a:lnTo>
                <a:cubicBezTo>
                  <a:pt x="4691" y="1753"/>
                  <a:pt x="4881" y="1944"/>
                  <a:pt x="4881" y="2177"/>
                </a:cubicBezTo>
                <a:close/>
                <a:moveTo>
                  <a:pt x="4520" y="2635"/>
                </a:moveTo>
                <a:cubicBezTo>
                  <a:pt x="4487" y="2643"/>
                  <a:pt x="4451" y="2648"/>
                  <a:pt x="4415" y="2648"/>
                </a:cubicBezTo>
                <a:cubicBezTo>
                  <a:pt x="4179" y="2648"/>
                  <a:pt x="3987" y="2456"/>
                  <a:pt x="3987" y="2220"/>
                </a:cubicBezTo>
                <a:cubicBezTo>
                  <a:pt x="3987" y="2184"/>
                  <a:pt x="3991" y="2149"/>
                  <a:pt x="4000" y="2116"/>
                </a:cubicBezTo>
                <a:lnTo>
                  <a:pt x="856" y="2116"/>
                </a:lnTo>
                <a:cubicBezTo>
                  <a:pt x="861" y="2141"/>
                  <a:pt x="864" y="2168"/>
                  <a:pt x="864" y="2195"/>
                </a:cubicBezTo>
                <a:cubicBezTo>
                  <a:pt x="864" y="2431"/>
                  <a:pt x="672" y="2623"/>
                  <a:pt x="436" y="2623"/>
                </a:cubicBezTo>
                <a:cubicBezTo>
                  <a:pt x="411" y="2623"/>
                  <a:pt x="385" y="2620"/>
                  <a:pt x="361" y="2616"/>
                </a:cubicBezTo>
                <a:lnTo>
                  <a:pt x="361" y="3916"/>
                </a:lnTo>
                <a:cubicBezTo>
                  <a:pt x="385" y="3912"/>
                  <a:pt x="411" y="3909"/>
                  <a:pt x="436" y="3909"/>
                </a:cubicBezTo>
                <a:cubicBezTo>
                  <a:pt x="672" y="3909"/>
                  <a:pt x="864" y="4101"/>
                  <a:pt x="864" y="4337"/>
                </a:cubicBezTo>
                <a:cubicBezTo>
                  <a:pt x="864" y="4364"/>
                  <a:pt x="861" y="4391"/>
                  <a:pt x="856" y="4416"/>
                </a:cubicBezTo>
                <a:lnTo>
                  <a:pt x="3988" y="4416"/>
                </a:lnTo>
                <a:cubicBezTo>
                  <a:pt x="3985" y="4399"/>
                  <a:pt x="3984" y="4381"/>
                  <a:pt x="3984" y="4363"/>
                </a:cubicBezTo>
                <a:cubicBezTo>
                  <a:pt x="3984" y="4127"/>
                  <a:pt x="4176" y="3935"/>
                  <a:pt x="4412" y="3935"/>
                </a:cubicBezTo>
                <a:cubicBezTo>
                  <a:pt x="4448" y="3935"/>
                  <a:pt x="4484" y="3940"/>
                  <a:pt x="4517" y="3948"/>
                </a:cubicBezTo>
                <a:lnTo>
                  <a:pt x="4517" y="2635"/>
                </a:lnTo>
                <a:lnTo>
                  <a:pt x="4520" y="2635"/>
                </a:lnTo>
                <a:close/>
                <a:moveTo>
                  <a:pt x="3367" y="3265"/>
                </a:moveTo>
                <a:cubicBezTo>
                  <a:pt x="3367" y="3777"/>
                  <a:pt x="2952" y="4192"/>
                  <a:pt x="2440" y="4192"/>
                </a:cubicBezTo>
                <a:cubicBezTo>
                  <a:pt x="1928" y="4192"/>
                  <a:pt x="1513" y="3777"/>
                  <a:pt x="1513" y="3265"/>
                </a:cubicBezTo>
                <a:cubicBezTo>
                  <a:pt x="1513" y="2753"/>
                  <a:pt x="1928" y="2339"/>
                  <a:pt x="2440" y="2339"/>
                </a:cubicBezTo>
                <a:cubicBezTo>
                  <a:pt x="2952" y="2339"/>
                  <a:pt x="3367" y="2753"/>
                  <a:pt x="3367" y="3265"/>
                </a:cubicBezTo>
                <a:close/>
                <a:moveTo>
                  <a:pt x="2976" y="3265"/>
                </a:moveTo>
                <a:cubicBezTo>
                  <a:pt x="2976" y="2969"/>
                  <a:pt x="2735" y="2729"/>
                  <a:pt x="2440" y="2729"/>
                </a:cubicBezTo>
                <a:cubicBezTo>
                  <a:pt x="2144" y="2729"/>
                  <a:pt x="1904" y="2971"/>
                  <a:pt x="1904" y="3265"/>
                </a:cubicBezTo>
                <a:cubicBezTo>
                  <a:pt x="1904" y="3561"/>
                  <a:pt x="2145" y="3801"/>
                  <a:pt x="2440" y="3801"/>
                </a:cubicBezTo>
                <a:cubicBezTo>
                  <a:pt x="2736" y="3801"/>
                  <a:pt x="2976" y="3561"/>
                  <a:pt x="2976" y="3265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6" id="6"/>
          <p:cNvSpPr txBox="true"/>
          <p:nvPr/>
        </p:nvSpPr>
        <p:spPr>
          <a:xfrm>
            <a:off x="1237059" y="2743897"/>
            <a:ext cx="253365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Dataset Overview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>
            <a:off x="1237059" y="3354818"/>
            <a:ext cx="2533650" cy="1669688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is built upon multiple public databases, containing over 700,000 compounds.</a:t>
            </a:r>
          </a:p>
        </p:txBody>
      </p:sp>
      <p:sp>
        <p:nvSpPr>
          <p:cNvPr name="Freeform 8" id="8"/>
          <p:cNvSpPr/>
          <p:nvPr/>
        </p:nvSpPr>
        <p:spPr>
          <a:xfrm>
            <a:off x="5457032" y="1142999"/>
            <a:ext cx="1277938" cy="1463675"/>
          </a:xfrm>
          <a:custGeom>
            <a:avLst/>
            <a:gdLst/>
            <a:ahLst/>
            <a:cxnLst/>
            <a:rect r="r" b="b" t="t" l="l"/>
            <a:pathLst>
              <a:path w="13408" h="15341" stroke="true" fill="norm" extrusionOk="true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AutoShape 9" id="9"/>
          <p:cNvSpPr/>
          <p:nvPr/>
        </p:nvSpPr>
        <p:spPr>
          <a:xfrm>
            <a:off x="5619751" y="1328736"/>
            <a:ext cx="952500" cy="952500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10" id="10"/>
          <p:cNvSpPr/>
          <p:nvPr/>
        </p:nvSpPr>
        <p:spPr>
          <a:xfrm>
            <a:off x="5798197" y="1530348"/>
            <a:ext cx="595608" cy="549276"/>
          </a:xfrm>
          <a:custGeom>
            <a:avLst/>
            <a:gdLst/>
            <a:ahLst/>
            <a:cxnLst/>
            <a:rect r="r" b="b" t="t" l="l"/>
            <a:pathLst>
              <a:path w="609156" h="561771" stroke="true" fill="norm" extrusionOk="true">
                <a:moveTo>
                  <a:pt x="392435" y="452324"/>
                </a:moveTo>
                <a:lnTo>
                  <a:pt x="427863" y="452324"/>
                </a:lnTo>
                <a:cubicBezTo>
                  <a:pt x="432070" y="452324"/>
                  <a:pt x="435529" y="455685"/>
                  <a:pt x="435435" y="459885"/>
                </a:cubicBezTo>
                <a:lnTo>
                  <a:pt x="435435" y="474634"/>
                </a:lnTo>
                <a:lnTo>
                  <a:pt x="435435" y="539321"/>
                </a:lnTo>
                <a:lnTo>
                  <a:pt x="435435" y="553976"/>
                </a:lnTo>
                <a:cubicBezTo>
                  <a:pt x="435435" y="558270"/>
                  <a:pt x="432070" y="561630"/>
                  <a:pt x="427863" y="561630"/>
                </a:cubicBezTo>
                <a:lnTo>
                  <a:pt x="392435" y="561630"/>
                </a:lnTo>
                <a:cubicBezTo>
                  <a:pt x="388228" y="561630"/>
                  <a:pt x="384863" y="558270"/>
                  <a:pt x="384863" y="553976"/>
                </a:cubicBezTo>
                <a:lnTo>
                  <a:pt x="384863" y="539321"/>
                </a:lnTo>
                <a:lnTo>
                  <a:pt x="384863" y="474634"/>
                </a:lnTo>
                <a:lnTo>
                  <a:pt x="384863" y="459885"/>
                </a:lnTo>
                <a:cubicBezTo>
                  <a:pt x="384863" y="455685"/>
                  <a:pt x="388228" y="452324"/>
                  <a:pt x="392435" y="452324"/>
                </a:cubicBezTo>
                <a:close/>
                <a:moveTo>
                  <a:pt x="464152" y="409985"/>
                </a:moveTo>
                <a:lnTo>
                  <a:pt x="499488" y="409985"/>
                </a:lnTo>
                <a:cubicBezTo>
                  <a:pt x="503788" y="409985"/>
                  <a:pt x="507153" y="413348"/>
                  <a:pt x="507153" y="417551"/>
                </a:cubicBezTo>
                <a:lnTo>
                  <a:pt x="507153" y="474622"/>
                </a:lnTo>
                <a:lnTo>
                  <a:pt x="507153" y="496853"/>
                </a:lnTo>
                <a:lnTo>
                  <a:pt x="507153" y="553923"/>
                </a:lnTo>
                <a:cubicBezTo>
                  <a:pt x="507153" y="558127"/>
                  <a:pt x="503788" y="561489"/>
                  <a:pt x="499488" y="561489"/>
                </a:cubicBezTo>
                <a:lnTo>
                  <a:pt x="464152" y="561489"/>
                </a:lnTo>
                <a:cubicBezTo>
                  <a:pt x="459852" y="561489"/>
                  <a:pt x="456487" y="558127"/>
                  <a:pt x="456487" y="553923"/>
                </a:cubicBezTo>
                <a:lnTo>
                  <a:pt x="456487" y="496853"/>
                </a:lnTo>
                <a:lnTo>
                  <a:pt x="456487" y="474622"/>
                </a:lnTo>
                <a:lnTo>
                  <a:pt x="456487" y="417551"/>
                </a:lnTo>
                <a:cubicBezTo>
                  <a:pt x="456487" y="413348"/>
                  <a:pt x="459852" y="409985"/>
                  <a:pt x="464152" y="409985"/>
                </a:cubicBezTo>
                <a:close/>
                <a:moveTo>
                  <a:pt x="553539" y="277886"/>
                </a:moveTo>
                <a:cubicBezTo>
                  <a:pt x="555408" y="277886"/>
                  <a:pt x="557277" y="278727"/>
                  <a:pt x="558399" y="280594"/>
                </a:cubicBezTo>
                <a:lnTo>
                  <a:pt x="608220" y="360717"/>
                </a:lnTo>
                <a:cubicBezTo>
                  <a:pt x="610743" y="364546"/>
                  <a:pt x="607846" y="369495"/>
                  <a:pt x="603359" y="369402"/>
                </a:cubicBezTo>
                <a:lnTo>
                  <a:pt x="578776" y="369402"/>
                </a:lnTo>
                <a:lnTo>
                  <a:pt x="578776" y="429074"/>
                </a:lnTo>
                <a:lnTo>
                  <a:pt x="578776" y="432529"/>
                </a:lnTo>
                <a:lnTo>
                  <a:pt x="578776" y="554674"/>
                </a:lnTo>
                <a:cubicBezTo>
                  <a:pt x="578589" y="558690"/>
                  <a:pt x="575224" y="561771"/>
                  <a:pt x="571205" y="561771"/>
                </a:cubicBezTo>
                <a:lnTo>
                  <a:pt x="535779" y="561771"/>
                </a:lnTo>
                <a:cubicBezTo>
                  <a:pt x="531573" y="561771"/>
                  <a:pt x="528208" y="558409"/>
                  <a:pt x="528208" y="554207"/>
                </a:cubicBezTo>
                <a:lnTo>
                  <a:pt x="528208" y="369495"/>
                </a:lnTo>
                <a:lnTo>
                  <a:pt x="503625" y="369495"/>
                </a:lnTo>
                <a:cubicBezTo>
                  <a:pt x="499138" y="369495"/>
                  <a:pt x="496427" y="364546"/>
                  <a:pt x="498764" y="360717"/>
                </a:cubicBezTo>
                <a:lnTo>
                  <a:pt x="548678" y="280594"/>
                </a:lnTo>
                <a:cubicBezTo>
                  <a:pt x="549800" y="278727"/>
                  <a:pt x="551669" y="277886"/>
                  <a:pt x="553539" y="277886"/>
                </a:cubicBezTo>
                <a:close/>
                <a:moveTo>
                  <a:pt x="248743" y="0"/>
                </a:moveTo>
                <a:lnTo>
                  <a:pt x="260245" y="0"/>
                </a:lnTo>
                <a:lnTo>
                  <a:pt x="271654" y="0"/>
                </a:lnTo>
                <a:cubicBezTo>
                  <a:pt x="325049" y="0"/>
                  <a:pt x="368159" y="43234"/>
                  <a:pt x="368159" y="96367"/>
                </a:cubicBezTo>
                <a:lnTo>
                  <a:pt x="368159" y="203287"/>
                </a:lnTo>
                <a:cubicBezTo>
                  <a:pt x="368159" y="220002"/>
                  <a:pt x="359555" y="234849"/>
                  <a:pt x="346651" y="243440"/>
                </a:cubicBezTo>
                <a:lnTo>
                  <a:pt x="346651" y="346532"/>
                </a:lnTo>
                <a:cubicBezTo>
                  <a:pt x="346651" y="348399"/>
                  <a:pt x="347586" y="349987"/>
                  <a:pt x="349269" y="351014"/>
                </a:cubicBezTo>
                <a:cubicBezTo>
                  <a:pt x="359368" y="355869"/>
                  <a:pt x="396399" y="374545"/>
                  <a:pt x="440257" y="403493"/>
                </a:cubicBezTo>
                <a:cubicBezTo>
                  <a:pt x="437732" y="407602"/>
                  <a:pt x="436236" y="412457"/>
                  <a:pt x="436236" y="417687"/>
                </a:cubicBezTo>
                <a:lnTo>
                  <a:pt x="436236" y="433748"/>
                </a:lnTo>
                <a:cubicBezTo>
                  <a:pt x="433617" y="432908"/>
                  <a:pt x="430812" y="432441"/>
                  <a:pt x="427820" y="432441"/>
                </a:cubicBezTo>
                <a:lnTo>
                  <a:pt x="392378" y="432441"/>
                </a:lnTo>
                <a:cubicBezTo>
                  <a:pt x="377136" y="432441"/>
                  <a:pt x="364699" y="444767"/>
                  <a:pt x="364699" y="460081"/>
                </a:cubicBezTo>
                <a:lnTo>
                  <a:pt x="364699" y="474742"/>
                </a:lnTo>
                <a:lnTo>
                  <a:pt x="364699" y="539454"/>
                </a:lnTo>
                <a:lnTo>
                  <a:pt x="364699" y="554207"/>
                </a:lnTo>
                <a:cubicBezTo>
                  <a:pt x="364699" y="556822"/>
                  <a:pt x="365073" y="559250"/>
                  <a:pt x="365821" y="561771"/>
                </a:cubicBezTo>
                <a:lnTo>
                  <a:pt x="294471" y="561771"/>
                </a:lnTo>
                <a:lnTo>
                  <a:pt x="272215" y="459521"/>
                </a:lnTo>
                <a:cubicBezTo>
                  <a:pt x="317288" y="396676"/>
                  <a:pt x="268848" y="393688"/>
                  <a:pt x="260339" y="393595"/>
                </a:cubicBezTo>
                <a:cubicBezTo>
                  <a:pt x="251829" y="393688"/>
                  <a:pt x="203390" y="396676"/>
                  <a:pt x="248463" y="459521"/>
                </a:cubicBezTo>
                <a:lnTo>
                  <a:pt x="226207" y="561771"/>
                </a:lnTo>
                <a:lnTo>
                  <a:pt x="0" y="561771"/>
                </a:lnTo>
                <a:lnTo>
                  <a:pt x="0" y="488468"/>
                </a:lnTo>
                <a:cubicBezTo>
                  <a:pt x="0" y="472874"/>
                  <a:pt x="6826" y="458213"/>
                  <a:pt x="18796" y="448315"/>
                </a:cubicBezTo>
                <a:cubicBezTo>
                  <a:pt x="85190" y="393968"/>
                  <a:pt x="156633" y="357830"/>
                  <a:pt x="171221" y="350734"/>
                </a:cubicBezTo>
                <a:cubicBezTo>
                  <a:pt x="172811" y="349987"/>
                  <a:pt x="173840" y="348399"/>
                  <a:pt x="173840" y="346532"/>
                </a:cubicBezTo>
                <a:lnTo>
                  <a:pt x="173840" y="243440"/>
                </a:lnTo>
                <a:cubicBezTo>
                  <a:pt x="160841" y="234849"/>
                  <a:pt x="152238" y="220095"/>
                  <a:pt x="152238" y="203287"/>
                </a:cubicBezTo>
                <a:lnTo>
                  <a:pt x="152238" y="96367"/>
                </a:lnTo>
                <a:cubicBezTo>
                  <a:pt x="152238" y="43048"/>
                  <a:pt x="195534" y="0"/>
                  <a:pt x="248743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11" id="11"/>
          <p:cNvSpPr/>
          <p:nvPr/>
        </p:nvSpPr>
        <p:spPr>
          <a:xfrm>
            <a:off x="9049148" y="1142999"/>
            <a:ext cx="1277938" cy="1463675"/>
          </a:xfrm>
          <a:custGeom>
            <a:avLst/>
            <a:gdLst/>
            <a:ahLst/>
            <a:cxnLst/>
            <a:rect r="r" b="b" t="t" l="l"/>
            <a:pathLst>
              <a:path w="13408" h="15341" stroke="true" fill="norm" extrusionOk="true">
                <a:moveTo>
                  <a:pt x="11023" y="2385"/>
                </a:moveTo>
                <a:cubicBezTo>
                  <a:pt x="13408" y="4770"/>
                  <a:pt x="13408" y="8637"/>
                  <a:pt x="11023" y="11022"/>
                </a:cubicBezTo>
                <a:cubicBezTo>
                  <a:pt x="9584" y="12462"/>
                  <a:pt x="8144" y="13902"/>
                  <a:pt x="6704" y="15341"/>
                </a:cubicBezTo>
                <a:cubicBezTo>
                  <a:pt x="5265" y="13902"/>
                  <a:pt x="3825" y="12462"/>
                  <a:pt x="2386" y="11022"/>
                </a:cubicBezTo>
                <a:cubicBezTo>
                  <a:pt x="0" y="8637"/>
                  <a:pt x="0" y="4770"/>
                  <a:pt x="2386" y="2385"/>
                </a:cubicBezTo>
                <a:cubicBezTo>
                  <a:pt x="4771" y="0"/>
                  <a:pt x="8638" y="0"/>
                  <a:pt x="11023" y="2385"/>
                </a:cubicBezTo>
              </a:path>
            </a:pathLst>
          </a:cu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AutoShape 12" id="12"/>
          <p:cNvSpPr/>
          <p:nvPr/>
        </p:nvSpPr>
        <p:spPr>
          <a:xfrm>
            <a:off x="9211867" y="1328736"/>
            <a:ext cx="952500" cy="9525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Freeform 13" id="13"/>
          <p:cNvSpPr/>
          <p:nvPr/>
        </p:nvSpPr>
        <p:spPr>
          <a:xfrm>
            <a:off x="9407671" y="1511300"/>
            <a:ext cx="560892" cy="587374"/>
          </a:xfrm>
          <a:custGeom>
            <a:avLst/>
            <a:gdLst/>
            <a:ahLst/>
            <a:cxnLst/>
            <a:rect r="r" b="b" t="t" l="l"/>
            <a:pathLst>
              <a:path w="560501" h="586963" stroke="true" fill="norm" extrusionOk="true">
                <a:moveTo>
                  <a:pt x="446809" y="409068"/>
                </a:moveTo>
                <a:cubicBezTo>
                  <a:pt x="451079" y="409068"/>
                  <a:pt x="454547" y="412534"/>
                  <a:pt x="454547" y="416800"/>
                </a:cubicBezTo>
                <a:lnTo>
                  <a:pt x="454547" y="423021"/>
                </a:lnTo>
                <a:cubicBezTo>
                  <a:pt x="460329" y="423288"/>
                  <a:pt x="465043" y="423999"/>
                  <a:pt x="469046" y="425065"/>
                </a:cubicBezTo>
                <a:cubicBezTo>
                  <a:pt x="473849" y="426398"/>
                  <a:pt x="476784" y="431375"/>
                  <a:pt x="475539" y="436174"/>
                </a:cubicBezTo>
                <a:lnTo>
                  <a:pt x="475361" y="436797"/>
                </a:lnTo>
                <a:cubicBezTo>
                  <a:pt x="474827" y="439107"/>
                  <a:pt x="473315" y="440974"/>
                  <a:pt x="471269" y="442129"/>
                </a:cubicBezTo>
                <a:cubicBezTo>
                  <a:pt x="469224" y="443284"/>
                  <a:pt x="466822" y="443551"/>
                  <a:pt x="464510" y="442929"/>
                </a:cubicBezTo>
                <a:cubicBezTo>
                  <a:pt x="460685" y="441685"/>
                  <a:pt x="455971" y="440796"/>
                  <a:pt x="450100" y="440796"/>
                </a:cubicBezTo>
                <a:cubicBezTo>
                  <a:pt x="439782" y="440796"/>
                  <a:pt x="436491" y="445239"/>
                  <a:pt x="436491" y="449683"/>
                </a:cubicBezTo>
                <a:cubicBezTo>
                  <a:pt x="436491" y="454927"/>
                  <a:pt x="442006" y="458215"/>
                  <a:pt x="455526" y="463281"/>
                </a:cubicBezTo>
                <a:cubicBezTo>
                  <a:pt x="474472" y="469946"/>
                  <a:pt x="482032" y="478745"/>
                  <a:pt x="482032" y="492964"/>
                </a:cubicBezTo>
                <a:cubicBezTo>
                  <a:pt x="482032" y="507095"/>
                  <a:pt x="472070" y="519182"/>
                  <a:pt x="453747" y="522381"/>
                </a:cubicBezTo>
                <a:lnTo>
                  <a:pt x="453747" y="530735"/>
                </a:lnTo>
                <a:cubicBezTo>
                  <a:pt x="453747" y="535001"/>
                  <a:pt x="450278" y="538556"/>
                  <a:pt x="446009" y="538556"/>
                </a:cubicBezTo>
                <a:cubicBezTo>
                  <a:pt x="441650" y="538556"/>
                  <a:pt x="438270" y="535090"/>
                  <a:pt x="438270" y="530735"/>
                </a:cubicBezTo>
                <a:lnTo>
                  <a:pt x="438270" y="523448"/>
                </a:lnTo>
                <a:cubicBezTo>
                  <a:pt x="431777" y="523181"/>
                  <a:pt x="425373" y="521937"/>
                  <a:pt x="420036" y="520337"/>
                </a:cubicBezTo>
                <a:cubicBezTo>
                  <a:pt x="414966" y="518737"/>
                  <a:pt x="412031" y="513494"/>
                  <a:pt x="413365" y="508339"/>
                </a:cubicBezTo>
                <a:lnTo>
                  <a:pt x="413543" y="507806"/>
                </a:lnTo>
                <a:cubicBezTo>
                  <a:pt x="414077" y="505495"/>
                  <a:pt x="415589" y="503540"/>
                  <a:pt x="417724" y="502385"/>
                </a:cubicBezTo>
                <a:cubicBezTo>
                  <a:pt x="419858" y="501318"/>
                  <a:pt x="422260" y="501052"/>
                  <a:pt x="424572" y="501852"/>
                </a:cubicBezTo>
                <a:cubicBezTo>
                  <a:pt x="429820" y="503718"/>
                  <a:pt x="435869" y="505051"/>
                  <a:pt x="442362" y="505051"/>
                </a:cubicBezTo>
                <a:cubicBezTo>
                  <a:pt x="451345" y="505051"/>
                  <a:pt x="457572" y="501585"/>
                  <a:pt x="457572" y="495186"/>
                </a:cubicBezTo>
                <a:cubicBezTo>
                  <a:pt x="457572" y="489143"/>
                  <a:pt x="452502" y="485410"/>
                  <a:pt x="440761" y="481411"/>
                </a:cubicBezTo>
                <a:cubicBezTo>
                  <a:pt x="423772" y="475634"/>
                  <a:pt x="412209" y="467724"/>
                  <a:pt x="412209" y="452349"/>
                </a:cubicBezTo>
                <a:cubicBezTo>
                  <a:pt x="412209" y="438396"/>
                  <a:pt x="421993" y="427465"/>
                  <a:pt x="438982" y="424088"/>
                </a:cubicBezTo>
                <a:lnTo>
                  <a:pt x="438982" y="416800"/>
                </a:lnTo>
                <a:cubicBezTo>
                  <a:pt x="438982" y="412534"/>
                  <a:pt x="442451" y="409068"/>
                  <a:pt x="446809" y="409068"/>
                </a:cubicBezTo>
                <a:close/>
                <a:moveTo>
                  <a:pt x="447093" y="399133"/>
                </a:moveTo>
                <a:cubicBezTo>
                  <a:pt x="405967" y="399133"/>
                  <a:pt x="372407" y="432629"/>
                  <a:pt x="372407" y="473767"/>
                </a:cubicBezTo>
                <a:cubicBezTo>
                  <a:pt x="372407" y="514905"/>
                  <a:pt x="405967" y="548402"/>
                  <a:pt x="447093" y="548402"/>
                </a:cubicBezTo>
                <a:cubicBezTo>
                  <a:pt x="488308" y="548402"/>
                  <a:pt x="521867" y="514905"/>
                  <a:pt x="521867" y="473767"/>
                </a:cubicBezTo>
                <a:cubicBezTo>
                  <a:pt x="521867" y="432629"/>
                  <a:pt x="488308" y="399133"/>
                  <a:pt x="447093" y="399133"/>
                </a:cubicBezTo>
                <a:close/>
                <a:moveTo>
                  <a:pt x="165311" y="379995"/>
                </a:moveTo>
                <a:cubicBezTo>
                  <a:pt x="172698" y="379995"/>
                  <a:pt x="178927" y="385506"/>
                  <a:pt x="179728" y="392971"/>
                </a:cubicBezTo>
                <a:cubicBezTo>
                  <a:pt x="182042" y="414836"/>
                  <a:pt x="192721" y="434478"/>
                  <a:pt x="209808" y="448254"/>
                </a:cubicBezTo>
                <a:cubicBezTo>
                  <a:pt x="221644" y="457764"/>
                  <a:pt x="235528" y="463541"/>
                  <a:pt x="250212" y="465586"/>
                </a:cubicBezTo>
                <a:cubicBezTo>
                  <a:pt x="250212" y="465586"/>
                  <a:pt x="245050" y="447010"/>
                  <a:pt x="240778" y="433856"/>
                </a:cubicBezTo>
                <a:cubicBezTo>
                  <a:pt x="239977" y="431456"/>
                  <a:pt x="240155" y="428790"/>
                  <a:pt x="242024" y="427012"/>
                </a:cubicBezTo>
                <a:cubicBezTo>
                  <a:pt x="243982" y="425323"/>
                  <a:pt x="246830" y="425146"/>
                  <a:pt x="248966" y="426657"/>
                </a:cubicBezTo>
                <a:lnTo>
                  <a:pt x="316156" y="473851"/>
                </a:lnTo>
                <a:cubicBezTo>
                  <a:pt x="319538" y="476251"/>
                  <a:pt x="321496" y="480073"/>
                  <a:pt x="321407" y="484161"/>
                </a:cubicBezTo>
                <a:cubicBezTo>
                  <a:pt x="321229" y="488250"/>
                  <a:pt x="319004" y="491983"/>
                  <a:pt x="315622" y="494116"/>
                </a:cubicBezTo>
                <a:lnTo>
                  <a:pt x="245584" y="537133"/>
                </a:lnTo>
                <a:cubicBezTo>
                  <a:pt x="243448" y="538555"/>
                  <a:pt x="240511" y="538200"/>
                  <a:pt x="238731" y="536422"/>
                </a:cubicBezTo>
                <a:cubicBezTo>
                  <a:pt x="236862" y="534556"/>
                  <a:pt x="236862" y="531889"/>
                  <a:pt x="237841" y="529489"/>
                </a:cubicBezTo>
                <a:cubicBezTo>
                  <a:pt x="245940" y="509136"/>
                  <a:pt x="251013" y="495004"/>
                  <a:pt x="251013" y="495004"/>
                </a:cubicBezTo>
                <a:cubicBezTo>
                  <a:pt x="229387" y="492960"/>
                  <a:pt x="208918" y="484695"/>
                  <a:pt x="191653" y="470741"/>
                </a:cubicBezTo>
                <a:cubicBezTo>
                  <a:pt x="168515" y="452076"/>
                  <a:pt x="154009" y="425501"/>
                  <a:pt x="150894" y="395993"/>
                </a:cubicBezTo>
                <a:cubicBezTo>
                  <a:pt x="150093" y="387994"/>
                  <a:pt x="155878" y="380884"/>
                  <a:pt x="163798" y="380084"/>
                </a:cubicBezTo>
                <a:cubicBezTo>
                  <a:pt x="164332" y="379995"/>
                  <a:pt x="164866" y="379995"/>
                  <a:pt x="165311" y="379995"/>
                </a:cubicBezTo>
                <a:close/>
                <a:moveTo>
                  <a:pt x="447093" y="360660"/>
                </a:moveTo>
                <a:cubicBezTo>
                  <a:pt x="509672" y="360660"/>
                  <a:pt x="560501" y="411394"/>
                  <a:pt x="560501" y="473767"/>
                </a:cubicBezTo>
                <a:cubicBezTo>
                  <a:pt x="560501" y="536140"/>
                  <a:pt x="509672" y="586963"/>
                  <a:pt x="447093" y="586963"/>
                </a:cubicBezTo>
                <a:cubicBezTo>
                  <a:pt x="384603" y="586963"/>
                  <a:pt x="333774" y="536140"/>
                  <a:pt x="333774" y="473767"/>
                </a:cubicBezTo>
                <a:cubicBezTo>
                  <a:pt x="333774" y="411394"/>
                  <a:pt x="384603" y="360660"/>
                  <a:pt x="447093" y="360660"/>
                </a:cubicBezTo>
                <a:close/>
                <a:moveTo>
                  <a:pt x="99451" y="239217"/>
                </a:moveTo>
                <a:cubicBezTo>
                  <a:pt x="103101" y="239217"/>
                  <a:pt x="106128" y="242238"/>
                  <a:pt x="106128" y="245881"/>
                </a:cubicBezTo>
                <a:lnTo>
                  <a:pt x="106128" y="251213"/>
                </a:lnTo>
                <a:cubicBezTo>
                  <a:pt x="111024" y="251390"/>
                  <a:pt x="115119" y="252101"/>
                  <a:pt x="118502" y="252990"/>
                </a:cubicBezTo>
                <a:cubicBezTo>
                  <a:pt x="122685" y="254056"/>
                  <a:pt x="125178" y="258321"/>
                  <a:pt x="124110" y="262498"/>
                </a:cubicBezTo>
                <a:lnTo>
                  <a:pt x="123932" y="262942"/>
                </a:lnTo>
                <a:cubicBezTo>
                  <a:pt x="123398" y="264897"/>
                  <a:pt x="122151" y="266585"/>
                  <a:pt x="120371" y="267563"/>
                </a:cubicBezTo>
                <a:cubicBezTo>
                  <a:pt x="118680" y="268540"/>
                  <a:pt x="116632" y="268718"/>
                  <a:pt x="114674" y="268185"/>
                </a:cubicBezTo>
                <a:cubicBezTo>
                  <a:pt x="111380" y="267207"/>
                  <a:pt x="107285" y="266407"/>
                  <a:pt x="102300" y="266407"/>
                </a:cubicBezTo>
                <a:cubicBezTo>
                  <a:pt x="93487" y="266407"/>
                  <a:pt x="90639" y="270139"/>
                  <a:pt x="90639" y="273960"/>
                </a:cubicBezTo>
                <a:cubicBezTo>
                  <a:pt x="90639" y="278403"/>
                  <a:pt x="95357" y="281336"/>
                  <a:pt x="106929" y="285601"/>
                </a:cubicBezTo>
                <a:cubicBezTo>
                  <a:pt x="123131" y="291376"/>
                  <a:pt x="129629" y="298752"/>
                  <a:pt x="129629" y="311014"/>
                </a:cubicBezTo>
                <a:cubicBezTo>
                  <a:pt x="129629" y="323099"/>
                  <a:pt x="121083" y="333406"/>
                  <a:pt x="105416" y="336072"/>
                </a:cubicBezTo>
                <a:lnTo>
                  <a:pt x="105416" y="343270"/>
                </a:lnTo>
                <a:cubicBezTo>
                  <a:pt x="105416" y="346913"/>
                  <a:pt x="102478" y="349934"/>
                  <a:pt x="98828" y="349934"/>
                </a:cubicBezTo>
                <a:cubicBezTo>
                  <a:pt x="95090" y="349934"/>
                  <a:pt x="92152" y="346913"/>
                  <a:pt x="92152" y="343270"/>
                </a:cubicBezTo>
                <a:lnTo>
                  <a:pt x="92152" y="337049"/>
                </a:lnTo>
                <a:cubicBezTo>
                  <a:pt x="86544" y="336783"/>
                  <a:pt x="81113" y="335805"/>
                  <a:pt x="76573" y="334384"/>
                </a:cubicBezTo>
                <a:cubicBezTo>
                  <a:pt x="72212" y="333051"/>
                  <a:pt x="69719" y="328519"/>
                  <a:pt x="70876" y="324165"/>
                </a:cubicBezTo>
                <a:lnTo>
                  <a:pt x="70965" y="323632"/>
                </a:lnTo>
                <a:cubicBezTo>
                  <a:pt x="71499" y="321677"/>
                  <a:pt x="72835" y="319989"/>
                  <a:pt x="74615" y="319011"/>
                </a:cubicBezTo>
                <a:cubicBezTo>
                  <a:pt x="76395" y="318123"/>
                  <a:pt x="78532" y="317945"/>
                  <a:pt x="80401" y="318567"/>
                </a:cubicBezTo>
                <a:cubicBezTo>
                  <a:pt x="84941" y="320166"/>
                  <a:pt x="90193" y="321322"/>
                  <a:pt x="95713" y="321322"/>
                </a:cubicBezTo>
                <a:cubicBezTo>
                  <a:pt x="103368" y="321322"/>
                  <a:pt x="108709" y="318300"/>
                  <a:pt x="108709" y="312880"/>
                </a:cubicBezTo>
                <a:cubicBezTo>
                  <a:pt x="108709" y="307726"/>
                  <a:pt x="104348" y="304439"/>
                  <a:pt x="94288" y="301062"/>
                </a:cubicBezTo>
                <a:cubicBezTo>
                  <a:pt x="79778" y="296175"/>
                  <a:pt x="69897" y="289422"/>
                  <a:pt x="69897" y="276271"/>
                </a:cubicBezTo>
                <a:cubicBezTo>
                  <a:pt x="69897" y="264364"/>
                  <a:pt x="78265" y="254945"/>
                  <a:pt x="92775" y="252101"/>
                </a:cubicBezTo>
                <a:lnTo>
                  <a:pt x="92775" y="245881"/>
                </a:lnTo>
                <a:cubicBezTo>
                  <a:pt x="92775" y="242238"/>
                  <a:pt x="95802" y="239217"/>
                  <a:pt x="99451" y="239217"/>
                </a:cubicBezTo>
                <a:close/>
                <a:moveTo>
                  <a:pt x="99699" y="233523"/>
                </a:moveTo>
                <a:cubicBezTo>
                  <a:pt x="65962" y="233523"/>
                  <a:pt x="38634" y="260894"/>
                  <a:pt x="38634" y="294575"/>
                </a:cubicBezTo>
                <a:cubicBezTo>
                  <a:pt x="38634" y="328256"/>
                  <a:pt x="65962" y="355628"/>
                  <a:pt x="99699" y="355628"/>
                </a:cubicBezTo>
                <a:cubicBezTo>
                  <a:pt x="133437" y="355628"/>
                  <a:pt x="160854" y="328256"/>
                  <a:pt x="160854" y="294575"/>
                </a:cubicBezTo>
                <a:cubicBezTo>
                  <a:pt x="160854" y="260894"/>
                  <a:pt x="133437" y="233523"/>
                  <a:pt x="99699" y="233523"/>
                </a:cubicBezTo>
                <a:close/>
                <a:moveTo>
                  <a:pt x="99699" y="195043"/>
                </a:moveTo>
                <a:cubicBezTo>
                  <a:pt x="154712" y="195043"/>
                  <a:pt x="199488" y="239655"/>
                  <a:pt x="199488" y="294575"/>
                </a:cubicBezTo>
                <a:cubicBezTo>
                  <a:pt x="199488" y="349496"/>
                  <a:pt x="154712" y="394108"/>
                  <a:pt x="99699" y="394108"/>
                </a:cubicBezTo>
                <a:cubicBezTo>
                  <a:pt x="44776" y="394108"/>
                  <a:pt x="0" y="349496"/>
                  <a:pt x="0" y="294575"/>
                </a:cubicBezTo>
                <a:cubicBezTo>
                  <a:pt x="0" y="239655"/>
                  <a:pt x="44776" y="195043"/>
                  <a:pt x="99699" y="195043"/>
                </a:cubicBezTo>
                <a:close/>
                <a:moveTo>
                  <a:pt x="245584" y="50676"/>
                </a:moveTo>
                <a:lnTo>
                  <a:pt x="315622" y="93675"/>
                </a:lnTo>
                <a:cubicBezTo>
                  <a:pt x="319004" y="95807"/>
                  <a:pt x="321229" y="99538"/>
                  <a:pt x="321407" y="103625"/>
                </a:cubicBezTo>
                <a:cubicBezTo>
                  <a:pt x="321496" y="107711"/>
                  <a:pt x="319538" y="111531"/>
                  <a:pt x="316156" y="113930"/>
                </a:cubicBezTo>
                <a:lnTo>
                  <a:pt x="248966" y="161104"/>
                </a:lnTo>
                <a:cubicBezTo>
                  <a:pt x="246830" y="162614"/>
                  <a:pt x="243982" y="162437"/>
                  <a:pt x="242024" y="160749"/>
                </a:cubicBezTo>
                <a:cubicBezTo>
                  <a:pt x="240155" y="159061"/>
                  <a:pt x="239977" y="156396"/>
                  <a:pt x="240778" y="153908"/>
                </a:cubicBezTo>
                <a:cubicBezTo>
                  <a:pt x="245050" y="140760"/>
                  <a:pt x="250212" y="122192"/>
                  <a:pt x="250212" y="122192"/>
                </a:cubicBezTo>
                <a:cubicBezTo>
                  <a:pt x="235528" y="124236"/>
                  <a:pt x="221644" y="130010"/>
                  <a:pt x="209808" y="139516"/>
                </a:cubicBezTo>
                <a:cubicBezTo>
                  <a:pt x="192721" y="153286"/>
                  <a:pt x="182042" y="173009"/>
                  <a:pt x="179728" y="194863"/>
                </a:cubicBezTo>
                <a:cubicBezTo>
                  <a:pt x="178927" y="202237"/>
                  <a:pt x="172698" y="207745"/>
                  <a:pt x="165311" y="207745"/>
                </a:cubicBezTo>
                <a:cubicBezTo>
                  <a:pt x="164866" y="207745"/>
                  <a:pt x="164332" y="207745"/>
                  <a:pt x="163798" y="207656"/>
                </a:cubicBezTo>
                <a:cubicBezTo>
                  <a:pt x="155878" y="206856"/>
                  <a:pt x="150093" y="199749"/>
                  <a:pt x="150894" y="191754"/>
                </a:cubicBezTo>
                <a:cubicBezTo>
                  <a:pt x="154009" y="162259"/>
                  <a:pt x="168515" y="135696"/>
                  <a:pt x="191653" y="117040"/>
                </a:cubicBezTo>
                <a:cubicBezTo>
                  <a:pt x="208918" y="103092"/>
                  <a:pt x="229387" y="94830"/>
                  <a:pt x="251013" y="92786"/>
                </a:cubicBezTo>
                <a:cubicBezTo>
                  <a:pt x="251013" y="92786"/>
                  <a:pt x="245940" y="78661"/>
                  <a:pt x="237841" y="58317"/>
                </a:cubicBezTo>
                <a:cubicBezTo>
                  <a:pt x="236862" y="55918"/>
                  <a:pt x="236862" y="53253"/>
                  <a:pt x="238731" y="51387"/>
                </a:cubicBezTo>
                <a:cubicBezTo>
                  <a:pt x="240511" y="49610"/>
                  <a:pt x="243448" y="49255"/>
                  <a:pt x="245584" y="50676"/>
                </a:cubicBezTo>
                <a:close/>
                <a:moveTo>
                  <a:pt x="446809" y="48408"/>
                </a:moveTo>
                <a:cubicBezTo>
                  <a:pt x="451079" y="48408"/>
                  <a:pt x="454547" y="51874"/>
                  <a:pt x="454547" y="56140"/>
                </a:cubicBezTo>
                <a:lnTo>
                  <a:pt x="454547" y="62361"/>
                </a:lnTo>
                <a:cubicBezTo>
                  <a:pt x="460329" y="62628"/>
                  <a:pt x="465043" y="63427"/>
                  <a:pt x="469046" y="64494"/>
                </a:cubicBezTo>
                <a:cubicBezTo>
                  <a:pt x="473849" y="65738"/>
                  <a:pt x="476784" y="70715"/>
                  <a:pt x="475539" y="75603"/>
                </a:cubicBezTo>
                <a:lnTo>
                  <a:pt x="475272" y="76669"/>
                </a:lnTo>
                <a:cubicBezTo>
                  <a:pt x="474738" y="78891"/>
                  <a:pt x="473315" y="80669"/>
                  <a:pt x="471358" y="81735"/>
                </a:cubicBezTo>
                <a:cubicBezTo>
                  <a:pt x="469402" y="82802"/>
                  <a:pt x="467089" y="83068"/>
                  <a:pt x="465043" y="82446"/>
                </a:cubicBezTo>
                <a:cubicBezTo>
                  <a:pt x="461130" y="81202"/>
                  <a:pt x="456237" y="80136"/>
                  <a:pt x="450100" y="80136"/>
                </a:cubicBezTo>
                <a:cubicBezTo>
                  <a:pt x="439782" y="80136"/>
                  <a:pt x="436491" y="84579"/>
                  <a:pt x="436491" y="89023"/>
                </a:cubicBezTo>
                <a:cubicBezTo>
                  <a:pt x="436491" y="94266"/>
                  <a:pt x="442006" y="97555"/>
                  <a:pt x="455526" y="102709"/>
                </a:cubicBezTo>
                <a:cubicBezTo>
                  <a:pt x="474472" y="109375"/>
                  <a:pt x="482032" y="118084"/>
                  <a:pt x="482032" y="132393"/>
                </a:cubicBezTo>
                <a:cubicBezTo>
                  <a:pt x="482032" y="146435"/>
                  <a:pt x="472070" y="158522"/>
                  <a:pt x="453747" y="161721"/>
                </a:cubicBezTo>
                <a:lnTo>
                  <a:pt x="453747" y="170075"/>
                </a:lnTo>
                <a:cubicBezTo>
                  <a:pt x="453747" y="174430"/>
                  <a:pt x="450278" y="177896"/>
                  <a:pt x="446009" y="177896"/>
                </a:cubicBezTo>
                <a:cubicBezTo>
                  <a:pt x="441650" y="177896"/>
                  <a:pt x="438270" y="174430"/>
                  <a:pt x="438270" y="170164"/>
                </a:cubicBezTo>
                <a:lnTo>
                  <a:pt x="438270" y="162787"/>
                </a:lnTo>
                <a:cubicBezTo>
                  <a:pt x="431777" y="162521"/>
                  <a:pt x="425373" y="161365"/>
                  <a:pt x="420036" y="159677"/>
                </a:cubicBezTo>
                <a:cubicBezTo>
                  <a:pt x="414966" y="158077"/>
                  <a:pt x="412031" y="152834"/>
                  <a:pt x="413365" y="147679"/>
                </a:cubicBezTo>
                <a:lnTo>
                  <a:pt x="413543" y="147146"/>
                </a:lnTo>
                <a:cubicBezTo>
                  <a:pt x="414077" y="144835"/>
                  <a:pt x="415589" y="142880"/>
                  <a:pt x="417724" y="141725"/>
                </a:cubicBezTo>
                <a:cubicBezTo>
                  <a:pt x="419858" y="140658"/>
                  <a:pt x="422260" y="140480"/>
                  <a:pt x="424572" y="141191"/>
                </a:cubicBezTo>
                <a:cubicBezTo>
                  <a:pt x="429820" y="143147"/>
                  <a:pt x="435869" y="144391"/>
                  <a:pt x="442362" y="144391"/>
                </a:cubicBezTo>
                <a:cubicBezTo>
                  <a:pt x="451345" y="144391"/>
                  <a:pt x="457572" y="140925"/>
                  <a:pt x="457572" y="134526"/>
                </a:cubicBezTo>
                <a:cubicBezTo>
                  <a:pt x="457572" y="128571"/>
                  <a:pt x="452502" y="124750"/>
                  <a:pt x="440761" y="120751"/>
                </a:cubicBezTo>
                <a:cubicBezTo>
                  <a:pt x="423772" y="115063"/>
                  <a:pt x="412209" y="107153"/>
                  <a:pt x="412209" y="91689"/>
                </a:cubicBezTo>
                <a:cubicBezTo>
                  <a:pt x="412209" y="77736"/>
                  <a:pt x="421993" y="66805"/>
                  <a:pt x="438982" y="63516"/>
                </a:cubicBezTo>
                <a:lnTo>
                  <a:pt x="438982" y="56140"/>
                </a:lnTo>
                <a:cubicBezTo>
                  <a:pt x="438982" y="51874"/>
                  <a:pt x="442451" y="48408"/>
                  <a:pt x="446809" y="48408"/>
                </a:cubicBezTo>
                <a:close/>
                <a:moveTo>
                  <a:pt x="447093" y="38573"/>
                </a:moveTo>
                <a:cubicBezTo>
                  <a:pt x="405967" y="38573"/>
                  <a:pt x="372407" y="71992"/>
                  <a:pt x="372407" y="113142"/>
                </a:cubicBezTo>
                <a:cubicBezTo>
                  <a:pt x="372407" y="154382"/>
                  <a:pt x="405967" y="187801"/>
                  <a:pt x="447093" y="187801"/>
                </a:cubicBezTo>
                <a:cubicBezTo>
                  <a:pt x="488308" y="187801"/>
                  <a:pt x="521867" y="154382"/>
                  <a:pt x="521867" y="113142"/>
                </a:cubicBezTo>
                <a:cubicBezTo>
                  <a:pt x="521867" y="71992"/>
                  <a:pt x="488308" y="38573"/>
                  <a:pt x="447093" y="38573"/>
                </a:cubicBezTo>
                <a:close/>
                <a:moveTo>
                  <a:pt x="447093" y="0"/>
                </a:moveTo>
                <a:cubicBezTo>
                  <a:pt x="509672" y="0"/>
                  <a:pt x="560501" y="50750"/>
                  <a:pt x="560501" y="113231"/>
                </a:cubicBezTo>
                <a:cubicBezTo>
                  <a:pt x="560501" y="175624"/>
                  <a:pt x="509672" y="226374"/>
                  <a:pt x="447093" y="226374"/>
                </a:cubicBezTo>
                <a:cubicBezTo>
                  <a:pt x="384603" y="226374"/>
                  <a:pt x="333774" y="175624"/>
                  <a:pt x="333774" y="113231"/>
                </a:cubicBezTo>
                <a:cubicBezTo>
                  <a:pt x="333774" y="50750"/>
                  <a:pt x="384603" y="0"/>
                  <a:pt x="447093" y="0"/>
                </a:cubicBezTo>
                <a:close/>
              </a:path>
            </a:pathLst>
          </a:custGeom>
          <a:solidFill>
            <a:srgbClr val="FFFFFF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</a:p>
        </p:txBody>
      </p:sp>
      <p:sp>
        <p:nvSpPr>
          <p:cNvPr name="TextBox 14" id="14"/>
          <p:cNvSpPr txBox="true"/>
          <p:nvPr/>
        </p:nvSpPr>
        <p:spPr>
          <a:xfrm>
            <a:off x="4829175" y="2743897"/>
            <a:ext cx="253365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Property Categories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>
            <a:off x="4829175" y="3354818"/>
            <a:ext cx="2533650" cy="1669688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Properties span quantum mechanics, physical chemistry, biophysics, and physiology.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8203916" y="2743897"/>
            <a:ext cx="2533650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Benchmarking System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8203916" y="3354818"/>
            <a:ext cx="2533650" cy="1669688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includes implemented splitting, metrics, featurization, and learning methods.</a:t>
            </a:r>
          </a:p>
        </p:txBody>
      </p:sp>
      <p:sp>
        <p:nvSpPr>
          <p:cNvPr name="AutoShape 18" id="18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Datasets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4855939" y="2231258"/>
            <a:ext cx="2480122" cy="2814580"/>
          </a:xfrm>
          <a:custGeom>
            <a:avLst/>
            <a:gdLst/>
            <a:ahLst/>
            <a:cxnLst/>
            <a:rect r="r" b="b" t="t" l="l"/>
            <a:pathLst>
              <a:path w="21529" h="21570" stroke="true" fill="norm" extrusionOk="false">
                <a:moveTo>
                  <a:pt x="10576" y="7"/>
                </a:moveTo>
                <a:cubicBezTo>
                  <a:pt x="10316" y="32"/>
                  <a:pt x="10047" y="121"/>
                  <a:pt x="9827" y="299"/>
                </a:cubicBezTo>
                <a:cubicBezTo>
                  <a:pt x="9719" y="387"/>
                  <a:pt x="9627" y="497"/>
                  <a:pt x="9563" y="615"/>
                </a:cubicBezTo>
                <a:cubicBezTo>
                  <a:pt x="9531" y="673"/>
                  <a:pt x="9506" y="734"/>
                  <a:pt x="9487" y="795"/>
                </a:cubicBezTo>
                <a:cubicBezTo>
                  <a:pt x="9482" y="810"/>
                  <a:pt x="9477" y="824"/>
                  <a:pt x="9474" y="839"/>
                </a:cubicBezTo>
                <a:cubicBezTo>
                  <a:pt x="9471" y="852"/>
                  <a:pt x="9467" y="866"/>
                  <a:pt x="9464" y="879"/>
                </a:cubicBezTo>
                <a:cubicBezTo>
                  <a:pt x="9460" y="897"/>
                  <a:pt x="9454" y="914"/>
                  <a:pt x="9450" y="932"/>
                </a:cubicBezTo>
                <a:cubicBezTo>
                  <a:pt x="9419" y="1060"/>
                  <a:pt x="9384" y="1192"/>
                  <a:pt x="9341" y="1320"/>
                </a:cubicBezTo>
                <a:cubicBezTo>
                  <a:pt x="9257" y="1577"/>
                  <a:pt x="9149" y="1828"/>
                  <a:pt x="9023" y="2072"/>
                </a:cubicBezTo>
                <a:cubicBezTo>
                  <a:pt x="8517" y="3046"/>
                  <a:pt x="7673" y="3879"/>
                  <a:pt x="6628" y="4419"/>
                </a:cubicBezTo>
                <a:cubicBezTo>
                  <a:pt x="5580" y="4964"/>
                  <a:pt x="4369" y="5264"/>
                  <a:pt x="3199" y="5205"/>
                </a:cubicBezTo>
                <a:cubicBezTo>
                  <a:pt x="2907" y="5191"/>
                  <a:pt x="2619" y="5154"/>
                  <a:pt x="2338" y="5094"/>
                </a:cubicBezTo>
                <a:cubicBezTo>
                  <a:pt x="2197" y="5064"/>
                  <a:pt x="2058" y="5029"/>
                  <a:pt x="1922" y="4987"/>
                </a:cubicBezTo>
                <a:cubicBezTo>
                  <a:pt x="1887" y="4977"/>
                  <a:pt x="1853" y="4966"/>
                  <a:pt x="1819" y="4955"/>
                </a:cubicBezTo>
                <a:cubicBezTo>
                  <a:pt x="1781" y="4942"/>
                  <a:pt x="1743" y="4930"/>
                  <a:pt x="1706" y="4917"/>
                </a:cubicBezTo>
                <a:cubicBezTo>
                  <a:pt x="1594" y="4880"/>
                  <a:pt x="1469" y="4853"/>
                  <a:pt x="1338" y="4843"/>
                </a:cubicBezTo>
                <a:cubicBezTo>
                  <a:pt x="1076" y="4822"/>
                  <a:pt x="782" y="4880"/>
                  <a:pt x="543" y="5025"/>
                </a:cubicBezTo>
                <a:cubicBezTo>
                  <a:pt x="304" y="5168"/>
                  <a:pt x="123" y="5390"/>
                  <a:pt x="46" y="5640"/>
                </a:cubicBezTo>
                <a:cubicBezTo>
                  <a:pt x="-34" y="5889"/>
                  <a:pt x="-4" y="6160"/>
                  <a:pt x="100" y="6381"/>
                </a:cubicBezTo>
                <a:cubicBezTo>
                  <a:pt x="204" y="6604"/>
                  <a:pt x="369" y="6779"/>
                  <a:pt x="541" y="6911"/>
                </a:cubicBezTo>
                <a:cubicBezTo>
                  <a:pt x="542" y="6911"/>
                  <a:pt x="543" y="6910"/>
                  <a:pt x="543" y="6910"/>
                </a:cubicBezTo>
                <a:cubicBezTo>
                  <a:pt x="1465" y="7610"/>
                  <a:pt x="2084" y="8536"/>
                  <a:pt x="2343" y="9549"/>
                </a:cubicBezTo>
                <a:cubicBezTo>
                  <a:pt x="2607" y="10562"/>
                  <a:pt x="2501" y="11652"/>
                  <a:pt x="2067" y="12652"/>
                </a:cubicBezTo>
                <a:cubicBezTo>
                  <a:pt x="1852" y="13152"/>
                  <a:pt x="1549" y="13623"/>
                  <a:pt x="1175" y="14045"/>
                </a:cubicBezTo>
                <a:cubicBezTo>
                  <a:pt x="988" y="14257"/>
                  <a:pt x="785" y="14456"/>
                  <a:pt x="565" y="14641"/>
                </a:cubicBezTo>
                <a:cubicBezTo>
                  <a:pt x="537" y="14664"/>
                  <a:pt x="509" y="14687"/>
                  <a:pt x="481" y="14710"/>
                </a:cubicBezTo>
                <a:cubicBezTo>
                  <a:pt x="449" y="14735"/>
                  <a:pt x="416" y="14761"/>
                  <a:pt x="384" y="14787"/>
                </a:cubicBezTo>
                <a:cubicBezTo>
                  <a:pt x="262" y="14888"/>
                  <a:pt x="169" y="15013"/>
                  <a:pt x="114" y="15147"/>
                </a:cubicBezTo>
                <a:cubicBezTo>
                  <a:pt x="5" y="15418"/>
                  <a:pt x="39" y="15673"/>
                  <a:pt x="116" y="15883"/>
                </a:cubicBezTo>
                <a:cubicBezTo>
                  <a:pt x="196" y="16096"/>
                  <a:pt x="324" y="16282"/>
                  <a:pt x="510" y="16443"/>
                </a:cubicBezTo>
                <a:cubicBezTo>
                  <a:pt x="604" y="16522"/>
                  <a:pt x="715" y="16595"/>
                  <a:pt x="847" y="16652"/>
                </a:cubicBezTo>
                <a:cubicBezTo>
                  <a:pt x="978" y="16709"/>
                  <a:pt x="1133" y="16748"/>
                  <a:pt x="1298" y="16754"/>
                </a:cubicBezTo>
                <a:cubicBezTo>
                  <a:pt x="1380" y="16756"/>
                  <a:pt x="1462" y="16750"/>
                  <a:pt x="1543" y="16736"/>
                </a:cubicBezTo>
                <a:cubicBezTo>
                  <a:pt x="1583" y="16729"/>
                  <a:pt x="1623" y="16721"/>
                  <a:pt x="1661" y="16711"/>
                </a:cubicBezTo>
                <a:cubicBezTo>
                  <a:pt x="1683" y="16704"/>
                  <a:pt x="1705" y="16698"/>
                  <a:pt x="1727" y="16692"/>
                </a:cubicBezTo>
                <a:cubicBezTo>
                  <a:pt x="1763" y="16681"/>
                  <a:pt x="1798" y="16671"/>
                  <a:pt x="1834" y="16661"/>
                </a:cubicBezTo>
                <a:cubicBezTo>
                  <a:pt x="1870" y="16651"/>
                  <a:pt x="1907" y="16641"/>
                  <a:pt x="1943" y="16632"/>
                </a:cubicBezTo>
                <a:cubicBezTo>
                  <a:pt x="2089" y="16594"/>
                  <a:pt x="2236" y="16562"/>
                  <a:pt x="2384" y="16534"/>
                </a:cubicBezTo>
                <a:cubicBezTo>
                  <a:pt x="2978" y="16424"/>
                  <a:pt x="3591" y="16393"/>
                  <a:pt x="4194" y="16443"/>
                </a:cubicBezTo>
                <a:cubicBezTo>
                  <a:pt x="5402" y="16540"/>
                  <a:pt x="6568" y="16973"/>
                  <a:pt x="7493" y="17667"/>
                </a:cubicBezTo>
                <a:cubicBezTo>
                  <a:pt x="8420" y="18356"/>
                  <a:pt x="9101" y="19300"/>
                  <a:pt x="9407" y="20333"/>
                </a:cubicBezTo>
                <a:cubicBezTo>
                  <a:pt x="9427" y="20398"/>
                  <a:pt x="9443" y="20464"/>
                  <a:pt x="9460" y="20529"/>
                </a:cubicBezTo>
                <a:cubicBezTo>
                  <a:pt x="9468" y="20562"/>
                  <a:pt x="9475" y="20594"/>
                  <a:pt x="9483" y="20627"/>
                </a:cubicBezTo>
                <a:cubicBezTo>
                  <a:pt x="9488" y="20647"/>
                  <a:pt x="9492" y="20666"/>
                  <a:pt x="9497" y="20685"/>
                </a:cubicBezTo>
                <a:cubicBezTo>
                  <a:pt x="9499" y="20694"/>
                  <a:pt x="9502" y="20704"/>
                  <a:pt x="9505" y="20713"/>
                </a:cubicBezTo>
                <a:cubicBezTo>
                  <a:pt x="9509" y="20728"/>
                  <a:pt x="9514" y="20744"/>
                  <a:pt x="9518" y="20759"/>
                </a:cubicBezTo>
                <a:cubicBezTo>
                  <a:pt x="9554" y="20877"/>
                  <a:pt x="9607" y="20989"/>
                  <a:pt x="9689" y="21099"/>
                </a:cubicBezTo>
                <a:cubicBezTo>
                  <a:pt x="9770" y="21207"/>
                  <a:pt x="9878" y="21306"/>
                  <a:pt x="10002" y="21380"/>
                </a:cubicBezTo>
                <a:cubicBezTo>
                  <a:pt x="10253" y="21532"/>
                  <a:pt x="10546" y="21583"/>
                  <a:pt x="10809" y="21567"/>
                </a:cubicBezTo>
                <a:cubicBezTo>
                  <a:pt x="11074" y="21551"/>
                  <a:pt x="11324" y="21472"/>
                  <a:pt x="11546" y="21331"/>
                </a:cubicBezTo>
                <a:cubicBezTo>
                  <a:pt x="11766" y="21191"/>
                  <a:pt x="11953" y="20968"/>
                  <a:pt x="12022" y="20711"/>
                </a:cubicBezTo>
                <a:cubicBezTo>
                  <a:pt x="12040" y="20639"/>
                  <a:pt x="12058" y="20568"/>
                  <a:pt x="12076" y="20496"/>
                </a:cubicBezTo>
                <a:cubicBezTo>
                  <a:pt x="12094" y="20431"/>
                  <a:pt x="12114" y="20368"/>
                  <a:pt x="12135" y="20303"/>
                </a:cubicBezTo>
                <a:cubicBezTo>
                  <a:pt x="12217" y="20044"/>
                  <a:pt x="12320" y="19791"/>
                  <a:pt x="12444" y="19546"/>
                </a:cubicBezTo>
                <a:cubicBezTo>
                  <a:pt x="12935" y="18564"/>
                  <a:pt x="13762" y="17718"/>
                  <a:pt x="14798" y="17165"/>
                </a:cubicBezTo>
                <a:cubicBezTo>
                  <a:pt x="15832" y="16608"/>
                  <a:pt x="17063" y="16343"/>
                  <a:pt x="18273" y="16412"/>
                </a:cubicBezTo>
                <a:cubicBezTo>
                  <a:pt x="18576" y="16429"/>
                  <a:pt x="18877" y="16465"/>
                  <a:pt x="19173" y="16522"/>
                </a:cubicBezTo>
                <a:cubicBezTo>
                  <a:pt x="19322" y="16550"/>
                  <a:pt x="19469" y="16583"/>
                  <a:pt x="19615" y="16621"/>
                </a:cubicBezTo>
                <a:cubicBezTo>
                  <a:pt x="19687" y="16640"/>
                  <a:pt x="19760" y="16660"/>
                  <a:pt x="19832" y="16681"/>
                </a:cubicBezTo>
                <a:cubicBezTo>
                  <a:pt x="19846" y="16685"/>
                  <a:pt x="19859" y="16689"/>
                  <a:pt x="19873" y="16693"/>
                </a:cubicBezTo>
                <a:cubicBezTo>
                  <a:pt x="19893" y="16698"/>
                  <a:pt x="19913" y="16704"/>
                  <a:pt x="19933" y="16709"/>
                </a:cubicBezTo>
                <a:cubicBezTo>
                  <a:pt x="19975" y="16717"/>
                  <a:pt x="20008" y="16723"/>
                  <a:pt x="20046" y="16728"/>
                </a:cubicBezTo>
                <a:cubicBezTo>
                  <a:pt x="20121" y="16737"/>
                  <a:pt x="20198" y="16740"/>
                  <a:pt x="20274" y="16736"/>
                </a:cubicBezTo>
                <a:cubicBezTo>
                  <a:pt x="20578" y="16722"/>
                  <a:pt x="20847" y="16602"/>
                  <a:pt x="21043" y="16446"/>
                </a:cubicBezTo>
                <a:cubicBezTo>
                  <a:pt x="21241" y="16289"/>
                  <a:pt x="21385" y="16092"/>
                  <a:pt x="21461" y="15863"/>
                </a:cubicBezTo>
                <a:cubicBezTo>
                  <a:pt x="21538" y="15636"/>
                  <a:pt x="21536" y="15362"/>
                  <a:pt x="21413" y="15118"/>
                </a:cubicBezTo>
                <a:cubicBezTo>
                  <a:pt x="21353" y="14997"/>
                  <a:pt x="21267" y="14888"/>
                  <a:pt x="21170" y="14801"/>
                </a:cubicBezTo>
                <a:cubicBezTo>
                  <a:pt x="21157" y="14789"/>
                  <a:pt x="21145" y="14778"/>
                  <a:pt x="21133" y="14768"/>
                </a:cubicBezTo>
                <a:cubicBezTo>
                  <a:pt x="21122" y="14759"/>
                  <a:pt x="21110" y="14751"/>
                  <a:pt x="21100" y="14742"/>
                </a:cubicBezTo>
                <a:cubicBezTo>
                  <a:pt x="21085" y="14730"/>
                  <a:pt x="21070" y="14716"/>
                  <a:pt x="21055" y="14704"/>
                </a:cubicBezTo>
                <a:cubicBezTo>
                  <a:pt x="21028" y="14682"/>
                  <a:pt x="20999" y="14660"/>
                  <a:pt x="20971" y="14637"/>
                </a:cubicBezTo>
                <a:cubicBezTo>
                  <a:pt x="20086" y="13898"/>
                  <a:pt x="19447" y="12932"/>
                  <a:pt x="19183" y="11888"/>
                </a:cubicBezTo>
                <a:cubicBezTo>
                  <a:pt x="18915" y="10846"/>
                  <a:pt x="19029" y="9731"/>
                  <a:pt x="19498" y="8744"/>
                </a:cubicBezTo>
                <a:cubicBezTo>
                  <a:pt x="19731" y="8250"/>
                  <a:pt x="20049" y="7787"/>
                  <a:pt x="20437" y="7375"/>
                </a:cubicBezTo>
                <a:cubicBezTo>
                  <a:pt x="20631" y="7168"/>
                  <a:pt x="20842" y="6975"/>
                  <a:pt x="21069" y="6796"/>
                </a:cubicBezTo>
                <a:cubicBezTo>
                  <a:pt x="21086" y="6782"/>
                  <a:pt x="21104" y="6768"/>
                  <a:pt x="21121" y="6753"/>
                </a:cubicBezTo>
                <a:cubicBezTo>
                  <a:pt x="21140" y="6737"/>
                  <a:pt x="21177" y="6705"/>
                  <a:pt x="21195" y="6686"/>
                </a:cubicBezTo>
                <a:cubicBezTo>
                  <a:pt x="21240" y="6643"/>
                  <a:pt x="21283" y="6596"/>
                  <a:pt x="21321" y="6544"/>
                </a:cubicBezTo>
                <a:cubicBezTo>
                  <a:pt x="21399" y="6442"/>
                  <a:pt x="21460" y="6324"/>
                  <a:pt x="21494" y="6197"/>
                </a:cubicBezTo>
                <a:cubicBezTo>
                  <a:pt x="21566" y="5944"/>
                  <a:pt x="21522" y="5678"/>
                  <a:pt x="21405" y="5461"/>
                </a:cubicBezTo>
                <a:cubicBezTo>
                  <a:pt x="21288" y="5243"/>
                  <a:pt x="21103" y="5063"/>
                  <a:pt x="20865" y="4939"/>
                </a:cubicBezTo>
                <a:cubicBezTo>
                  <a:pt x="20628" y="4815"/>
                  <a:pt x="20329" y="4759"/>
                  <a:pt x="20048" y="4795"/>
                </a:cubicBezTo>
                <a:cubicBezTo>
                  <a:pt x="19978" y="4804"/>
                  <a:pt x="19909" y="4817"/>
                  <a:pt x="19844" y="4835"/>
                </a:cubicBezTo>
                <a:cubicBezTo>
                  <a:pt x="19803" y="4846"/>
                  <a:pt x="19762" y="4858"/>
                  <a:pt x="19722" y="4869"/>
                </a:cubicBezTo>
                <a:cubicBezTo>
                  <a:pt x="19653" y="4888"/>
                  <a:pt x="19578" y="4908"/>
                  <a:pt x="19506" y="4926"/>
                </a:cubicBezTo>
                <a:cubicBezTo>
                  <a:pt x="19359" y="4961"/>
                  <a:pt x="19210" y="4992"/>
                  <a:pt x="19061" y="5018"/>
                </a:cubicBezTo>
                <a:cubicBezTo>
                  <a:pt x="18464" y="5122"/>
                  <a:pt x="17850" y="5149"/>
                  <a:pt x="17247" y="5096"/>
                </a:cubicBezTo>
                <a:cubicBezTo>
                  <a:pt x="16038" y="4993"/>
                  <a:pt x="14879" y="4552"/>
                  <a:pt x="13962" y="3850"/>
                </a:cubicBezTo>
                <a:cubicBezTo>
                  <a:pt x="13042" y="3152"/>
                  <a:pt x="12373" y="2202"/>
                  <a:pt x="12076" y="1166"/>
                </a:cubicBezTo>
                <a:cubicBezTo>
                  <a:pt x="12058" y="1101"/>
                  <a:pt x="12040" y="1035"/>
                  <a:pt x="12024" y="970"/>
                </a:cubicBezTo>
                <a:cubicBezTo>
                  <a:pt x="12015" y="933"/>
                  <a:pt x="12007" y="897"/>
                  <a:pt x="11999" y="860"/>
                </a:cubicBezTo>
                <a:cubicBezTo>
                  <a:pt x="11996" y="851"/>
                  <a:pt x="11993" y="842"/>
                  <a:pt x="11991" y="833"/>
                </a:cubicBezTo>
                <a:cubicBezTo>
                  <a:pt x="11985" y="814"/>
                  <a:pt x="11981" y="795"/>
                  <a:pt x="11975" y="776"/>
                </a:cubicBezTo>
                <a:cubicBezTo>
                  <a:pt x="11964" y="744"/>
                  <a:pt x="11952" y="714"/>
                  <a:pt x="11938" y="683"/>
                </a:cubicBezTo>
                <a:cubicBezTo>
                  <a:pt x="11830" y="436"/>
                  <a:pt x="11599" y="233"/>
                  <a:pt x="11351" y="127"/>
                </a:cubicBezTo>
                <a:cubicBezTo>
                  <a:pt x="11102" y="18"/>
                  <a:pt x="10837" y="-17"/>
                  <a:pt x="10576" y="7"/>
                </a:cubicBezTo>
                <a:close/>
                <a:moveTo>
                  <a:pt x="10690" y="939"/>
                </a:moveTo>
                <a:cubicBezTo>
                  <a:pt x="10756" y="932"/>
                  <a:pt x="10831" y="943"/>
                  <a:pt x="10877" y="965"/>
                </a:cubicBezTo>
                <a:cubicBezTo>
                  <a:pt x="10925" y="987"/>
                  <a:pt x="10938" y="1005"/>
                  <a:pt x="10951" y="1030"/>
                </a:cubicBezTo>
                <a:cubicBezTo>
                  <a:pt x="10952" y="1034"/>
                  <a:pt x="10955" y="1037"/>
                  <a:pt x="10957" y="1040"/>
                </a:cubicBezTo>
                <a:cubicBezTo>
                  <a:pt x="10959" y="1048"/>
                  <a:pt x="10961" y="1055"/>
                  <a:pt x="10962" y="1063"/>
                </a:cubicBezTo>
                <a:cubicBezTo>
                  <a:pt x="10971" y="1097"/>
                  <a:pt x="10978" y="1132"/>
                  <a:pt x="10986" y="1167"/>
                </a:cubicBezTo>
                <a:cubicBezTo>
                  <a:pt x="11004" y="1244"/>
                  <a:pt x="11024" y="1321"/>
                  <a:pt x="11046" y="1397"/>
                </a:cubicBezTo>
                <a:cubicBezTo>
                  <a:pt x="11396" y="2620"/>
                  <a:pt x="12185" y="3739"/>
                  <a:pt x="13268" y="4560"/>
                </a:cubicBezTo>
                <a:cubicBezTo>
                  <a:pt x="13808" y="4971"/>
                  <a:pt x="14419" y="5310"/>
                  <a:pt x="15076" y="5559"/>
                </a:cubicBezTo>
                <a:cubicBezTo>
                  <a:pt x="15732" y="5808"/>
                  <a:pt x="16433" y="5965"/>
                  <a:pt x="17142" y="6027"/>
                </a:cubicBezTo>
                <a:cubicBezTo>
                  <a:pt x="17851" y="6091"/>
                  <a:pt x="18569" y="6058"/>
                  <a:pt x="19267" y="5936"/>
                </a:cubicBezTo>
                <a:cubicBezTo>
                  <a:pt x="19441" y="5906"/>
                  <a:pt x="19615" y="5871"/>
                  <a:pt x="19786" y="5830"/>
                </a:cubicBezTo>
                <a:cubicBezTo>
                  <a:pt x="19872" y="5809"/>
                  <a:pt x="19955" y="5788"/>
                  <a:pt x="20044" y="5763"/>
                </a:cubicBezTo>
                <a:cubicBezTo>
                  <a:pt x="20082" y="5753"/>
                  <a:pt x="20119" y="5741"/>
                  <a:pt x="20157" y="5731"/>
                </a:cubicBezTo>
                <a:cubicBezTo>
                  <a:pt x="20170" y="5727"/>
                  <a:pt x="20182" y="5725"/>
                  <a:pt x="20194" y="5724"/>
                </a:cubicBezTo>
                <a:cubicBezTo>
                  <a:pt x="20240" y="5719"/>
                  <a:pt x="20282" y="5725"/>
                  <a:pt x="20330" y="5749"/>
                </a:cubicBezTo>
                <a:cubicBezTo>
                  <a:pt x="20377" y="5773"/>
                  <a:pt x="20423" y="5816"/>
                  <a:pt x="20447" y="5861"/>
                </a:cubicBezTo>
                <a:cubicBezTo>
                  <a:pt x="20471" y="5907"/>
                  <a:pt x="20472" y="5946"/>
                  <a:pt x="20464" y="5976"/>
                </a:cubicBezTo>
                <a:cubicBezTo>
                  <a:pt x="20460" y="5992"/>
                  <a:pt x="20451" y="6007"/>
                  <a:pt x="20437" y="6026"/>
                </a:cubicBezTo>
                <a:cubicBezTo>
                  <a:pt x="20430" y="6035"/>
                  <a:pt x="20422" y="6045"/>
                  <a:pt x="20412" y="6055"/>
                </a:cubicBezTo>
                <a:cubicBezTo>
                  <a:pt x="20408" y="6058"/>
                  <a:pt x="20404" y="6063"/>
                  <a:pt x="20400" y="6067"/>
                </a:cubicBezTo>
                <a:cubicBezTo>
                  <a:pt x="20387" y="6077"/>
                  <a:pt x="20374" y="6087"/>
                  <a:pt x="20361" y="6098"/>
                </a:cubicBezTo>
                <a:cubicBezTo>
                  <a:pt x="20096" y="6307"/>
                  <a:pt x="19848" y="6534"/>
                  <a:pt x="19620" y="6776"/>
                </a:cubicBezTo>
                <a:cubicBezTo>
                  <a:pt x="19166" y="7259"/>
                  <a:pt x="18792" y="7802"/>
                  <a:pt x="18518" y="8384"/>
                </a:cubicBezTo>
                <a:cubicBezTo>
                  <a:pt x="17967" y="9545"/>
                  <a:pt x="17832" y="10861"/>
                  <a:pt x="18149" y="12092"/>
                </a:cubicBezTo>
                <a:cubicBezTo>
                  <a:pt x="18461" y="13325"/>
                  <a:pt x="19212" y="14457"/>
                  <a:pt x="20242" y="15317"/>
                </a:cubicBezTo>
                <a:cubicBezTo>
                  <a:pt x="20298" y="15362"/>
                  <a:pt x="20351" y="15407"/>
                  <a:pt x="20406" y="15453"/>
                </a:cubicBezTo>
                <a:cubicBezTo>
                  <a:pt x="20424" y="15469"/>
                  <a:pt x="20435" y="15481"/>
                  <a:pt x="20441" y="15494"/>
                </a:cubicBezTo>
                <a:cubicBezTo>
                  <a:pt x="20452" y="15517"/>
                  <a:pt x="20457" y="15552"/>
                  <a:pt x="20441" y="15604"/>
                </a:cubicBezTo>
                <a:cubicBezTo>
                  <a:pt x="20425" y="15654"/>
                  <a:pt x="20383" y="15711"/>
                  <a:pt x="20336" y="15748"/>
                </a:cubicBezTo>
                <a:cubicBezTo>
                  <a:pt x="20287" y="15786"/>
                  <a:pt x="20243" y="15799"/>
                  <a:pt x="20217" y="15799"/>
                </a:cubicBezTo>
                <a:cubicBezTo>
                  <a:pt x="20210" y="15800"/>
                  <a:pt x="20161" y="15791"/>
                  <a:pt x="20161" y="15791"/>
                </a:cubicBezTo>
                <a:cubicBezTo>
                  <a:pt x="20157" y="15790"/>
                  <a:pt x="20001" y="15744"/>
                  <a:pt x="19916" y="15722"/>
                </a:cubicBezTo>
                <a:cubicBezTo>
                  <a:pt x="19745" y="15678"/>
                  <a:pt x="19573" y="15638"/>
                  <a:pt x="19399" y="15605"/>
                </a:cubicBezTo>
                <a:cubicBezTo>
                  <a:pt x="19051" y="15539"/>
                  <a:pt x="18695" y="15496"/>
                  <a:pt x="18339" y="15477"/>
                </a:cubicBezTo>
                <a:cubicBezTo>
                  <a:pt x="16916" y="15396"/>
                  <a:pt x="15467" y="15707"/>
                  <a:pt x="14248" y="16364"/>
                </a:cubicBezTo>
                <a:cubicBezTo>
                  <a:pt x="13023" y="17017"/>
                  <a:pt x="12047" y="18016"/>
                  <a:pt x="11472" y="19165"/>
                </a:cubicBezTo>
                <a:cubicBezTo>
                  <a:pt x="11327" y="19452"/>
                  <a:pt x="11208" y="19748"/>
                  <a:pt x="11112" y="20050"/>
                </a:cubicBezTo>
                <a:cubicBezTo>
                  <a:pt x="11088" y="20126"/>
                  <a:pt x="11065" y="20201"/>
                  <a:pt x="11044" y="20277"/>
                </a:cubicBezTo>
                <a:cubicBezTo>
                  <a:pt x="11024" y="20349"/>
                  <a:pt x="11002" y="20449"/>
                  <a:pt x="10992" y="20490"/>
                </a:cubicBezTo>
                <a:cubicBezTo>
                  <a:pt x="10984" y="20517"/>
                  <a:pt x="10966" y="20544"/>
                  <a:pt x="10920" y="20575"/>
                </a:cubicBezTo>
                <a:cubicBezTo>
                  <a:pt x="10874" y="20606"/>
                  <a:pt x="10803" y="20629"/>
                  <a:pt x="10739" y="20632"/>
                </a:cubicBezTo>
                <a:cubicBezTo>
                  <a:pt x="10674" y="20636"/>
                  <a:pt x="10625" y="20620"/>
                  <a:pt x="10603" y="20606"/>
                </a:cubicBezTo>
                <a:cubicBezTo>
                  <a:pt x="10582" y="20593"/>
                  <a:pt x="10562" y="20572"/>
                  <a:pt x="10545" y="20521"/>
                </a:cubicBezTo>
                <a:cubicBezTo>
                  <a:pt x="10544" y="20518"/>
                  <a:pt x="10537" y="20497"/>
                  <a:pt x="10535" y="20488"/>
                </a:cubicBezTo>
                <a:cubicBezTo>
                  <a:pt x="10531" y="20472"/>
                  <a:pt x="10529" y="20456"/>
                  <a:pt x="10525" y="20440"/>
                </a:cubicBezTo>
                <a:cubicBezTo>
                  <a:pt x="10516" y="20401"/>
                  <a:pt x="10505" y="20363"/>
                  <a:pt x="10496" y="20325"/>
                </a:cubicBezTo>
                <a:cubicBezTo>
                  <a:pt x="10477" y="20248"/>
                  <a:pt x="10457" y="20171"/>
                  <a:pt x="10434" y="20095"/>
                </a:cubicBezTo>
                <a:cubicBezTo>
                  <a:pt x="10072" y="18874"/>
                  <a:pt x="9270" y="17762"/>
                  <a:pt x="8179" y="16951"/>
                </a:cubicBezTo>
                <a:cubicBezTo>
                  <a:pt x="7092" y="16135"/>
                  <a:pt x="5714" y="15623"/>
                  <a:pt x="4293" y="15509"/>
                </a:cubicBezTo>
                <a:cubicBezTo>
                  <a:pt x="3583" y="15451"/>
                  <a:pt x="2864" y="15490"/>
                  <a:pt x="2167" y="15619"/>
                </a:cubicBezTo>
                <a:cubicBezTo>
                  <a:pt x="1992" y="15652"/>
                  <a:pt x="1819" y="15689"/>
                  <a:pt x="1648" y="15732"/>
                </a:cubicBezTo>
                <a:cubicBezTo>
                  <a:pt x="1605" y="15743"/>
                  <a:pt x="1562" y="15755"/>
                  <a:pt x="1519" y="15767"/>
                </a:cubicBezTo>
                <a:cubicBezTo>
                  <a:pt x="1385" y="15804"/>
                  <a:pt x="1252" y="15803"/>
                  <a:pt x="1169" y="15677"/>
                </a:cubicBezTo>
                <a:cubicBezTo>
                  <a:pt x="1064" y="15516"/>
                  <a:pt x="1175" y="15420"/>
                  <a:pt x="1199" y="15401"/>
                </a:cubicBezTo>
                <a:cubicBezTo>
                  <a:pt x="1231" y="15374"/>
                  <a:pt x="1263" y="15347"/>
                  <a:pt x="1296" y="15321"/>
                </a:cubicBezTo>
                <a:cubicBezTo>
                  <a:pt x="1554" y="15104"/>
                  <a:pt x="1794" y="14872"/>
                  <a:pt x="2013" y="14624"/>
                </a:cubicBezTo>
                <a:cubicBezTo>
                  <a:pt x="2451" y="14129"/>
                  <a:pt x="2806" y="13573"/>
                  <a:pt x="3059" y="12985"/>
                </a:cubicBezTo>
                <a:cubicBezTo>
                  <a:pt x="3570" y="11808"/>
                  <a:pt x="3690" y="10516"/>
                  <a:pt x="3374" y="9321"/>
                </a:cubicBezTo>
                <a:cubicBezTo>
                  <a:pt x="3218" y="8723"/>
                  <a:pt x="2957" y="8147"/>
                  <a:pt x="2596" y="7620"/>
                </a:cubicBezTo>
                <a:cubicBezTo>
                  <a:pt x="2237" y="7093"/>
                  <a:pt x="1772" y="6610"/>
                  <a:pt x="1237" y="6202"/>
                </a:cubicBezTo>
                <a:cubicBezTo>
                  <a:pt x="1226" y="6214"/>
                  <a:pt x="1214" y="6225"/>
                  <a:pt x="1202" y="6237"/>
                </a:cubicBezTo>
                <a:lnTo>
                  <a:pt x="1200" y="6237"/>
                </a:lnTo>
                <a:cubicBezTo>
                  <a:pt x="1212" y="6225"/>
                  <a:pt x="1224" y="6213"/>
                  <a:pt x="1235" y="6201"/>
                </a:cubicBezTo>
                <a:cubicBezTo>
                  <a:pt x="1159" y="6143"/>
                  <a:pt x="1110" y="6084"/>
                  <a:pt x="1088" y="6034"/>
                </a:cubicBezTo>
                <a:cubicBezTo>
                  <a:pt x="1066" y="5985"/>
                  <a:pt x="1066" y="5946"/>
                  <a:pt x="1076" y="5912"/>
                </a:cubicBezTo>
                <a:cubicBezTo>
                  <a:pt x="1087" y="5879"/>
                  <a:pt x="1112" y="5849"/>
                  <a:pt x="1144" y="5830"/>
                </a:cubicBezTo>
                <a:cubicBezTo>
                  <a:pt x="1177" y="5812"/>
                  <a:pt x="1215" y="5802"/>
                  <a:pt x="1274" y="5806"/>
                </a:cubicBezTo>
                <a:cubicBezTo>
                  <a:pt x="1304" y="5809"/>
                  <a:pt x="1337" y="5813"/>
                  <a:pt x="1375" y="5827"/>
                </a:cubicBezTo>
                <a:cubicBezTo>
                  <a:pt x="1413" y="5840"/>
                  <a:pt x="1452" y="5854"/>
                  <a:pt x="1490" y="5866"/>
                </a:cubicBezTo>
                <a:cubicBezTo>
                  <a:pt x="1532" y="5880"/>
                  <a:pt x="1573" y="5892"/>
                  <a:pt x="1614" y="5906"/>
                </a:cubicBezTo>
                <a:cubicBezTo>
                  <a:pt x="1783" y="5958"/>
                  <a:pt x="1954" y="6002"/>
                  <a:pt x="2126" y="6039"/>
                </a:cubicBezTo>
                <a:cubicBezTo>
                  <a:pt x="2469" y="6113"/>
                  <a:pt x="2817" y="6157"/>
                  <a:pt x="3166" y="6173"/>
                </a:cubicBezTo>
                <a:cubicBezTo>
                  <a:pt x="4564" y="6236"/>
                  <a:pt x="5943" y="5861"/>
                  <a:pt x="7166" y="5228"/>
                </a:cubicBezTo>
                <a:cubicBezTo>
                  <a:pt x="8399" y="4590"/>
                  <a:pt x="9395" y="3609"/>
                  <a:pt x="9989" y="2465"/>
                </a:cubicBezTo>
                <a:cubicBezTo>
                  <a:pt x="10138" y="2179"/>
                  <a:pt x="10261" y="1883"/>
                  <a:pt x="10360" y="1581"/>
                </a:cubicBezTo>
                <a:cubicBezTo>
                  <a:pt x="10410" y="1429"/>
                  <a:pt x="10452" y="1280"/>
                  <a:pt x="10490" y="1123"/>
                </a:cubicBezTo>
                <a:cubicBezTo>
                  <a:pt x="10494" y="1105"/>
                  <a:pt x="10499" y="1087"/>
                  <a:pt x="10504" y="1069"/>
                </a:cubicBezTo>
                <a:cubicBezTo>
                  <a:pt x="10505" y="1064"/>
                  <a:pt x="10506" y="1059"/>
                  <a:pt x="10508" y="1054"/>
                </a:cubicBezTo>
                <a:cubicBezTo>
                  <a:pt x="10508" y="1051"/>
                  <a:pt x="10509" y="1048"/>
                  <a:pt x="10510" y="1045"/>
                </a:cubicBezTo>
                <a:cubicBezTo>
                  <a:pt x="10513" y="1036"/>
                  <a:pt x="10516" y="1028"/>
                  <a:pt x="10519" y="1021"/>
                </a:cubicBezTo>
                <a:cubicBezTo>
                  <a:pt x="10527" y="1008"/>
                  <a:pt x="10534" y="999"/>
                  <a:pt x="10547" y="989"/>
                </a:cubicBezTo>
                <a:cubicBezTo>
                  <a:pt x="10570" y="968"/>
                  <a:pt x="10623" y="945"/>
                  <a:pt x="10690" y="939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w="12700"/>
        </p:spPr>
        <p:txBody>
          <a:bodyPr vert="horz" anchor="ctr" wrap="square" tIns="45720" lIns="91440" bIns="45720" rIns="91440">
            <a:normAutofit/>
          </a:bodyPr>
          <a:p>
            <a:pPr algn="l" marL="0">
              <a:lnSpc>
                <a:spcPct val="90000"/>
              </a:lnSpc>
              <a:spcBef>
                <a:spcPts val="225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>
            <a:off x="5849803" y="2070655"/>
            <a:ext cx="492394" cy="492394"/>
            <a:chOff x="5836467" y="1985726"/>
            <a:chExt cx="519066" cy="519066"/>
          </a:xfrm>
        </p:grpSpPr>
        <p:sp>
          <p:nvSpPr>
            <p:cNvPr name="AutoShape 4" id="4"/>
            <p:cNvSpPr/>
            <p:nvPr/>
          </p:nvSpPr>
          <p:spPr>
            <a:xfrm>
              <a:off x="5836467" y="1985726"/>
              <a:ext cx="519066" cy="51906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5" id="5"/>
            <p:cNvSpPr/>
            <p:nvPr/>
          </p:nvSpPr>
          <p:spPr>
            <a:xfrm>
              <a:off x="5982322" y="2092592"/>
              <a:ext cx="227356" cy="305334"/>
            </a:xfrm>
            <a:custGeom>
              <a:avLst/>
              <a:gdLst/>
              <a:ahLst/>
              <a:cxnLst/>
              <a:rect r="r" b="b" t="t" l="l"/>
              <a:pathLst>
                <a:path w="377" h="507" stroke="true" fill="norm" extrusionOk="true">
                  <a:moveTo>
                    <a:pt x="91" y="170"/>
                  </a:moveTo>
                  <a:lnTo>
                    <a:pt x="91" y="45"/>
                  </a:lnTo>
                  <a:cubicBezTo>
                    <a:pt x="91" y="43"/>
                    <a:pt x="91" y="42"/>
                    <a:pt x="91" y="40"/>
                  </a:cubicBezTo>
                  <a:cubicBezTo>
                    <a:pt x="94" y="37"/>
                    <a:pt x="113" y="0"/>
                    <a:pt x="227" y="33"/>
                  </a:cubicBezTo>
                  <a:cubicBezTo>
                    <a:pt x="240" y="36"/>
                    <a:pt x="269" y="44"/>
                    <a:pt x="287" y="43"/>
                  </a:cubicBezTo>
                  <a:cubicBezTo>
                    <a:pt x="287" y="44"/>
                    <a:pt x="287" y="45"/>
                    <a:pt x="287" y="45"/>
                  </a:cubicBezTo>
                  <a:lnTo>
                    <a:pt x="287" y="170"/>
                  </a:lnTo>
                  <a:cubicBezTo>
                    <a:pt x="287" y="215"/>
                    <a:pt x="243" y="252"/>
                    <a:pt x="189" y="252"/>
                  </a:cubicBezTo>
                  <a:cubicBezTo>
                    <a:pt x="135" y="252"/>
                    <a:pt x="91" y="215"/>
                    <a:pt x="91" y="170"/>
                  </a:cubicBezTo>
                  <a:close/>
                  <a:moveTo>
                    <a:pt x="89" y="314"/>
                  </a:moveTo>
                  <a:lnTo>
                    <a:pt x="149" y="314"/>
                  </a:lnTo>
                  <a:lnTo>
                    <a:pt x="121" y="259"/>
                  </a:lnTo>
                  <a:lnTo>
                    <a:pt x="85" y="259"/>
                  </a:lnTo>
                  <a:cubicBezTo>
                    <a:pt x="67" y="259"/>
                    <a:pt x="50" y="271"/>
                    <a:pt x="44" y="288"/>
                  </a:cubicBezTo>
                  <a:lnTo>
                    <a:pt x="4" y="413"/>
                  </a:lnTo>
                  <a:cubicBezTo>
                    <a:pt x="0" y="426"/>
                    <a:pt x="2" y="440"/>
                    <a:pt x="10" y="451"/>
                  </a:cubicBezTo>
                  <a:cubicBezTo>
                    <a:pt x="19" y="462"/>
                    <a:pt x="31" y="469"/>
                    <a:pt x="45" y="469"/>
                  </a:cubicBezTo>
                  <a:lnTo>
                    <a:pt x="89" y="469"/>
                  </a:lnTo>
                  <a:lnTo>
                    <a:pt x="89" y="314"/>
                  </a:lnTo>
                  <a:lnTo>
                    <a:pt x="89" y="314"/>
                  </a:lnTo>
                  <a:close/>
                  <a:moveTo>
                    <a:pt x="373" y="413"/>
                  </a:moveTo>
                  <a:lnTo>
                    <a:pt x="333" y="288"/>
                  </a:lnTo>
                  <a:cubicBezTo>
                    <a:pt x="327" y="271"/>
                    <a:pt x="311" y="259"/>
                    <a:pt x="292" y="259"/>
                  </a:cubicBezTo>
                  <a:lnTo>
                    <a:pt x="257" y="259"/>
                  </a:lnTo>
                  <a:lnTo>
                    <a:pt x="229" y="314"/>
                  </a:lnTo>
                  <a:lnTo>
                    <a:pt x="289" y="314"/>
                  </a:lnTo>
                  <a:lnTo>
                    <a:pt x="289" y="469"/>
                  </a:lnTo>
                  <a:lnTo>
                    <a:pt x="333" y="469"/>
                  </a:lnTo>
                  <a:cubicBezTo>
                    <a:pt x="346" y="469"/>
                    <a:pt x="359" y="462"/>
                    <a:pt x="367" y="451"/>
                  </a:cubicBezTo>
                  <a:cubicBezTo>
                    <a:pt x="375" y="440"/>
                    <a:pt x="377" y="426"/>
                    <a:pt x="373" y="413"/>
                  </a:cubicBezTo>
                  <a:close/>
                  <a:moveTo>
                    <a:pt x="69" y="507"/>
                  </a:moveTo>
                  <a:lnTo>
                    <a:pt x="308" y="507"/>
                  </a:lnTo>
                  <a:lnTo>
                    <a:pt x="308" y="478"/>
                  </a:lnTo>
                  <a:lnTo>
                    <a:pt x="69" y="478"/>
                  </a:lnTo>
                  <a:lnTo>
                    <a:pt x="69" y="507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6" id="6"/>
          <p:cNvGrpSpPr/>
          <p:nvPr/>
        </p:nvGrpSpPr>
        <p:grpSpPr>
          <a:xfrm>
            <a:off x="5849803" y="4714048"/>
            <a:ext cx="492394" cy="492394"/>
            <a:chOff x="5836467" y="4772308"/>
            <a:chExt cx="519066" cy="519066"/>
          </a:xfrm>
        </p:grpSpPr>
        <p:sp>
          <p:nvSpPr>
            <p:cNvPr name="AutoShape 7" id="7"/>
            <p:cNvSpPr/>
            <p:nvPr/>
          </p:nvSpPr>
          <p:spPr>
            <a:xfrm>
              <a:off x="5836467" y="4772308"/>
              <a:ext cx="519066" cy="51906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5982322" y="4879174"/>
              <a:ext cx="227356" cy="305334"/>
            </a:xfrm>
            <a:custGeom>
              <a:avLst/>
              <a:gdLst/>
              <a:ahLst/>
              <a:cxnLst/>
              <a:rect r="r" b="b" t="t" l="l"/>
              <a:pathLst>
                <a:path w="377" h="507" stroke="true" fill="norm" extrusionOk="true">
                  <a:moveTo>
                    <a:pt x="91" y="170"/>
                  </a:moveTo>
                  <a:lnTo>
                    <a:pt x="91" y="45"/>
                  </a:lnTo>
                  <a:cubicBezTo>
                    <a:pt x="91" y="43"/>
                    <a:pt x="91" y="42"/>
                    <a:pt x="91" y="40"/>
                  </a:cubicBezTo>
                  <a:cubicBezTo>
                    <a:pt x="94" y="37"/>
                    <a:pt x="113" y="0"/>
                    <a:pt x="227" y="33"/>
                  </a:cubicBezTo>
                  <a:cubicBezTo>
                    <a:pt x="240" y="36"/>
                    <a:pt x="269" y="44"/>
                    <a:pt x="287" y="43"/>
                  </a:cubicBezTo>
                  <a:cubicBezTo>
                    <a:pt x="287" y="44"/>
                    <a:pt x="287" y="45"/>
                    <a:pt x="287" y="45"/>
                  </a:cubicBezTo>
                  <a:lnTo>
                    <a:pt x="287" y="170"/>
                  </a:lnTo>
                  <a:cubicBezTo>
                    <a:pt x="287" y="215"/>
                    <a:pt x="243" y="252"/>
                    <a:pt x="189" y="252"/>
                  </a:cubicBezTo>
                  <a:cubicBezTo>
                    <a:pt x="135" y="252"/>
                    <a:pt x="91" y="215"/>
                    <a:pt x="91" y="170"/>
                  </a:cubicBezTo>
                  <a:close/>
                  <a:moveTo>
                    <a:pt x="89" y="314"/>
                  </a:moveTo>
                  <a:lnTo>
                    <a:pt x="149" y="314"/>
                  </a:lnTo>
                  <a:lnTo>
                    <a:pt x="121" y="259"/>
                  </a:lnTo>
                  <a:lnTo>
                    <a:pt x="85" y="259"/>
                  </a:lnTo>
                  <a:cubicBezTo>
                    <a:pt x="67" y="259"/>
                    <a:pt x="50" y="271"/>
                    <a:pt x="44" y="288"/>
                  </a:cubicBezTo>
                  <a:lnTo>
                    <a:pt x="4" y="413"/>
                  </a:lnTo>
                  <a:cubicBezTo>
                    <a:pt x="0" y="426"/>
                    <a:pt x="2" y="440"/>
                    <a:pt x="10" y="451"/>
                  </a:cubicBezTo>
                  <a:cubicBezTo>
                    <a:pt x="19" y="462"/>
                    <a:pt x="31" y="469"/>
                    <a:pt x="45" y="469"/>
                  </a:cubicBezTo>
                  <a:lnTo>
                    <a:pt x="89" y="469"/>
                  </a:lnTo>
                  <a:lnTo>
                    <a:pt x="89" y="314"/>
                  </a:lnTo>
                  <a:lnTo>
                    <a:pt x="89" y="314"/>
                  </a:lnTo>
                  <a:close/>
                  <a:moveTo>
                    <a:pt x="373" y="413"/>
                  </a:moveTo>
                  <a:lnTo>
                    <a:pt x="333" y="288"/>
                  </a:lnTo>
                  <a:cubicBezTo>
                    <a:pt x="327" y="271"/>
                    <a:pt x="311" y="259"/>
                    <a:pt x="292" y="259"/>
                  </a:cubicBezTo>
                  <a:lnTo>
                    <a:pt x="257" y="259"/>
                  </a:lnTo>
                  <a:lnTo>
                    <a:pt x="229" y="314"/>
                  </a:lnTo>
                  <a:lnTo>
                    <a:pt x="289" y="314"/>
                  </a:lnTo>
                  <a:lnTo>
                    <a:pt x="289" y="469"/>
                  </a:lnTo>
                  <a:lnTo>
                    <a:pt x="333" y="469"/>
                  </a:lnTo>
                  <a:cubicBezTo>
                    <a:pt x="346" y="469"/>
                    <a:pt x="359" y="462"/>
                    <a:pt x="367" y="451"/>
                  </a:cubicBezTo>
                  <a:cubicBezTo>
                    <a:pt x="375" y="440"/>
                    <a:pt x="377" y="426"/>
                    <a:pt x="373" y="413"/>
                  </a:cubicBezTo>
                  <a:close/>
                  <a:moveTo>
                    <a:pt x="69" y="507"/>
                  </a:moveTo>
                  <a:lnTo>
                    <a:pt x="308" y="507"/>
                  </a:lnTo>
                  <a:lnTo>
                    <a:pt x="308" y="478"/>
                  </a:lnTo>
                  <a:lnTo>
                    <a:pt x="69" y="478"/>
                  </a:lnTo>
                  <a:lnTo>
                    <a:pt x="69" y="507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9" id="9"/>
          <p:cNvGrpSpPr/>
          <p:nvPr/>
        </p:nvGrpSpPr>
        <p:grpSpPr>
          <a:xfrm>
            <a:off x="6922394" y="2676127"/>
            <a:ext cx="492394" cy="492394"/>
            <a:chOff x="6967158" y="2623996"/>
            <a:chExt cx="519066" cy="519066"/>
          </a:xfrm>
        </p:grpSpPr>
        <p:sp>
          <p:nvSpPr>
            <p:cNvPr name="AutoShape 10" id="10"/>
            <p:cNvSpPr/>
            <p:nvPr/>
          </p:nvSpPr>
          <p:spPr>
            <a:xfrm>
              <a:off x="6967158" y="2623996"/>
              <a:ext cx="519066" cy="51906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7113012" y="2730862"/>
              <a:ext cx="227356" cy="305334"/>
            </a:xfrm>
            <a:custGeom>
              <a:avLst/>
              <a:gdLst/>
              <a:ahLst/>
              <a:cxnLst/>
              <a:rect r="r" b="b" t="t" l="l"/>
              <a:pathLst>
                <a:path w="377" h="507" stroke="true" fill="norm" extrusionOk="true">
                  <a:moveTo>
                    <a:pt x="91" y="170"/>
                  </a:moveTo>
                  <a:lnTo>
                    <a:pt x="91" y="45"/>
                  </a:lnTo>
                  <a:cubicBezTo>
                    <a:pt x="91" y="43"/>
                    <a:pt x="91" y="42"/>
                    <a:pt x="91" y="40"/>
                  </a:cubicBezTo>
                  <a:cubicBezTo>
                    <a:pt x="94" y="37"/>
                    <a:pt x="113" y="0"/>
                    <a:pt x="227" y="33"/>
                  </a:cubicBezTo>
                  <a:cubicBezTo>
                    <a:pt x="240" y="36"/>
                    <a:pt x="269" y="44"/>
                    <a:pt x="287" y="43"/>
                  </a:cubicBezTo>
                  <a:cubicBezTo>
                    <a:pt x="287" y="44"/>
                    <a:pt x="287" y="45"/>
                    <a:pt x="287" y="45"/>
                  </a:cubicBezTo>
                  <a:lnTo>
                    <a:pt x="287" y="170"/>
                  </a:lnTo>
                  <a:cubicBezTo>
                    <a:pt x="287" y="215"/>
                    <a:pt x="243" y="252"/>
                    <a:pt x="189" y="252"/>
                  </a:cubicBezTo>
                  <a:cubicBezTo>
                    <a:pt x="135" y="252"/>
                    <a:pt x="91" y="215"/>
                    <a:pt x="91" y="170"/>
                  </a:cubicBezTo>
                  <a:close/>
                  <a:moveTo>
                    <a:pt x="89" y="314"/>
                  </a:moveTo>
                  <a:lnTo>
                    <a:pt x="149" y="314"/>
                  </a:lnTo>
                  <a:lnTo>
                    <a:pt x="121" y="259"/>
                  </a:lnTo>
                  <a:lnTo>
                    <a:pt x="85" y="259"/>
                  </a:lnTo>
                  <a:cubicBezTo>
                    <a:pt x="67" y="259"/>
                    <a:pt x="50" y="271"/>
                    <a:pt x="44" y="288"/>
                  </a:cubicBezTo>
                  <a:lnTo>
                    <a:pt x="4" y="413"/>
                  </a:lnTo>
                  <a:cubicBezTo>
                    <a:pt x="0" y="426"/>
                    <a:pt x="2" y="440"/>
                    <a:pt x="10" y="451"/>
                  </a:cubicBezTo>
                  <a:cubicBezTo>
                    <a:pt x="19" y="462"/>
                    <a:pt x="31" y="469"/>
                    <a:pt x="45" y="469"/>
                  </a:cubicBezTo>
                  <a:lnTo>
                    <a:pt x="89" y="469"/>
                  </a:lnTo>
                  <a:lnTo>
                    <a:pt x="89" y="314"/>
                  </a:lnTo>
                  <a:lnTo>
                    <a:pt x="89" y="314"/>
                  </a:lnTo>
                  <a:close/>
                  <a:moveTo>
                    <a:pt x="373" y="413"/>
                  </a:moveTo>
                  <a:lnTo>
                    <a:pt x="333" y="288"/>
                  </a:lnTo>
                  <a:cubicBezTo>
                    <a:pt x="327" y="271"/>
                    <a:pt x="311" y="259"/>
                    <a:pt x="292" y="259"/>
                  </a:cubicBezTo>
                  <a:lnTo>
                    <a:pt x="257" y="259"/>
                  </a:lnTo>
                  <a:lnTo>
                    <a:pt x="229" y="314"/>
                  </a:lnTo>
                  <a:lnTo>
                    <a:pt x="289" y="314"/>
                  </a:lnTo>
                  <a:lnTo>
                    <a:pt x="289" y="469"/>
                  </a:lnTo>
                  <a:lnTo>
                    <a:pt x="333" y="469"/>
                  </a:lnTo>
                  <a:cubicBezTo>
                    <a:pt x="346" y="469"/>
                    <a:pt x="359" y="462"/>
                    <a:pt x="367" y="451"/>
                  </a:cubicBezTo>
                  <a:cubicBezTo>
                    <a:pt x="375" y="440"/>
                    <a:pt x="377" y="426"/>
                    <a:pt x="373" y="413"/>
                  </a:cubicBezTo>
                  <a:close/>
                  <a:moveTo>
                    <a:pt x="69" y="507"/>
                  </a:moveTo>
                  <a:lnTo>
                    <a:pt x="308" y="507"/>
                  </a:lnTo>
                  <a:lnTo>
                    <a:pt x="308" y="478"/>
                  </a:lnTo>
                  <a:lnTo>
                    <a:pt x="69" y="478"/>
                  </a:lnTo>
                  <a:lnTo>
                    <a:pt x="69" y="507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2" id="12"/>
          <p:cNvGrpSpPr/>
          <p:nvPr/>
        </p:nvGrpSpPr>
        <p:grpSpPr>
          <a:xfrm>
            <a:off x="6922394" y="4108577"/>
            <a:ext cx="492394" cy="492394"/>
            <a:chOff x="6967158" y="4134039"/>
            <a:chExt cx="519066" cy="519066"/>
          </a:xfrm>
        </p:grpSpPr>
        <p:sp>
          <p:nvSpPr>
            <p:cNvPr name="AutoShape 13" id="13"/>
            <p:cNvSpPr/>
            <p:nvPr/>
          </p:nvSpPr>
          <p:spPr>
            <a:xfrm>
              <a:off x="6967158" y="4134039"/>
              <a:ext cx="519066" cy="51906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4" id="14"/>
            <p:cNvSpPr/>
            <p:nvPr/>
          </p:nvSpPr>
          <p:spPr>
            <a:xfrm>
              <a:off x="7113012" y="4240905"/>
              <a:ext cx="227356" cy="305334"/>
            </a:xfrm>
            <a:custGeom>
              <a:avLst/>
              <a:gdLst/>
              <a:ahLst/>
              <a:cxnLst/>
              <a:rect r="r" b="b" t="t" l="l"/>
              <a:pathLst>
                <a:path w="377" h="507" stroke="true" fill="norm" extrusionOk="true">
                  <a:moveTo>
                    <a:pt x="91" y="170"/>
                  </a:moveTo>
                  <a:lnTo>
                    <a:pt x="91" y="45"/>
                  </a:lnTo>
                  <a:cubicBezTo>
                    <a:pt x="91" y="43"/>
                    <a:pt x="91" y="42"/>
                    <a:pt x="91" y="40"/>
                  </a:cubicBezTo>
                  <a:cubicBezTo>
                    <a:pt x="94" y="37"/>
                    <a:pt x="113" y="0"/>
                    <a:pt x="227" y="33"/>
                  </a:cubicBezTo>
                  <a:cubicBezTo>
                    <a:pt x="240" y="36"/>
                    <a:pt x="269" y="44"/>
                    <a:pt x="287" y="43"/>
                  </a:cubicBezTo>
                  <a:cubicBezTo>
                    <a:pt x="287" y="44"/>
                    <a:pt x="287" y="45"/>
                    <a:pt x="287" y="45"/>
                  </a:cubicBezTo>
                  <a:lnTo>
                    <a:pt x="287" y="170"/>
                  </a:lnTo>
                  <a:cubicBezTo>
                    <a:pt x="287" y="215"/>
                    <a:pt x="243" y="252"/>
                    <a:pt x="189" y="252"/>
                  </a:cubicBezTo>
                  <a:cubicBezTo>
                    <a:pt x="135" y="252"/>
                    <a:pt x="91" y="215"/>
                    <a:pt x="91" y="170"/>
                  </a:cubicBezTo>
                  <a:close/>
                  <a:moveTo>
                    <a:pt x="89" y="314"/>
                  </a:moveTo>
                  <a:lnTo>
                    <a:pt x="149" y="314"/>
                  </a:lnTo>
                  <a:lnTo>
                    <a:pt x="121" y="259"/>
                  </a:lnTo>
                  <a:lnTo>
                    <a:pt x="85" y="259"/>
                  </a:lnTo>
                  <a:cubicBezTo>
                    <a:pt x="67" y="259"/>
                    <a:pt x="50" y="271"/>
                    <a:pt x="44" y="288"/>
                  </a:cubicBezTo>
                  <a:lnTo>
                    <a:pt x="4" y="413"/>
                  </a:lnTo>
                  <a:cubicBezTo>
                    <a:pt x="0" y="426"/>
                    <a:pt x="2" y="440"/>
                    <a:pt x="10" y="451"/>
                  </a:cubicBezTo>
                  <a:cubicBezTo>
                    <a:pt x="19" y="462"/>
                    <a:pt x="31" y="469"/>
                    <a:pt x="45" y="469"/>
                  </a:cubicBezTo>
                  <a:lnTo>
                    <a:pt x="89" y="469"/>
                  </a:lnTo>
                  <a:lnTo>
                    <a:pt x="89" y="314"/>
                  </a:lnTo>
                  <a:lnTo>
                    <a:pt x="89" y="314"/>
                  </a:lnTo>
                  <a:close/>
                  <a:moveTo>
                    <a:pt x="373" y="413"/>
                  </a:moveTo>
                  <a:lnTo>
                    <a:pt x="333" y="288"/>
                  </a:lnTo>
                  <a:cubicBezTo>
                    <a:pt x="327" y="271"/>
                    <a:pt x="311" y="259"/>
                    <a:pt x="292" y="259"/>
                  </a:cubicBezTo>
                  <a:lnTo>
                    <a:pt x="257" y="259"/>
                  </a:lnTo>
                  <a:lnTo>
                    <a:pt x="229" y="314"/>
                  </a:lnTo>
                  <a:lnTo>
                    <a:pt x="289" y="314"/>
                  </a:lnTo>
                  <a:lnTo>
                    <a:pt x="289" y="469"/>
                  </a:lnTo>
                  <a:lnTo>
                    <a:pt x="333" y="469"/>
                  </a:lnTo>
                  <a:cubicBezTo>
                    <a:pt x="346" y="469"/>
                    <a:pt x="359" y="462"/>
                    <a:pt x="367" y="451"/>
                  </a:cubicBezTo>
                  <a:cubicBezTo>
                    <a:pt x="375" y="440"/>
                    <a:pt x="377" y="426"/>
                    <a:pt x="373" y="413"/>
                  </a:cubicBezTo>
                  <a:close/>
                  <a:moveTo>
                    <a:pt x="69" y="507"/>
                  </a:moveTo>
                  <a:lnTo>
                    <a:pt x="308" y="507"/>
                  </a:lnTo>
                  <a:lnTo>
                    <a:pt x="308" y="478"/>
                  </a:lnTo>
                  <a:lnTo>
                    <a:pt x="69" y="478"/>
                  </a:lnTo>
                  <a:lnTo>
                    <a:pt x="69" y="507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5" id="15"/>
          <p:cNvGrpSpPr/>
          <p:nvPr/>
        </p:nvGrpSpPr>
        <p:grpSpPr>
          <a:xfrm>
            <a:off x="4777212" y="2676127"/>
            <a:ext cx="492394" cy="492394"/>
            <a:chOff x="4705776" y="2623996"/>
            <a:chExt cx="519066" cy="519066"/>
          </a:xfrm>
        </p:grpSpPr>
        <p:sp>
          <p:nvSpPr>
            <p:cNvPr name="AutoShape 16" id="16"/>
            <p:cNvSpPr/>
            <p:nvPr/>
          </p:nvSpPr>
          <p:spPr>
            <a:xfrm>
              <a:off x="4705776" y="2623996"/>
              <a:ext cx="519066" cy="51906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7" id="17"/>
            <p:cNvSpPr/>
            <p:nvPr/>
          </p:nvSpPr>
          <p:spPr>
            <a:xfrm>
              <a:off x="4851631" y="2730862"/>
              <a:ext cx="227356" cy="305334"/>
            </a:xfrm>
            <a:custGeom>
              <a:avLst/>
              <a:gdLst/>
              <a:ahLst/>
              <a:cxnLst/>
              <a:rect r="r" b="b" t="t" l="l"/>
              <a:pathLst>
                <a:path w="377" h="507" stroke="true" fill="norm" extrusionOk="true">
                  <a:moveTo>
                    <a:pt x="91" y="170"/>
                  </a:moveTo>
                  <a:lnTo>
                    <a:pt x="91" y="45"/>
                  </a:lnTo>
                  <a:cubicBezTo>
                    <a:pt x="91" y="43"/>
                    <a:pt x="91" y="42"/>
                    <a:pt x="91" y="40"/>
                  </a:cubicBezTo>
                  <a:cubicBezTo>
                    <a:pt x="94" y="37"/>
                    <a:pt x="113" y="0"/>
                    <a:pt x="227" y="33"/>
                  </a:cubicBezTo>
                  <a:cubicBezTo>
                    <a:pt x="240" y="36"/>
                    <a:pt x="269" y="44"/>
                    <a:pt x="287" y="43"/>
                  </a:cubicBezTo>
                  <a:cubicBezTo>
                    <a:pt x="287" y="44"/>
                    <a:pt x="287" y="45"/>
                    <a:pt x="287" y="45"/>
                  </a:cubicBezTo>
                  <a:lnTo>
                    <a:pt x="287" y="170"/>
                  </a:lnTo>
                  <a:cubicBezTo>
                    <a:pt x="287" y="215"/>
                    <a:pt x="243" y="252"/>
                    <a:pt x="189" y="252"/>
                  </a:cubicBezTo>
                  <a:cubicBezTo>
                    <a:pt x="135" y="252"/>
                    <a:pt x="91" y="215"/>
                    <a:pt x="91" y="170"/>
                  </a:cubicBezTo>
                  <a:close/>
                  <a:moveTo>
                    <a:pt x="89" y="314"/>
                  </a:moveTo>
                  <a:lnTo>
                    <a:pt x="149" y="314"/>
                  </a:lnTo>
                  <a:lnTo>
                    <a:pt x="121" y="259"/>
                  </a:lnTo>
                  <a:lnTo>
                    <a:pt x="85" y="259"/>
                  </a:lnTo>
                  <a:cubicBezTo>
                    <a:pt x="67" y="259"/>
                    <a:pt x="50" y="271"/>
                    <a:pt x="44" y="288"/>
                  </a:cubicBezTo>
                  <a:lnTo>
                    <a:pt x="4" y="413"/>
                  </a:lnTo>
                  <a:cubicBezTo>
                    <a:pt x="0" y="426"/>
                    <a:pt x="2" y="440"/>
                    <a:pt x="10" y="451"/>
                  </a:cubicBezTo>
                  <a:cubicBezTo>
                    <a:pt x="19" y="462"/>
                    <a:pt x="31" y="469"/>
                    <a:pt x="45" y="469"/>
                  </a:cubicBezTo>
                  <a:lnTo>
                    <a:pt x="89" y="469"/>
                  </a:lnTo>
                  <a:lnTo>
                    <a:pt x="89" y="314"/>
                  </a:lnTo>
                  <a:lnTo>
                    <a:pt x="89" y="314"/>
                  </a:lnTo>
                  <a:close/>
                  <a:moveTo>
                    <a:pt x="373" y="413"/>
                  </a:moveTo>
                  <a:lnTo>
                    <a:pt x="333" y="288"/>
                  </a:lnTo>
                  <a:cubicBezTo>
                    <a:pt x="327" y="271"/>
                    <a:pt x="311" y="259"/>
                    <a:pt x="292" y="259"/>
                  </a:cubicBezTo>
                  <a:lnTo>
                    <a:pt x="257" y="259"/>
                  </a:lnTo>
                  <a:lnTo>
                    <a:pt x="229" y="314"/>
                  </a:lnTo>
                  <a:lnTo>
                    <a:pt x="289" y="314"/>
                  </a:lnTo>
                  <a:lnTo>
                    <a:pt x="289" y="469"/>
                  </a:lnTo>
                  <a:lnTo>
                    <a:pt x="333" y="469"/>
                  </a:lnTo>
                  <a:cubicBezTo>
                    <a:pt x="346" y="469"/>
                    <a:pt x="359" y="462"/>
                    <a:pt x="367" y="451"/>
                  </a:cubicBezTo>
                  <a:cubicBezTo>
                    <a:pt x="375" y="440"/>
                    <a:pt x="377" y="426"/>
                    <a:pt x="373" y="413"/>
                  </a:cubicBezTo>
                  <a:close/>
                  <a:moveTo>
                    <a:pt x="69" y="507"/>
                  </a:moveTo>
                  <a:lnTo>
                    <a:pt x="308" y="507"/>
                  </a:lnTo>
                  <a:lnTo>
                    <a:pt x="308" y="478"/>
                  </a:lnTo>
                  <a:lnTo>
                    <a:pt x="69" y="478"/>
                  </a:lnTo>
                  <a:lnTo>
                    <a:pt x="69" y="507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4777212" y="4108577"/>
            <a:ext cx="492394" cy="492394"/>
            <a:chOff x="4705776" y="4134039"/>
            <a:chExt cx="519066" cy="519066"/>
          </a:xfrm>
        </p:grpSpPr>
        <p:sp>
          <p:nvSpPr>
            <p:cNvPr name="AutoShape 19" id="19"/>
            <p:cNvSpPr/>
            <p:nvPr/>
          </p:nvSpPr>
          <p:spPr>
            <a:xfrm>
              <a:off x="4705776" y="4134039"/>
              <a:ext cx="519066" cy="519066"/>
            </a:xfrm>
            <a:prstGeom prst="ellipse">
              <a:avLst/>
            </a:prstGeom>
            <a:solidFill>
              <a:schemeClr val="accent1"/>
            </a:solidFill>
            <a:ln w="28575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20" id="20"/>
            <p:cNvSpPr/>
            <p:nvPr/>
          </p:nvSpPr>
          <p:spPr>
            <a:xfrm>
              <a:off x="4851631" y="4240905"/>
              <a:ext cx="227356" cy="305334"/>
            </a:xfrm>
            <a:custGeom>
              <a:avLst/>
              <a:gdLst/>
              <a:ahLst/>
              <a:cxnLst/>
              <a:rect r="r" b="b" t="t" l="l"/>
              <a:pathLst>
                <a:path w="377" h="507" stroke="true" fill="norm" extrusionOk="true">
                  <a:moveTo>
                    <a:pt x="91" y="170"/>
                  </a:moveTo>
                  <a:lnTo>
                    <a:pt x="91" y="45"/>
                  </a:lnTo>
                  <a:cubicBezTo>
                    <a:pt x="91" y="43"/>
                    <a:pt x="91" y="42"/>
                    <a:pt x="91" y="40"/>
                  </a:cubicBezTo>
                  <a:cubicBezTo>
                    <a:pt x="94" y="37"/>
                    <a:pt x="113" y="0"/>
                    <a:pt x="227" y="33"/>
                  </a:cubicBezTo>
                  <a:cubicBezTo>
                    <a:pt x="240" y="36"/>
                    <a:pt x="269" y="44"/>
                    <a:pt x="287" y="43"/>
                  </a:cubicBezTo>
                  <a:cubicBezTo>
                    <a:pt x="287" y="44"/>
                    <a:pt x="287" y="45"/>
                    <a:pt x="287" y="45"/>
                  </a:cubicBezTo>
                  <a:lnTo>
                    <a:pt x="287" y="170"/>
                  </a:lnTo>
                  <a:cubicBezTo>
                    <a:pt x="287" y="215"/>
                    <a:pt x="243" y="252"/>
                    <a:pt x="189" y="252"/>
                  </a:cubicBezTo>
                  <a:cubicBezTo>
                    <a:pt x="135" y="252"/>
                    <a:pt x="91" y="215"/>
                    <a:pt x="91" y="170"/>
                  </a:cubicBezTo>
                  <a:close/>
                  <a:moveTo>
                    <a:pt x="89" y="314"/>
                  </a:moveTo>
                  <a:lnTo>
                    <a:pt x="149" y="314"/>
                  </a:lnTo>
                  <a:lnTo>
                    <a:pt x="121" y="259"/>
                  </a:lnTo>
                  <a:lnTo>
                    <a:pt x="85" y="259"/>
                  </a:lnTo>
                  <a:cubicBezTo>
                    <a:pt x="67" y="259"/>
                    <a:pt x="50" y="271"/>
                    <a:pt x="44" y="288"/>
                  </a:cubicBezTo>
                  <a:lnTo>
                    <a:pt x="4" y="413"/>
                  </a:lnTo>
                  <a:cubicBezTo>
                    <a:pt x="0" y="426"/>
                    <a:pt x="2" y="440"/>
                    <a:pt x="10" y="451"/>
                  </a:cubicBezTo>
                  <a:cubicBezTo>
                    <a:pt x="19" y="462"/>
                    <a:pt x="31" y="469"/>
                    <a:pt x="45" y="469"/>
                  </a:cubicBezTo>
                  <a:lnTo>
                    <a:pt x="89" y="469"/>
                  </a:lnTo>
                  <a:lnTo>
                    <a:pt x="89" y="314"/>
                  </a:lnTo>
                  <a:lnTo>
                    <a:pt x="89" y="314"/>
                  </a:lnTo>
                  <a:close/>
                  <a:moveTo>
                    <a:pt x="373" y="413"/>
                  </a:moveTo>
                  <a:lnTo>
                    <a:pt x="333" y="288"/>
                  </a:lnTo>
                  <a:cubicBezTo>
                    <a:pt x="327" y="271"/>
                    <a:pt x="311" y="259"/>
                    <a:pt x="292" y="259"/>
                  </a:cubicBezTo>
                  <a:lnTo>
                    <a:pt x="257" y="259"/>
                  </a:lnTo>
                  <a:lnTo>
                    <a:pt x="229" y="314"/>
                  </a:lnTo>
                  <a:lnTo>
                    <a:pt x="289" y="314"/>
                  </a:lnTo>
                  <a:lnTo>
                    <a:pt x="289" y="469"/>
                  </a:lnTo>
                  <a:lnTo>
                    <a:pt x="333" y="469"/>
                  </a:lnTo>
                  <a:cubicBezTo>
                    <a:pt x="346" y="469"/>
                    <a:pt x="359" y="462"/>
                    <a:pt x="367" y="451"/>
                  </a:cubicBezTo>
                  <a:cubicBezTo>
                    <a:pt x="375" y="440"/>
                    <a:pt x="377" y="426"/>
                    <a:pt x="373" y="413"/>
                  </a:cubicBezTo>
                  <a:close/>
                  <a:moveTo>
                    <a:pt x="69" y="507"/>
                  </a:moveTo>
                  <a:lnTo>
                    <a:pt x="308" y="507"/>
                  </a:lnTo>
                  <a:lnTo>
                    <a:pt x="308" y="478"/>
                  </a:lnTo>
                  <a:lnTo>
                    <a:pt x="69" y="478"/>
                  </a:lnTo>
                  <a:lnTo>
                    <a:pt x="69" y="507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AutoShape 21" id="21"/>
          <p:cNvSpPr/>
          <p:nvPr/>
        </p:nvSpPr>
        <p:spPr>
          <a:xfrm>
            <a:off x="5637150" y="3179699"/>
            <a:ext cx="917700" cy="917700"/>
          </a:xfrm>
          <a:prstGeom prst="ellipse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rot="0" anchor="ctr" wrap="square" tIns="45720" lIns="91440" bIns="45720" rIns="91440">
            <a:prstTxWarp prst="textNoShape">
              <a:avLst/>
            </a:prstTxWarp>
            <a:normAutofit/>
          </a:bodyPr>
          <a:p>
            <a:pPr algn="ctr" marL="0"/>
            <a:r>
              <a:rPr lang="en-US" b="true" i="true" baseline="0" u="none">
                <a:solidFill>
                  <a:srgbClr val="FFFFFF"/>
                </a:solidFill>
                <a:latin typeface="Arial"/>
                <a:ea typeface="Arial"/>
              </a:rPr>
              <a:t>QM8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69924" y="2883705"/>
            <a:ext cx="4035852" cy="1992853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Subsets of the GDB-13 database with electronic properties calculated using ab initio density functional theory.</a:t>
            </a:r>
          </a:p>
        </p:txBody>
      </p:sp>
      <p:sp>
        <p:nvSpPr>
          <p:cNvPr name="TextBox 23" id="23"/>
          <p:cNvSpPr txBox="true"/>
          <p:nvPr/>
        </p:nvSpPr>
        <p:spPr>
          <a:xfrm>
            <a:off x="669924" y="2351013"/>
            <a:ext cx="4035852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QM7/QM7b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>
            <a:off x="7474419" y="2883705"/>
            <a:ext cx="4046067" cy="1992853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A comprehensive dataset with geometric, energetic, electronic, and thermodynamic properties.</a:t>
            </a:r>
          </a:p>
        </p:txBody>
      </p:sp>
      <p:sp>
        <p:nvSpPr>
          <p:cNvPr name="TextBox 25" id="25"/>
          <p:cNvSpPr txBox="true"/>
          <p:nvPr/>
        </p:nvSpPr>
        <p:spPr>
          <a:xfrm>
            <a:off x="7474419" y="2351013"/>
            <a:ext cx="404606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QM9</a:t>
            </a:r>
            <a:endParaRPr lang="en-US" sz="1100"/>
          </a:p>
        </p:txBody>
      </p:sp>
      <p:sp>
        <p:nvSpPr>
          <p:cNvPr name="AutoShape 26" id="26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Quantum Mechanics Datasets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9924" y="2755641"/>
            <a:ext cx="10850564" cy="631463"/>
          </a:xfrm>
          <a:prstGeom prst="rect">
            <a:avLst/>
          </a:prstGeom>
          <a:pattFill prst="dk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2484217" y="2571453"/>
            <a:ext cx="943808" cy="943806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5787413" y="2580074"/>
            <a:ext cx="943808" cy="943806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8904970" y="2580074"/>
            <a:ext cx="943808" cy="943806"/>
          </a:xfrm>
          <a:prstGeom prst="ellipse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>
            <a:off x="6058540" y="2790803"/>
            <a:ext cx="366346" cy="498926"/>
          </a:xfrm>
          <a:custGeom>
            <a:avLst/>
            <a:gdLst/>
            <a:ahLst/>
            <a:cxnLst/>
            <a:rect r="r" b="b" t="t" l="l"/>
            <a:pathLst>
              <a:path w="444350" h="605161" stroke="true" fill="norm" extrusionOk="true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2772948" y="2793892"/>
            <a:ext cx="366346" cy="498926"/>
          </a:xfrm>
          <a:custGeom>
            <a:avLst/>
            <a:gdLst/>
            <a:ahLst/>
            <a:cxnLst/>
            <a:rect r="r" b="b" t="t" l="l"/>
            <a:pathLst>
              <a:path w="444350" h="605161" stroke="true" fill="norm" extrusionOk="true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8" id="8"/>
          <p:cNvSpPr/>
          <p:nvPr/>
        </p:nvSpPr>
        <p:spPr>
          <a:xfrm>
            <a:off x="9167058" y="2766228"/>
            <a:ext cx="419632" cy="571498"/>
          </a:xfrm>
          <a:custGeom>
            <a:avLst/>
            <a:gdLst/>
            <a:ahLst/>
            <a:cxnLst/>
            <a:rect r="r" b="b" t="t" l="l"/>
            <a:pathLst>
              <a:path w="444350" h="605161" stroke="true" fill="norm" extrusionOk="true">
                <a:moveTo>
                  <a:pt x="219401" y="389328"/>
                </a:moveTo>
                <a:cubicBezTo>
                  <a:pt x="217823" y="389328"/>
                  <a:pt x="216430" y="390718"/>
                  <a:pt x="216430" y="392295"/>
                </a:cubicBezTo>
                <a:lnTo>
                  <a:pt x="216430" y="405460"/>
                </a:lnTo>
                <a:cubicBezTo>
                  <a:pt x="208168" y="406665"/>
                  <a:pt x="201298" y="409724"/>
                  <a:pt x="196100" y="414731"/>
                </a:cubicBezTo>
                <a:cubicBezTo>
                  <a:pt x="190437" y="420108"/>
                  <a:pt x="187559" y="427154"/>
                  <a:pt x="187559" y="435591"/>
                </a:cubicBezTo>
                <a:cubicBezTo>
                  <a:pt x="187559" y="444955"/>
                  <a:pt x="190158" y="452001"/>
                  <a:pt x="195635" y="456822"/>
                </a:cubicBezTo>
                <a:cubicBezTo>
                  <a:pt x="201113" y="461643"/>
                  <a:pt x="209653" y="466464"/>
                  <a:pt x="221536" y="471192"/>
                </a:cubicBezTo>
                <a:cubicBezTo>
                  <a:pt x="226363" y="473325"/>
                  <a:pt x="229798" y="475364"/>
                  <a:pt x="231655" y="477589"/>
                </a:cubicBezTo>
                <a:cubicBezTo>
                  <a:pt x="233512" y="479722"/>
                  <a:pt x="234533" y="482781"/>
                  <a:pt x="234533" y="486768"/>
                </a:cubicBezTo>
                <a:cubicBezTo>
                  <a:pt x="234533" y="490198"/>
                  <a:pt x="233604" y="492980"/>
                  <a:pt x="231748" y="495019"/>
                </a:cubicBezTo>
                <a:cubicBezTo>
                  <a:pt x="229891" y="497152"/>
                  <a:pt x="227199" y="498264"/>
                  <a:pt x="223578" y="498264"/>
                </a:cubicBezTo>
                <a:cubicBezTo>
                  <a:pt x="219308" y="498264"/>
                  <a:pt x="215780" y="496874"/>
                  <a:pt x="213088" y="494185"/>
                </a:cubicBezTo>
                <a:cubicBezTo>
                  <a:pt x="210860" y="491960"/>
                  <a:pt x="209468" y="488529"/>
                  <a:pt x="209096" y="483894"/>
                </a:cubicBezTo>
                <a:cubicBezTo>
                  <a:pt x="209004" y="482225"/>
                  <a:pt x="207425" y="480834"/>
                  <a:pt x="205569" y="480834"/>
                </a:cubicBezTo>
                <a:lnTo>
                  <a:pt x="187559" y="481205"/>
                </a:lnTo>
                <a:cubicBezTo>
                  <a:pt x="185609" y="481205"/>
                  <a:pt x="184031" y="482781"/>
                  <a:pt x="184124" y="484821"/>
                </a:cubicBezTo>
                <a:cubicBezTo>
                  <a:pt x="184588" y="494278"/>
                  <a:pt x="187745" y="501695"/>
                  <a:pt x="193407" y="506886"/>
                </a:cubicBezTo>
                <a:cubicBezTo>
                  <a:pt x="199627" y="512635"/>
                  <a:pt x="207240" y="515972"/>
                  <a:pt x="216709" y="516714"/>
                </a:cubicBezTo>
                <a:lnTo>
                  <a:pt x="216709" y="528952"/>
                </a:lnTo>
                <a:cubicBezTo>
                  <a:pt x="216709" y="530528"/>
                  <a:pt x="218008" y="531919"/>
                  <a:pt x="219679" y="531919"/>
                </a:cubicBezTo>
                <a:lnTo>
                  <a:pt x="230262" y="531919"/>
                </a:lnTo>
                <a:cubicBezTo>
                  <a:pt x="231933" y="531919"/>
                  <a:pt x="233233" y="530528"/>
                  <a:pt x="233233" y="528952"/>
                </a:cubicBezTo>
                <a:lnTo>
                  <a:pt x="233233" y="516343"/>
                </a:lnTo>
                <a:cubicBezTo>
                  <a:pt x="240567" y="514952"/>
                  <a:pt x="246601" y="512078"/>
                  <a:pt x="251336" y="507535"/>
                </a:cubicBezTo>
                <a:cubicBezTo>
                  <a:pt x="256906" y="502251"/>
                  <a:pt x="259598" y="495205"/>
                  <a:pt x="259598" y="486490"/>
                </a:cubicBezTo>
                <a:cubicBezTo>
                  <a:pt x="259598" y="477404"/>
                  <a:pt x="256906" y="470358"/>
                  <a:pt x="251429" y="465352"/>
                </a:cubicBezTo>
                <a:cubicBezTo>
                  <a:pt x="246044" y="460438"/>
                  <a:pt x="237503" y="455524"/>
                  <a:pt x="225806" y="450518"/>
                </a:cubicBezTo>
                <a:cubicBezTo>
                  <a:pt x="220793" y="448293"/>
                  <a:pt x="217451" y="446067"/>
                  <a:pt x="215595" y="444028"/>
                </a:cubicBezTo>
                <a:cubicBezTo>
                  <a:pt x="213738" y="441895"/>
                  <a:pt x="212810" y="439021"/>
                  <a:pt x="212810" y="435591"/>
                </a:cubicBezTo>
                <a:cubicBezTo>
                  <a:pt x="212810" y="432161"/>
                  <a:pt x="213738" y="429379"/>
                  <a:pt x="215409" y="427154"/>
                </a:cubicBezTo>
                <a:cubicBezTo>
                  <a:pt x="217173" y="424929"/>
                  <a:pt x="219772" y="423817"/>
                  <a:pt x="223393" y="423817"/>
                </a:cubicBezTo>
                <a:cubicBezTo>
                  <a:pt x="226828" y="423817"/>
                  <a:pt x="229705" y="425207"/>
                  <a:pt x="231748" y="427896"/>
                </a:cubicBezTo>
                <a:cubicBezTo>
                  <a:pt x="233419" y="430121"/>
                  <a:pt x="234347" y="433088"/>
                  <a:pt x="234718" y="437074"/>
                </a:cubicBezTo>
                <a:cubicBezTo>
                  <a:pt x="234904" y="438929"/>
                  <a:pt x="236575" y="440134"/>
                  <a:pt x="238339" y="440134"/>
                </a:cubicBezTo>
                <a:lnTo>
                  <a:pt x="256442" y="439948"/>
                </a:lnTo>
                <a:cubicBezTo>
                  <a:pt x="258391" y="439948"/>
                  <a:pt x="259969" y="438280"/>
                  <a:pt x="259876" y="436333"/>
                </a:cubicBezTo>
                <a:cubicBezTo>
                  <a:pt x="259412" y="428452"/>
                  <a:pt x="256906" y="421870"/>
                  <a:pt x="252357" y="416585"/>
                </a:cubicBezTo>
                <a:cubicBezTo>
                  <a:pt x="247530" y="411022"/>
                  <a:pt x="241217" y="407499"/>
                  <a:pt x="233419" y="405923"/>
                </a:cubicBezTo>
                <a:lnTo>
                  <a:pt x="233419" y="392295"/>
                </a:lnTo>
                <a:cubicBezTo>
                  <a:pt x="233419" y="390718"/>
                  <a:pt x="232119" y="389328"/>
                  <a:pt x="230448" y="389328"/>
                </a:cubicBezTo>
                <a:close/>
                <a:moveTo>
                  <a:pt x="209746" y="316549"/>
                </a:moveTo>
                <a:lnTo>
                  <a:pt x="234533" y="316549"/>
                </a:lnTo>
                <a:lnTo>
                  <a:pt x="234533" y="345197"/>
                </a:lnTo>
                <a:cubicBezTo>
                  <a:pt x="288841" y="350945"/>
                  <a:pt x="332287" y="394149"/>
                  <a:pt x="337950" y="448571"/>
                </a:cubicBezTo>
                <a:lnTo>
                  <a:pt x="366728" y="448571"/>
                </a:lnTo>
                <a:lnTo>
                  <a:pt x="366728" y="473139"/>
                </a:lnTo>
                <a:lnTo>
                  <a:pt x="337950" y="473139"/>
                </a:lnTo>
                <a:cubicBezTo>
                  <a:pt x="332287" y="527468"/>
                  <a:pt x="288933" y="570858"/>
                  <a:pt x="234533" y="576513"/>
                </a:cubicBezTo>
                <a:lnTo>
                  <a:pt x="234533" y="605161"/>
                </a:lnTo>
                <a:lnTo>
                  <a:pt x="209746" y="605161"/>
                </a:lnTo>
                <a:lnTo>
                  <a:pt x="209746" y="576513"/>
                </a:lnTo>
                <a:cubicBezTo>
                  <a:pt x="155438" y="570858"/>
                  <a:pt x="111992" y="527561"/>
                  <a:pt x="106237" y="473139"/>
                </a:cubicBezTo>
                <a:lnTo>
                  <a:pt x="77551" y="473139"/>
                </a:lnTo>
                <a:lnTo>
                  <a:pt x="77551" y="448571"/>
                </a:lnTo>
                <a:lnTo>
                  <a:pt x="106237" y="448571"/>
                </a:lnTo>
                <a:cubicBezTo>
                  <a:pt x="111992" y="394334"/>
                  <a:pt x="155253" y="350945"/>
                  <a:pt x="209746" y="345197"/>
                </a:cubicBezTo>
                <a:close/>
                <a:moveTo>
                  <a:pt x="215397" y="387"/>
                </a:moveTo>
                <a:cubicBezTo>
                  <a:pt x="238051" y="-1560"/>
                  <a:pt x="255320" y="4094"/>
                  <a:pt x="267668" y="11417"/>
                </a:cubicBezTo>
                <a:cubicBezTo>
                  <a:pt x="285959" y="21520"/>
                  <a:pt x="293015" y="35053"/>
                  <a:pt x="293015" y="35053"/>
                </a:cubicBezTo>
                <a:cubicBezTo>
                  <a:pt x="293015" y="35053"/>
                  <a:pt x="335259" y="38020"/>
                  <a:pt x="321054" y="123667"/>
                </a:cubicBezTo>
                <a:cubicBezTo>
                  <a:pt x="320497" y="126263"/>
                  <a:pt x="319939" y="128951"/>
                  <a:pt x="319197" y="131546"/>
                </a:cubicBezTo>
                <a:cubicBezTo>
                  <a:pt x="327181" y="131546"/>
                  <a:pt x="335351" y="137756"/>
                  <a:pt x="326624" y="168716"/>
                </a:cubicBezTo>
                <a:cubicBezTo>
                  <a:pt x="319661" y="192816"/>
                  <a:pt x="313348" y="199675"/>
                  <a:pt x="308520" y="200046"/>
                </a:cubicBezTo>
                <a:cubicBezTo>
                  <a:pt x="306756" y="210891"/>
                  <a:pt x="302578" y="223033"/>
                  <a:pt x="295893" y="234527"/>
                </a:cubicBezTo>
                <a:lnTo>
                  <a:pt x="295893" y="277536"/>
                </a:lnTo>
                <a:cubicBezTo>
                  <a:pt x="295893" y="279019"/>
                  <a:pt x="296729" y="280317"/>
                  <a:pt x="298121" y="281059"/>
                </a:cubicBezTo>
                <a:cubicBezTo>
                  <a:pt x="310469" y="287176"/>
                  <a:pt x="371653" y="318043"/>
                  <a:pt x="428381" y="364482"/>
                </a:cubicBezTo>
                <a:cubicBezTo>
                  <a:pt x="438501" y="372824"/>
                  <a:pt x="444350" y="385430"/>
                  <a:pt x="444350" y="398500"/>
                </a:cubicBezTo>
                <a:lnTo>
                  <a:pt x="444350" y="461067"/>
                </a:lnTo>
                <a:lnTo>
                  <a:pt x="388365" y="461067"/>
                </a:lnTo>
                <a:lnTo>
                  <a:pt x="388365" y="448554"/>
                </a:lnTo>
                <a:cubicBezTo>
                  <a:pt x="388365" y="436596"/>
                  <a:pt x="378709" y="426956"/>
                  <a:pt x="366733" y="426956"/>
                </a:cubicBezTo>
                <a:lnTo>
                  <a:pt x="356056" y="426956"/>
                </a:lnTo>
                <a:cubicBezTo>
                  <a:pt x="343522" y="378200"/>
                  <a:pt x="304899" y="339640"/>
                  <a:pt x="256156" y="327219"/>
                </a:cubicBezTo>
                <a:lnTo>
                  <a:pt x="256156" y="316560"/>
                </a:lnTo>
                <a:cubicBezTo>
                  <a:pt x="256156" y="304602"/>
                  <a:pt x="246500" y="294962"/>
                  <a:pt x="234523" y="294962"/>
                </a:cubicBezTo>
                <a:lnTo>
                  <a:pt x="209734" y="294962"/>
                </a:lnTo>
                <a:cubicBezTo>
                  <a:pt x="197757" y="294962"/>
                  <a:pt x="188101" y="304602"/>
                  <a:pt x="188101" y="316560"/>
                </a:cubicBezTo>
                <a:lnTo>
                  <a:pt x="188101" y="327219"/>
                </a:lnTo>
                <a:cubicBezTo>
                  <a:pt x="139266" y="339547"/>
                  <a:pt x="100643" y="378200"/>
                  <a:pt x="88202" y="426956"/>
                </a:cubicBezTo>
                <a:lnTo>
                  <a:pt x="77525" y="426956"/>
                </a:lnTo>
                <a:cubicBezTo>
                  <a:pt x="65548" y="426956"/>
                  <a:pt x="55892" y="436596"/>
                  <a:pt x="55892" y="448554"/>
                </a:cubicBezTo>
                <a:lnTo>
                  <a:pt x="55985" y="448554"/>
                </a:lnTo>
                <a:lnTo>
                  <a:pt x="55985" y="461067"/>
                </a:lnTo>
                <a:lnTo>
                  <a:pt x="0" y="461067"/>
                </a:lnTo>
                <a:lnTo>
                  <a:pt x="0" y="398500"/>
                </a:lnTo>
                <a:cubicBezTo>
                  <a:pt x="0" y="385430"/>
                  <a:pt x="5849" y="372824"/>
                  <a:pt x="15969" y="364482"/>
                </a:cubicBezTo>
                <a:cubicBezTo>
                  <a:pt x="72697" y="318043"/>
                  <a:pt x="133881" y="287176"/>
                  <a:pt x="146229" y="281059"/>
                </a:cubicBezTo>
                <a:cubicBezTo>
                  <a:pt x="147621" y="280502"/>
                  <a:pt x="148457" y="279112"/>
                  <a:pt x="148457" y="277536"/>
                </a:cubicBezTo>
                <a:lnTo>
                  <a:pt x="148457" y="234527"/>
                </a:lnTo>
                <a:cubicBezTo>
                  <a:pt x="141772" y="223033"/>
                  <a:pt x="137594" y="210983"/>
                  <a:pt x="135830" y="200046"/>
                </a:cubicBezTo>
                <a:cubicBezTo>
                  <a:pt x="131002" y="199675"/>
                  <a:pt x="124596" y="192816"/>
                  <a:pt x="117726" y="168716"/>
                </a:cubicBezTo>
                <a:cubicBezTo>
                  <a:pt x="109091" y="138220"/>
                  <a:pt x="116890" y="131824"/>
                  <a:pt x="124782" y="131546"/>
                </a:cubicBezTo>
                <a:cubicBezTo>
                  <a:pt x="124039" y="128951"/>
                  <a:pt x="123482" y="126263"/>
                  <a:pt x="122925" y="123667"/>
                </a:cubicBezTo>
                <a:cubicBezTo>
                  <a:pt x="119861" y="108188"/>
                  <a:pt x="119118" y="93820"/>
                  <a:pt x="122739" y="80102"/>
                </a:cubicBezTo>
                <a:cubicBezTo>
                  <a:pt x="127010" y="61749"/>
                  <a:pt x="137037" y="46918"/>
                  <a:pt x="148179" y="35517"/>
                </a:cubicBezTo>
                <a:cubicBezTo>
                  <a:pt x="155235" y="28102"/>
                  <a:pt x="163219" y="21428"/>
                  <a:pt x="171761" y="16144"/>
                </a:cubicBezTo>
                <a:cubicBezTo>
                  <a:pt x="178631" y="11324"/>
                  <a:pt x="186337" y="7246"/>
                  <a:pt x="194600" y="4372"/>
                </a:cubicBezTo>
                <a:cubicBezTo>
                  <a:pt x="201192" y="2148"/>
                  <a:pt x="208156" y="757"/>
                  <a:pt x="215397" y="387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9" id="9"/>
          <p:cNvSpPr/>
          <p:nvPr/>
        </p:nvSpPr>
        <p:spPr>
          <a:xfrm>
            <a:off x="1617607" y="2045963"/>
            <a:ext cx="2655736" cy="338554"/>
          </a:xfrm>
          <a:prstGeom prst="roundRect">
            <a:avLst>
              <a:gd name="adj" fmla="val 0"/>
            </a:avLst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ESOL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1610064" y="3690826"/>
            <a:ext cx="2655736" cy="15392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A dataset of water solubility data for 1128 compounds, usefulto train models that estimate solubility directly from chemical structures.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>
            <a:off x="4913260" y="2045963"/>
            <a:ext cx="2655736" cy="338554"/>
          </a:xfrm>
          <a:prstGeom prst="roundRect">
            <a:avLst>
              <a:gd name="adj" fmla="val 0"/>
            </a:avLst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FreeSolv</a:t>
            </a:r>
          </a:p>
        </p:txBody>
      </p:sp>
      <p:sp>
        <p:nvSpPr>
          <p:cNvPr name="AutoShape 12" id="12"/>
          <p:cNvSpPr/>
          <p:nvPr/>
        </p:nvSpPr>
        <p:spPr>
          <a:xfrm>
            <a:off x="8030817" y="2045963"/>
            <a:ext cx="2655736" cy="338554"/>
          </a:xfrm>
          <a:prstGeom prst="roundRect">
            <a:avLst>
              <a:gd name="adj" fmla="val 0"/>
            </a:avLst>
          </a:prstGeom>
          <a:noFill/>
          <a:ln cap="flat" cmpd="sng">
            <a:prstDash val="solid"/>
          </a:ln>
        </p:spPr>
        <p:txBody>
          <a:bodyPr vert="horz" anchor="b" wrap="square" tIns="45720" lIns="91440" bIns="45720" rIns="91440">
            <a:spAutoFit/>
          </a:bodyPr>
          <a:p>
            <a:pPr algn="ct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Lipophilicity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4913260" y="3669337"/>
            <a:ext cx="2655736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Provides experimental and calculated hydration free energy of small molecules in water, important in SAMPL challenges.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030817" y="3719437"/>
            <a:ext cx="2655736" cy="153924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Experimental results of octanol/water distribution coefficient (logD at pH 7.4) of 4200 compounds, crucial for drug molecules.</a:t>
            </a:r>
            <a:endParaRPr lang="en-US" sz="1100"/>
          </a:p>
        </p:txBody>
      </p:sp>
      <p:sp>
        <p:nvSpPr>
          <p:cNvPr name="AutoShape 15" id="15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Physical Chemistry Datasets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057971" y="2307957"/>
            <a:ext cx="1069230" cy="1072572"/>
          </a:xfrm>
          <a:prstGeom prst="diamond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3" id="3"/>
          <p:cNvSpPr/>
          <p:nvPr/>
        </p:nvSpPr>
        <p:spPr>
          <a:xfrm>
            <a:off x="4602953" y="3890146"/>
            <a:ext cx="1069230" cy="1072572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4" id="4"/>
          <p:cNvSpPr/>
          <p:nvPr/>
        </p:nvSpPr>
        <p:spPr>
          <a:xfrm>
            <a:off x="6015701" y="2478079"/>
            <a:ext cx="1069230" cy="1072572"/>
          </a:xfrm>
          <a:prstGeom prst="diamond">
            <a:avLst/>
          </a:prstGeom>
          <a:solidFill>
            <a:schemeClr val="accent2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AutoShape 5" id="5"/>
          <p:cNvSpPr/>
          <p:nvPr/>
        </p:nvSpPr>
        <p:spPr>
          <a:xfrm>
            <a:off x="7429508" y="1035532"/>
            <a:ext cx="1069230" cy="1072572"/>
          </a:xfrm>
          <a:prstGeom prst="diamond">
            <a:avLst/>
          </a:pr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cxnSp>
        <p:nvCxnSpPr>
          <p:cNvPr name="Connector 6" id="6"/>
          <p:cNvCxnSpPr/>
          <p:nvPr/>
        </p:nvCxnSpPr>
        <p:spPr>
          <a:xfrm>
            <a:off x="3871433" y="3115792"/>
            <a:ext cx="1014984" cy="1005840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  <a:tailEnd type="triangle"/>
          </a:ln>
        </p:spPr>
      </p:cxnSp>
      <p:cxnSp>
        <p:nvCxnSpPr>
          <p:cNvPr name="Connector 7" id="7"/>
          <p:cNvCxnSpPr/>
          <p:nvPr/>
        </p:nvCxnSpPr>
        <p:spPr>
          <a:xfrm flipV="true">
            <a:off x="5389337" y="3280384"/>
            <a:ext cx="877824" cy="841248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  <a:tailEnd type="triangle"/>
          </a:ln>
        </p:spPr>
      </p:cxnSp>
      <p:cxnSp>
        <p:nvCxnSpPr>
          <p:cNvPr name="Connector 8" id="8"/>
          <p:cNvCxnSpPr/>
          <p:nvPr/>
        </p:nvCxnSpPr>
        <p:spPr>
          <a:xfrm flipV="true">
            <a:off x="6833471" y="1887333"/>
            <a:ext cx="877824" cy="841248"/>
          </a:xfrm>
          <a:prstGeom prst="straightConnector1">
            <a:avLst/>
          </a:prstGeom>
          <a:ln w="3175" cap="rnd" cmpd="sng">
            <a:solidFill>
              <a:srgbClr val="FFFFFF">
                <a:lumMod val="75000"/>
              </a:srgbClr>
            </a:solidFill>
            <a:prstDash val="solid"/>
            <a:tailEnd type="triangle"/>
          </a:ln>
        </p:spPr>
      </p:cxnSp>
      <p:sp>
        <p:nvSpPr>
          <p:cNvPr name="AutoShape 9" id="9"/>
          <p:cNvSpPr/>
          <p:nvPr/>
        </p:nvSpPr>
        <p:spPr>
          <a:xfrm>
            <a:off x="605569" y="2069761"/>
            <a:ext cx="2698209" cy="1671869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A subset of PubChem BioAssay containing 128 bioassays measured over 400 thousand compounds.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05569" y="1678490"/>
            <a:ext cx="2698209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PCBA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>
            <a:off x="3371532" y="2623525"/>
            <a:ext cx="442108" cy="441436"/>
          </a:xfrm>
          <a:custGeom>
            <a:avLst/>
            <a:gdLst/>
            <a:ahLst/>
            <a:cxnLst/>
            <a:rect r="r" b="b" t="t" l="l"/>
            <a:pathLst>
              <a:path w="606740" h="605821" stroke="true" fill="norm" extrusionOk="true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12" id="12"/>
          <p:cNvSpPr/>
          <p:nvPr/>
        </p:nvSpPr>
        <p:spPr>
          <a:xfrm>
            <a:off x="6329262" y="2763167"/>
            <a:ext cx="442108" cy="441436"/>
          </a:xfrm>
          <a:custGeom>
            <a:avLst/>
            <a:gdLst/>
            <a:ahLst/>
            <a:cxnLst/>
            <a:rect r="r" b="b" t="t" l="l"/>
            <a:pathLst>
              <a:path w="606740" h="605821" stroke="true" fill="norm" extrusionOk="true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13" id="13"/>
          <p:cNvSpPr/>
          <p:nvPr/>
        </p:nvSpPr>
        <p:spPr>
          <a:xfrm>
            <a:off x="4916514" y="4175234"/>
            <a:ext cx="442108" cy="441436"/>
          </a:xfrm>
          <a:custGeom>
            <a:avLst/>
            <a:gdLst/>
            <a:ahLst/>
            <a:cxnLst/>
            <a:rect r="r" b="b" t="t" l="l"/>
            <a:pathLst>
              <a:path w="606740" h="605821" stroke="true" fill="norm" extrusionOk="true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Freeform 14" id="14"/>
          <p:cNvSpPr/>
          <p:nvPr/>
        </p:nvSpPr>
        <p:spPr>
          <a:xfrm>
            <a:off x="7743069" y="1351100"/>
            <a:ext cx="442108" cy="441436"/>
          </a:xfrm>
          <a:custGeom>
            <a:avLst/>
            <a:gdLst/>
            <a:ahLst/>
            <a:cxnLst/>
            <a:rect r="r" b="b" t="t" l="l"/>
            <a:pathLst>
              <a:path w="606740" h="605821" stroke="true" fill="norm" extrusionOk="true">
                <a:moveTo>
                  <a:pt x="59406" y="325182"/>
                </a:moveTo>
                <a:cubicBezTo>
                  <a:pt x="80950" y="452568"/>
                  <a:pt x="154777" y="526182"/>
                  <a:pt x="281908" y="547227"/>
                </a:cubicBezTo>
                <a:cubicBezTo>
                  <a:pt x="280329" y="566233"/>
                  <a:pt x="278565" y="585795"/>
                  <a:pt x="276800" y="605821"/>
                </a:cubicBezTo>
                <a:cubicBezTo>
                  <a:pt x="114103" y="592749"/>
                  <a:pt x="6195" y="453774"/>
                  <a:pt x="1552" y="330189"/>
                </a:cubicBezTo>
                <a:cubicBezTo>
                  <a:pt x="21053" y="328520"/>
                  <a:pt x="40555" y="326851"/>
                  <a:pt x="59406" y="325182"/>
                </a:cubicBezTo>
                <a:close/>
                <a:moveTo>
                  <a:pt x="602385" y="251442"/>
                </a:moveTo>
                <a:cubicBezTo>
                  <a:pt x="635159" y="451925"/>
                  <a:pt x="476953" y="599855"/>
                  <a:pt x="329425" y="605045"/>
                </a:cubicBezTo>
                <a:cubicBezTo>
                  <a:pt x="327846" y="585488"/>
                  <a:pt x="326082" y="566116"/>
                  <a:pt x="324318" y="546096"/>
                </a:cubicBezTo>
                <a:cubicBezTo>
                  <a:pt x="394880" y="538310"/>
                  <a:pt x="452443" y="507816"/>
                  <a:pt x="495522" y="452203"/>
                </a:cubicBezTo>
                <a:cubicBezTo>
                  <a:pt x="538880" y="396220"/>
                  <a:pt x="553457" y="332544"/>
                  <a:pt x="542965" y="261731"/>
                </a:cubicBezTo>
                <a:cubicBezTo>
                  <a:pt x="563298" y="258301"/>
                  <a:pt x="582981" y="254779"/>
                  <a:pt x="602385" y="251442"/>
                </a:cubicBezTo>
                <a:close/>
                <a:moveTo>
                  <a:pt x="303431" y="210142"/>
                </a:moveTo>
                <a:cubicBezTo>
                  <a:pt x="251346" y="210142"/>
                  <a:pt x="209010" y="252415"/>
                  <a:pt x="209010" y="304421"/>
                </a:cubicBezTo>
                <a:cubicBezTo>
                  <a:pt x="209010" y="331768"/>
                  <a:pt x="220708" y="356334"/>
                  <a:pt x="239463" y="373670"/>
                </a:cubicBezTo>
                <a:cubicBezTo>
                  <a:pt x="242248" y="349660"/>
                  <a:pt x="258217" y="329821"/>
                  <a:pt x="280035" y="321293"/>
                </a:cubicBezTo>
                <a:cubicBezTo>
                  <a:pt x="267687" y="313506"/>
                  <a:pt x="259516" y="299786"/>
                  <a:pt x="259516" y="284026"/>
                </a:cubicBezTo>
                <a:cubicBezTo>
                  <a:pt x="259516" y="259831"/>
                  <a:pt x="279199" y="240178"/>
                  <a:pt x="303431" y="240178"/>
                </a:cubicBezTo>
                <a:cubicBezTo>
                  <a:pt x="327663" y="240085"/>
                  <a:pt x="347346" y="259831"/>
                  <a:pt x="347346" y="284026"/>
                </a:cubicBezTo>
                <a:cubicBezTo>
                  <a:pt x="347346" y="299786"/>
                  <a:pt x="339083" y="313506"/>
                  <a:pt x="326827" y="321293"/>
                </a:cubicBezTo>
                <a:cubicBezTo>
                  <a:pt x="348645" y="329821"/>
                  <a:pt x="364614" y="349660"/>
                  <a:pt x="367399" y="373670"/>
                </a:cubicBezTo>
                <a:cubicBezTo>
                  <a:pt x="386154" y="356520"/>
                  <a:pt x="397852" y="331861"/>
                  <a:pt x="397852" y="304421"/>
                </a:cubicBezTo>
                <a:cubicBezTo>
                  <a:pt x="397852" y="252415"/>
                  <a:pt x="355516" y="210142"/>
                  <a:pt x="303431" y="210142"/>
                </a:cubicBezTo>
                <a:close/>
                <a:moveTo>
                  <a:pt x="285976" y="109746"/>
                </a:moveTo>
                <a:lnTo>
                  <a:pt x="320885" y="109746"/>
                </a:lnTo>
                <a:cubicBezTo>
                  <a:pt x="327942" y="109746"/>
                  <a:pt x="333791" y="115493"/>
                  <a:pt x="333791" y="122631"/>
                </a:cubicBezTo>
                <a:lnTo>
                  <a:pt x="333791" y="151647"/>
                </a:lnTo>
                <a:cubicBezTo>
                  <a:pt x="354216" y="155726"/>
                  <a:pt x="373249" y="163791"/>
                  <a:pt x="389960" y="174915"/>
                </a:cubicBezTo>
                <a:lnTo>
                  <a:pt x="410478" y="154428"/>
                </a:lnTo>
                <a:cubicBezTo>
                  <a:pt x="415492" y="149422"/>
                  <a:pt x="423662" y="149422"/>
                  <a:pt x="428675" y="154428"/>
                </a:cubicBezTo>
                <a:lnTo>
                  <a:pt x="453464" y="179087"/>
                </a:lnTo>
                <a:cubicBezTo>
                  <a:pt x="458385" y="184093"/>
                  <a:pt x="458385" y="192251"/>
                  <a:pt x="453464" y="197257"/>
                </a:cubicBezTo>
                <a:lnTo>
                  <a:pt x="432946" y="217837"/>
                </a:lnTo>
                <a:cubicBezTo>
                  <a:pt x="444087" y="234523"/>
                  <a:pt x="452072" y="253527"/>
                  <a:pt x="456157" y="273922"/>
                </a:cubicBezTo>
                <a:lnTo>
                  <a:pt x="485309" y="273922"/>
                </a:lnTo>
                <a:cubicBezTo>
                  <a:pt x="492365" y="273922"/>
                  <a:pt x="498121" y="279577"/>
                  <a:pt x="498121" y="286808"/>
                </a:cubicBezTo>
                <a:lnTo>
                  <a:pt x="498121" y="321664"/>
                </a:lnTo>
                <a:cubicBezTo>
                  <a:pt x="498121" y="328709"/>
                  <a:pt x="492458" y="334457"/>
                  <a:pt x="485309" y="334457"/>
                </a:cubicBezTo>
                <a:lnTo>
                  <a:pt x="456157" y="334457"/>
                </a:lnTo>
                <a:cubicBezTo>
                  <a:pt x="452072" y="354851"/>
                  <a:pt x="444087" y="373948"/>
                  <a:pt x="432946" y="390634"/>
                </a:cubicBezTo>
                <a:lnTo>
                  <a:pt x="453464" y="411121"/>
                </a:lnTo>
                <a:cubicBezTo>
                  <a:pt x="458385" y="416035"/>
                  <a:pt x="458385" y="424192"/>
                  <a:pt x="453464" y="429291"/>
                </a:cubicBezTo>
                <a:lnTo>
                  <a:pt x="428675" y="454042"/>
                </a:lnTo>
                <a:cubicBezTo>
                  <a:pt x="423755" y="458956"/>
                  <a:pt x="415585" y="458956"/>
                  <a:pt x="410478" y="454042"/>
                </a:cubicBezTo>
                <a:lnTo>
                  <a:pt x="389960" y="433463"/>
                </a:lnTo>
                <a:cubicBezTo>
                  <a:pt x="373249" y="444587"/>
                  <a:pt x="354216" y="452652"/>
                  <a:pt x="333791" y="456731"/>
                </a:cubicBezTo>
                <a:lnTo>
                  <a:pt x="333791" y="485932"/>
                </a:lnTo>
                <a:cubicBezTo>
                  <a:pt x="333791" y="492977"/>
                  <a:pt x="327942" y="498632"/>
                  <a:pt x="320885" y="498632"/>
                </a:cubicBezTo>
                <a:lnTo>
                  <a:pt x="285976" y="498632"/>
                </a:lnTo>
                <a:cubicBezTo>
                  <a:pt x="278920" y="498632"/>
                  <a:pt x="273071" y="492977"/>
                  <a:pt x="273071" y="485747"/>
                </a:cubicBezTo>
                <a:lnTo>
                  <a:pt x="273071" y="456731"/>
                </a:lnTo>
                <a:cubicBezTo>
                  <a:pt x="252646" y="452652"/>
                  <a:pt x="233613" y="444587"/>
                  <a:pt x="216902" y="433463"/>
                </a:cubicBezTo>
                <a:lnTo>
                  <a:pt x="196384" y="454042"/>
                </a:lnTo>
                <a:cubicBezTo>
                  <a:pt x="191370" y="458956"/>
                  <a:pt x="183200" y="458956"/>
                  <a:pt x="178187" y="454042"/>
                </a:cubicBezTo>
                <a:lnTo>
                  <a:pt x="153398" y="429291"/>
                </a:lnTo>
                <a:cubicBezTo>
                  <a:pt x="148477" y="424378"/>
                  <a:pt x="148477" y="416220"/>
                  <a:pt x="153398" y="411121"/>
                </a:cubicBezTo>
                <a:lnTo>
                  <a:pt x="173916" y="390634"/>
                </a:lnTo>
                <a:cubicBezTo>
                  <a:pt x="162775" y="373948"/>
                  <a:pt x="154790" y="354851"/>
                  <a:pt x="150705" y="334457"/>
                </a:cubicBezTo>
                <a:lnTo>
                  <a:pt x="121553" y="334457"/>
                </a:lnTo>
                <a:cubicBezTo>
                  <a:pt x="114497" y="334457"/>
                  <a:pt x="108741" y="328802"/>
                  <a:pt x="108741" y="321664"/>
                </a:cubicBezTo>
                <a:lnTo>
                  <a:pt x="108741" y="286808"/>
                </a:lnTo>
                <a:cubicBezTo>
                  <a:pt x="108741" y="279762"/>
                  <a:pt x="114404" y="273922"/>
                  <a:pt x="121553" y="273922"/>
                </a:cubicBezTo>
                <a:lnTo>
                  <a:pt x="150705" y="273922"/>
                </a:lnTo>
                <a:cubicBezTo>
                  <a:pt x="154790" y="253527"/>
                  <a:pt x="162775" y="234523"/>
                  <a:pt x="173916" y="217837"/>
                </a:cubicBezTo>
                <a:lnTo>
                  <a:pt x="153398" y="197257"/>
                </a:lnTo>
                <a:cubicBezTo>
                  <a:pt x="148292" y="192343"/>
                  <a:pt x="148477" y="184186"/>
                  <a:pt x="153398" y="179087"/>
                </a:cubicBezTo>
                <a:lnTo>
                  <a:pt x="178187" y="154428"/>
                </a:lnTo>
                <a:cubicBezTo>
                  <a:pt x="183107" y="149422"/>
                  <a:pt x="191277" y="149422"/>
                  <a:pt x="196384" y="154428"/>
                </a:cubicBezTo>
                <a:lnTo>
                  <a:pt x="216902" y="174915"/>
                </a:lnTo>
                <a:cubicBezTo>
                  <a:pt x="233613" y="163698"/>
                  <a:pt x="252646" y="155726"/>
                  <a:pt x="273071" y="151647"/>
                </a:cubicBezTo>
                <a:lnTo>
                  <a:pt x="273071" y="122631"/>
                </a:lnTo>
                <a:cubicBezTo>
                  <a:pt x="273071" y="115586"/>
                  <a:pt x="278828" y="109746"/>
                  <a:pt x="285976" y="109746"/>
                </a:cubicBezTo>
                <a:close/>
                <a:moveTo>
                  <a:pt x="477610" y="55270"/>
                </a:moveTo>
                <a:cubicBezTo>
                  <a:pt x="529689" y="92619"/>
                  <a:pt x="566451" y="140349"/>
                  <a:pt x="589009" y="200127"/>
                </a:cubicBezTo>
                <a:cubicBezTo>
                  <a:pt x="569422" y="207263"/>
                  <a:pt x="550855" y="213936"/>
                  <a:pt x="531917" y="220887"/>
                </a:cubicBezTo>
                <a:cubicBezTo>
                  <a:pt x="522820" y="197068"/>
                  <a:pt x="511123" y="175567"/>
                  <a:pt x="495898" y="155919"/>
                </a:cubicBezTo>
                <a:cubicBezTo>
                  <a:pt x="480860" y="136364"/>
                  <a:pt x="462850" y="119682"/>
                  <a:pt x="442798" y="104853"/>
                </a:cubicBezTo>
                <a:cubicBezTo>
                  <a:pt x="454588" y="88078"/>
                  <a:pt x="466006" y="71859"/>
                  <a:pt x="477610" y="55270"/>
                </a:cubicBezTo>
                <a:close/>
                <a:moveTo>
                  <a:pt x="287505" y="284"/>
                </a:moveTo>
                <a:cubicBezTo>
                  <a:pt x="334882" y="-1837"/>
                  <a:pt x="383093" y="7920"/>
                  <a:pt x="431931" y="28455"/>
                </a:cubicBezTo>
                <a:cubicBezTo>
                  <a:pt x="423018" y="47460"/>
                  <a:pt x="414754" y="65445"/>
                  <a:pt x="406305" y="83337"/>
                </a:cubicBezTo>
                <a:cubicBezTo>
                  <a:pt x="242241" y="9635"/>
                  <a:pt x="71215" y="128208"/>
                  <a:pt x="60444" y="282843"/>
                </a:cubicBezTo>
                <a:cubicBezTo>
                  <a:pt x="40760" y="281082"/>
                  <a:pt x="20891" y="279413"/>
                  <a:pt x="0" y="277559"/>
                </a:cubicBezTo>
                <a:cubicBezTo>
                  <a:pt x="12256" y="175210"/>
                  <a:pt x="60073" y="95667"/>
                  <a:pt x="148093" y="43381"/>
                </a:cubicBezTo>
                <a:cubicBezTo>
                  <a:pt x="193589" y="16403"/>
                  <a:pt x="240129" y="2404"/>
                  <a:pt x="287505" y="284"/>
                </a:cubicBezTo>
                <a:close/>
              </a:path>
            </a:pathLst>
          </a:custGeom>
          <a:solidFill>
            <a:srgbClr val="FFFFFF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AutoShape 15" id="15"/>
          <p:cNvSpPr/>
          <p:nvPr/>
        </p:nvSpPr>
        <p:spPr>
          <a:xfrm>
            <a:off x="1871352" y="4517702"/>
            <a:ext cx="2698209" cy="1671869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Designed for validation of virtual screening techniques comprises 17 challenging tasks for around 90 thousand compounds.</a:t>
            </a:r>
          </a:p>
        </p:txBody>
      </p:sp>
      <p:sp>
        <p:nvSpPr>
          <p:cNvPr name="TextBox 16" id="16"/>
          <p:cNvSpPr txBox="true"/>
          <p:nvPr/>
        </p:nvSpPr>
        <p:spPr>
          <a:xfrm>
            <a:off x="1871352" y="4198286"/>
            <a:ext cx="2698209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MUV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>
            <a:off x="6120173" y="4225770"/>
            <a:ext cx="2698209" cy="1995034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Tests the ability to inhibit HIV replication for over 40000 compounds,useful for innovative inhibitor discovery.</a:t>
            </a:r>
          </a:p>
        </p:txBody>
      </p:sp>
      <p:sp>
        <p:nvSpPr>
          <p:cNvPr name="TextBox 18" id="18"/>
          <p:cNvSpPr txBox="true"/>
          <p:nvPr/>
        </p:nvSpPr>
        <p:spPr>
          <a:xfrm>
            <a:off x="6120173" y="3834499"/>
            <a:ext cx="2698209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HIV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>
            <a:off x="8659398" y="1920922"/>
            <a:ext cx="2861089" cy="1671869"/>
          </a:xfrm>
          <a:prstGeom prst="rect">
            <a:avLst/>
          </a:prstGeom>
          <a:noFill/>
        </p:spPr>
        <p:txBody>
          <a:bodyPr vert="horz" anchor="t" wrap="square" tIns="46800" lIns="90000" bIns="46800" rIns="9000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Experimentally measured binding affinities for bio-molecular complexes, containing detailed 3D coordinates of both ligands and target proteins.</a:t>
            </a:r>
          </a:p>
        </p:txBody>
      </p:sp>
      <p:sp>
        <p:nvSpPr>
          <p:cNvPr name="TextBox 20" id="20"/>
          <p:cNvSpPr txBox="true"/>
          <p:nvPr/>
        </p:nvSpPr>
        <p:spPr>
          <a:xfrm>
            <a:off x="8659398" y="1529651"/>
            <a:ext cx="2861089" cy="340735"/>
          </a:xfrm>
          <a:prstGeom prst="rect">
            <a:avLst/>
          </a:prstGeom>
          <a:noFill/>
        </p:spPr>
        <p:txBody>
          <a:bodyPr anchor="b" rtlCol="false" vert="horz" wrap="square" tIns="46800" lIns="90000" bIns="46800" rIns="90000">
            <a:spAutoFit/>
          </a:bodyPr>
          <a:lstStyle/>
          <a:p>
            <a:pPr algn="l" marL="0"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PDBbind</a:t>
            </a:r>
            <a:endParaRPr lang="en-US" sz="1100"/>
          </a:p>
        </p:txBody>
      </p:sp>
      <p:sp>
        <p:nvSpPr>
          <p:cNvPr name="AutoShape 21" id="21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Biophysics Datasets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4959041" y="4382072"/>
            <a:ext cx="1583789" cy="1583789"/>
          </a:xfrm>
          <a:prstGeom prst="ellipse">
            <a:avLst/>
          </a:prstGeom>
          <a:solidFill>
            <a:srgbClr val="FFFFFF">
              <a:alpha val="20000"/>
              <a:lumMod val="7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6356195" y="0"/>
            <a:ext cx="5835805" cy="6237288"/>
          </a:xfrm>
          <a:custGeom>
            <a:avLst/>
            <a:gdLst/>
            <a:ahLst/>
            <a:cxnLst/>
            <a:rect r="r" b="b" t="t" l="l"/>
            <a:pathLst>
              <a:path w="5835805" h="6237288" stroke="true" fill="norm" extrusionOk="true">
                <a:moveTo>
                  <a:pt x="262855" y="0"/>
                </a:moveTo>
                <a:lnTo>
                  <a:pt x="5835805" y="0"/>
                </a:lnTo>
                <a:lnTo>
                  <a:pt x="5835805" y="6095470"/>
                </a:lnTo>
                <a:lnTo>
                  <a:pt x="5634104" y="6142022"/>
                </a:lnTo>
                <a:cubicBezTo>
                  <a:pt x="5328856" y="6204485"/>
                  <a:pt x="5012803" y="6237288"/>
                  <a:pt x="4689089" y="6237288"/>
                </a:cubicBezTo>
                <a:cubicBezTo>
                  <a:pt x="2099377" y="6237288"/>
                  <a:pt x="0" y="4137911"/>
                  <a:pt x="0" y="1548199"/>
                </a:cubicBezTo>
                <a:cubicBezTo>
                  <a:pt x="0" y="1062628"/>
                  <a:pt x="73807" y="594296"/>
                  <a:pt x="210813" y="153808"/>
                </a:cubicBezTo>
                <a:close/>
              </a:path>
            </a:pathLst>
          </a:custGeom>
          <a:solidFill>
            <a:srgbClr val="000000">
              <a:alpha val="10000"/>
              <a:lumMod val="50000"/>
              <a:lumOff val="50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Autofit/>
          </a:bodyPr>
          <a:p>
            <a:pPr algn="ctr" marL="0"/>
          </a:p>
        </p:txBody>
      </p:sp>
      <p:grpSp>
        <p:nvGrpSpPr>
          <p:cNvPr name="Group 4" id="4"/>
          <p:cNvGrpSpPr/>
          <p:nvPr/>
        </p:nvGrpSpPr>
        <p:grpSpPr>
          <a:xfrm>
            <a:off x="5743876" y="1818411"/>
            <a:ext cx="4392583" cy="3377296"/>
            <a:chOff x="3257153" y="1570990"/>
            <a:chExt cx="5684838" cy="4370863"/>
          </a:xfrm>
        </p:grpSpPr>
        <p:sp>
          <p:nvSpPr>
            <p:cNvPr name="Freeform 5" id="5"/>
            <p:cNvSpPr/>
            <p:nvPr/>
          </p:nvSpPr>
          <p:spPr>
            <a:xfrm>
              <a:off x="8926441" y="5409897"/>
              <a:ext cx="15550" cy="241025"/>
            </a:xfrm>
            <a:custGeom>
              <a:avLst/>
              <a:gdLst/>
              <a:ahLst/>
              <a:cxnLst/>
              <a:rect r="r" b="b" t="t" l="l"/>
              <a:pathLst>
                <a:path w="24405" h="378288" stroke="true" fill="norm" extrusionOk="true">
                  <a:moveTo>
                    <a:pt x="25647" y="13192"/>
                  </a:moveTo>
                  <a:lnTo>
                    <a:pt x="25647" y="367074"/>
                  </a:lnTo>
                  <a:cubicBezTo>
                    <a:pt x="25647" y="373786"/>
                    <a:pt x="20155" y="379277"/>
                    <a:pt x="13444" y="379277"/>
                  </a:cubicBezTo>
                  <a:cubicBezTo>
                    <a:pt x="6732" y="379277"/>
                    <a:pt x="1241" y="373786"/>
                    <a:pt x="1241" y="367074"/>
                  </a:cubicBezTo>
                  <a:lnTo>
                    <a:pt x="1241" y="13192"/>
                  </a:lnTo>
                  <a:cubicBezTo>
                    <a:pt x="1241" y="6480"/>
                    <a:pt x="6732" y="989"/>
                    <a:pt x="13444" y="989"/>
                  </a:cubicBezTo>
                  <a:cubicBezTo>
                    <a:pt x="20155" y="989"/>
                    <a:pt x="25647" y="6480"/>
                    <a:pt x="25647" y="13192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  <a:lin ang="5400000"/>
            </a:gra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6" id="6"/>
            <p:cNvSpPr/>
            <p:nvPr/>
          </p:nvSpPr>
          <p:spPr>
            <a:xfrm>
              <a:off x="8075711" y="5926303"/>
              <a:ext cx="209924" cy="15550"/>
            </a:xfrm>
            <a:custGeom>
              <a:avLst/>
              <a:gdLst/>
              <a:ahLst/>
              <a:cxnLst/>
              <a:rect r="r" b="b" t="t" l="l"/>
              <a:pathLst>
                <a:path w="329476" h="24405" stroke="true" fill="norm" extrusionOk="true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8324511" y="5926303"/>
              <a:ext cx="209924" cy="15550"/>
            </a:xfrm>
            <a:custGeom>
              <a:avLst/>
              <a:gdLst/>
              <a:ahLst/>
              <a:cxnLst/>
              <a:rect r="r" b="b" t="t" l="l"/>
              <a:pathLst>
                <a:path w="329476" h="24405" stroke="true" fill="norm" extrusionOk="true">
                  <a:moveTo>
                    <a:pt x="13444" y="989"/>
                  </a:moveTo>
                  <a:lnTo>
                    <a:pt x="318515" y="989"/>
                  </a:lnTo>
                  <a:cubicBezTo>
                    <a:pt x="325227" y="989"/>
                    <a:pt x="330718" y="6480"/>
                    <a:pt x="330718" y="13192"/>
                  </a:cubicBezTo>
                  <a:cubicBezTo>
                    <a:pt x="330718" y="19903"/>
                    <a:pt x="325227" y="25395"/>
                    <a:pt x="318515" y="25395"/>
                  </a:cubicBezTo>
                  <a:lnTo>
                    <a:pt x="13444" y="25395"/>
                  </a:lnTo>
                  <a:cubicBezTo>
                    <a:pt x="6732" y="25395"/>
                    <a:pt x="1241" y="19903"/>
                    <a:pt x="1241" y="13192"/>
                  </a:cubicBezTo>
                  <a:cubicBezTo>
                    <a:pt x="1241" y="6480"/>
                    <a:pt x="6732" y="989"/>
                    <a:pt x="13444" y="989"/>
                  </a:cubicBezTo>
                  <a:close/>
                </a:path>
              </a:pathLst>
            </a:custGeom>
            <a:gradFill>
              <a:gsLst>
                <a:gs pos="0">
                  <a:srgbClr val="F0F0F0">
                    <a:lumMod val="25000"/>
                  </a:srgbClr>
                </a:gs>
                <a:gs pos="1000">
                  <a:srgbClr val="000000">
                    <a:lumMod val="75000"/>
                    <a:lumOff val="25000"/>
                  </a:srgbClr>
                </a:gs>
                <a:gs pos="2000">
                  <a:srgbClr val="F0F0F0">
                    <a:lumMod val="25000"/>
                  </a:srgbClr>
                </a:gs>
                <a:gs pos="21000">
                  <a:srgbClr val="FFFFFF">
                    <a:alpha val="0"/>
                    <a:lumMod val="95000"/>
                  </a:srgbClr>
                </a:gs>
                <a:gs pos="82000">
                  <a:srgbClr val="FFFFFF">
                    <a:alpha val="4000"/>
                    <a:lumMod val="95000"/>
                  </a:srgbClr>
                </a:gs>
                <a:gs pos="98000">
                  <a:srgbClr val="F0F0F0">
                    <a:lumMod val="25000"/>
                  </a:srgbClr>
                </a:gs>
                <a:gs pos="99000">
                  <a:srgbClr val="000000">
                    <a:lumMod val="75000"/>
                    <a:lumOff val="25000"/>
                  </a:srgbClr>
                </a:gs>
                <a:gs pos="100000">
                  <a:srgbClr val="000000">
                    <a:lumMod val="75000"/>
                    <a:lumOff val="25000"/>
                  </a:srgbClr>
                </a:gs>
              </a:gsLst>
            </a:gradFill>
            <a:ln cap="flat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Autofit/>
            </a:bodyPr>
            <a:p>
              <a:pPr algn="l" marL="0"/>
            </a:p>
          </p:txBody>
        </p:sp>
        <p:sp>
          <p:nvSpPr>
            <p:cNvPr name="Freeform 8" id="8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r="r" b="b" t="t" l="l"/>
              <a:pathLst>
                <a:path w="8883672" h="6815290" stroke="true" fill="norm" extrusionOk="true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E0E0E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9" id="9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r="r" b="b" t="t" l="l"/>
              <a:pathLst>
                <a:path w="8883672" h="6815290" stroke="true" fill="norm" extrusionOk="true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solidFill>
              <a:srgbClr val="000000"/>
            </a:solidFill>
            <a:ln cap="flat"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3257153" y="1570990"/>
              <a:ext cx="5671864" cy="4354002"/>
            </a:xfrm>
            <a:custGeom>
              <a:avLst/>
              <a:gdLst/>
              <a:ahLst/>
              <a:cxnLst/>
              <a:rect r="r" b="b" t="t" l="l"/>
              <a:pathLst>
                <a:path w="8901976" h="6833594" stroke="true" fill="norm" extrusionOk="true">
                  <a:moveTo>
                    <a:pt x="8392511" y="3"/>
                  </a:moveTo>
                  <a:cubicBezTo>
                    <a:pt x="8569452" y="3"/>
                    <a:pt x="8632907" y="18917"/>
                    <a:pt x="8697582" y="53085"/>
                  </a:cubicBezTo>
                  <a:cubicBezTo>
                    <a:pt x="8762867" y="87863"/>
                    <a:pt x="8814119" y="139115"/>
                    <a:pt x="8848898" y="204401"/>
                  </a:cubicBezTo>
                  <a:cubicBezTo>
                    <a:pt x="8883675" y="269076"/>
                    <a:pt x="8901980" y="333141"/>
                    <a:pt x="8901980" y="509472"/>
                  </a:cubicBezTo>
                  <a:lnTo>
                    <a:pt x="8901980" y="509472"/>
                  </a:lnTo>
                  <a:lnTo>
                    <a:pt x="8901980" y="6324129"/>
                  </a:lnTo>
                  <a:cubicBezTo>
                    <a:pt x="8901980" y="6501070"/>
                    <a:pt x="8883065" y="6564525"/>
                    <a:pt x="8848898" y="6629200"/>
                  </a:cubicBezTo>
                  <a:cubicBezTo>
                    <a:pt x="8814119" y="6694485"/>
                    <a:pt x="8762867" y="6745737"/>
                    <a:pt x="8697582" y="6780515"/>
                  </a:cubicBezTo>
                  <a:cubicBezTo>
                    <a:pt x="8632907" y="6815293"/>
                    <a:pt x="8568842" y="6833598"/>
                    <a:pt x="8392511" y="6833598"/>
                  </a:cubicBezTo>
                  <a:lnTo>
                    <a:pt x="8392511" y="6833598"/>
                  </a:lnTo>
                  <a:lnTo>
                    <a:pt x="509472" y="6833598"/>
                  </a:lnTo>
                  <a:cubicBezTo>
                    <a:pt x="332531" y="6833598"/>
                    <a:pt x="269076" y="6814683"/>
                    <a:pt x="204401" y="6780515"/>
                  </a:cubicBezTo>
                  <a:cubicBezTo>
                    <a:pt x="139115" y="6745737"/>
                    <a:pt x="87863" y="6694485"/>
                    <a:pt x="53085" y="6629200"/>
                  </a:cubicBezTo>
                  <a:cubicBezTo>
                    <a:pt x="18917" y="6565135"/>
                    <a:pt x="3" y="6501680"/>
                    <a:pt x="3" y="6329010"/>
                  </a:cubicBezTo>
                  <a:lnTo>
                    <a:pt x="3" y="6329010"/>
                  </a:lnTo>
                  <a:lnTo>
                    <a:pt x="3" y="504591"/>
                  </a:lnTo>
                  <a:cubicBezTo>
                    <a:pt x="613" y="331920"/>
                    <a:pt x="18917" y="268466"/>
                    <a:pt x="53085" y="204401"/>
                  </a:cubicBezTo>
                  <a:cubicBezTo>
                    <a:pt x="87863" y="139115"/>
                    <a:pt x="139115" y="87863"/>
                    <a:pt x="204401" y="53085"/>
                  </a:cubicBezTo>
                  <a:cubicBezTo>
                    <a:pt x="268466" y="18917"/>
                    <a:pt x="331920" y="3"/>
                    <a:pt x="504591" y="3"/>
                  </a:cubicBezTo>
                  <a:lnTo>
                    <a:pt x="504591" y="3"/>
                  </a:lnTo>
                  <a:lnTo>
                    <a:pt x="8392511" y="3"/>
                  </a:lnTo>
                  <a:close/>
                </a:path>
              </a:pathLst>
            </a:custGeom>
            <a:noFill/>
            <a:ln w="18294" cap="flat">
              <a:solidFill>
                <a:srgbClr val="FFFFFF">
                  <a:alpha val="10000"/>
                </a:srgbClr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3258708" y="1572933"/>
              <a:ext cx="5668365" cy="4350503"/>
            </a:xfrm>
            <a:custGeom>
              <a:avLst/>
              <a:gdLst/>
              <a:ahLst/>
              <a:cxnLst/>
              <a:rect r="r" b="b" t="t" l="l"/>
              <a:pathLst>
                <a:path w="8896485" h="6828102" stroke="true" fill="norm" extrusionOk="true">
                  <a:moveTo>
                    <a:pt x="8394952" y="3"/>
                  </a:moveTo>
                  <a:cubicBezTo>
                    <a:pt x="8567012" y="613"/>
                    <a:pt x="8629857" y="18917"/>
                    <a:pt x="8693311" y="53085"/>
                  </a:cubicBezTo>
                  <a:cubicBezTo>
                    <a:pt x="8757986" y="87863"/>
                    <a:pt x="8808628" y="138505"/>
                    <a:pt x="8843406" y="203180"/>
                  </a:cubicBezTo>
                  <a:cubicBezTo>
                    <a:pt x="8877574" y="267245"/>
                    <a:pt x="8896488" y="331310"/>
                    <a:pt x="8896488" y="507031"/>
                  </a:cubicBezTo>
                  <a:lnTo>
                    <a:pt x="8896488" y="507031"/>
                  </a:lnTo>
                  <a:lnTo>
                    <a:pt x="8896488" y="6321078"/>
                  </a:lnTo>
                  <a:cubicBezTo>
                    <a:pt x="8896488" y="6496799"/>
                    <a:pt x="8878184" y="6560253"/>
                    <a:pt x="8843406" y="6624929"/>
                  </a:cubicBezTo>
                  <a:cubicBezTo>
                    <a:pt x="8808628" y="6689604"/>
                    <a:pt x="8757986" y="6740245"/>
                    <a:pt x="8693311" y="6775024"/>
                  </a:cubicBezTo>
                  <a:cubicBezTo>
                    <a:pt x="8629246" y="6809192"/>
                    <a:pt x="8565181" y="6828106"/>
                    <a:pt x="8389460" y="6828106"/>
                  </a:cubicBezTo>
                  <a:lnTo>
                    <a:pt x="8389460" y="6828106"/>
                  </a:lnTo>
                  <a:lnTo>
                    <a:pt x="507031" y="6828106"/>
                  </a:lnTo>
                  <a:cubicBezTo>
                    <a:pt x="331310" y="6828106"/>
                    <a:pt x="267855" y="6809802"/>
                    <a:pt x="203180" y="6775024"/>
                  </a:cubicBezTo>
                  <a:cubicBezTo>
                    <a:pt x="138505" y="6740245"/>
                    <a:pt x="87864" y="6689604"/>
                    <a:pt x="53085" y="6624929"/>
                  </a:cubicBezTo>
                  <a:cubicBezTo>
                    <a:pt x="18917" y="6561474"/>
                    <a:pt x="613" y="6498019"/>
                    <a:pt x="3" y="6326569"/>
                  </a:cubicBezTo>
                  <a:lnTo>
                    <a:pt x="3" y="6326569"/>
                  </a:lnTo>
                  <a:lnTo>
                    <a:pt x="613" y="506421"/>
                  </a:lnTo>
                  <a:cubicBezTo>
                    <a:pt x="613" y="330700"/>
                    <a:pt x="18917" y="267245"/>
                    <a:pt x="53696" y="202570"/>
                  </a:cubicBezTo>
                  <a:cubicBezTo>
                    <a:pt x="88474" y="137895"/>
                    <a:pt x="139115" y="87253"/>
                    <a:pt x="203791" y="52475"/>
                  </a:cubicBezTo>
                  <a:cubicBezTo>
                    <a:pt x="267245" y="18917"/>
                    <a:pt x="330090" y="613"/>
                    <a:pt x="502150" y="3"/>
                  </a:cubicBezTo>
                  <a:lnTo>
                    <a:pt x="502150" y="3"/>
                  </a:lnTo>
                  <a:lnTo>
                    <a:pt x="8394952" y="3"/>
                  </a:lnTo>
                  <a:close/>
                </a:path>
              </a:pathLst>
            </a:custGeom>
            <a:noFill/>
            <a:ln w="12196" cap="flat">
              <a:solidFill>
                <a:srgbClr val="28292A">
                  <a:alpha val="40000"/>
                </a:srgbClr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2" id="12"/>
            <p:cNvSpPr/>
            <p:nvPr/>
          </p:nvSpPr>
          <p:spPr>
            <a:xfrm>
              <a:off x="3268427" y="1582652"/>
              <a:ext cx="5649317" cy="4331065"/>
            </a:xfrm>
            <a:custGeom>
              <a:avLst/>
              <a:gdLst/>
              <a:ahLst/>
              <a:cxnLst/>
              <a:rect r="r" b="b" t="t" l="l"/>
              <a:pathLst>
                <a:path w="8866588" h="6797595" stroke="true" fill="norm" extrusionOk="true">
                  <a:moveTo>
                    <a:pt x="8379698" y="3"/>
                  </a:moveTo>
                  <a:cubicBezTo>
                    <a:pt x="8547487" y="613"/>
                    <a:pt x="8609112" y="17697"/>
                    <a:pt x="8671346" y="51255"/>
                  </a:cubicBezTo>
                  <a:cubicBezTo>
                    <a:pt x="8733581" y="84203"/>
                    <a:pt x="8781781" y="133014"/>
                    <a:pt x="8815339" y="195249"/>
                  </a:cubicBezTo>
                  <a:cubicBezTo>
                    <a:pt x="8848897" y="258093"/>
                    <a:pt x="8866591" y="320328"/>
                    <a:pt x="8866591" y="491778"/>
                  </a:cubicBezTo>
                  <a:lnTo>
                    <a:pt x="8866591" y="491778"/>
                  </a:lnTo>
                  <a:lnTo>
                    <a:pt x="8866591" y="6305824"/>
                  </a:lnTo>
                  <a:cubicBezTo>
                    <a:pt x="8866591" y="6477274"/>
                    <a:pt x="8848897" y="6539509"/>
                    <a:pt x="8815339" y="6602353"/>
                  </a:cubicBezTo>
                  <a:cubicBezTo>
                    <a:pt x="8782392" y="6664588"/>
                    <a:pt x="8733581" y="6712789"/>
                    <a:pt x="8671346" y="6746347"/>
                  </a:cubicBezTo>
                  <a:cubicBezTo>
                    <a:pt x="8608502" y="6779905"/>
                    <a:pt x="8546267" y="6797599"/>
                    <a:pt x="8374817" y="6797599"/>
                  </a:cubicBezTo>
                  <a:lnTo>
                    <a:pt x="8374817" y="6797599"/>
                  </a:lnTo>
                  <a:lnTo>
                    <a:pt x="491778" y="6797599"/>
                  </a:lnTo>
                  <a:cubicBezTo>
                    <a:pt x="320328" y="6797599"/>
                    <a:pt x="258093" y="6779905"/>
                    <a:pt x="195249" y="6746347"/>
                  </a:cubicBezTo>
                  <a:cubicBezTo>
                    <a:pt x="133014" y="6713400"/>
                    <a:pt x="84813" y="6664588"/>
                    <a:pt x="51255" y="6602353"/>
                  </a:cubicBezTo>
                  <a:cubicBezTo>
                    <a:pt x="18307" y="6540119"/>
                    <a:pt x="613" y="6478495"/>
                    <a:pt x="3" y="6311316"/>
                  </a:cubicBezTo>
                  <a:lnTo>
                    <a:pt x="3" y="6311316"/>
                  </a:lnTo>
                  <a:lnTo>
                    <a:pt x="3" y="486897"/>
                  </a:lnTo>
                  <a:cubicBezTo>
                    <a:pt x="613" y="319107"/>
                    <a:pt x="17697" y="257483"/>
                    <a:pt x="51255" y="195249"/>
                  </a:cubicBezTo>
                  <a:cubicBezTo>
                    <a:pt x="84203" y="133014"/>
                    <a:pt x="133014" y="84813"/>
                    <a:pt x="195249" y="51255"/>
                  </a:cubicBezTo>
                  <a:cubicBezTo>
                    <a:pt x="257483" y="18307"/>
                    <a:pt x="319107" y="613"/>
                    <a:pt x="486286" y="3"/>
                  </a:cubicBezTo>
                  <a:lnTo>
                    <a:pt x="486286" y="3"/>
                  </a:lnTo>
                  <a:lnTo>
                    <a:pt x="8379698" y="3"/>
                  </a:lnTo>
                  <a:close/>
                </a:path>
              </a:pathLst>
            </a:custGeom>
            <a:noFill/>
            <a:ln w="18294" cap="flat">
              <a:solidFill>
                <a:srgbClr val="9FA0A1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3" id="13"/>
            <p:cNvSpPr/>
            <p:nvPr/>
          </p:nvSpPr>
          <p:spPr>
            <a:xfrm>
              <a:off x="3262984" y="1576821"/>
              <a:ext cx="5660202" cy="4342340"/>
            </a:xfrm>
            <a:custGeom>
              <a:avLst/>
              <a:gdLst/>
              <a:ahLst/>
              <a:cxnLst/>
              <a:rect r="r" b="b" t="t" l="l"/>
              <a:pathLst>
                <a:path w="8883672" h="6815290" stroke="true" fill="norm" extrusionOk="true">
                  <a:moveTo>
                    <a:pt x="500320" y="3"/>
                  </a:moveTo>
                  <a:lnTo>
                    <a:pt x="8383359" y="3"/>
                  </a:lnTo>
                  <a:cubicBezTo>
                    <a:pt x="8557249" y="3"/>
                    <a:pt x="8620704" y="18307"/>
                    <a:pt x="8684159" y="51865"/>
                  </a:cubicBezTo>
                  <a:cubicBezTo>
                    <a:pt x="8747613" y="86033"/>
                    <a:pt x="8797646" y="136065"/>
                    <a:pt x="8831813" y="199520"/>
                  </a:cubicBezTo>
                  <a:cubicBezTo>
                    <a:pt x="8865981" y="262974"/>
                    <a:pt x="8883675" y="326429"/>
                    <a:pt x="8883675" y="500320"/>
                  </a:cubicBezTo>
                  <a:lnTo>
                    <a:pt x="8883675" y="6314977"/>
                  </a:lnTo>
                  <a:cubicBezTo>
                    <a:pt x="8883675" y="6488867"/>
                    <a:pt x="8865371" y="6552322"/>
                    <a:pt x="8831813" y="6615777"/>
                  </a:cubicBezTo>
                  <a:cubicBezTo>
                    <a:pt x="8797646" y="6679231"/>
                    <a:pt x="8747613" y="6729263"/>
                    <a:pt x="8684159" y="6763431"/>
                  </a:cubicBezTo>
                  <a:cubicBezTo>
                    <a:pt x="8620704" y="6797599"/>
                    <a:pt x="8557249" y="6815293"/>
                    <a:pt x="8383359" y="6815293"/>
                  </a:cubicBezTo>
                  <a:lnTo>
                    <a:pt x="500320" y="6815293"/>
                  </a:lnTo>
                  <a:cubicBezTo>
                    <a:pt x="326429" y="6815293"/>
                    <a:pt x="262974" y="6796989"/>
                    <a:pt x="199520" y="6763431"/>
                  </a:cubicBezTo>
                  <a:cubicBezTo>
                    <a:pt x="136065" y="6729263"/>
                    <a:pt x="86033" y="6679231"/>
                    <a:pt x="51865" y="6615777"/>
                  </a:cubicBezTo>
                  <a:cubicBezTo>
                    <a:pt x="18307" y="6551712"/>
                    <a:pt x="3" y="6488867"/>
                    <a:pt x="3" y="6314977"/>
                  </a:cubicBezTo>
                  <a:lnTo>
                    <a:pt x="3" y="500320"/>
                  </a:lnTo>
                  <a:cubicBezTo>
                    <a:pt x="3" y="326429"/>
                    <a:pt x="18307" y="262974"/>
                    <a:pt x="51865" y="199520"/>
                  </a:cubicBezTo>
                  <a:cubicBezTo>
                    <a:pt x="85423" y="136065"/>
                    <a:pt x="136065" y="86033"/>
                    <a:pt x="199520" y="51865"/>
                  </a:cubicBezTo>
                  <a:cubicBezTo>
                    <a:pt x="262974" y="17697"/>
                    <a:pt x="326429" y="3"/>
                    <a:pt x="500320" y="3"/>
                  </a:cubicBezTo>
                  <a:close/>
                </a:path>
              </a:pathLst>
            </a:custGeom>
            <a:noFill/>
            <a:ln w="12196" cap="flat">
              <a:solidFill>
                <a:srgbClr val="F8F8F8">
                  <a:alpha val="50000"/>
                </a:srgbClr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  <p:grpSp>
          <p:nvGrpSpPr>
            <p:cNvPr name="Group 14" id="14"/>
            <p:cNvGrpSpPr/>
            <p:nvPr/>
          </p:nvGrpSpPr>
          <p:grpSpPr>
            <a:xfrm>
              <a:off x="8794898" y="3438935"/>
              <a:ext cx="77750" cy="614225"/>
              <a:chOff x="10336488" y="2940886"/>
              <a:chExt cx="122028" cy="964024"/>
            </a:xfrm>
          </p:grpSpPr>
          <p:sp>
            <p:nvSpPr>
              <p:cNvPr name="Freeform 15" id="15"/>
              <p:cNvSpPr/>
              <p:nvPr/>
            </p:nvSpPr>
            <p:spPr>
              <a:xfrm>
                <a:off x="10360894" y="3380188"/>
                <a:ext cx="73217" cy="73217"/>
              </a:xfrm>
              <a:custGeom>
                <a:avLst/>
                <a:gdLst/>
                <a:ahLst/>
                <a:cxnLst/>
                <a:rect r="r" b="b" t="t" l="l"/>
                <a:pathLst>
                  <a:path w="73217" h="73217" stroke="true" fill="norm" extrusionOk="true">
                    <a:moveTo>
                      <a:pt x="74643" y="37091"/>
                    </a:moveTo>
                    <a:cubicBezTo>
                      <a:pt x="74643" y="57309"/>
                      <a:pt x="58253" y="73699"/>
                      <a:pt x="38035" y="73699"/>
                    </a:cubicBezTo>
                    <a:cubicBezTo>
                      <a:pt x="17816" y="73699"/>
                      <a:pt x="1426" y="57309"/>
                      <a:pt x="1426" y="37091"/>
                    </a:cubicBezTo>
                    <a:cubicBezTo>
                      <a:pt x="1426" y="16872"/>
                      <a:pt x="17816" y="482"/>
                      <a:pt x="38035" y="482"/>
                    </a:cubicBezTo>
                    <a:cubicBezTo>
                      <a:pt x="58253" y="482"/>
                      <a:pt x="74643" y="16872"/>
                      <a:pt x="74643" y="37091"/>
                    </a:cubicBezTo>
                    <a:close/>
                  </a:path>
                </a:pathLst>
              </a:custGeom>
              <a:solidFill>
                <a:srgbClr val="464646">
                  <a:alpha val="50000"/>
                </a:srgbClr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grpSp>
            <p:nvGrpSpPr>
              <p:cNvPr name="Group 16" id="16"/>
              <p:cNvGrpSpPr/>
              <p:nvPr/>
            </p:nvGrpSpPr>
            <p:grpSpPr>
              <a:xfrm>
                <a:off x="10376148" y="3395442"/>
                <a:ext cx="42709" cy="42709"/>
                <a:chOff x="10376148" y="3395442"/>
                <a:chExt cx="42709" cy="42709"/>
              </a:xfrm>
            </p:grpSpPr>
            <p:sp>
              <p:nvSpPr>
                <p:cNvPr name="Freeform 17" id="17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608" h="36608" stroke="true" fill="norm" extrusionOk="true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72244"/>
                </a:solidFill>
                <a:ln cap="flat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8" id="18"/>
                <p:cNvSpPr/>
                <p:nvPr/>
              </p:nvSpPr>
              <p:spPr>
                <a:xfrm>
                  <a:off x="10379198" y="3398492"/>
                  <a:ext cx="36608" cy="36608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36608" h="36608" stroke="true" fill="norm" extrusionOk="true">
                      <a:moveTo>
                        <a:pt x="19730" y="482"/>
                      </a:moveTo>
                      <a:cubicBezTo>
                        <a:pt x="9358" y="482"/>
                        <a:pt x="1426" y="8414"/>
                        <a:pt x="1426" y="18786"/>
                      </a:cubicBezTo>
                      <a:lnTo>
                        <a:pt x="1426" y="18786"/>
                      </a:lnTo>
                      <a:cubicBezTo>
                        <a:pt x="1426" y="29159"/>
                        <a:pt x="9358" y="37091"/>
                        <a:pt x="19730" y="37091"/>
                      </a:cubicBezTo>
                      <a:lnTo>
                        <a:pt x="19730" y="37091"/>
                      </a:lnTo>
                      <a:cubicBezTo>
                        <a:pt x="30103" y="37091"/>
                        <a:pt x="38035" y="29159"/>
                        <a:pt x="38035" y="18786"/>
                      </a:cubicBezTo>
                      <a:lnTo>
                        <a:pt x="38035" y="18786"/>
                      </a:lnTo>
                      <a:cubicBezTo>
                        <a:pt x="38035" y="8414"/>
                        <a:pt x="30103" y="482"/>
                        <a:pt x="19730" y="482"/>
                      </a:cubicBezTo>
                      <a:lnTo>
                        <a:pt x="19730" y="4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cap="flat"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l" marL="0"/>
                </a:p>
              </p:txBody>
            </p:sp>
            <p:sp>
              <p:nvSpPr>
                <p:cNvPr name="Freeform 19" id="19"/>
                <p:cNvSpPr/>
                <p:nvPr/>
              </p:nvSpPr>
              <p:spPr>
                <a:xfrm>
                  <a:off x="10376148" y="3395442"/>
                  <a:ext cx="42709" cy="42709"/>
                </a:xfrm>
                <a:custGeom>
                  <a:avLst/>
                  <a:gdLst/>
                  <a:ahLst/>
                  <a:cxnLst/>
                  <a:rect r="r" b="b" t="t" l="l"/>
                  <a:pathLst>
                    <a:path w="42709" h="42709" stroke="true" fill="norm" extrusionOk="true">
                      <a:moveTo>
                        <a:pt x="22781" y="482"/>
                      </a:moveTo>
                      <a:cubicBezTo>
                        <a:pt x="28882" y="482"/>
                        <a:pt x="33764" y="2923"/>
                        <a:pt x="38035" y="6583"/>
                      </a:cubicBezTo>
                      <a:cubicBezTo>
                        <a:pt x="41695" y="10244"/>
                        <a:pt x="44136" y="15736"/>
                        <a:pt x="44136" y="21837"/>
                      </a:cubicBezTo>
                      <a:cubicBezTo>
                        <a:pt x="43526" y="27938"/>
                        <a:pt x="41085" y="33430"/>
                        <a:pt x="37424" y="37091"/>
                      </a:cubicBezTo>
                      <a:cubicBezTo>
                        <a:pt x="33764" y="40751"/>
                        <a:pt x="28272" y="43192"/>
                        <a:pt x="22781" y="43192"/>
                      </a:cubicBezTo>
                      <a:cubicBezTo>
                        <a:pt x="16680" y="42582"/>
                        <a:pt x="11188" y="40141"/>
                        <a:pt x="7527" y="36480"/>
                      </a:cubicBezTo>
                      <a:cubicBezTo>
                        <a:pt x="3867" y="32820"/>
                        <a:pt x="1426" y="27328"/>
                        <a:pt x="1426" y="21837"/>
                      </a:cubicBezTo>
                      <a:cubicBezTo>
                        <a:pt x="2036" y="15736"/>
                        <a:pt x="4477" y="10244"/>
                        <a:pt x="8138" y="6583"/>
                      </a:cubicBezTo>
                      <a:cubicBezTo>
                        <a:pt x="11798" y="2923"/>
                        <a:pt x="17290" y="482"/>
                        <a:pt x="22781" y="482"/>
                      </a:cubicBezTo>
                      <a:close/>
                    </a:path>
                  </a:pathLst>
                </a:custGeom>
                <a:noFill/>
                <a:ln w="6098" cap="flat">
                  <a:solidFill>
                    <a:srgbClr val="333333"/>
                  </a:solidFill>
                  <a:prstDash val="solid"/>
                </a:ln>
              </p:spPr>
              <p:txBody>
                <a:bodyPr vert="horz" anchor="ctr" tIns="45720" lIns="91440" bIns="45720" rIns="91440">
                  <a:normAutofit/>
                </a:bodyPr>
                <a:p>
                  <a:pPr algn="l" marL="0"/>
                </a:p>
              </p:txBody>
            </p:sp>
          </p:grpSp>
          <p:sp>
            <p:nvSpPr>
              <p:cNvPr name="Freeform 20" id="20"/>
              <p:cNvSpPr/>
              <p:nvPr/>
            </p:nvSpPr>
            <p:spPr>
              <a:xfrm>
                <a:off x="10391401" y="3404594"/>
                <a:ext cx="12202" cy="12202"/>
              </a:xfrm>
              <a:custGeom>
                <a:avLst/>
                <a:gdLst/>
                <a:ahLst/>
                <a:cxnLst/>
                <a:rect r="r" b="b" t="t" l="l"/>
                <a:pathLst>
                  <a:path w="12202" h="12202" stroke="true" fill="norm" extrusionOk="true">
                    <a:moveTo>
                      <a:pt x="13629" y="6583"/>
                    </a:moveTo>
                    <a:cubicBezTo>
                      <a:pt x="13629" y="9953"/>
                      <a:pt x="10897" y="12685"/>
                      <a:pt x="7527" y="12685"/>
                    </a:cubicBezTo>
                    <a:cubicBezTo>
                      <a:pt x="4158" y="12685"/>
                      <a:pt x="1426" y="9953"/>
                      <a:pt x="1426" y="6583"/>
                    </a:cubicBezTo>
                    <a:cubicBezTo>
                      <a:pt x="1426" y="3214"/>
                      <a:pt x="4158" y="482"/>
                      <a:pt x="7527" y="482"/>
                    </a:cubicBezTo>
                    <a:cubicBezTo>
                      <a:pt x="10897" y="482"/>
                      <a:pt x="13629" y="3214"/>
                      <a:pt x="13629" y="6583"/>
                    </a:cubicBezTo>
                    <a:close/>
                  </a:path>
                </a:pathLst>
              </a:custGeom>
              <a:solidFill>
                <a:srgbClr val="03DBF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1" id="21"/>
              <p:cNvSpPr/>
              <p:nvPr/>
            </p:nvSpPr>
            <p:spPr>
              <a:xfrm>
                <a:off x="10403604" y="3410695"/>
                <a:ext cx="6101" cy="12202"/>
              </a:xfrm>
              <a:custGeom>
                <a:avLst/>
                <a:gdLst/>
                <a:ahLst/>
                <a:cxnLst/>
                <a:rect r="r" b="b" t="t" l="l"/>
                <a:pathLst>
                  <a:path w="6101" h="12202" stroke="true" fill="norm" extrusionOk="true">
                    <a:moveTo>
                      <a:pt x="7527" y="6583"/>
                    </a:moveTo>
                    <a:cubicBezTo>
                      <a:pt x="7527" y="1702"/>
                      <a:pt x="2036" y="482"/>
                      <a:pt x="2036" y="482"/>
                    </a:cubicBezTo>
                    <a:cubicBezTo>
                      <a:pt x="2036" y="482"/>
                      <a:pt x="4477" y="3533"/>
                      <a:pt x="4477" y="6583"/>
                    </a:cubicBezTo>
                    <a:cubicBezTo>
                      <a:pt x="4477" y="9634"/>
                      <a:pt x="1426" y="12685"/>
                      <a:pt x="1426" y="12685"/>
                    </a:cubicBezTo>
                    <a:cubicBezTo>
                      <a:pt x="1426" y="12685"/>
                      <a:pt x="7527" y="11465"/>
                      <a:pt x="7527" y="6583"/>
                    </a:cubicBezTo>
                    <a:close/>
                  </a:path>
                </a:pathLst>
              </a:custGeom>
              <a:solidFill>
                <a:srgbClr val="14AAC8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2" id="22"/>
              <p:cNvSpPr/>
              <p:nvPr/>
            </p:nvSpPr>
            <p:spPr>
              <a:xfrm>
                <a:off x="10385300" y="3416797"/>
                <a:ext cx="6101" cy="6101"/>
              </a:xfrm>
              <a:custGeom>
                <a:avLst/>
                <a:gdLst/>
                <a:ahLst/>
                <a:cxnLst/>
                <a:rect r="r" b="b" t="t" l="l"/>
                <a:pathLst>
                  <a:path w="6101" h="6101" stroke="true" fill="norm" extrusionOk="true">
                    <a:moveTo>
                      <a:pt x="7527" y="3533"/>
                    </a:moveTo>
                    <a:cubicBezTo>
                      <a:pt x="7527" y="5218"/>
                      <a:pt x="6162" y="6583"/>
                      <a:pt x="4477" y="6583"/>
                    </a:cubicBezTo>
                    <a:cubicBezTo>
                      <a:pt x="2792" y="6583"/>
                      <a:pt x="1426" y="5218"/>
                      <a:pt x="1426" y="3533"/>
                    </a:cubicBezTo>
                    <a:cubicBezTo>
                      <a:pt x="1426" y="1848"/>
                      <a:pt x="2792" y="482"/>
                      <a:pt x="4477" y="482"/>
                    </a:cubicBezTo>
                    <a:cubicBezTo>
                      <a:pt x="6162" y="482"/>
                      <a:pt x="7527" y="1848"/>
                      <a:pt x="7527" y="3533"/>
                    </a:cubicBezTo>
                    <a:close/>
                  </a:path>
                </a:pathLst>
              </a:custGeom>
              <a:solidFill>
                <a:srgbClr val="30A4B9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3" id="23"/>
              <p:cNvSpPr/>
              <p:nvPr/>
            </p:nvSpPr>
            <p:spPr>
              <a:xfrm>
                <a:off x="10348691" y="2940886"/>
                <a:ext cx="97622" cy="97622"/>
              </a:xfrm>
              <a:custGeom>
                <a:avLst/>
                <a:gdLst/>
                <a:ahLst/>
                <a:cxnLst/>
                <a:rect r="r" b="b" t="t" l="l"/>
                <a:pathLst>
                  <a:path w="97622" h="97622" stroke="true" fill="norm" extrusionOk="true">
                    <a:moveTo>
                      <a:pt x="99049" y="49293"/>
                    </a:moveTo>
                    <a:cubicBezTo>
                      <a:pt x="99049" y="76251"/>
                      <a:pt x="77195" y="98105"/>
                      <a:pt x="50237" y="98105"/>
                    </a:cubicBezTo>
                    <a:cubicBezTo>
                      <a:pt x="23280" y="98105"/>
                      <a:pt x="1426" y="76251"/>
                      <a:pt x="1426" y="49293"/>
                    </a:cubicBezTo>
                    <a:cubicBezTo>
                      <a:pt x="1426" y="22336"/>
                      <a:pt x="23280" y="482"/>
                      <a:pt x="50237" y="482"/>
                    </a:cubicBezTo>
                    <a:cubicBezTo>
                      <a:pt x="77195" y="482"/>
                      <a:pt x="99049" y="22336"/>
                      <a:pt x="99049" y="49293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4" id="24"/>
              <p:cNvSpPr/>
              <p:nvPr/>
            </p:nvSpPr>
            <p:spPr>
              <a:xfrm>
                <a:off x="10336488" y="3136131"/>
                <a:ext cx="122028" cy="122028"/>
              </a:xfrm>
              <a:custGeom>
                <a:avLst/>
                <a:gdLst/>
                <a:ahLst/>
                <a:cxnLst/>
                <a:rect r="r" b="b" t="t" l="l"/>
                <a:pathLst>
                  <a:path w="122028" h="122028" stroke="true" fill="norm" extrusionOk="true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5" id="25"/>
              <p:cNvSpPr/>
              <p:nvPr/>
            </p:nvSpPr>
            <p:spPr>
              <a:xfrm>
                <a:off x="10336488" y="3782882"/>
                <a:ext cx="122028" cy="122028"/>
              </a:xfrm>
              <a:custGeom>
                <a:avLst/>
                <a:gdLst/>
                <a:ahLst/>
                <a:cxnLst/>
                <a:rect r="r" b="b" t="t" l="l"/>
                <a:pathLst>
                  <a:path w="122028" h="122028" stroke="true" fill="norm" extrusionOk="true">
                    <a:moveTo>
                      <a:pt x="123454" y="61496"/>
                    </a:moveTo>
                    <a:cubicBezTo>
                      <a:pt x="123454" y="95193"/>
                      <a:pt x="96137" y="122510"/>
                      <a:pt x="62440" y="122510"/>
                    </a:cubicBezTo>
                    <a:cubicBezTo>
                      <a:pt x="28743" y="122510"/>
                      <a:pt x="1426" y="95193"/>
                      <a:pt x="1426" y="61496"/>
                    </a:cubicBezTo>
                    <a:cubicBezTo>
                      <a:pt x="1426" y="27799"/>
                      <a:pt x="28743" y="482"/>
                      <a:pt x="62440" y="482"/>
                    </a:cubicBezTo>
                    <a:cubicBezTo>
                      <a:pt x="96137" y="482"/>
                      <a:pt x="123454" y="27799"/>
                      <a:pt x="123454" y="6149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  <p:sp>
            <p:nvSpPr>
              <p:cNvPr name="Freeform 26" id="26"/>
              <p:cNvSpPr/>
              <p:nvPr/>
            </p:nvSpPr>
            <p:spPr>
              <a:xfrm>
                <a:off x="10379198" y="3599839"/>
                <a:ext cx="36608" cy="36608"/>
              </a:xfrm>
              <a:custGeom>
                <a:avLst/>
                <a:gdLst/>
                <a:ahLst/>
                <a:cxnLst/>
                <a:rect r="r" b="b" t="t" l="l"/>
                <a:pathLst>
                  <a:path w="36608" h="36608" stroke="true" fill="norm" extrusionOk="true">
                    <a:moveTo>
                      <a:pt x="38035" y="18786"/>
                    </a:moveTo>
                    <a:cubicBezTo>
                      <a:pt x="38035" y="28895"/>
                      <a:pt x="29839" y="37091"/>
                      <a:pt x="19730" y="37091"/>
                    </a:cubicBezTo>
                    <a:cubicBezTo>
                      <a:pt x="9621" y="37091"/>
                      <a:pt x="1426" y="28895"/>
                      <a:pt x="1426" y="18786"/>
                    </a:cubicBezTo>
                    <a:cubicBezTo>
                      <a:pt x="1426" y="8677"/>
                      <a:pt x="9621" y="482"/>
                      <a:pt x="19730" y="482"/>
                    </a:cubicBezTo>
                    <a:cubicBezTo>
                      <a:pt x="29839" y="482"/>
                      <a:pt x="38035" y="8677"/>
                      <a:pt x="38035" y="18786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flat">
                <a:prstDash val="solid"/>
              </a:ln>
            </p:spPr>
            <p:txBody>
              <a:bodyPr vert="horz" anchor="ctr" tIns="45720" lIns="91440" bIns="45720" rIns="91440">
                <a:normAutofit/>
              </a:bodyPr>
              <a:p>
                <a:pPr algn="l" marL="0"/>
              </a:p>
            </p:txBody>
          </p:sp>
        </p:grpSp>
        <p:sp>
          <p:nvSpPr>
            <p:cNvPr name="Freeform 27" id="27"/>
            <p:cNvSpPr/>
            <p:nvPr/>
          </p:nvSpPr>
          <p:spPr>
            <a:xfrm>
              <a:off x="3433645" y="1747871"/>
              <a:ext cx="5318879" cy="3988965"/>
            </a:xfrm>
            <a:custGeom>
              <a:avLst/>
              <a:gdLst/>
              <a:ahLst/>
              <a:cxnLst/>
              <a:rect r="r" b="b" t="t" l="l"/>
              <a:pathLst>
                <a:path w="8347967" h="6260670" stroke="true" fill="norm" extrusionOk="true">
                  <a:moveTo>
                    <a:pt x="8188114" y="3"/>
                  </a:moveTo>
                  <a:cubicBezTo>
                    <a:pt x="8241806" y="3"/>
                    <a:pt x="8261941" y="6104"/>
                    <a:pt x="8282076" y="17087"/>
                  </a:cubicBezTo>
                  <a:cubicBezTo>
                    <a:pt x="8302820" y="28070"/>
                    <a:pt x="8319294" y="44543"/>
                    <a:pt x="8330887" y="65898"/>
                  </a:cubicBezTo>
                  <a:cubicBezTo>
                    <a:pt x="8341869" y="86643"/>
                    <a:pt x="8347971" y="106778"/>
                    <a:pt x="8347971" y="162911"/>
                  </a:cubicBezTo>
                  <a:lnTo>
                    <a:pt x="8347971" y="162911"/>
                  </a:lnTo>
                  <a:lnTo>
                    <a:pt x="8347971" y="6097766"/>
                  </a:lnTo>
                  <a:cubicBezTo>
                    <a:pt x="8347971" y="6153899"/>
                    <a:pt x="8341869" y="6174034"/>
                    <a:pt x="8330887" y="6194779"/>
                  </a:cubicBezTo>
                  <a:cubicBezTo>
                    <a:pt x="8319904" y="6215523"/>
                    <a:pt x="8303431" y="6231997"/>
                    <a:pt x="8282076" y="6243590"/>
                  </a:cubicBezTo>
                  <a:cubicBezTo>
                    <a:pt x="8261331" y="6254572"/>
                    <a:pt x="8241196" y="6260674"/>
                    <a:pt x="8185063" y="6260674"/>
                  </a:cubicBezTo>
                  <a:lnTo>
                    <a:pt x="8185063" y="6260674"/>
                  </a:lnTo>
                  <a:lnTo>
                    <a:pt x="162911" y="6260674"/>
                  </a:lnTo>
                  <a:cubicBezTo>
                    <a:pt x="106778" y="6260674"/>
                    <a:pt x="86643" y="6254572"/>
                    <a:pt x="65898" y="6243590"/>
                  </a:cubicBezTo>
                  <a:cubicBezTo>
                    <a:pt x="45154" y="6232607"/>
                    <a:pt x="28680" y="6216134"/>
                    <a:pt x="17087" y="6194779"/>
                  </a:cubicBezTo>
                  <a:cubicBezTo>
                    <a:pt x="6104" y="6174644"/>
                    <a:pt x="3" y="6154509"/>
                    <a:pt x="3" y="6100817"/>
                  </a:cubicBezTo>
                  <a:lnTo>
                    <a:pt x="3" y="6100817"/>
                  </a:lnTo>
                  <a:lnTo>
                    <a:pt x="3" y="159860"/>
                  </a:lnTo>
                  <a:cubicBezTo>
                    <a:pt x="3" y="106168"/>
                    <a:pt x="6104" y="86033"/>
                    <a:pt x="17087" y="65898"/>
                  </a:cubicBezTo>
                  <a:cubicBezTo>
                    <a:pt x="28070" y="45154"/>
                    <a:pt x="44543" y="28680"/>
                    <a:pt x="65898" y="17087"/>
                  </a:cubicBezTo>
                  <a:cubicBezTo>
                    <a:pt x="86643" y="6104"/>
                    <a:pt x="106168" y="3"/>
                    <a:pt x="159860" y="3"/>
                  </a:cubicBezTo>
                  <a:lnTo>
                    <a:pt x="159860" y="3"/>
                  </a:lnTo>
                  <a:lnTo>
                    <a:pt x="8188114" y="3"/>
                  </a:lnTo>
                  <a:close/>
                </a:path>
              </a:pathLst>
            </a:custGeom>
            <a:blipFill>
              <a:blip r:embed="rId2"/>
              <a:srcRect t="2" b="2"/>
              <a:stretch>
                <a:fillRect t="0" l="0" b="0" r="0"/>
              </a:stretch>
            </a:blipFill>
            <a:ln w="12196" cap="flat">
              <a:solidFill>
                <a:srgbClr val="262626"/>
              </a:solidFill>
              <a:prstDash val="solid"/>
            </a:ln>
          </p:spPr>
          <p:txBody>
            <a:bodyPr vert="horz" anchor="ctr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Freeform 28" id="28"/>
          <p:cNvSpPr/>
          <p:nvPr/>
        </p:nvSpPr>
        <p:spPr>
          <a:xfrm>
            <a:off x="5880398" y="1952281"/>
            <a:ext cx="4109812" cy="3082210"/>
          </a:xfrm>
          <a:custGeom>
            <a:avLst/>
            <a:gdLst/>
            <a:ahLst/>
            <a:cxnLst/>
            <a:rect r="r" b="b" t="t" l="l"/>
            <a:pathLst>
              <a:path w="8347967" h="6260670" stroke="true" fill="norm" extrusionOk="true">
                <a:moveTo>
                  <a:pt x="8188114" y="3"/>
                </a:moveTo>
                <a:cubicBezTo>
                  <a:pt x="8241806" y="3"/>
                  <a:pt x="8261941" y="6104"/>
                  <a:pt x="8282076" y="17087"/>
                </a:cubicBezTo>
                <a:cubicBezTo>
                  <a:pt x="8302820" y="28070"/>
                  <a:pt x="8319294" y="44543"/>
                  <a:pt x="8330887" y="65898"/>
                </a:cubicBezTo>
                <a:cubicBezTo>
                  <a:pt x="8341869" y="86643"/>
                  <a:pt x="8347971" y="106778"/>
                  <a:pt x="8347971" y="162911"/>
                </a:cubicBezTo>
                <a:lnTo>
                  <a:pt x="8347971" y="162911"/>
                </a:lnTo>
                <a:lnTo>
                  <a:pt x="8347971" y="6097766"/>
                </a:lnTo>
                <a:cubicBezTo>
                  <a:pt x="8347971" y="6153899"/>
                  <a:pt x="8341869" y="6174034"/>
                  <a:pt x="8330887" y="6194779"/>
                </a:cubicBezTo>
                <a:cubicBezTo>
                  <a:pt x="8319904" y="6215523"/>
                  <a:pt x="8303431" y="6231997"/>
                  <a:pt x="8282076" y="6243590"/>
                </a:cubicBezTo>
                <a:cubicBezTo>
                  <a:pt x="8261331" y="6254572"/>
                  <a:pt x="8241196" y="6260674"/>
                  <a:pt x="8185063" y="6260674"/>
                </a:cubicBezTo>
                <a:lnTo>
                  <a:pt x="8185063" y="6260674"/>
                </a:lnTo>
                <a:lnTo>
                  <a:pt x="162911" y="6260674"/>
                </a:lnTo>
                <a:cubicBezTo>
                  <a:pt x="106778" y="6260674"/>
                  <a:pt x="86643" y="6254572"/>
                  <a:pt x="65898" y="6243590"/>
                </a:cubicBezTo>
                <a:cubicBezTo>
                  <a:pt x="45154" y="6232607"/>
                  <a:pt x="28680" y="6216134"/>
                  <a:pt x="17087" y="6194779"/>
                </a:cubicBezTo>
                <a:cubicBezTo>
                  <a:pt x="6104" y="6174644"/>
                  <a:pt x="3" y="6154509"/>
                  <a:pt x="3" y="6100817"/>
                </a:cubicBezTo>
                <a:lnTo>
                  <a:pt x="3" y="6100817"/>
                </a:lnTo>
                <a:lnTo>
                  <a:pt x="3" y="159860"/>
                </a:lnTo>
                <a:cubicBezTo>
                  <a:pt x="3" y="106168"/>
                  <a:pt x="6104" y="86033"/>
                  <a:pt x="17087" y="65898"/>
                </a:cubicBezTo>
                <a:cubicBezTo>
                  <a:pt x="28070" y="45154"/>
                  <a:pt x="44543" y="28680"/>
                  <a:pt x="65898" y="17087"/>
                </a:cubicBezTo>
                <a:cubicBezTo>
                  <a:pt x="86643" y="6104"/>
                  <a:pt x="106168" y="3"/>
                  <a:pt x="159860" y="3"/>
                </a:cubicBezTo>
                <a:lnTo>
                  <a:pt x="159860" y="3"/>
                </a:lnTo>
                <a:lnTo>
                  <a:pt x="8188114" y="3"/>
                </a:lnTo>
                <a:close/>
              </a:path>
            </a:pathLst>
          </a:custGeom>
          <a:pattFill prst="pct5">
            <a:fgClr>
              <a:srgbClr val="E4E6EA"/>
            </a:fgClr>
            <a:bgClr>
              <a:srgbClr val="ADB5BF"/>
            </a:bgClr>
          </a:pattFill>
          <a:ln cap="flat" cmpd="sng">
            <a:prstDash val="solid"/>
          </a:ln>
        </p:spPr>
        <p:txBody>
          <a:bodyPr vert="horz" rot="0" anchor="t" wrap="square" tIns="45720" lIns="91440" bIns="45720" rIns="91440">
            <a:prstTxWarp prst="textNoShape">
              <a:avLst/>
            </a:prstTxWarp>
            <a:noAutofit/>
          </a:bodyPr>
          <a:p>
            <a:pPr algn="ctr" marL="0"/>
          </a:p>
        </p:txBody>
      </p:sp>
      <p:sp>
        <p:nvSpPr>
          <p:cNvPr name="TextBox 29" id="29"/>
          <p:cNvSpPr txBox="true"/>
          <p:nvPr/>
        </p:nvSpPr>
        <p:spPr>
          <a:xfrm>
            <a:off x="854378" y="3273266"/>
            <a:ext cx="3253906" cy="134652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Quantitative (IC50) and qualitative binding results for inhibitors of human b-secretase 1, providing useful binding data.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854377" y="2338497"/>
            <a:ext cx="3253907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true" i="false" sz="1600" baseline="0" u="none" altLang="en-US">
                <a:solidFill>
                  <a:schemeClr val="accent1"/>
                </a:solidFill>
                <a:latin typeface="微软雅黑"/>
                <a:ea typeface="微软雅黑"/>
              </a:rPr>
              <a:t>BACE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>
            <a:off x="854377" y="5628155"/>
            <a:ext cx="452797" cy="452797"/>
          </a:xfrm>
          <a:prstGeom prst="ellipse">
            <a:avLst/>
          </a:prstGeom>
          <a:solidFill>
            <a:srgbClr val="000000">
              <a:lumMod val="65000"/>
              <a:lumOff val="35000"/>
            </a:srgbClr>
          </a:solidFill>
          <a:ln cap="rnd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32" id="32"/>
          <p:cNvSpPr txBox="true"/>
          <p:nvPr/>
        </p:nvSpPr>
        <p:spPr>
          <a:xfrm>
            <a:off x="666750" y="0"/>
            <a:ext cx="10858500" cy="1028700"/>
          </a:xfrm>
          <a:prstGeom prst="rect">
            <a:avLst/>
          </a:prstGeom>
        </p:spPr>
        <p:txBody>
          <a:bodyPr anchor="b" rtlCol="false" vert="horz" tIns="45720" lIns="91440" bIns="45720" rIns="91440">
            <a:normAutofit/>
          </a:bodyPr>
          <a:lstStyle/>
          <a:p>
            <a:pPr algn="l" marL="0">
              <a:lnSpc>
                <a:spcPct val="90000"/>
              </a:lnSpc>
              <a:spcBef>
                <a:spcPct val="0"/>
              </a:spcBef>
              <a:defRPr/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Physiology Datasets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anchor="t" wrap="square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Benchmark Results and Analysis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pc="100" baseline="0" u="none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9600" spc="100" baseline="0" u="none">
                <a:solidFill>
                  <a:schemeClr val="accent4"/>
                </a:solidFill>
                <a:latin typeface="Arial"/>
                <a:ea typeface="Arial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4099223" y="2413920"/>
            <a:ext cx="3993554" cy="2449261"/>
          </a:xfrm>
          <a:custGeom>
            <a:avLst/>
            <a:gdLst/>
            <a:ahLst/>
            <a:cxnLst/>
            <a:rect r="r" b="b" t="t" l="l"/>
            <a:pathLst>
              <a:path w="3993554" h="2449261" stroke="true" fill="norm" extrusionOk="true">
                <a:moveTo>
                  <a:pt x="1996777" y="0"/>
                </a:moveTo>
                <a:cubicBezTo>
                  <a:pt x="3030642" y="0"/>
                  <a:pt x="3880990" y="963784"/>
                  <a:pt x="3983245" y="2198839"/>
                </a:cubicBezTo>
                <a:lnTo>
                  <a:pt x="3993554" y="2449261"/>
                </a:lnTo>
                <a:lnTo>
                  <a:pt x="3581819" y="2449261"/>
                </a:lnTo>
                <a:lnTo>
                  <a:pt x="3549617" y="2038630"/>
                </a:lnTo>
                <a:cubicBezTo>
                  <a:pt x="3401818" y="1110163"/>
                  <a:pt x="2762748" y="411736"/>
                  <a:pt x="1996777" y="411736"/>
                </a:cubicBezTo>
                <a:cubicBezTo>
                  <a:pt x="1230807" y="411736"/>
                  <a:pt x="591737" y="1110163"/>
                  <a:pt x="443938" y="2038630"/>
                </a:cubicBezTo>
                <a:lnTo>
                  <a:pt x="411735" y="2449261"/>
                </a:lnTo>
                <a:lnTo>
                  <a:pt x="0" y="2449261"/>
                </a:lnTo>
                <a:lnTo>
                  <a:pt x="10309" y="2198839"/>
                </a:lnTo>
                <a:cubicBezTo>
                  <a:pt x="112564" y="963784"/>
                  <a:pt x="962913" y="0"/>
                  <a:pt x="1996777" y="0"/>
                </a:cubicBezTo>
                <a:close/>
              </a:path>
            </a:pathLst>
          </a:custGeom>
          <a:gradFill>
            <a:gsLst>
              <a:gs pos="57000">
                <a:srgbClr val="F08300">
                  <a:alpha val="0"/>
                  <a:lumMod val="0"/>
                  <a:lumOff val="100000"/>
                </a:srgbClr>
              </a:gs>
              <a:gs pos="100000">
                <a:srgbClr val="FFFFFF">
                  <a:alpha val="85000"/>
                  <a:lumMod val="85000"/>
                </a:srgbClr>
              </a:gs>
            </a:gsLst>
            <a:lin ang="16200000"/>
          </a:gradFill>
          <a:ln cap="flat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4189282" y="3299235"/>
            <a:ext cx="611616" cy="678630"/>
          </a:xfrm>
          <a:custGeom>
            <a:avLst/>
            <a:gdLst/>
            <a:ahLst/>
            <a:cxnLst/>
            <a:rect r="r" b="b" t="t" l="l"/>
            <a:pathLst>
              <a:path w="1369" h="1519" stroke="true" fill="norm" extrusionOk="true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4" id="4"/>
          <p:cNvSpPr/>
          <p:nvPr/>
        </p:nvSpPr>
        <p:spPr>
          <a:xfrm>
            <a:off x="4333128" y="3487679"/>
            <a:ext cx="323925" cy="301741"/>
          </a:xfrm>
          <a:custGeom>
            <a:avLst/>
            <a:gdLst/>
            <a:ahLst/>
            <a:cxnLst/>
            <a:rect r="r" b="b" t="t" l="l"/>
            <a:pathLst>
              <a:path w="606862" h="565300" stroke="true" fill="norm" extrusionOk="true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7391102" y="3299235"/>
            <a:ext cx="611616" cy="678630"/>
          </a:xfrm>
          <a:custGeom>
            <a:avLst/>
            <a:gdLst/>
            <a:ahLst/>
            <a:cxnLst/>
            <a:rect r="r" b="b" t="t" l="l"/>
            <a:pathLst>
              <a:path w="1369" h="1519" stroke="true" fill="norm" extrusionOk="true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6" id="6"/>
          <p:cNvSpPr/>
          <p:nvPr/>
        </p:nvSpPr>
        <p:spPr>
          <a:xfrm>
            <a:off x="7534948" y="3487679"/>
            <a:ext cx="323925" cy="301741"/>
          </a:xfrm>
          <a:custGeom>
            <a:avLst/>
            <a:gdLst/>
            <a:ahLst/>
            <a:cxnLst/>
            <a:rect r="r" b="b" t="t" l="l"/>
            <a:pathLst>
              <a:path w="606862" h="565300" stroke="true" fill="norm" extrusionOk="true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755948" y="2369249"/>
            <a:ext cx="33432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Deep Learning vs. Traditional Methods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755948" y="2956981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Comparison of deep learning models with traditional machine learning techniques in predicting molecular properties.</a:t>
            </a:r>
          </a:p>
        </p:txBody>
      </p:sp>
      <p:sp>
        <p:nvSpPr>
          <p:cNvPr name="Freeform 9" id="9"/>
          <p:cNvSpPr/>
          <p:nvPr/>
        </p:nvSpPr>
        <p:spPr>
          <a:xfrm>
            <a:off x="5245582" y="1831268"/>
            <a:ext cx="1700413" cy="880638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7317"/>
                </a:moveTo>
                <a:lnTo>
                  <a:pt x="6301" y="21600"/>
                </a:lnTo>
                <a:lnTo>
                  <a:pt x="21600" y="0"/>
                </a:lnTo>
                <a:lnTo>
                  <a:pt x="0" y="17317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10" id="10"/>
          <p:cNvSpPr/>
          <p:nvPr/>
        </p:nvSpPr>
        <p:spPr>
          <a:xfrm>
            <a:off x="5866064" y="1831437"/>
            <a:ext cx="1080065" cy="1336259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5166"/>
                </a:moveTo>
                <a:lnTo>
                  <a:pt x="14073" y="21600"/>
                </a:lnTo>
                <a:lnTo>
                  <a:pt x="21600" y="0"/>
                </a:lnTo>
                <a:lnTo>
                  <a:pt x="0" y="15166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11" id="11"/>
          <p:cNvSpPr/>
          <p:nvPr/>
        </p:nvSpPr>
        <p:spPr>
          <a:xfrm>
            <a:off x="5247270" y="1830797"/>
            <a:ext cx="1699148" cy="70515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21600"/>
                </a:moveTo>
                <a:lnTo>
                  <a:pt x="11443" y="17896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12" id="1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Comparative Performance of Algorithms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182836" y="2358453"/>
            <a:ext cx="33432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Impact of Featurization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182836" y="2946185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effects of different molecular featurization methods on model performance.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5400000">
            <a:off x="3473174" y="2036600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3" id="3"/>
          <p:cNvSpPr/>
          <p:nvPr/>
        </p:nvSpPr>
        <p:spPr>
          <a:xfrm>
            <a:off x="1884459" y="1685677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Challenges in QM7/QM9</a:t>
            </a:r>
          </a:p>
        </p:txBody>
      </p:sp>
      <p:sp>
        <p:nvSpPr>
          <p:cNvPr name="AutoShape 4" id="4"/>
          <p:cNvSpPr/>
          <p:nvPr/>
        </p:nvSpPr>
        <p:spPr>
          <a:xfrm>
            <a:off x="1884459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Specific challenges and outcomes in quantum mechanics datasets.</a:t>
            </a:r>
          </a:p>
        </p:txBody>
      </p:sp>
      <p:sp>
        <p:nvSpPr>
          <p:cNvPr name="Freeform 5" id="5"/>
          <p:cNvSpPr/>
          <p:nvPr/>
        </p:nvSpPr>
        <p:spPr>
          <a:xfrm rot="5400000">
            <a:off x="8759669" y="2036599"/>
            <a:ext cx="234950" cy="832644"/>
          </a:xfrm>
          <a:custGeom>
            <a:avLst/>
            <a:gdLst/>
            <a:ahLst/>
            <a:cxnLst/>
            <a:rect r="r" b="b" t="t" l="l"/>
            <a:pathLst>
              <a:path w="21467" h="21506" stroke="true" fill="norm" extrusionOk="true">
                <a:moveTo>
                  <a:pt x="20549" y="21506"/>
                </a:moveTo>
                <a:lnTo>
                  <a:pt x="11083" y="21506"/>
                </a:lnTo>
                <a:cubicBezTo>
                  <a:pt x="8114" y="21393"/>
                  <a:pt x="5380" y="20988"/>
                  <a:pt x="3360" y="20363"/>
                </a:cubicBezTo>
                <a:cubicBezTo>
                  <a:pt x="1071" y="19655"/>
                  <a:pt x="-133" y="18720"/>
                  <a:pt x="11" y="17762"/>
                </a:cubicBezTo>
                <a:lnTo>
                  <a:pt x="11" y="3540"/>
                </a:lnTo>
                <a:cubicBezTo>
                  <a:pt x="58" y="2557"/>
                  <a:pt x="1530" y="1623"/>
                  <a:pt x="4083" y="956"/>
                </a:cubicBezTo>
                <a:cubicBezTo>
                  <a:pt x="6797" y="247"/>
                  <a:pt x="10470" y="-94"/>
                  <a:pt x="14144" y="23"/>
                </a:cubicBezTo>
                <a:lnTo>
                  <a:pt x="21467" y="23"/>
                </a:lnTo>
              </a:path>
            </a:pathLst>
          </a:custGeom>
          <a:noFill/>
          <a:ln w="19050" cap="flat">
            <a:solidFill>
              <a:srgbClr val="FFFFFF">
                <a:lumMod val="75000"/>
              </a:srgbClr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base" algn="l" marL="0"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6" id="6"/>
          <p:cNvSpPr/>
          <p:nvPr/>
        </p:nvSpPr>
        <p:spPr>
          <a:xfrm>
            <a:off x="7170953" y="1704696"/>
            <a:ext cx="3562184" cy="64553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anchor="ctr" wrap="square" tIns="45720" lIns="91440" bIns="45720" rIns="91440">
            <a:noAutofit/>
          </a:bodyPr>
          <a:p>
            <a:pPr algn="ctr" marL="0">
              <a:spcBef>
                <a:spcPct val="0"/>
              </a:spcBef>
            </a:pPr>
            <a:r>
              <a:rPr lang="zh-CN" b="true" i="false" sz="1600" baseline="0" u="none" altLang="en-US">
                <a:solidFill>
                  <a:srgbClr val="FFFFFF"/>
                </a:solidFill>
                <a:latin typeface="微软雅黑"/>
                <a:ea typeface="微软雅黑"/>
              </a:rPr>
              <a:t>Performance on PCBA and MUV</a:t>
            </a:r>
          </a:p>
        </p:txBody>
      </p:sp>
      <p:sp>
        <p:nvSpPr>
          <p:cNvPr name="AutoShape 7" id="7"/>
          <p:cNvSpPr/>
          <p:nvPr/>
        </p:nvSpPr>
        <p:spPr>
          <a:xfrm>
            <a:off x="7170953" y="2570396"/>
            <a:ext cx="3562183" cy="2335559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Evaluation of algorithm performance in biophysics benchmark datasets.</a:t>
            </a:r>
          </a:p>
        </p:txBody>
      </p:sp>
      <p:sp>
        <p:nvSpPr>
          <p:cNvPr name="AutoShape 8" id="8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Dataset-Specific Insights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2102403" y="1327728"/>
            <a:ext cx="9372047" cy="3725783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21600"/>
                </a:moveTo>
                <a:cubicBezTo>
                  <a:pt x="648" y="19804"/>
                  <a:pt x="1543" y="18700"/>
                  <a:pt x="2504" y="18506"/>
                </a:cubicBezTo>
                <a:cubicBezTo>
                  <a:pt x="4191" y="18166"/>
                  <a:pt x="5946" y="20784"/>
                  <a:pt x="7576" y="18924"/>
                </a:cubicBezTo>
                <a:cubicBezTo>
                  <a:pt x="9202" y="17068"/>
                  <a:pt x="9589" y="11720"/>
                  <a:pt x="11076" y="9332"/>
                </a:cubicBezTo>
                <a:cubicBezTo>
                  <a:pt x="13189" y="5937"/>
                  <a:pt x="15789" y="10111"/>
                  <a:pt x="18164" y="8979"/>
                </a:cubicBezTo>
                <a:cubicBezTo>
                  <a:pt x="19952" y="8127"/>
                  <a:pt x="21330" y="4525"/>
                  <a:pt x="21600" y="0"/>
                </a:cubicBezTo>
              </a:path>
            </a:pathLst>
          </a:custGeom>
          <a:ln w="12700">
            <a:solidFill>
              <a:srgbClr val="FFFFFF">
                <a:lumMod val="75000"/>
              </a:srgbClr>
            </a:solidFill>
            <a:prstDash val="dash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3" id="3"/>
          <p:cNvSpPr/>
          <p:nvPr/>
        </p:nvSpPr>
        <p:spPr>
          <a:xfrm>
            <a:off x="1167384" y="4811816"/>
            <a:ext cx="1203918" cy="1304276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4535"/>
                </a:moveTo>
                <a:lnTo>
                  <a:pt x="21600" y="0"/>
                </a:lnTo>
                <a:lnTo>
                  <a:pt x="2081" y="21600"/>
                </a:lnTo>
                <a:lnTo>
                  <a:pt x="0" y="14535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4" id="4"/>
          <p:cNvSpPr/>
          <p:nvPr/>
        </p:nvSpPr>
        <p:spPr>
          <a:xfrm>
            <a:off x="1283079" y="4809859"/>
            <a:ext cx="1090390" cy="1308793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202" y="15533"/>
                </a:moveTo>
                <a:lnTo>
                  <a:pt x="0" y="21600"/>
                </a:lnTo>
                <a:lnTo>
                  <a:pt x="21600" y="0"/>
                </a:lnTo>
                <a:lnTo>
                  <a:pt x="202" y="15533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5" id="5"/>
          <p:cNvSpPr/>
          <p:nvPr/>
        </p:nvSpPr>
        <p:spPr>
          <a:xfrm>
            <a:off x="673100" y="4810284"/>
            <a:ext cx="1700413" cy="880638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7317"/>
                </a:moveTo>
                <a:lnTo>
                  <a:pt x="6301" y="21600"/>
                </a:lnTo>
                <a:lnTo>
                  <a:pt x="21600" y="0"/>
                </a:lnTo>
                <a:lnTo>
                  <a:pt x="0" y="17317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6" id="6"/>
          <p:cNvSpPr/>
          <p:nvPr/>
        </p:nvSpPr>
        <p:spPr>
          <a:xfrm>
            <a:off x="1293582" y="4810453"/>
            <a:ext cx="1080065" cy="1336259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5166"/>
                </a:moveTo>
                <a:lnTo>
                  <a:pt x="14073" y="21600"/>
                </a:lnTo>
                <a:lnTo>
                  <a:pt x="21600" y="0"/>
                </a:lnTo>
                <a:lnTo>
                  <a:pt x="0" y="15166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7" id="7"/>
          <p:cNvSpPr/>
          <p:nvPr/>
        </p:nvSpPr>
        <p:spPr>
          <a:xfrm>
            <a:off x="1649250" y="4810469"/>
            <a:ext cx="726417" cy="1336331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0160"/>
                </a:moveTo>
                <a:lnTo>
                  <a:pt x="10411" y="21600"/>
                </a:lnTo>
                <a:lnTo>
                  <a:pt x="21600" y="0"/>
                </a:lnTo>
                <a:lnTo>
                  <a:pt x="0" y="10160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8" id="8"/>
          <p:cNvSpPr/>
          <p:nvPr/>
        </p:nvSpPr>
        <p:spPr>
          <a:xfrm>
            <a:off x="674788" y="4809813"/>
            <a:ext cx="1699148" cy="70515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21600"/>
                </a:moveTo>
                <a:lnTo>
                  <a:pt x="11443" y="17896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grpSp>
        <p:nvGrpSpPr>
          <p:cNvPr name="Group 9" id="9"/>
          <p:cNvGrpSpPr/>
          <p:nvPr/>
        </p:nvGrpSpPr>
        <p:grpSpPr>
          <a:xfrm>
            <a:off x="3544982" y="4332146"/>
            <a:ext cx="432340" cy="432340"/>
            <a:chOff x="3299619" y="4315620"/>
            <a:chExt cx="432340" cy="432340"/>
          </a:xfrm>
        </p:grpSpPr>
        <p:sp>
          <p:nvSpPr>
            <p:cNvPr name="AutoShape 10" id="10"/>
            <p:cNvSpPr/>
            <p:nvPr/>
          </p:nvSpPr>
          <p:spPr>
            <a:xfrm>
              <a:off x="3299619" y="4315620"/>
              <a:ext cx="432340" cy="43234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  <p:sp>
          <p:nvSpPr>
            <p:cNvPr name="Freeform 11" id="11"/>
            <p:cNvSpPr/>
            <p:nvPr/>
          </p:nvSpPr>
          <p:spPr>
            <a:xfrm>
              <a:off x="3392263" y="4410103"/>
              <a:ext cx="247051" cy="243374"/>
            </a:xfrm>
            <a:custGeom>
              <a:avLst/>
              <a:gdLst/>
              <a:ahLst/>
              <a:cxnLst/>
              <a:rect r="r" b="b" t="t" l="l"/>
              <a:pathLst>
                <a:path w="6724" h="6635" stroke="true" fill="norm" extrusionOk="true">
                  <a:moveTo>
                    <a:pt x="4878" y="4322"/>
                  </a:moveTo>
                  <a:lnTo>
                    <a:pt x="4845" y="4381"/>
                  </a:lnTo>
                  <a:cubicBezTo>
                    <a:pt x="4724" y="4594"/>
                    <a:pt x="4572" y="4759"/>
                    <a:pt x="4405" y="4860"/>
                  </a:cubicBezTo>
                  <a:cubicBezTo>
                    <a:pt x="4220" y="4970"/>
                    <a:pt x="4012" y="5026"/>
                    <a:pt x="3785" y="5026"/>
                  </a:cubicBezTo>
                  <a:cubicBezTo>
                    <a:pt x="3559" y="5026"/>
                    <a:pt x="3351" y="4970"/>
                    <a:pt x="3167" y="4860"/>
                  </a:cubicBezTo>
                  <a:cubicBezTo>
                    <a:pt x="2981" y="4749"/>
                    <a:pt x="2833" y="4597"/>
                    <a:pt x="2729" y="4413"/>
                  </a:cubicBezTo>
                  <a:cubicBezTo>
                    <a:pt x="2654" y="4264"/>
                    <a:pt x="2582" y="4122"/>
                    <a:pt x="2556" y="3975"/>
                  </a:cubicBezTo>
                  <a:lnTo>
                    <a:pt x="6701" y="3975"/>
                  </a:lnTo>
                  <a:lnTo>
                    <a:pt x="6710" y="3869"/>
                  </a:lnTo>
                  <a:cubicBezTo>
                    <a:pt x="6717" y="3797"/>
                    <a:pt x="6715" y="3719"/>
                    <a:pt x="6713" y="3637"/>
                  </a:cubicBezTo>
                  <a:cubicBezTo>
                    <a:pt x="6712" y="3596"/>
                    <a:pt x="6711" y="3554"/>
                    <a:pt x="6711" y="3512"/>
                  </a:cubicBezTo>
                  <a:cubicBezTo>
                    <a:pt x="6711" y="2976"/>
                    <a:pt x="6690" y="2457"/>
                    <a:pt x="6443" y="1990"/>
                  </a:cubicBezTo>
                  <a:cubicBezTo>
                    <a:pt x="6718" y="1224"/>
                    <a:pt x="6671" y="644"/>
                    <a:pt x="6300" y="264"/>
                  </a:cubicBezTo>
                  <a:cubicBezTo>
                    <a:pt x="6102" y="77"/>
                    <a:pt x="5784" y="0"/>
                    <a:pt x="5331" y="30"/>
                  </a:cubicBezTo>
                  <a:cubicBezTo>
                    <a:pt x="4911" y="57"/>
                    <a:pt x="4442" y="184"/>
                    <a:pt x="3937" y="406"/>
                  </a:cubicBezTo>
                  <a:cubicBezTo>
                    <a:pt x="3870" y="399"/>
                    <a:pt x="3804" y="395"/>
                    <a:pt x="3738" y="395"/>
                  </a:cubicBezTo>
                  <a:cubicBezTo>
                    <a:pt x="3044" y="395"/>
                    <a:pt x="2531" y="625"/>
                    <a:pt x="1825" y="1049"/>
                  </a:cubicBezTo>
                  <a:cubicBezTo>
                    <a:pt x="1287" y="1384"/>
                    <a:pt x="736" y="1826"/>
                    <a:pt x="355" y="2775"/>
                  </a:cubicBezTo>
                  <a:lnTo>
                    <a:pt x="173" y="3230"/>
                  </a:lnTo>
                  <a:lnTo>
                    <a:pt x="540" y="2904"/>
                  </a:lnTo>
                  <a:cubicBezTo>
                    <a:pt x="879" y="2603"/>
                    <a:pt x="1263" y="2312"/>
                    <a:pt x="1635" y="2068"/>
                  </a:cubicBezTo>
                  <a:cubicBezTo>
                    <a:pt x="1195" y="2522"/>
                    <a:pt x="1033" y="2788"/>
                    <a:pt x="849" y="3090"/>
                  </a:cubicBezTo>
                  <a:lnTo>
                    <a:pt x="811" y="3152"/>
                  </a:lnTo>
                  <a:cubicBezTo>
                    <a:pt x="523" y="3622"/>
                    <a:pt x="313" y="4061"/>
                    <a:pt x="189" y="4457"/>
                  </a:cubicBezTo>
                  <a:cubicBezTo>
                    <a:pt x="63" y="4855"/>
                    <a:pt x="0" y="5221"/>
                    <a:pt x="0" y="5548"/>
                  </a:cubicBezTo>
                  <a:cubicBezTo>
                    <a:pt x="0" y="5896"/>
                    <a:pt x="85" y="6152"/>
                    <a:pt x="251" y="6307"/>
                  </a:cubicBezTo>
                  <a:cubicBezTo>
                    <a:pt x="470" y="6525"/>
                    <a:pt x="755" y="6635"/>
                    <a:pt x="1103" y="6635"/>
                  </a:cubicBezTo>
                  <a:cubicBezTo>
                    <a:pt x="1462" y="6635"/>
                    <a:pt x="1889" y="6518"/>
                    <a:pt x="2381" y="6285"/>
                  </a:cubicBezTo>
                  <a:cubicBezTo>
                    <a:pt x="2806" y="6484"/>
                    <a:pt x="3262" y="6584"/>
                    <a:pt x="3738" y="6584"/>
                  </a:cubicBezTo>
                  <a:cubicBezTo>
                    <a:pt x="4402" y="6584"/>
                    <a:pt x="5009" y="6388"/>
                    <a:pt x="5543" y="6000"/>
                  </a:cubicBezTo>
                  <a:cubicBezTo>
                    <a:pt x="6066" y="5620"/>
                    <a:pt x="6445" y="5108"/>
                    <a:pt x="6669" y="4476"/>
                  </a:cubicBezTo>
                  <a:lnTo>
                    <a:pt x="6724" y="4322"/>
                  </a:lnTo>
                  <a:lnTo>
                    <a:pt x="4878" y="4322"/>
                  </a:lnTo>
                  <a:close/>
                  <a:moveTo>
                    <a:pt x="4792" y="622"/>
                  </a:moveTo>
                  <a:cubicBezTo>
                    <a:pt x="5296" y="408"/>
                    <a:pt x="5494" y="387"/>
                    <a:pt x="5755" y="522"/>
                  </a:cubicBezTo>
                  <a:cubicBezTo>
                    <a:pt x="5918" y="606"/>
                    <a:pt x="6046" y="739"/>
                    <a:pt x="6113" y="896"/>
                  </a:cubicBezTo>
                  <a:cubicBezTo>
                    <a:pt x="6184" y="1061"/>
                    <a:pt x="6153" y="1198"/>
                    <a:pt x="6009" y="1585"/>
                  </a:cubicBezTo>
                  <a:lnTo>
                    <a:pt x="5940" y="1771"/>
                  </a:lnTo>
                  <a:lnTo>
                    <a:pt x="5813" y="1620"/>
                  </a:lnTo>
                  <a:cubicBezTo>
                    <a:pt x="5413" y="1148"/>
                    <a:pt x="5339" y="1103"/>
                    <a:pt x="4786" y="832"/>
                  </a:cubicBezTo>
                  <a:lnTo>
                    <a:pt x="4558" y="720"/>
                  </a:lnTo>
                  <a:lnTo>
                    <a:pt x="4792" y="622"/>
                  </a:lnTo>
                  <a:close/>
                  <a:moveTo>
                    <a:pt x="2015" y="5931"/>
                  </a:moveTo>
                  <a:cubicBezTo>
                    <a:pt x="1616" y="6112"/>
                    <a:pt x="1319" y="6220"/>
                    <a:pt x="1078" y="6220"/>
                  </a:cubicBezTo>
                  <a:cubicBezTo>
                    <a:pt x="898" y="6220"/>
                    <a:pt x="749" y="6160"/>
                    <a:pt x="613" y="6024"/>
                  </a:cubicBezTo>
                  <a:cubicBezTo>
                    <a:pt x="235" y="5647"/>
                    <a:pt x="437" y="5174"/>
                    <a:pt x="813" y="4439"/>
                  </a:cubicBezTo>
                  <a:lnTo>
                    <a:pt x="934" y="4204"/>
                  </a:lnTo>
                  <a:lnTo>
                    <a:pt x="1025" y="4452"/>
                  </a:lnTo>
                  <a:cubicBezTo>
                    <a:pt x="1259" y="5092"/>
                    <a:pt x="1436" y="5366"/>
                    <a:pt x="2027" y="5727"/>
                  </a:cubicBezTo>
                  <a:lnTo>
                    <a:pt x="2214" y="5841"/>
                  </a:lnTo>
                  <a:lnTo>
                    <a:pt x="2015" y="5931"/>
                  </a:lnTo>
                  <a:close/>
                  <a:moveTo>
                    <a:pt x="2308" y="3165"/>
                  </a:moveTo>
                  <a:lnTo>
                    <a:pt x="2314" y="3043"/>
                  </a:lnTo>
                  <a:cubicBezTo>
                    <a:pt x="2333" y="2715"/>
                    <a:pt x="2493" y="2407"/>
                    <a:pt x="2791" y="2126"/>
                  </a:cubicBezTo>
                  <a:cubicBezTo>
                    <a:pt x="3041" y="1891"/>
                    <a:pt x="3348" y="1776"/>
                    <a:pt x="3732" y="1776"/>
                  </a:cubicBezTo>
                  <a:cubicBezTo>
                    <a:pt x="4114" y="1776"/>
                    <a:pt x="4422" y="1891"/>
                    <a:pt x="4672" y="2126"/>
                  </a:cubicBezTo>
                  <a:cubicBezTo>
                    <a:pt x="4930" y="2369"/>
                    <a:pt x="5070" y="2678"/>
                    <a:pt x="5091" y="3043"/>
                  </a:cubicBezTo>
                  <a:lnTo>
                    <a:pt x="5098" y="3165"/>
                  </a:lnTo>
                  <a:lnTo>
                    <a:pt x="2308" y="3165"/>
                  </a:ln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l" marL="0"/>
            </a:p>
          </p:txBody>
        </p:sp>
      </p:grpSp>
      <p:sp>
        <p:nvSpPr>
          <p:cNvPr name="TextBox 12" id="12"/>
          <p:cNvSpPr txBox="true"/>
          <p:nvPr/>
        </p:nvSpPr>
        <p:spPr>
          <a:xfrm flipH="true">
            <a:off x="2371302" y="5157850"/>
            <a:ext cx="4640612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Addressing challenges under data scarcity.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flipH="true">
            <a:off x="2381803" y="4819296"/>
            <a:ext cx="4537465" cy="338554"/>
          </a:xfrm>
          <a:prstGeom prst="rect">
            <a:avLst/>
          </a:prstGeom>
          <a:noFill/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Data Scarcity</a:t>
            </a:r>
          </a:p>
        </p:txBody>
      </p:sp>
      <p:grpSp>
        <p:nvGrpSpPr>
          <p:cNvPr name="Group 14" id="14"/>
          <p:cNvGrpSpPr/>
          <p:nvPr/>
        </p:nvGrpSpPr>
        <p:grpSpPr>
          <a:xfrm>
            <a:off x="6919271" y="2703086"/>
            <a:ext cx="432340" cy="432340"/>
            <a:chOff x="5844000" y="1610138"/>
            <a:chExt cx="504000" cy="504000"/>
          </a:xfrm>
        </p:grpSpPr>
        <p:sp>
          <p:nvSpPr>
            <p:cNvPr name="AutoShape 15" id="15"/>
            <p:cNvSpPr/>
            <p:nvPr/>
          </p:nvSpPr>
          <p:spPr>
            <a:xfrm>
              <a:off x="5844000" y="1610138"/>
              <a:ext cx="504000" cy="504000"/>
            </a:xfrm>
            <a:prstGeom prst="ellipse">
              <a:avLst/>
            </a:prstGeom>
            <a:solidFill>
              <a:schemeClr val="accent1"/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6" id="16"/>
            <p:cNvSpPr/>
            <p:nvPr/>
          </p:nvSpPr>
          <p:spPr>
            <a:xfrm>
              <a:off x="5952000" y="1718333"/>
              <a:ext cx="288000" cy="287609"/>
            </a:xfrm>
            <a:custGeom>
              <a:avLst/>
              <a:gdLst/>
              <a:ahLst/>
              <a:cxnLst/>
              <a:rect r="r" b="b" t="t" l="l"/>
              <a:pathLst>
                <a:path w="1303" h="1303" stroke="true" fill="norm" extrusionOk="true">
                  <a:moveTo>
                    <a:pt x="652" y="0"/>
                  </a:moveTo>
                  <a:cubicBezTo>
                    <a:pt x="292" y="0"/>
                    <a:pt x="0" y="292"/>
                    <a:pt x="0" y="652"/>
                  </a:cubicBezTo>
                  <a:cubicBezTo>
                    <a:pt x="0" y="1012"/>
                    <a:pt x="292" y="1303"/>
                    <a:pt x="652" y="1303"/>
                  </a:cubicBezTo>
                  <a:cubicBezTo>
                    <a:pt x="1012" y="1303"/>
                    <a:pt x="1303" y="1012"/>
                    <a:pt x="1303" y="652"/>
                  </a:cubicBezTo>
                  <a:cubicBezTo>
                    <a:pt x="1303" y="292"/>
                    <a:pt x="1012" y="0"/>
                    <a:pt x="652" y="0"/>
                  </a:cubicBezTo>
                  <a:close/>
                  <a:moveTo>
                    <a:pt x="698" y="342"/>
                  </a:moveTo>
                  <a:cubicBezTo>
                    <a:pt x="703" y="288"/>
                    <a:pt x="769" y="204"/>
                    <a:pt x="821" y="216"/>
                  </a:cubicBezTo>
                  <a:cubicBezTo>
                    <a:pt x="873" y="228"/>
                    <a:pt x="921" y="297"/>
                    <a:pt x="911" y="357"/>
                  </a:cubicBezTo>
                  <a:cubicBezTo>
                    <a:pt x="902" y="416"/>
                    <a:pt x="855" y="495"/>
                    <a:pt x="781" y="485"/>
                  </a:cubicBezTo>
                  <a:cubicBezTo>
                    <a:pt x="707" y="476"/>
                    <a:pt x="690" y="409"/>
                    <a:pt x="698" y="342"/>
                  </a:cubicBezTo>
                  <a:close/>
                  <a:moveTo>
                    <a:pt x="543" y="192"/>
                  </a:moveTo>
                  <a:cubicBezTo>
                    <a:pt x="598" y="192"/>
                    <a:pt x="643" y="255"/>
                    <a:pt x="643" y="334"/>
                  </a:cubicBezTo>
                  <a:cubicBezTo>
                    <a:pt x="643" y="412"/>
                    <a:pt x="598" y="476"/>
                    <a:pt x="543" y="476"/>
                  </a:cubicBezTo>
                  <a:cubicBezTo>
                    <a:pt x="488" y="476"/>
                    <a:pt x="443" y="412"/>
                    <a:pt x="443" y="334"/>
                  </a:cubicBezTo>
                  <a:cubicBezTo>
                    <a:pt x="443" y="255"/>
                    <a:pt x="488" y="192"/>
                    <a:pt x="543" y="192"/>
                  </a:cubicBezTo>
                  <a:close/>
                  <a:moveTo>
                    <a:pt x="231" y="528"/>
                  </a:moveTo>
                  <a:cubicBezTo>
                    <a:pt x="231" y="528"/>
                    <a:pt x="243" y="411"/>
                    <a:pt x="324" y="404"/>
                  </a:cubicBezTo>
                  <a:cubicBezTo>
                    <a:pt x="388" y="399"/>
                    <a:pt x="436" y="469"/>
                    <a:pt x="441" y="509"/>
                  </a:cubicBezTo>
                  <a:cubicBezTo>
                    <a:pt x="444" y="535"/>
                    <a:pt x="457" y="655"/>
                    <a:pt x="357" y="676"/>
                  </a:cubicBezTo>
                  <a:cubicBezTo>
                    <a:pt x="258" y="698"/>
                    <a:pt x="221" y="582"/>
                    <a:pt x="231" y="528"/>
                  </a:cubicBezTo>
                  <a:close/>
                  <a:moveTo>
                    <a:pt x="993" y="1032"/>
                  </a:moveTo>
                  <a:cubicBezTo>
                    <a:pt x="938" y="1161"/>
                    <a:pt x="738" y="1094"/>
                    <a:pt x="738" y="1094"/>
                  </a:cubicBezTo>
                  <a:cubicBezTo>
                    <a:pt x="738" y="1094"/>
                    <a:pt x="664" y="1070"/>
                    <a:pt x="579" y="1089"/>
                  </a:cubicBezTo>
                  <a:cubicBezTo>
                    <a:pt x="493" y="1108"/>
                    <a:pt x="419" y="1101"/>
                    <a:pt x="419" y="1101"/>
                  </a:cubicBezTo>
                  <a:cubicBezTo>
                    <a:pt x="419" y="1101"/>
                    <a:pt x="319" y="1104"/>
                    <a:pt x="291" y="977"/>
                  </a:cubicBezTo>
                  <a:cubicBezTo>
                    <a:pt x="262" y="851"/>
                    <a:pt x="391" y="781"/>
                    <a:pt x="400" y="770"/>
                  </a:cubicBezTo>
                  <a:cubicBezTo>
                    <a:pt x="410" y="758"/>
                    <a:pt x="476" y="712"/>
                    <a:pt x="519" y="641"/>
                  </a:cubicBezTo>
                  <a:cubicBezTo>
                    <a:pt x="562" y="569"/>
                    <a:pt x="690" y="512"/>
                    <a:pt x="781" y="653"/>
                  </a:cubicBezTo>
                  <a:cubicBezTo>
                    <a:pt x="847" y="748"/>
                    <a:pt x="962" y="836"/>
                    <a:pt x="962" y="836"/>
                  </a:cubicBezTo>
                  <a:cubicBezTo>
                    <a:pt x="962" y="836"/>
                    <a:pt x="1047" y="903"/>
                    <a:pt x="993" y="1032"/>
                  </a:cubicBezTo>
                  <a:close/>
                  <a:moveTo>
                    <a:pt x="976" y="738"/>
                  </a:moveTo>
                  <a:cubicBezTo>
                    <a:pt x="866" y="741"/>
                    <a:pt x="862" y="664"/>
                    <a:pt x="862" y="610"/>
                  </a:cubicBezTo>
                  <a:cubicBezTo>
                    <a:pt x="862" y="552"/>
                    <a:pt x="873" y="471"/>
                    <a:pt x="962" y="471"/>
                  </a:cubicBezTo>
                  <a:cubicBezTo>
                    <a:pt x="1050" y="471"/>
                    <a:pt x="1073" y="557"/>
                    <a:pt x="1073" y="586"/>
                  </a:cubicBezTo>
                  <a:cubicBezTo>
                    <a:pt x="1073" y="614"/>
                    <a:pt x="1085" y="736"/>
                    <a:pt x="976" y="738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grpSp>
        <p:nvGrpSpPr>
          <p:cNvPr name="Group 17" id="17"/>
          <p:cNvGrpSpPr/>
          <p:nvPr/>
        </p:nvGrpSpPr>
        <p:grpSpPr>
          <a:xfrm>
            <a:off x="11086560" y="1271664"/>
            <a:ext cx="432340" cy="432340"/>
            <a:chOff x="11086560" y="1271664"/>
            <a:chExt cx="432340" cy="432340"/>
          </a:xfrm>
        </p:grpSpPr>
        <p:sp>
          <p:nvSpPr>
            <p:cNvPr name="AutoShape 18" id="18"/>
            <p:cNvSpPr/>
            <p:nvPr/>
          </p:nvSpPr>
          <p:spPr>
            <a:xfrm>
              <a:off x="11086560" y="1271664"/>
              <a:ext cx="432340" cy="432340"/>
            </a:xfrm>
            <a:prstGeom prst="ellipse">
              <a:avLst/>
            </a:prstGeom>
            <a:solidFill>
              <a:schemeClr val="accent2"/>
            </a:solidFill>
            <a:ln w="12700" cap="flat" cmpd="sng">
              <a:solidFill>
                <a:srgbClr val="FFFFFF"/>
              </a:solidFill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  <p:sp>
          <p:nvSpPr>
            <p:cNvPr name="Freeform 19" id="19"/>
            <p:cNvSpPr/>
            <p:nvPr/>
          </p:nvSpPr>
          <p:spPr>
            <a:xfrm>
              <a:off x="11179204" y="1373327"/>
              <a:ext cx="247051" cy="229013"/>
            </a:xfrm>
            <a:custGeom>
              <a:avLst/>
              <a:gdLst/>
              <a:ahLst/>
              <a:cxnLst/>
              <a:rect r="r" b="b" t="t" l="l"/>
              <a:pathLst>
                <a:path w="601409" h="557498" stroke="true" fill="norm" extrusionOk="true">
                  <a:moveTo>
                    <a:pt x="476517" y="289505"/>
                  </a:moveTo>
                  <a:cubicBezTo>
                    <a:pt x="462162" y="289505"/>
                    <a:pt x="449242" y="300970"/>
                    <a:pt x="449242" y="315301"/>
                  </a:cubicBezTo>
                  <a:cubicBezTo>
                    <a:pt x="449242" y="331066"/>
                    <a:pt x="462162" y="342531"/>
                    <a:pt x="476517" y="342531"/>
                  </a:cubicBezTo>
                  <a:cubicBezTo>
                    <a:pt x="490873" y="342531"/>
                    <a:pt x="503792" y="331066"/>
                    <a:pt x="503792" y="315301"/>
                  </a:cubicBezTo>
                  <a:cubicBezTo>
                    <a:pt x="503792" y="300970"/>
                    <a:pt x="490873" y="289505"/>
                    <a:pt x="476517" y="289505"/>
                  </a:cubicBezTo>
                  <a:close/>
                  <a:moveTo>
                    <a:pt x="350190" y="289505"/>
                  </a:moveTo>
                  <a:cubicBezTo>
                    <a:pt x="335834" y="289505"/>
                    <a:pt x="322915" y="300970"/>
                    <a:pt x="322915" y="315301"/>
                  </a:cubicBezTo>
                  <a:cubicBezTo>
                    <a:pt x="322915" y="331066"/>
                    <a:pt x="335834" y="342531"/>
                    <a:pt x="350190" y="342531"/>
                  </a:cubicBezTo>
                  <a:cubicBezTo>
                    <a:pt x="364545" y="342531"/>
                    <a:pt x="377465" y="331066"/>
                    <a:pt x="377465" y="315301"/>
                  </a:cubicBezTo>
                  <a:cubicBezTo>
                    <a:pt x="377465" y="300970"/>
                    <a:pt x="364545" y="289505"/>
                    <a:pt x="350190" y="289505"/>
                  </a:cubicBezTo>
                  <a:close/>
                  <a:moveTo>
                    <a:pt x="413354" y="226448"/>
                  </a:moveTo>
                  <a:cubicBezTo>
                    <a:pt x="516712" y="226448"/>
                    <a:pt x="601409" y="298104"/>
                    <a:pt x="601409" y="385524"/>
                  </a:cubicBezTo>
                  <a:cubicBezTo>
                    <a:pt x="601409" y="418486"/>
                    <a:pt x="588489" y="450014"/>
                    <a:pt x="568392" y="474377"/>
                  </a:cubicBezTo>
                  <a:lnTo>
                    <a:pt x="577005" y="557498"/>
                  </a:lnTo>
                  <a:lnTo>
                    <a:pt x="503792" y="524537"/>
                  </a:lnTo>
                  <a:cubicBezTo>
                    <a:pt x="476517" y="537435"/>
                    <a:pt x="446371" y="544600"/>
                    <a:pt x="413354" y="544600"/>
                  </a:cubicBezTo>
                  <a:cubicBezTo>
                    <a:pt x="309995" y="544600"/>
                    <a:pt x="225298" y="472944"/>
                    <a:pt x="225298" y="385524"/>
                  </a:cubicBezTo>
                  <a:cubicBezTo>
                    <a:pt x="225298" y="298104"/>
                    <a:pt x="309995" y="226448"/>
                    <a:pt x="413354" y="226448"/>
                  </a:cubicBezTo>
                  <a:close/>
                  <a:moveTo>
                    <a:pt x="331567" y="83108"/>
                  </a:moveTo>
                  <a:cubicBezTo>
                    <a:pt x="311472" y="83108"/>
                    <a:pt x="295683" y="98870"/>
                    <a:pt x="295683" y="117497"/>
                  </a:cubicBezTo>
                  <a:cubicBezTo>
                    <a:pt x="295683" y="137558"/>
                    <a:pt x="311472" y="153320"/>
                    <a:pt x="331567" y="153320"/>
                  </a:cubicBezTo>
                  <a:cubicBezTo>
                    <a:pt x="350226" y="153320"/>
                    <a:pt x="366015" y="137558"/>
                    <a:pt x="366015" y="117497"/>
                  </a:cubicBezTo>
                  <a:cubicBezTo>
                    <a:pt x="366015" y="98870"/>
                    <a:pt x="350226" y="83108"/>
                    <a:pt x="331567" y="83108"/>
                  </a:cubicBezTo>
                  <a:close/>
                  <a:moveTo>
                    <a:pt x="163630" y="83108"/>
                  </a:moveTo>
                  <a:cubicBezTo>
                    <a:pt x="144971" y="83108"/>
                    <a:pt x="129182" y="98870"/>
                    <a:pt x="129182" y="117497"/>
                  </a:cubicBezTo>
                  <a:cubicBezTo>
                    <a:pt x="129182" y="137558"/>
                    <a:pt x="144971" y="153320"/>
                    <a:pt x="163630" y="153320"/>
                  </a:cubicBezTo>
                  <a:cubicBezTo>
                    <a:pt x="183725" y="153320"/>
                    <a:pt x="199514" y="137558"/>
                    <a:pt x="199514" y="117497"/>
                  </a:cubicBezTo>
                  <a:cubicBezTo>
                    <a:pt x="199514" y="98870"/>
                    <a:pt x="183725" y="83108"/>
                    <a:pt x="163630" y="83108"/>
                  </a:cubicBezTo>
                  <a:close/>
                  <a:moveTo>
                    <a:pt x="248316" y="0"/>
                  </a:moveTo>
                  <a:cubicBezTo>
                    <a:pt x="384675" y="0"/>
                    <a:pt x="495197" y="94571"/>
                    <a:pt x="495197" y="210635"/>
                  </a:cubicBezTo>
                  <a:cubicBezTo>
                    <a:pt x="495197" y="213501"/>
                    <a:pt x="495197" y="216367"/>
                    <a:pt x="495197" y="220666"/>
                  </a:cubicBezTo>
                  <a:cubicBezTo>
                    <a:pt x="469361" y="210635"/>
                    <a:pt x="442089" y="204904"/>
                    <a:pt x="413382" y="204904"/>
                  </a:cubicBezTo>
                  <a:cubicBezTo>
                    <a:pt x="298554" y="204904"/>
                    <a:pt x="205256" y="286579"/>
                    <a:pt x="205256" y="385448"/>
                  </a:cubicBezTo>
                  <a:cubicBezTo>
                    <a:pt x="205256" y="396911"/>
                    <a:pt x="206691" y="406942"/>
                    <a:pt x="208126" y="416972"/>
                  </a:cubicBezTo>
                  <a:cubicBezTo>
                    <a:pt x="179419" y="412673"/>
                    <a:pt x="153583" y="405509"/>
                    <a:pt x="129182" y="394045"/>
                  </a:cubicBezTo>
                  <a:lnTo>
                    <a:pt x="31578" y="437032"/>
                  </a:lnTo>
                  <a:lnTo>
                    <a:pt x="43061" y="328132"/>
                  </a:lnTo>
                  <a:cubicBezTo>
                    <a:pt x="15789" y="293743"/>
                    <a:pt x="0" y="253622"/>
                    <a:pt x="0" y="210635"/>
                  </a:cubicBezTo>
                  <a:cubicBezTo>
                    <a:pt x="0" y="94571"/>
                    <a:pt x="110522" y="0"/>
                    <a:pt x="24831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>
              <a:prstDash val="solid"/>
            </a:ln>
          </p:spPr>
          <p:txBody>
            <a:bodyPr vert="horz" rot="0" anchor="ctr" wrap="square" tIns="45720" lIns="91440" bIns="45720" rIns="91440">
              <a:prstTxWarp prst="textNoShape">
                <a:avLst/>
              </a:prstTxWarp>
              <a:normAutofit/>
            </a:bodyPr>
            <a:p>
              <a:pPr algn="ctr" marL="0"/>
            </a:p>
          </p:txBody>
        </p:sp>
      </p:grpSp>
      <p:sp>
        <p:nvSpPr>
          <p:cNvPr name="TextBox 20" id="20"/>
          <p:cNvSpPr txBox="true"/>
          <p:nvPr/>
        </p:nvSpPr>
        <p:spPr>
          <a:xfrm flipH="true">
            <a:off x="6919269" y="3599825"/>
            <a:ext cx="4259934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Strategies for dealing with highly imbalanced classification.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flipH="true">
            <a:off x="6919272" y="3261271"/>
            <a:ext cx="4167287" cy="338554"/>
          </a:xfrm>
          <a:prstGeom prst="rect">
            <a:avLst/>
          </a:prstGeom>
          <a:noFill/>
        </p:spPr>
        <p:txBody>
          <a:bodyPr vert="horz" anchor="b" wrap="square" tIns="45720" lIns="91440" bIns="45720" rIns="91440">
            <a:spAutoFit/>
          </a:bodyPr>
          <a:p>
            <a:pPr algn="l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Handling Imbalanced Classification</a:t>
            </a:r>
          </a:p>
        </p:txBody>
      </p:sp>
      <p:sp>
        <p:nvSpPr>
          <p:cNvPr name="TextBox 22" id="22"/>
          <p:cNvSpPr txBox="true"/>
          <p:nvPr/>
        </p:nvSpPr>
        <p:spPr>
          <a:xfrm flipH="true">
            <a:off x="6357768" y="1626130"/>
            <a:ext cx="4411771" cy="70019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50000"/>
              </a:lnSpc>
              <a:defRPr/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Importance of physics-aware featurizations for quantum mechanical and biophysical datasets.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flipH="true">
            <a:off x="6357768" y="1287576"/>
            <a:ext cx="4411775" cy="338554"/>
          </a:xfrm>
          <a:prstGeom prst="rect">
            <a:avLst/>
          </a:prstGeom>
          <a:noFill/>
        </p:spPr>
        <p:txBody>
          <a:bodyPr vert="horz" anchor="b" wrap="square" tIns="45720" lIns="91440" bIns="45720" rIns="91440">
            <a:spAutoFit/>
          </a:bodyPr>
          <a:p>
            <a:pPr algn="r" marL="0"/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Physics-Aware Featurization</a:t>
            </a:r>
          </a:p>
        </p:txBody>
      </p:sp>
      <p:sp>
        <p:nvSpPr>
          <p:cNvPr name="AutoShape 24" id="24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Limitations and Future Directions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5143369" y="3668552"/>
            <a:ext cx="6377119" cy="480131"/>
          </a:xfrm>
        </p:spPr>
        <p:txBody>
          <a:bodyPr vert="horz" anchor="t" wrap="square" tIns="45720" lIns="91440" bIns="45720" rIns="91440">
            <a:sp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b="true" i="false" sz="2800" baseline="0" u="none">
                <a:solidFill>
                  <a:srgbClr val="000000">
                    <a:lumMod val="75000"/>
                    <a:lumOff val="25000"/>
                  </a:srgbClr>
                </a:solidFill>
                <a:latin typeface="+mn-ea"/>
                <a:ea typeface="+mn-ea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208270" y="2389937"/>
            <a:ext cx="150909" cy="1039063"/>
          </a:xfrm>
          <a:prstGeom prst="rect">
            <a:avLst/>
          </a:prstGeom>
          <a:noFill/>
        </p:spPr>
        <p:txBody>
          <a:bodyPr anchor="t" rtlCol="false" vert="horz" wrap="none" tIns="45720" lIns="91440" bIns="45720" rIns="91440">
            <a:prstTxWarp prst="textPlain">
              <a:avLst/>
            </a:prstTxWarp>
            <a:spAutoFit/>
          </a:bodyPr>
          <a:lstStyle/>
          <a:p>
            <a:pPr algn="l" marL="0">
              <a:defRPr/>
            </a:pPr>
            <a:r>
              <a:rPr lang="en-US" b="false" i="false" spc="100" baseline="0" u="none">
                <a:solidFill>
                  <a:schemeClr val="accent4"/>
                </a:solidFill>
                <a:latin typeface="Arial"/>
                <a:ea typeface="Arial"/>
              </a:rPr>
              <a:t>/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5483746" y="1987574"/>
            <a:ext cx="1701029" cy="1569660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en-US" b="false" i="false" sz="9600" spc="100" baseline="0" u="none">
                <a:solidFill>
                  <a:schemeClr val="accent4"/>
                </a:solidFill>
                <a:latin typeface="Arial"/>
                <a:ea typeface="Arial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Summary of MoleculeNet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0" y="1832200"/>
            <a:ext cx="12192000" cy="3600000"/>
          </a:xfrm>
          <a:prstGeom prst="rect">
            <a:avLst/>
          </a:prstGeom>
          <a:solidFill>
            <a:srgbClr val="FFFFFF">
              <a:lumMod val="95000"/>
            </a:srgbClr>
          </a:solidFill>
          <a:ln cap="sq"/>
        </p:spPr>
        <p:txBody>
          <a:bodyPr anchor="ctr" rtlCol="false" vert="horz" wrap="square" tIns="0" lIns="0" bIns="0" rIns="0">
            <a:normAutofit/>
          </a:bodyPr>
          <a:lstStyle/>
          <a:p>
            <a:pPr algn="ctr" marL="0">
              <a:defRPr/>
            </a:pP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1875155" y="2957649"/>
            <a:ext cx="7344000" cy="931409"/>
          </a:xfrm>
          <a:prstGeom prst="rect">
            <a:avLst/>
          </a:prstGeom>
          <a:noFill/>
          <a:ln cap="sq"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lnSpc>
                <a:spcPct val="150000"/>
              </a:lnSpc>
              <a:defRPr/>
            </a:pPr>
            <a:r>
              <a:rPr lang="en-US" b="false" i="false" sz="1400" baseline="0" u="none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Recap of MoleculeNet's features and contributions.</a:t>
            </a:r>
            <a:endParaRPr lang="en-US" sz="1100"/>
          </a:p>
        </p:txBody>
      </p:sp>
      <p:grpSp>
        <p:nvGrpSpPr>
          <p:cNvPr name="Group 5" id="5"/>
          <p:cNvGrpSpPr/>
          <p:nvPr/>
        </p:nvGrpSpPr>
        <p:grpSpPr>
          <a:xfrm>
            <a:off x="989381" y="2235193"/>
            <a:ext cx="635174" cy="504074"/>
            <a:chOff x="989381" y="2235193"/>
            <a:chExt cx="635174" cy="504074"/>
          </a:xfrm>
        </p:grpSpPr>
        <p:sp>
          <p:nvSpPr>
            <p:cNvPr name="Freeform 6" id="6"/>
            <p:cNvSpPr/>
            <p:nvPr/>
          </p:nvSpPr>
          <p:spPr>
            <a:xfrm>
              <a:off x="1370485" y="2235193"/>
              <a:ext cx="254070" cy="504074"/>
            </a:xfrm>
            <a:custGeom>
              <a:avLst/>
              <a:gdLst/>
              <a:ahLst/>
              <a:cxnLst/>
              <a:rect r="r" b="b" t="t" l="l"/>
              <a:pathLst>
                <a:path w="190500" h="377952" stroke="true" fill="norm" extrusionOk="true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anchor="ctr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7" id="7"/>
            <p:cNvSpPr/>
            <p:nvPr/>
          </p:nvSpPr>
          <p:spPr>
            <a:xfrm>
              <a:off x="989381" y="2235193"/>
              <a:ext cx="254070" cy="504074"/>
            </a:xfrm>
            <a:custGeom>
              <a:avLst/>
              <a:gdLst/>
              <a:ahLst/>
              <a:cxnLst/>
              <a:rect r="r" b="b" t="t" l="l"/>
              <a:pathLst>
                <a:path w="190500" h="377952" stroke="true" fill="norm" extrusionOk="true">
                  <a:moveTo>
                    <a:pt x="190500" y="377952"/>
                  </a:moveTo>
                  <a:lnTo>
                    <a:pt x="190500" y="187452"/>
                  </a:lnTo>
                  <a:lnTo>
                    <a:pt x="81820" y="187452"/>
                  </a:lnTo>
                  <a:cubicBezTo>
                    <a:pt x="83469" y="128608"/>
                    <a:pt x="131633" y="81753"/>
                    <a:pt x="190500" y="81725"/>
                  </a:cubicBezTo>
                  <a:lnTo>
                    <a:pt x="190500" y="0"/>
                  </a:lnTo>
                  <a:cubicBezTo>
                    <a:pt x="86469" y="-13"/>
                    <a:pt x="1665" y="83434"/>
                    <a:pt x="0" y="187452"/>
                  </a:cubicBezTo>
                  <a:lnTo>
                    <a:pt x="0" y="187452"/>
                  </a:lnTo>
                  <a:lnTo>
                    <a:pt x="0" y="377952"/>
                  </a:lnTo>
                  <a:close/>
                </a:path>
              </a:pathLst>
            </a:custGeom>
            <a:noFill/>
            <a:ln w="25400" cap="sq">
              <a:solidFill>
                <a:schemeClr val="accent1"/>
              </a:solidFill>
              <a:headEnd type="oval"/>
            </a:ln>
          </p:spPr>
          <p:txBody>
            <a:bodyPr vert="horz" anchor="ctr" wrap="square" tIns="45720" lIns="91440" bIns="45720" rIns="91440">
              <a:normAutofit/>
            </a:bodyPr>
            <a:p>
              <a:pPr algn="l" marL="0"/>
            </a:p>
          </p:txBody>
        </p:sp>
      </p:grpSp>
      <p:grpSp>
        <p:nvGrpSpPr>
          <p:cNvPr name="Group 8" id="8"/>
          <p:cNvGrpSpPr/>
          <p:nvPr/>
        </p:nvGrpSpPr>
        <p:grpSpPr>
          <a:xfrm>
            <a:off x="9515475" y="3493443"/>
            <a:ext cx="2003425" cy="1589919"/>
            <a:chOff x="9515475" y="3493443"/>
            <a:chExt cx="2003425" cy="1589919"/>
          </a:xfrm>
        </p:grpSpPr>
        <p:sp>
          <p:nvSpPr>
            <p:cNvPr name="Freeform 9" id="9"/>
            <p:cNvSpPr/>
            <p:nvPr/>
          </p:nvSpPr>
          <p:spPr>
            <a:xfrm>
              <a:off x="9515475" y="3493443"/>
              <a:ext cx="801370" cy="1589919"/>
            </a:xfrm>
            <a:custGeom>
              <a:avLst/>
              <a:gdLst/>
              <a:ahLst/>
              <a:cxnLst/>
              <a:rect r="r" b="b" t="t" l="l"/>
              <a:pathLst>
                <a:path w="190500" h="377952" stroke="true" fill="norm" extrusionOk="true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anchor="ctr" wrap="square" tIns="45720" lIns="91440" bIns="45720" rIns="91440">
              <a:normAutofit/>
            </a:bodyPr>
            <a:p>
              <a:pPr algn="l" marL="0"/>
            </a:p>
          </p:txBody>
        </p:sp>
        <p:sp>
          <p:nvSpPr>
            <p:cNvPr name="Freeform 10" id="10"/>
            <p:cNvSpPr/>
            <p:nvPr/>
          </p:nvSpPr>
          <p:spPr>
            <a:xfrm>
              <a:off x="10717530" y="3493443"/>
              <a:ext cx="801370" cy="1589919"/>
            </a:xfrm>
            <a:custGeom>
              <a:avLst/>
              <a:gdLst/>
              <a:ahLst/>
              <a:cxnLst/>
              <a:rect r="r" b="b" t="t" l="l"/>
              <a:pathLst>
                <a:path w="190500" h="377952" stroke="true" fill="norm" extrusionOk="true">
                  <a:moveTo>
                    <a:pt x="0" y="0"/>
                  </a:moveTo>
                  <a:lnTo>
                    <a:pt x="0" y="190500"/>
                  </a:lnTo>
                  <a:lnTo>
                    <a:pt x="108680" y="190500"/>
                  </a:lnTo>
                  <a:cubicBezTo>
                    <a:pt x="107031" y="249344"/>
                    <a:pt x="58867" y="296199"/>
                    <a:pt x="0" y="296228"/>
                  </a:cubicBezTo>
                  <a:lnTo>
                    <a:pt x="0" y="377952"/>
                  </a:lnTo>
                  <a:cubicBezTo>
                    <a:pt x="104031" y="377965"/>
                    <a:pt x="188835" y="294518"/>
                    <a:pt x="190500" y="190500"/>
                  </a:cubicBezTo>
                  <a:lnTo>
                    <a:pt x="190500" y="190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FFFFFF">
                <a:alpha val="50000"/>
                <a:lumMod val="85000"/>
              </a:srgbClr>
            </a:solidFill>
            <a:ln cap="flat"/>
          </p:spPr>
          <p:txBody>
            <a:bodyPr vert="horz" anchor="ctr" wrap="square" tIns="45720" lIns="91440" bIns="45720" rIns="91440">
              <a:normAutofit/>
            </a:bodyPr>
            <a:p>
              <a:pPr algn="l" marL="0"/>
            </a:p>
          </p:txBody>
        </p:sp>
      </p:grpSp>
      <p:sp>
        <p:nvSpPr>
          <p:cNvPr name="TextBox 11" id="11"/>
          <p:cNvSpPr txBox="true"/>
          <p:nvPr/>
        </p:nvSpPr>
        <p:spPr>
          <a:xfrm>
            <a:off x="1875155" y="2487230"/>
            <a:ext cx="7340600" cy="246221"/>
          </a:xfrm>
          <a:prstGeom prst="rect">
            <a:avLst/>
          </a:prstGeom>
          <a:noFill/>
        </p:spPr>
        <p:txBody>
          <a:bodyPr anchor="t" rtlCol="false" vert="horz" wrap="square" tIns="0" lIns="0" bIns="0" rIns="0">
            <a:spAutoFit/>
          </a:bodyPr>
          <a:lstStyle/>
          <a:p>
            <a:pPr algn="l" marL="0">
              <a:defRPr/>
            </a:pPr>
            <a:r>
              <a:rPr lang="en-US" b="true" i="false" sz="1600" baseline="0" u="none">
                <a:ln w="12700"/>
                <a:solidFill>
                  <a:srgbClr val="000000">
                    <a:lumMod val="85000"/>
                    <a:lumOff val="15000"/>
                  </a:srgbClr>
                </a:solidFill>
                <a:latin typeface="+mn-ea"/>
                <a:ea typeface="+mn-ea"/>
              </a:rPr>
              <a:t>Overview of the Benchmark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5226088" y="2767486"/>
            <a:ext cx="1906808" cy="1716124"/>
          </a:xfrm>
          <a:custGeom>
            <a:avLst/>
            <a:gdLst/>
            <a:ahLst/>
            <a:cxnLst/>
            <a:rect r="r" b="b" t="t" l="l"/>
            <a:pathLst>
              <a:path w="257" h="232" stroke="true" fill="norm" extrusionOk="true">
                <a:moveTo>
                  <a:pt x="116" y="232"/>
                </a:moveTo>
                <a:cubicBezTo>
                  <a:pt x="121" y="232"/>
                  <a:pt x="124" y="229"/>
                  <a:pt x="124" y="224"/>
                </a:cubicBezTo>
                <a:cubicBezTo>
                  <a:pt x="124" y="220"/>
                  <a:pt x="121" y="216"/>
                  <a:pt x="116" y="216"/>
                </a:cubicBezTo>
                <a:cubicBezTo>
                  <a:pt x="61" y="216"/>
                  <a:pt x="16" y="171"/>
                  <a:pt x="16" y="116"/>
                </a:cubicBezTo>
                <a:cubicBezTo>
                  <a:pt x="16" y="61"/>
                  <a:pt x="61" y="16"/>
                  <a:pt x="116" y="16"/>
                </a:cubicBezTo>
                <a:cubicBezTo>
                  <a:pt x="171" y="16"/>
                  <a:pt x="216" y="61"/>
                  <a:pt x="216" y="116"/>
                </a:cubicBezTo>
                <a:cubicBezTo>
                  <a:pt x="216" y="117"/>
                  <a:pt x="217" y="134"/>
                  <a:pt x="212" y="150"/>
                </a:cubicBezTo>
                <a:cubicBezTo>
                  <a:pt x="204" y="132"/>
                  <a:pt x="204" y="132"/>
                  <a:pt x="204" y="132"/>
                </a:cubicBezTo>
                <a:cubicBezTo>
                  <a:pt x="202" y="128"/>
                  <a:pt x="198" y="126"/>
                  <a:pt x="194" y="127"/>
                </a:cubicBezTo>
                <a:cubicBezTo>
                  <a:pt x="189" y="129"/>
                  <a:pt x="187" y="134"/>
                  <a:pt x="189" y="138"/>
                </a:cubicBezTo>
                <a:cubicBezTo>
                  <a:pt x="204" y="174"/>
                  <a:pt x="204" y="174"/>
                  <a:pt x="204" y="174"/>
                </a:cubicBezTo>
                <a:cubicBezTo>
                  <a:pt x="204" y="174"/>
                  <a:pt x="204" y="174"/>
                  <a:pt x="204" y="175"/>
                </a:cubicBezTo>
                <a:cubicBezTo>
                  <a:pt x="204" y="175"/>
                  <a:pt x="204" y="175"/>
                  <a:pt x="204" y="175"/>
                </a:cubicBezTo>
                <a:cubicBezTo>
                  <a:pt x="204" y="175"/>
                  <a:pt x="204" y="175"/>
                  <a:pt x="205" y="176"/>
                </a:cubicBezTo>
                <a:cubicBezTo>
                  <a:pt x="205" y="176"/>
                  <a:pt x="205" y="176"/>
                  <a:pt x="205" y="176"/>
                </a:cubicBezTo>
                <a:cubicBezTo>
                  <a:pt x="205" y="177"/>
                  <a:pt x="206" y="177"/>
                  <a:pt x="206" y="177"/>
                </a:cubicBezTo>
                <a:cubicBezTo>
                  <a:pt x="206" y="177"/>
                  <a:pt x="207" y="178"/>
                  <a:pt x="207" y="178"/>
                </a:cubicBezTo>
                <a:cubicBezTo>
                  <a:pt x="207" y="178"/>
                  <a:pt x="207" y="178"/>
                  <a:pt x="208" y="178"/>
                </a:cubicBezTo>
                <a:cubicBezTo>
                  <a:pt x="208" y="178"/>
                  <a:pt x="208" y="179"/>
                  <a:pt x="209" y="179"/>
                </a:cubicBezTo>
                <a:cubicBezTo>
                  <a:pt x="209" y="179"/>
                  <a:pt x="209" y="179"/>
                  <a:pt x="210" y="179"/>
                </a:cubicBezTo>
                <a:cubicBezTo>
                  <a:pt x="210" y="179"/>
                  <a:pt x="210" y="179"/>
                  <a:pt x="210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1" y="179"/>
                  <a:pt x="211" y="179"/>
                </a:cubicBezTo>
                <a:cubicBezTo>
                  <a:pt x="211" y="179"/>
                  <a:pt x="212" y="179"/>
                  <a:pt x="212" y="179"/>
                </a:cubicBezTo>
                <a:cubicBezTo>
                  <a:pt x="212" y="179"/>
                  <a:pt x="213" y="179"/>
                  <a:pt x="213" y="179"/>
                </a:cubicBezTo>
                <a:cubicBezTo>
                  <a:pt x="213" y="179"/>
                  <a:pt x="214" y="179"/>
                  <a:pt x="214" y="179"/>
                </a:cubicBezTo>
                <a:cubicBezTo>
                  <a:pt x="214" y="178"/>
                  <a:pt x="215" y="178"/>
                  <a:pt x="215" y="178"/>
                </a:cubicBezTo>
                <a:cubicBezTo>
                  <a:pt x="215" y="178"/>
                  <a:pt x="215" y="178"/>
                  <a:pt x="215" y="178"/>
                </a:cubicBezTo>
                <a:cubicBezTo>
                  <a:pt x="252" y="157"/>
                  <a:pt x="252" y="157"/>
                  <a:pt x="252" y="157"/>
                </a:cubicBezTo>
                <a:cubicBezTo>
                  <a:pt x="256" y="154"/>
                  <a:pt x="257" y="149"/>
                  <a:pt x="255" y="146"/>
                </a:cubicBezTo>
                <a:cubicBezTo>
                  <a:pt x="253" y="142"/>
                  <a:pt x="248" y="140"/>
                  <a:pt x="244" y="143"/>
                </a:cubicBezTo>
                <a:cubicBezTo>
                  <a:pt x="228" y="152"/>
                  <a:pt x="228" y="152"/>
                  <a:pt x="228" y="152"/>
                </a:cubicBezTo>
                <a:cubicBezTo>
                  <a:pt x="233" y="134"/>
                  <a:pt x="232" y="117"/>
                  <a:pt x="232" y="116"/>
                </a:cubicBezTo>
                <a:cubicBezTo>
                  <a:pt x="232" y="52"/>
                  <a:pt x="180" y="0"/>
                  <a:pt x="116" y="0"/>
                </a:cubicBezTo>
                <a:cubicBezTo>
                  <a:pt x="52" y="0"/>
                  <a:pt x="0" y="52"/>
                  <a:pt x="0" y="116"/>
                </a:cubicBezTo>
                <a:cubicBezTo>
                  <a:pt x="0" y="180"/>
                  <a:pt x="52" y="232"/>
                  <a:pt x="116" y="232"/>
                </a:cubicBezTo>
                <a:close/>
              </a:path>
            </a:pathLst>
          </a:custGeom>
          <a:solidFill>
            <a:schemeClr val="accent1"/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 rot="10800000">
            <a:off x="4300326" y="1842343"/>
            <a:ext cx="2112784" cy="1775074"/>
          </a:xfrm>
          <a:custGeom>
            <a:avLst/>
            <a:gdLst/>
            <a:ahLst/>
            <a:cxnLst/>
            <a:rect r="r" b="b" t="t" l="l"/>
            <a:pathLst>
              <a:path w="2466521" h="2072270" stroke="true" fill="norm" extrusionOk="true">
                <a:moveTo>
                  <a:pt x="370825" y="2072270"/>
                </a:moveTo>
                <a:lnTo>
                  <a:pt x="303147" y="2068853"/>
                </a:lnTo>
                <a:lnTo>
                  <a:pt x="284239" y="2066281"/>
                </a:lnTo>
                <a:cubicBezTo>
                  <a:pt x="184305" y="2038557"/>
                  <a:pt x="98017" y="1971400"/>
                  <a:pt x="47099" y="1877727"/>
                </a:cubicBezTo>
                <a:cubicBezTo>
                  <a:pt x="-20793" y="1752830"/>
                  <a:pt x="-14929" y="1600802"/>
                  <a:pt x="62381" y="1481505"/>
                </a:cubicBezTo>
                <a:cubicBezTo>
                  <a:pt x="101036" y="1421857"/>
                  <a:pt x="154456" y="1375169"/>
                  <a:pt x="215929" y="1344762"/>
                </a:cubicBezTo>
                <a:lnTo>
                  <a:pt x="307716" y="1313682"/>
                </a:lnTo>
                <a:lnTo>
                  <a:pt x="370825" y="1316868"/>
                </a:lnTo>
                <a:cubicBezTo>
                  <a:pt x="1065430" y="1316868"/>
                  <a:pt x="1636739" y="788972"/>
                  <a:pt x="1705439" y="112493"/>
                </a:cubicBezTo>
                <a:lnTo>
                  <a:pt x="1709142" y="39163"/>
                </a:lnTo>
                <a:lnTo>
                  <a:pt x="1718451" y="53001"/>
                </a:lnTo>
                <a:cubicBezTo>
                  <a:pt x="1746512" y="84662"/>
                  <a:pt x="1779046" y="112833"/>
                  <a:pt x="1815545" y="136486"/>
                </a:cubicBezTo>
                <a:cubicBezTo>
                  <a:pt x="1961542" y="231099"/>
                  <a:pt x="2147595" y="238275"/>
                  <a:pt x="2300446" y="155189"/>
                </a:cubicBezTo>
                <a:cubicBezTo>
                  <a:pt x="2338659" y="134418"/>
                  <a:pt x="2373266" y="108837"/>
                  <a:pt x="2403682" y="79431"/>
                </a:cubicBezTo>
                <a:lnTo>
                  <a:pt x="2466521" y="0"/>
                </a:lnTo>
                <a:lnTo>
                  <a:pt x="2456941" y="189728"/>
                </a:lnTo>
                <a:cubicBezTo>
                  <a:pt x="2349556" y="1247124"/>
                  <a:pt x="1456552" y="2072270"/>
                  <a:pt x="370825" y="2072270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4" id="4"/>
          <p:cNvSpPr/>
          <p:nvPr/>
        </p:nvSpPr>
        <p:spPr>
          <a:xfrm rot="10800000">
            <a:off x="6296841" y="1861421"/>
            <a:ext cx="1594833" cy="2055986"/>
          </a:xfrm>
          <a:custGeom>
            <a:avLst/>
            <a:gdLst/>
            <a:ahLst/>
            <a:cxnLst/>
            <a:rect r="r" b="b" t="t" l="l"/>
            <a:pathLst>
              <a:path w="1861852" h="2400216" stroke="true" fill="norm" extrusionOk="true">
                <a:moveTo>
                  <a:pt x="1807547" y="2400216"/>
                </a:moveTo>
                <a:lnTo>
                  <a:pt x="1674335" y="2379885"/>
                </a:lnTo>
                <a:cubicBezTo>
                  <a:pt x="718794" y="2184353"/>
                  <a:pt x="0" y="1338891"/>
                  <a:pt x="0" y="325545"/>
                </a:cubicBezTo>
                <a:lnTo>
                  <a:pt x="1464" y="296556"/>
                </a:lnTo>
                <a:lnTo>
                  <a:pt x="3139" y="284239"/>
                </a:lnTo>
                <a:cubicBezTo>
                  <a:pt x="30863" y="184305"/>
                  <a:pt x="98020" y="98017"/>
                  <a:pt x="191693" y="47099"/>
                </a:cubicBezTo>
                <a:cubicBezTo>
                  <a:pt x="316590" y="-20793"/>
                  <a:pt x="468618" y="-14929"/>
                  <a:pt x="587915" y="62381"/>
                </a:cubicBezTo>
                <a:cubicBezTo>
                  <a:pt x="647564" y="101036"/>
                  <a:pt x="694251" y="154456"/>
                  <a:pt x="724658" y="215929"/>
                </a:cubicBezTo>
                <a:lnTo>
                  <a:pt x="756229" y="309165"/>
                </a:lnTo>
                <a:lnTo>
                  <a:pt x="755402" y="325545"/>
                </a:lnTo>
                <a:cubicBezTo>
                  <a:pt x="755402" y="973843"/>
                  <a:pt x="1215258" y="1514736"/>
                  <a:pt x="1826575" y="1639830"/>
                </a:cubicBezTo>
                <a:lnTo>
                  <a:pt x="1861852" y="1645214"/>
                </a:lnTo>
                <a:lnTo>
                  <a:pt x="1799125" y="1687413"/>
                </a:lnTo>
                <a:cubicBezTo>
                  <a:pt x="1767464" y="1715474"/>
                  <a:pt x="1739293" y="1748008"/>
                  <a:pt x="1715640" y="1784507"/>
                </a:cubicBezTo>
                <a:cubicBezTo>
                  <a:pt x="1621027" y="1930504"/>
                  <a:pt x="1613851" y="2116557"/>
                  <a:pt x="1696937" y="2269408"/>
                </a:cubicBezTo>
                <a:cubicBezTo>
                  <a:pt x="1717709" y="2307621"/>
                  <a:pt x="1743290" y="2342228"/>
                  <a:pt x="1772695" y="2372644"/>
                </a:cubicBezTo>
                <a:lnTo>
                  <a:pt x="1807547" y="2400216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 rot="10800000">
            <a:off x="4308164" y="3509481"/>
            <a:ext cx="1578547" cy="1902533"/>
          </a:xfrm>
          <a:custGeom>
            <a:avLst/>
            <a:gdLst/>
            <a:ahLst/>
            <a:cxnLst/>
            <a:rect r="r" b="b" t="t" l="l"/>
            <a:pathLst>
              <a:path w="1842839" h="2221070" stroke="true" fill="norm" extrusionOk="true">
                <a:moveTo>
                  <a:pt x="1444238" y="2220782"/>
                </a:moveTo>
                <a:cubicBezTo>
                  <a:pt x="1375707" y="2218139"/>
                  <a:pt x="1307876" y="2197345"/>
                  <a:pt x="1248227" y="2158690"/>
                </a:cubicBezTo>
                <a:cubicBezTo>
                  <a:pt x="1188579" y="2120035"/>
                  <a:pt x="1141891" y="2066615"/>
                  <a:pt x="1111484" y="2005141"/>
                </a:cubicBezTo>
                <a:lnTo>
                  <a:pt x="1091568" y="1946324"/>
                </a:lnTo>
                <a:lnTo>
                  <a:pt x="1090906" y="1933225"/>
                </a:lnTo>
                <a:lnTo>
                  <a:pt x="1073259" y="1817593"/>
                </a:lnTo>
                <a:lnTo>
                  <a:pt x="1072426" y="1803275"/>
                </a:lnTo>
                <a:lnTo>
                  <a:pt x="1071057" y="1803169"/>
                </a:lnTo>
                <a:lnTo>
                  <a:pt x="1070577" y="1800023"/>
                </a:lnTo>
                <a:cubicBezTo>
                  <a:pt x="963354" y="1276037"/>
                  <a:pt x="550645" y="863328"/>
                  <a:pt x="26659" y="756105"/>
                </a:cubicBezTo>
                <a:lnTo>
                  <a:pt x="0" y="752036"/>
                </a:lnTo>
                <a:lnTo>
                  <a:pt x="71201" y="704136"/>
                </a:lnTo>
                <a:cubicBezTo>
                  <a:pt x="102862" y="676075"/>
                  <a:pt x="131033" y="643541"/>
                  <a:pt x="154686" y="607042"/>
                </a:cubicBezTo>
                <a:cubicBezTo>
                  <a:pt x="249299" y="461045"/>
                  <a:pt x="256475" y="274992"/>
                  <a:pt x="173389" y="122141"/>
                </a:cubicBezTo>
                <a:cubicBezTo>
                  <a:pt x="152618" y="83928"/>
                  <a:pt x="127037" y="49321"/>
                  <a:pt x="97631" y="18905"/>
                </a:cubicBezTo>
                <a:lnTo>
                  <a:pt x="73735" y="0"/>
                </a:lnTo>
                <a:lnTo>
                  <a:pt x="178899" y="16050"/>
                </a:lnTo>
                <a:cubicBezTo>
                  <a:pt x="1066187" y="197616"/>
                  <a:pt x="1749341" y="939580"/>
                  <a:pt x="1842408" y="1855990"/>
                </a:cubicBezTo>
                <a:lnTo>
                  <a:pt x="1842839" y="1864516"/>
                </a:lnTo>
                <a:lnTo>
                  <a:pt x="1833003" y="1936832"/>
                </a:lnTo>
                <a:cubicBezTo>
                  <a:pt x="1805279" y="2036766"/>
                  <a:pt x="1738122" y="2123054"/>
                  <a:pt x="1644449" y="2173972"/>
                </a:cubicBezTo>
                <a:cubicBezTo>
                  <a:pt x="1582001" y="2207918"/>
                  <a:pt x="1512769" y="2223425"/>
                  <a:pt x="1444238" y="2220782"/>
                </a:cubicBez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6" id="6"/>
          <p:cNvSpPr/>
          <p:nvPr/>
        </p:nvSpPr>
        <p:spPr>
          <a:xfrm rot="10800000">
            <a:off x="5763184" y="3805353"/>
            <a:ext cx="2116163" cy="1629404"/>
          </a:xfrm>
          <a:custGeom>
            <a:avLst/>
            <a:gdLst/>
            <a:ahLst/>
            <a:cxnLst/>
            <a:rect r="r" b="b" t="t" l="l"/>
            <a:pathLst>
              <a:path w="2470467" h="1902212" stroke="true" fill="norm" extrusionOk="true">
                <a:moveTo>
                  <a:pt x="756723" y="1902212"/>
                </a:moveTo>
                <a:lnTo>
                  <a:pt x="717833" y="1844405"/>
                </a:lnTo>
                <a:cubicBezTo>
                  <a:pt x="689772" y="1812744"/>
                  <a:pt x="657238" y="1784573"/>
                  <a:pt x="620739" y="1760920"/>
                </a:cubicBezTo>
                <a:cubicBezTo>
                  <a:pt x="474742" y="1666307"/>
                  <a:pt x="288689" y="1659131"/>
                  <a:pt x="135838" y="1742217"/>
                </a:cubicBezTo>
                <a:cubicBezTo>
                  <a:pt x="97625" y="1762989"/>
                  <a:pt x="63018" y="1788570"/>
                  <a:pt x="32602" y="1817975"/>
                </a:cubicBezTo>
                <a:lnTo>
                  <a:pt x="0" y="1859186"/>
                </a:lnTo>
                <a:lnTo>
                  <a:pt x="28211" y="1674335"/>
                </a:lnTo>
                <a:cubicBezTo>
                  <a:pt x="223744" y="718794"/>
                  <a:pt x="1069206" y="0"/>
                  <a:pt x="2082551" y="0"/>
                </a:cubicBezTo>
                <a:lnTo>
                  <a:pt x="2195875" y="5722"/>
                </a:lnTo>
                <a:lnTo>
                  <a:pt x="2280810" y="41993"/>
                </a:lnTo>
                <a:cubicBezTo>
                  <a:pt x="2339758" y="77045"/>
                  <a:pt x="2389424" y="127708"/>
                  <a:pt x="2423369" y="190157"/>
                </a:cubicBezTo>
                <a:cubicBezTo>
                  <a:pt x="2491261" y="315054"/>
                  <a:pt x="2485397" y="467082"/>
                  <a:pt x="2408087" y="586379"/>
                </a:cubicBezTo>
                <a:cubicBezTo>
                  <a:pt x="2350105" y="675852"/>
                  <a:pt x="2258900" y="736163"/>
                  <a:pt x="2157128" y="756107"/>
                </a:cubicBezTo>
                <a:lnTo>
                  <a:pt x="2128954" y="757745"/>
                </a:lnTo>
                <a:lnTo>
                  <a:pt x="2082551" y="755402"/>
                </a:lnTo>
                <a:cubicBezTo>
                  <a:pt x="1434253" y="755402"/>
                  <a:pt x="893360" y="1215258"/>
                  <a:pt x="768266" y="1826575"/>
                </a:cubicBezTo>
                <a:lnTo>
                  <a:pt x="756723" y="1902212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cap="flat" cmpd="sng"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7" id="7"/>
          <p:cNvSpPr/>
          <p:nvPr/>
        </p:nvSpPr>
        <p:spPr>
          <a:xfrm>
            <a:off x="5800302" y="3319093"/>
            <a:ext cx="591396" cy="609685"/>
          </a:xfrm>
          <a:custGeom>
            <a:avLst/>
            <a:gdLst/>
            <a:ahLst/>
            <a:cxnLst/>
            <a:rect r="r" b="b" t="t" l="l"/>
            <a:pathLst>
              <a:path w="5499" h="5677" stroke="true" fill="norm" extrusionOk="true">
                <a:moveTo>
                  <a:pt x="5363" y="3960"/>
                </a:moveTo>
                <a:cubicBezTo>
                  <a:pt x="5342" y="3930"/>
                  <a:pt x="5320" y="3902"/>
                  <a:pt x="5296" y="3876"/>
                </a:cubicBezTo>
                <a:cubicBezTo>
                  <a:pt x="5326" y="3832"/>
                  <a:pt x="5349" y="3782"/>
                  <a:pt x="5363" y="3729"/>
                </a:cubicBezTo>
                <a:cubicBezTo>
                  <a:pt x="5405" y="3570"/>
                  <a:pt x="5363" y="3403"/>
                  <a:pt x="5251" y="3283"/>
                </a:cubicBezTo>
                <a:cubicBezTo>
                  <a:pt x="5178" y="3205"/>
                  <a:pt x="5093" y="3143"/>
                  <a:pt x="4995" y="3096"/>
                </a:cubicBezTo>
                <a:cubicBezTo>
                  <a:pt x="4980" y="2847"/>
                  <a:pt x="4773" y="2649"/>
                  <a:pt x="4520" y="2649"/>
                </a:cubicBezTo>
                <a:cubicBezTo>
                  <a:pt x="4272" y="2649"/>
                  <a:pt x="4067" y="2841"/>
                  <a:pt x="4047" y="3085"/>
                </a:cubicBezTo>
                <a:cubicBezTo>
                  <a:pt x="4017" y="3098"/>
                  <a:pt x="3989" y="3112"/>
                  <a:pt x="3962" y="3128"/>
                </a:cubicBezTo>
                <a:lnTo>
                  <a:pt x="3673" y="3040"/>
                </a:lnTo>
                <a:cubicBezTo>
                  <a:pt x="3673" y="3040"/>
                  <a:pt x="3673" y="3041"/>
                  <a:pt x="3673" y="3041"/>
                </a:cubicBezTo>
                <a:lnTo>
                  <a:pt x="3133" y="2877"/>
                </a:lnTo>
                <a:cubicBezTo>
                  <a:pt x="3116" y="2825"/>
                  <a:pt x="3077" y="2779"/>
                  <a:pt x="3023" y="2741"/>
                </a:cubicBezTo>
                <a:cubicBezTo>
                  <a:pt x="3083" y="2675"/>
                  <a:pt x="3133" y="2608"/>
                  <a:pt x="3171" y="2553"/>
                </a:cubicBezTo>
                <a:cubicBezTo>
                  <a:pt x="3261" y="2421"/>
                  <a:pt x="3337" y="2280"/>
                  <a:pt x="3389" y="2144"/>
                </a:cubicBezTo>
                <a:cubicBezTo>
                  <a:pt x="3414" y="2087"/>
                  <a:pt x="3436" y="2029"/>
                  <a:pt x="3454" y="1972"/>
                </a:cubicBezTo>
                <a:cubicBezTo>
                  <a:pt x="3524" y="1914"/>
                  <a:pt x="3565" y="1826"/>
                  <a:pt x="3565" y="1734"/>
                </a:cubicBezTo>
                <a:lnTo>
                  <a:pt x="3565" y="1508"/>
                </a:lnTo>
                <a:cubicBezTo>
                  <a:pt x="3565" y="1443"/>
                  <a:pt x="3545" y="1380"/>
                  <a:pt x="3507" y="1328"/>
                </a:cubicBezTo>
                <a:lnTo>
                  <a:pt x="3507" y="1010"/>
                </a:lnTo>
                <a:cubicBezTo>
                  <a:pt x="3507" y="453"/>
                  <a:pt x="3054" y="0"/>
                  <a:pt x="2497" y="0"/>
                </a:cubicBezTo>
                <a:lnTo>
                  <a:pt x="2170" y="0"/>
                </a:lnTo>
                <a:cubicBezTo>
                  <a:pt x="1613" y="0"/>
                  <a:pt x="1160" y="453"/>
                  <a:pt x="1160" y="1010"/>
                </a:cubicBezTo>
                <a:lnTo>
                  <a:pt x="1160" y="1328"/>
                </a:lnTo>
                <a:cubicBezTo>
                  <a:pt x="1122" y="1380"/>
                  <a:pt x="1102" y="1444"/>
                  <a:pt x="1102" y="1508"/>
                </a:cubicBezTo>
                <a:lnTo>
                  <a:pt x="1102" y="1734"/>
                </a:lnTo>
                <a:cubicBezTo>
                  <a:pt x="1102" y="1826"/>
                  <a:pt x="1143" y="1914"/>
                  <a:pt x="1213" y="1972"/>
                </a:cubicBezTo>
                <a:cubicBezTo>
                  <a:pt x="1231" y="2029"/>
                  <a:pt x="1253" y="2087"/>
                  <a:pt x="1279" y="2144"/>
                </a:cubicBezTo>
                <a:cubicBezTo>
                  <a:pt x="1331" y="2280"/>
                  <a:pt x="1406" y="2421"/>
                  <a:pt x="1496" y="2552"/>
                </a:cubicBezTo>
                <a:cubicBezTo>
                  <a:pt x="1534" y="2608"/>
                  <a:pt x="1584" y="2674"/>
                  <a:pt x="1644" y="2740"/>
                </a:cubicBezTo>
                <a:cubicBezTo>
                  <a:pt x="1590" y="2779"/>
                  <a:pt x="1551" y="2825"/>
                  <a:pt x="1534" y="2877"/>
                </a:cubicBezTo>
                <a:lnTo>
                  <a:pt x="814" y="3095"/>
                </a:lnTo>
                <a:cubicBezTo>
                  <a:pt x="307" y="3241"/>
                  <a:pt x="3" y="5432"/>
                  <a:pt x="3" y="5432"/>
                </a:cubicBezTo>
                <a:lnTo>
                  <a:pt x="3" y="5432"/>
                </a:lnTo>
                <a:cubicBezTo>
                  <a:pt x="1" y="5442"/>
                  <a:pt x="0" y="5452"/>
                  <a:pt x="0" y="5462"/>
                </a:cubicBezTo>
                <a:cubicBezTo>
                  <a:pt x="0" y="5567"/>
                  <a:pt x="86" y="5653"/>
                  <a:pt x="191" y="5653"/>
                </a:cubicBezTo>
                <a:lnTo>
                  <a:pt x="4372" y="5653"/>
                </a:lnTo>
                <a:cubicBezTo>
                  <a:pt x="4418" y="5668"/>
                  <a:pt x="4468" y="5677"/>
                  <a:pt x="4520" y="5677"/>
                </a:cubicBezTo>
                <a:cubicBezTo>
                  <a:pt x="4783" y="5677"/>
                  <a:pt x="4996" y="5464"/>
                  <a:pt x="4996" y="5202"/>
                </a:cubicBezTo>
                <a:lnTo>
                  <a:pt x="4996" y="5161"/>
                </a:lnTo>
                <a:cubicBezTo>
                  <a:pt x="5091" y="5119"/>
                  <a:pt x="5175" y="5063"/>
                  <a:pt x="5248" y="4994"/>
                </a:cubicBezTo>
                <a:cubicBezTo>
                  <a:pt x="5412" y="4838"/>
                  <a:pt x="5499" y="4635"/>
                  <a:pt x="5499" y="4406"/>
                </a:cubicBezTo>
                <a:cubicBezTo>
                  <a:pt x="5499" y="4239"/>
                  <a:pt x="5453" y="4089"/>
                  <a:pt x="5363" y="3960"/>
                </a:cubicBezTo>
                <a:close/>
                <a:moveTo>
                  <a:pt x="2140" y="3663"/>
                </a:moveTo>
                <a:cubicBezTo>
                  <a:pt x="2137" y="3689"/>
                  <a:pt x="2118" y="3711"/>
                  <a:pt x="2093" y="3718"/>
                </a:cubicBezTo>
                <a:cubicBezTo>
                  <a:pt x="2087" y="3720"/>
                  <a:pt x="2081" y="3721"/>
                  <a:pt x="2075" y="3721"/>
                </a:cubicBezTo>
                <a:cubicBezTo>
                  <a:pt x="2055" y="3721"/>
                  <a:pt x="2036" y="3711"/>
                  <a:pt x="2024" y="3695"/>
                </a:cubicBezTo>
                <a:lnTo>
                  <a:pt x="1842" y="3454"/>
                </a:lnTo>
                <a:cubicBezTo>
                  <a:pt x="1833" y="3442"/>
                  <a:pt x="1829" y="3429"/>
                  <a:pt x="1829" y="3415"/>
                </a:cubicBezTo>
                <a:lnTo>
                  <a:pt x="1829" y="3028"/>
                </a:lnTo>
                <a:cubicBezTo>
                  <a:pt x="1829" y="3005"/>
                  <a:pt x="1841" y="2984"/>
                  <a:pt x="1860" y="2972"/>
                </a:cubicBezTo>
                <a:cubicBezTo>
                  <a:pt x="1880" y="2961"/>
                  <a:pt x="1904" y="2960"/>
                  <a:pt x="1924" y="2970"/>
                </a:cubicBezTo>
                <a:cubicBezTo>
                  <a:pt x="1977" y="2998"/>
                  <a:pt x="2030" y="3017"/>
                  <a:pt x="2081" y="3026"/>
                </a:cubicBezTo>
                <a:cubicBezTo>
                  <a:pt x="2112" y="3032"/>
                  <a:pt x="2135" y="3059"/>
                  <a:pt x="2135" y="3090"/>
                </a:cubicBezTo>
                <a:lnTo>
                  <a:pt x="2135" y="3252"/>
                </a:lnTo>
                <a:cubicBezTo>
                  <a:pt x="2144" y="3255"/>
                  <a:pt x="2152" y="3261"/>
                  <a:pt x="2159" y="3268"/>
                </a:cubicBezTo>
                <a:cubicBezTo>
                  <a:pt x="2171" y="3282"/>
                  <a:pt x="2177" y="3300"/>
                  <a:pt x="2175" y="3318"/>
                </a:cubicBezTo>
                <a:lnTo>
                  <a:pt x="2140" y="3663"/>
                </a:lnTo>
                <a:close/>
                <a:moveTo>
                  <a:pt x="2825" y="3454"/>
                </a:moveTo>
                <a:lnTo>
                  <a:pt x="2644" y="3695"/>
                </a:lnTo>
                <a:cubicBezTo>
                  <a:pt x="2631" y="3711"/>
                  <a:pt x="2612" y="3721"/>
                  <a:pt x="2592" y="3721"/>
                </a:cubicBezTo>
                <a:cubicBezTo>
                  <a:pt x="2586" y="3721"/>
                  <a:pt x="2580" y="3720"/>
                  <a:pt x="2574" y="3718"/>
                </a:cubicBezTo>
                <a:cubicBezTo>
                  <a:pt x="2549" y="3711"/>
                  <a:pt x="2530" y="3689"/>
                  <a:pt x="2527" y="3662"/>
                </a:cubicBezTo>
                <a:lnTo>
                  <a:pt x="2492" y="3318"/>
                </a:lnTo>
                <a:cubicBezTo>
                  <a:pt x="2490" y="3300"/>
                  <a:pt x="2496" y="3282"/>
                  <a:pt x="2508" y="3268"/>
                </a:cubicBezTo>
                <a:cubicBezTo>
                  <a:pt x="2515" y="3261"/>
                  <a:pt x="2523" y="3255"/>
                  <a:pt x="2533" y="3252"/>
                </a:cubicBezTo>
                <a:lnTo>
                  <a:pt x="2533" y="3090"/>
                </a:lnTo>
                <a:cubicBezTo>
                  <a:pt x="2533" y="3059"/>
                  <a:pt x="2555" y="3032"/>
                  <a:pt x="2586" y="3026"/>
                </a:cubicBezTo>
                <a:cubicBezTo>
                  <a:pt x="2637" y="3017"/>
                  <a:pt x="2690" y="2998"/>
                  <a:pt x="2743" y="2971"/>
                </a:cubicBezTo>
                <a:cubicBezTo>
                  <a:pt x="2763" y="2960"/>
                  <a:pt x="2787" y="2961"/>
                  <a:pt x="2807" y="2972"/>
                </a:cubicBezTo>
                <a:cubicBezTo>
                  <a:pt x="2826" y="2984"/>
                  <a:pt x="2838" y="3005"/>
                  <a:pt x="2838" y="3028"/>
                </a:cubicBezTo>
                <a:lnTo>
                  <a:pt x="2838" y="3415"/>
                </a:lnTo>
                <a:cubicBezTo>
                  <a:pt x="2838" y="3429"/>
                  <a:pt x="2834" y="3442"/>
                  <a:pt x="2825" y="3454"/>
                </a:cubicBezTo>
                <a:close/>
                <a:moveTo>
                  <a:pt x="2508" y="2684"/>
                </a:moveTo>
                <a:lnTo>
                  <a:pt x="2160" y="2684"/>
                </a:lnTo>
                <a:cubicBezTo>
                  <a:pt x="2083" y="2684"/>
                  <a:pt x="1934" y="2581"/>
                  <a:pt x="1776" y="2351"/>
                </a:cubicBezTo>
                <a:cubicBezTo>
                  <a:pt x="1651" y="2170"/>
                  <a:pt x="1564" y="1970"/>
                  <a:pt x="1544" y="1815"/>
                </a:cubicBezTo>
                <a:lnTo>
                  <a:pt x="1540" y="1788"/>
                </a:lnTo>
                <a:lnTo>
                  <a:pt x="1477" y="1747"/>
                </a:lnTo>
                <a:cubicBezTo>
                  <a:pt x="1459" y="1735"/>
                  <a:pt x="1448" y="1715"/>
                  <a:pt x="1448" y="1693"/>
                </a:cubicBezTo>
                <a:lnTo>
                  <a:pt x="1448" y="1586"/>
                </a:lnTo>
                <a:cubicBezTo>
                  <a:pt x="1448" y="1551"/>
                  <a:pt x="1477" y="1522"/>
                  <a:pt x="1513" y="1522"/>
                </a:cubicBezTo>
                <a:lnTo>
                  <a:pt x="1539" y="1522"/>
                </a:lnTo>
                <a:lnTo>
                  <a:pt x="1539" y="1406"/>
                </a:lnTo>
                <a:cubicBezTo>
                  <a:pt x="1539" y="1382"/>
                  <a:pt x="1553" y="1359"/>
                  <a:pt x="1575" y="1348"/>
                </a:cubicBezTo>
                <a:cubicBezTo>
                  <a:pt x="1664" y="1304"/>
                  <a:pt x="1841" y="1229"/>
                  <a:pt x="2024" y="1229"/>
                </a:cubicBezTo>
                <a:cubicBezTo>
                  <a:pt x="2170" y="1229"/>
                  <a:pt x="2292" y="1278"/>
                  <a:pt x="2384" y="1374"/>
                </a:cubicBezTo>
                <a:cubicBezTo>
                  <a:pt x="2500" y="1493"/>
                  <a:pt x="2633" y="1554"/>
                  <a:pt x="2781" y="1554"/>
                </a:cubicBezTo>
                <a:cubicBezTo>
                  <a:pt x="2864" y="1554"/>
                  <a:pt x="2950" y="1534"/>
                  <a:pt x="3037" y="1495"/>
                </a:cubicBezTo>
                <a:cubicBezTo>
                  <a:pt x="3057" y="1486"/>
                  <a:pt x="3080" y="1488"/>
                  <a:pt x="3098" y="1500"/>
                </a:cubicBezTo>
                <a:cubicBezTo>
                  <a:pt x="3107" y="1506"/>
                  <a:pt x="3114" y="1513"/>
                  <a:pt x="3119" y="1522"/>
                </a:cubicBezTo>
                <a:lnTo>
                  <a:pt x="3154" y="1522"/>
                </a:lnTo>
                <a:cubicBezTo>
                  <a:pt x="3190" y="1522"/>
                  <a:pt x="3219" y="1551"/>
                  <a:pt x="3219" y="1586"/>
                </a:cubicBezTo>
                <a:lnTo>
                  <a:pt x="3219" y="1693"/>
                </a:lnTo>
                <a:cubicBezTo>
                  <a:pt x="3219" y="1715"/>
                  <a:pt x="3208" y="1735"/>
                  <a:pt x="3190" y="1747"/>
                </a:cubicBezTo>
                <a:lnTo>
                  <a:pt x="3127" y="1788"/>
                </a:lnTo>
                <a:lnTo>
                  <a:pt x="3123" y="1815"/>
                </a:lnTo>
                <a:cubicBezTo>
                  <a:pt x="3103" y="1970"/>
                  <a:pt x="3016" y="2170"/>
                  <a:pt x="2891" y="2351"/>
                </a:cubicBezTo>
                <a:cubicBezTo>
                  <a:pt x="2733" y="2581"/>
                  <a:pt x="2584" y="2684"/>
                  <a:pt x="2508" y="2684"/>
                </a:cubicBezTo>
                <a:close/>
                <a:moveTo>
                  <a:pt x="5035" y="4769"/>
                </a:moveTo>
                <a:cubicBezTo>
                  <a:pt x="4947" y="4852"/>
                  <a:pt x="4830" y="4908"/>
                  <a:pt x="4686" y="4935"/>
                </a:cubicBezTo>
                <a:lnTo>
                  <a:pt x="4686" y="5202"/>
                </a:lnTo>
                <a:cubicBezTo>
                  <a:pt x="4686" y="5293"/>
                  <a:pt x="4612" y="5367"/>
                  <a:pt x="4520" y="5367"/>
                </a:cubicBezTo>
                <a:cubicBezTo>
                  <a:pt x="4429" y="5367"/>
                  <a:pt x="4355" y="5293"/>
                  <a:pt x="4355" y="5202"/>
                </a:cubicBezTo>
                <a:lnTo>
                  <a:pt x="4355" y="4944"/>
                </a:lnTo>
                <a:cubicBezTo>
                  <a:pt x="4144" y="4915"/>
                  <a:pt x="3987" y="4824"/>
                  <a:pt x="3887" y="4672"/>
                </a:cubicBezTo>
                <a:cubicBezTo>
                  <a:pt x="3857" y="4626"/>
                  <a:pt x="3851" y="4567"/>
                  <a:pt x="3873" y="4516"/>
                </a:cubicBezTo>
                <a:cubicBezTo>
                  <a:pt x="3895" y="4465"/>
                  <a:pt x="3941" y="4428"/>
                  <a:pt x="3995" y="4418"/>
                </a:cubicBezTo>
                <a:lnTo>
                  <a:pt x="4121" y="4395"/>
                </a:lnTo>
                <a:cubicBezTo>
                  <a:pt x="4185" y="4383"/>
                  <a:pt x="4250" y="4410"/>
                  <a:pt x="4287" y="4463"/>
                </a:cubicBezTo>
                <a:cubicBezTo>
                  <a:pt x="4334" y="4531"/>
                  <a:pt x="4414" y="4565"/>
                  <a:pt x="4524" y="4565"/>
                </a:cubicBezTo>
                <a:cubicBezTo>
                  <a:pt x="4693" y="4565"/>
                  <a:pt x="4693" y="4498"/>
                  <a:pt x="4693" y="4475"/>
                </a:cubicBezTo>
                <a:cubicBezTo>
                  <a:pt x="4693" y="4443"/>
                  <a:pt x="4681" y="4420"/>
                  <a:pt x="4656" y="4402"/>
                </a:cubicBezTo>
                <a:cubicBezTo>
                  <a:pt x="4629" y="4384"/>
                  <a:pt x="4581" y="4367"/>
                  <a:pt x="4512" y="4353"/>
                </a:cubicBezTo>
                <a:cubicBezTo>
                  <a:pt x="4237" y="4297"/>
                  <a:pt x="4059" y="4224"/>
                  <a:pt x="3985" y="4136"/>
                </a:cubicBezTo>
                <a:cubicBezTo>
                  <a:pt x="3909" y="4048"/>
                  <a:pt x="3872" y="3948"/>
                  <a:pt x="3872" y="3833"/>
                </a:cubicBezTo>
                <a:cubicBezTo>
                  <a:pt x="3872" y="3707"/>
                  <a:pt x="3914" y="3595"/>
                  <a:pt x="3995" y="3497"/>
                </a:cubicBezTo>
                <a:cubicBezTo>
                  <a:pt x="4074" y="3403"/>
                  <a:pt x="4195" y="3342"/>
                  <a:pt x="4355" y="3316"/>
                </a:cubicBezTo>
                <a:lnTo>
                  <a:pt x="4355" y="3124"/>
                </a:lnTo>
                <a:cubicBezTo>
                  <a:pt x="4355" y="3033"/>
                  <a:pt x="4429" y="2959"/>
                  <a:pt x="4520" y="2959"/>
                </a:cubicBezTo>
                <a:cubicBezTo>
                  <a:pt x="4612" y="2959"/>
                  <a:pt x="4686" y="3033"/>
                  <a:pt x="4686" y="3124"/>
                </a:cubicBezTo>
                <a:lnTo>
                  <a:pt x="4686" y="3319"/>
                </a:lnTo>
                <a:cubicBezTo>
                  <a:pt x="4829" y="3346"/>
                  <a:pt x="4940" y="3404"/>
                  <a:pt x="5024" y="3494"/>
                </a:cubicBezTo>
                <a:cubicBezTo>
                  <a:pt x="5063" y="3536"/>
                  <a:pt x="5078" y="3595"/>
                  <a:pt x="5064" y="3650"/>
                </a:cubicBezTo>
                <a:cubicBezTo>
                  <a:pt x="5049" y="3705"/>
                  <a:pt x="5007" y="3749"/>
                  <a:pt x="4953" y="3766"/>
                </a:cubicBezTo>
                <a:lnTo>
                  <a:pt x="4867" y="3793"/>
                </a:lnTo>
                <a:cubicBezTo>
                  <a:pt x="4805" y="3812"/>
                  <a:pt x="4737" y="3793"/>
                  <a:pt x="4693" y="3744"/>
                </a:cubicBezTo>
                <a:cubicBezTo>
                  <a:pt x="4650" y="3696"/>
                  <a:pt x="4586" y="3671"/>
                  <a:pt x="4503" y="3671"/>
                </a:cubicBezTo>
                <a:cubicBezTo>
                  <a:pt x="4436" y="3671"/>
                  <a:pt x="4356" y="3687"/>
                  <a:pt x="4356" y="3763"/>
                </a:cubicBezTo>
                <a:cubicBezTo>
                  <a:pt x="4356" y="3785"/>
                  <a:pt x="4364" y="3804"/>
                  <a:pt x="4379" y="3819"/>
                </a:cubicBezTo>
                <a:cubicBezTo>
                  <a:pt x="4396" y="3835"/>
                  <a:pt x="4444" y="3852"/>
                  <a:pt x="4521" y="3870"/>
                </a:cubicBezTo>
                <a:cubicBezTo>
                  <a:pt x="4701" y="3909"/>
                  <a:pt x="4832" y="3945"/>
                  <a:pt x="4910" y="3976"/>
                </a:cubicBezTo>
                <a:cubicBezTo>
                  <a:pt x="4990" y="4008"/>
                  <a:pt x="5057" y="4062"/>
                  <a:pt x="5110" y="4137"/>
                </a:cubicBezTo>
                <a:cubicBezTo>
                  <a:pt x="5162" y="4213"/>
                  <a:pt x="5189" y="4303"/>
                  <a:pt x="5189" y="4406"/>
                </a:cubicBezTo>
                <a:cubicBezTo>
                  <a:pt x="5189" y="4550"/>
                  <a:pt x="5137" y="4672"/>
                  <a:pt x="5035" y="4769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t" tIns="45720" lIns="91440" bIns="45720" rIns="91440">
            <a:normAutofit/>
          </a:bodyPr>
          <a:p>
            <a:pPr algn="l" marL="0"/>
          </a:p>
        </p:txBody>
      </p:sp>
      <p:sp>
        <p:nvSpPr>
          <p:cNvPr name="TextBox 8" id="8"/>
          <p:cNvSpPr txBox="true"/>
          <p:nvPr/>
        </p:nvSpPr>
        <p:spPr>
          <a:xfrm>
            <a:off x="5763114" y="1960149"/>
            <a:ext cx="611964" cy="43634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7279710" y="3405765"/>
            <a:ext cx="611964" cy="43634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4335917" y="3587183"/>
            <a:ext cx="611964" cy="436340"/>
          </a:xfrm>
          <a:prstGeom prst="rect">
            <a:avLst/>
          </a:prstGeom>
          <a:noFill/>
        </p:spPr>
        <p:txBody>
          <a:bodyPr anchor="ctr" rtlCol="false" vert="horz" wrap="square" tIns="45720" lIns="91440" bIns="45720" rIns="91440">
            <a:normAutofit/>
          </a:bodyPr>
          <a:lstStyle/>
          <a:p>
            <a:pPr algn="ctr" fontAlgn="auto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69924" y="1778348"/>
            <a:ext cx="3353436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Facilitating Development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>
            <a:off x="669924" y="2322642"/>
            <a:ext cx="3353436" cy="231601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facilitates the development of molecular machine learning methods.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168640" y="1778348"/>
            <a:ext cx="3351848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Community Contribution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168640" y="2322642"/>
            <a:ext cx="3351848" cy="2316019"/>
          </a:xfrm>
          <a:prstGeom prst="rect">
            <a:avLst/>
          </a:prstGeom>
          <a:noFill/>
        </p:spPr>
        <p:txBody>
          <a:bodyPr vert="horz" anchor="t" wrap="square" tIns="45720" lIns="91440" bIns="45720" rIns="91440">
            <a:spAutoFit/>
          </a:bodyPr>
          <a:p>
            <a:pPr algn="l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Encouraging the wider community to develop and improve models.</a:t>
            </a:r>
          </a:p>
        </p:txBody>
      </p:sp>
      <p:sp>
        <p:nvSpPr>
          <p:cNvPr name="AutoShape 15" id="15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Broader Impact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>
            <a:off x="4099223" y="2413920"/>
            <a:ext cx="3993554" cy="2449261"/>
          </a:xfrm>
          <a:custGeom>
            <a:avLst/>
            <a:gdLst/>
            <a:ahLst/>
            <a:cxnLst/>
            <a:rect r="r" b="b" t="t" l="l"/>
            <a:pathLst>
              <a:path w="3993554" h="2449261" stroke="true" fill="norm" extrusionOk="true">
                <a:moveTo>
                  <a:pt x="1996777" y="0"/>
                </a:moveTo>
                <a:cubicBezTo>
                  <a:pt x="3030642" y="0"/>
                  <a:pt x="3880990" y="963784"/>
                  <a:pt x="3983245" y="2198839"/>
                </a:cubicBezTo>
                <a:lnTo>
                  <a:pt x="3993554" y="2449261"/>
                </a:lnTo>
                <a:lnTo>
                  <a:pt x="3581819" y="2449261"/>
                </a:lnTo>
                <a:lnTo>
                  <a:pt x="3549617" y="2038630"/>
                </a:lnTo>
                <a:cubicBezTo>
                  <a:pt x="3401818" y="1110163"/>
                  <a:pt x="2762748" y="411736"/>
                  <a:pt x="1996777" y="411736"/>
                </a:cubicBezTo>
                <a:cubicBezTo>
                  <a:pt x="1230807" y="411736"/>
                  <a:pt x="591737" y="1110163"/>
                  <a:pt x="443938" y="2038630"/>
                </a:cubicBezTo>
                <a:lnTo>
                  <a:pt x="411735" y="2449261"/>
                </a:lnTo>
                <a:lnTo>
                  <a:pt x="0" y="2449261"/>
                </a:lnTo>
                <a:lnTo>
                  <a:pt x="10309" y="2198839"/>
                </a:lnTo>
                <a:cubicBezTo>
                  <a:pt x="112564" y="963784"/>
                  <a:pt x="962913" y="0"/>
                  <a:pt x="1996777" y="0"/>
                </a:cubicBezTo>
                <a:close/>
              </a:path>
            </a:pathLst>
          </a:custGeom>
          <a:gradFill>
            <a:gsLst>
              <a:gs pos="57000">
                <a:srgbClr val="F08300">
                  <a:alpha val="0"/>
                  <a:lumMod val="0"/>
                  <a:lumOff val="100000"/>
                </a:srgbClr>
              </a:gs>
              <a:gs pos="100000">
                <a:srgbClr val="FFFFFF">
                  <a:alpha val="85000"/>
                  <a:lumMod val="85000"/>
                </a:srgbClr>
              </a:gs>
            </a:gsLst>
            <a:lin ang="16200000"/>
          </a:gradFill>
          <a:ln cap="flat" cmpd="sng">
            <a:prstDash val="solid"/>
          </a:ln>
        </p:spPr>
        <p:txBody>
          <a:bodyPr vert="horz" rot="0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3" id="3"/>
          <p:cNvSpPr/>
          <p:nvPr/>
        </p:nvSpPr>
        <p:spPr>
          <a:xfrm>
            <a:off x="4189282" y="3299235"/>
            <a:ext cx="611616" cy="678630"/>
          </a:xfrm>
          <a:custGeom>
            <a:avLst/>
            <a:gdLst/>
            <a:ahLst/>
            <a:cxnLst/>
            <a:rect r="r" b="b" t="t" l="l"/>
            <a:pathLst>
              <a:path w="1369" h="1519" stroke="true" fill="norm" extrusionOk="true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4" id="4"/>
          <p:cNvSpPr/>
          <p:nvPr/>
        </p:nvSpPr>
        <p:spPr>
          <a:xfrm>
            <a:off x="4333128" y="3487679"/>
            <a:ext cx="323925" cy="301741"/>
          </a:xfrm>
          <a:custGeom>
            <a:avLst/>
            <a:gdLst/>
            <a:ahLst/>
            <a:cxnLst/>
            <a:rect r="r" b="b" t="t" l="l"/>
            <a:pathLst>
              <a:path w="606862" h="565300" stroke="true" fill="norm" extrusionOk="true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Freeform 5" id="5"/>
          <p:cNvSpPr/>
          <p:nvPr/>
        </p:nvSpPr>
        <p:spPr>
          <a:xfrm>
            <a:off x="7391102" y="3299235"/>
            <a:ext cx="611616" cy="678630"/>
          </a:xfrm>
          <a:custGeom>
            <a:avLst/>
            <a:gdLst/>
            <a:ahLst/>
            <a:cxnLst/>
            <a:rect r="r" b="b" t="t" l="l"/>
            <a:pathLst>
              <a:path w="1369" h="1519" stroke="true" fill="norm" extrusionOk="true">
                <a:moveTo>
                  <a:pt x="668" y="0"/>
                </a:moveTo>
                <a:lnTo>
                  <a:pt x="702" y="0"/>
                </a:lnTo>
                <a:lnTo>
                  <a:pt x="736" y="7"/>
                </a:lnTo>
                <a:lnTo>
                  <a:pt x="768" y="21"/>
                </a:lnTo>
                <a:lnTo>
                  <a:pt x="1284" y="318"/>
                </a:lnTo>
                <a:lnTo>
                  <a:pt x="1313" y="339"/>
                </a:lnTo>
                <a:lnTo>
                  <a:pt x="1337" y="364"/>
                </a:lnTo>
                <a:lnTo>
                  <a:pt x="1354" y="395"/>
                </a:lnTo>
                <a:lnTo>
                  <a:pt x="1364" y="429"/>
                </a:lnTo>
                <a:lnTo>
                  <a:pt x="1369" y="465"/>
                </a:lnTo>
                <a:lnTo>
                  <a:pt x="1369" y="1054"/>
                </a:lnTo>
                <a:lnTo>
                  <a:pt x="1364" y="1090"/>
                </a:lnTo>
                <a:lnTo>
                  <a:pt x="1354" y="1124"/>
                </a:lnTo>
                <a:lnTo>
                  <a:pt x="1337" y="1154"/>
                </a:lnTo>
                <a:lnTo>
                  <a:pt x="1313" y="1181"/>
                </a:lnTo>
                <a:lnTo>
                  <a:pt x="1284" y="1201"/>
                </a:lnTo>
                <a:lnTo>
                  <a:pt x="768" y="1497"/>
                </a:lnTo>
                <a:lnTo>
                  <a:pt x="736" y="1512"/>
                </a:lnTo>
                <a:lnTo>
                  <a:pt x="702" y="1519"/>
                </a:lnTo>
                <a:lnTo>
                  <a:pt x="668" y="1519"/>
                </a:lnTo>
                <a:lnTo>
                  <a:pt x="632" y="1512"/>
                </a:lnTo>
                <a:lnTo>
                  <a:pt x="599" y="1497"/>
                </a:lnTo>
                <a:lnTo>
                  <a:pt x="85" y="1201"/>
                </a:lnTo>
                <a:lnTo>
                  <a:pt x="56" y="1181"/>
                </a:lnTo>
                <a:lnTo>
                  <a:pt x="32" y="1154"/>
                </a:lnTo>
                <a:lnTo>
                  <a:pt x="15" y="1124"/>
                </a:lnTo>
                <a:lnTo>
                  <a:pt x="3" y="1090"/>
                </a:lnTo>
                <a:lnTo>
                  <a:pt x="0" y="1054"/>
                </a:lnTo>
                <a:lnTo>
                  <a:pt x="0" y="465"/>
                </a:lnTo>
                <a:lnTo>
                  <a:pt x="3" y="429"/>
                </a:lnTo>
                <a:lnTo>
                  <a:pt x="15" y="395"/>
                </a:lnTo>
                <a:lnTo>
                  <a:pt x="32" y="364"/>
                </a:lnTo>
                <a:lnTo>
                  <a:pt x="56" y="339"/>
                </a:lnTo>
                <a:lnTo>
                  <a:pt x="85" y="318"/>
                </a:lnTo>
                <a:lnTo>
                  <a:pt x="599" y="21"/>
                </a:lnTo>
                <a:lnTo>
                  <a:pt x="632" y="7"/>
                </a:lnTo>
                <a:lnTo>
                  <a:pt x="668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chemeClr val="accent1"/>
            </a:solidFill>
            <a:prstDash val="solid"/>
          </a:ln>
        </p:spPr>
        <p:txBody>
          <a:bodyPr vert="horz" anchor="t" wrap="square" tIns="45720" lIns="91440" bIns="45720" rIns="91440">
            <a:prstTxWarp prst="textNoShape">
              <a:avLst/>
            </a:prstTxWarp>
            <a:normAutofit/>
          </a:bodyPr>
          <a:p>
            <a:pPr algn="l" marL="0"/>
          </a:p>
        </p:txBody>
      </p:sp>
      <p:sp>
        <p:nvSpPr>
          <p:cNvPr name="Freeform 6" id="6"/>
          <p:cNvSpPr/>
          <p:nvPr/>
        </p:nvSpPr>
        <p:spPr>
          <a:xfrm>
            <a:off x="7534948" y="3487679"/>
            <a:ext cx="323925" cy="301741"/>
          </a:xfrm>
          <a:custGeom>
            <a:avLst/>
            <a:gdLst/>
            <a:ahLst/>
            <a:cxnLst/>
            <a:rect r="r" b="b" t="t" l="l"/>
            <a:pathLst>
              <a:path w="606862" h="565300" stroke="true" fill="norm" extrusionOk="true">
                <a:moveTo>
                  <a:pt x="225640" y="344936"/>
                </a:moveTo>
                <a:cubicBezTo>
                  <a:pt x="221272" y="347315"/>
                  <a:pt x="216904" y="348802"/>
                  <a:pt x="212735" y="349595"/>
                </a:cubicBezTo>
                <a:cubicBezTo>
                  <a:pt x="210154" y="349991"/>
                  <a:pt x="208268" y="352172"/>
                  <a:pt x="208268" y="354750"/>
                </a:cubicBezTo>
                <a:lnTo>
                  <a:pt x="208268" y="368033"/>
                </a:lnTo>
                <a:cubicBezTo>
                  <a:pt x="207573" y="368330"/>
                  <a:pt x="206878" y="368826"/>
                  <a:pt x="206282" y="369421"/>
                </a:cubicBezTo>
                <a:cubicBezTo>
                  <a:pt x="205289" y="370511"/>
                  <a:pt x="204793" y="371998"/>
                  <a:pt x="204992" y="373584"/>
                </a:cubicBezTo>
                <a:lnTo>
                  <a:pt x="207870" y="401836"/>
                </a:lnTo>
                <a:cubicBezTo>
                  <a:pt x="208069" y="404017"/>
                  <a:pt x="209657" y="405801"/>
                  <a:pt x="211742" y="406396"/>
                </a:cubicBezTo>
                <a:cubicBezTo>
                  <a:pt x="212238" y="406495"/>
                  <a:pt x="212735" y="406594"/>
                  <a:pt x="213132" y="406594"/>
                </a:cubicBezTo>
                <a:cubicBezTo>
                  <a:pt x="214819" y="406594"/>
                  <a:pt x="216408" y="405801"/>
                  <a:pt x="217400" y="404413"/>
                </a:cubicBezTo>
                <a:lnTo>
                  <a:pt x="232390" y="384687"/>
                </a:lnTo>
                <a:cubicBezTo>
                  <a:pt x="233085" y="383695"/>
                  <a:pt x="233383" y="382605"/>
                  <a:pt x="233482" y="381415"/>
                </a:cubicBezTo>
                <a:lnTo>
                  <a:pt x="233383" y="349694"/>
                </a:lnTo>
                <a:cubicBezTo>
                  <a:pt x="233383" y="347811"/>
                  <a:pt x="232489" y="346026"/>
                  <a:pt x="230901" y="345134"/>
                </a:cubicBezTo>
                <a:cubicBezTo>
                  <a:pt x="229213" y="344143"/>
                  <a:pt x="227228" y="344143"/>
                  <a:pt x="225640" y="344936"/>
                </a:cubicBezTo>
                <a:close/>
                <a:moveTo>
                  <a:pt x="158236" y="344936"/>
                </a:moveTo>
                <a:cubicBezTo>
                  <a:pt x="156548" y="344044"/>
                  <a:pt x="154563" y="344143"/>
                  <a:pt x="152974" y="345134"/>
                </a:cubicBezTo>
                <a:cubicBezTo>
                  <a:pt x="151386" y="346026"/>
                  <a:pt x="150393" y="347811"/>
                  <a:pt x="150393" y="349694"/>
                </a:cubicBezTo>
                <a:lnTo>
                  <a:pt x="150393" y="381415"/>
                </a:lnTo>
                <a:cubicBezTo>
                  <a:pt x="150393" y="382605"/>
                  <a:pt x="150791" y="383695"/>
                  <a:pt x="151485" y="384687"/>
                </a:cubicBezTo>
                <a:lnTo>
                  <a:pt x="166475" y="404512"/>
                </a:lnTo>
                <a:cubicBezTo>
                  <a:pt x="167468" y="405801"/>
                  <a:pt x="169056" y="406594"/>
                  <a:pt x="170644" y="406594"/>
                </a:cubicBezTo>
                <a:cubicBezTo>
                  <a:pt x="171141" y="406594"/>
                  <a:pt x="171637" y="406495"/>
                  <a:pt x="172133" y="406396"/>
                </a:cubicBezTo>
                <a:cubicBezTo>
                  <a:pt x="174218" y="405801"/>
                  <a:pt x="175707" y="404017"/>
                  <a:pt x="176005" y="401836"/>
                </a:cubicBezTo>
                <a:lnTo>
                  <a:pt x="178884" y="373584"/>
                </a:lnTo>
                <a:cubicBezTo>
                  <a:pt x="179082" y="372097"/>
                  <a:pt x="178586" y="370511"/>
                  <a:pt x="177593" y="369421"/>
                </a:cubicBezTo>
                <a:cubicBezTo>
                  <a:pt x="176998" y="368826"/>
                  <a:pt x="176303" y="368330"/>
                  <a:pt x="175509" y="368033"/>
                </a:cubicBezTo>
                <a:lnTo>
                  <a:pt x="175509" y="354750"/>
                </a:lnTo>
                <a:cubicBezTo>
                  <a:pt x="175509" y="352172"/>
                  <a:pt x="173722" y="349991"/>
                  <a:pt x="171141" y="349595"/>
                </a:cubicBezTo>
                <a:cubicBezTo>
                  <a:pt x="166971" y="348802"/>
                  <a:pt x="162604" y="347216"/>
                  <a:pt x="158236" y="344936"/>
                </a:cubicBezTo>
                <a:close/>
                <a:moveTo>
                  <a:pt x="166475" y="201992"/>
                </a:moveTo>
                <a:cubicBezTo>
                  <a:pt x="151386" y="201992"/>
                  <a:pt x="136893" y="208038"/>
                  <a:pt x="129547" y="211706"/>
                </a:cubicBezTo>
                <a:cubicBezTo>
                  <a:pt x="127760" y="212598"/>
                  <a:pt x="126569" y="214482"/>
                  <a:pt x="126569" y="216464"/>
                </a:cubicBezTo>
                <a:lnTo>
                  <a:pt x="126569" y="225981"/>
                </a:lnTo>
                <a:lnTo>
                  <a:pt x="124385" y="225981"/>
                </a:lnTo>
                <a:cubicBezTo>
                  <a:pt x="121506" y="225981"/>
                  <a:pt x="119124" y="228360"/>
                  <a:pt x="119124" y="231334"/>
                </a:cubicBezTo>
                <a:lnTo>
                  <a:pt x="119124" y="240057"/>
                </a:lnTo>
                <a:cubicBezTo>
                  <a:pt x="119124" y="241842"/>
                  <a:pt x="120017" y="243527"/>
                  <a:pt x="121506" y="244518"/>
                </a:cubicBezTo>
                <a:lnTo>
                  <a:pt x="126668" y="247888"/>
                </a:lnTo>
                <a:lnTo>
                  <a:pt x="126966" y="250069"/>
                </a:lnTo>
                <a:cubicBezTo>
                  <a:pt x="128653" y="262758"/>
                  <a:pt x="135801" y="279213"/>
                  <a:pt x="146026" y="294083"/>
                </a:cubicBezTo>
                <a:cubicBezTo>
                  <a:pt x="159129" y="313016"/>
                  <a:pt x="171339" y="321442"/>
                  <a:pt x="177593" y="321442"/>
                </a:cubicBezTo>
                <a:lnTo>
                  <a:pt x="206183" y="321442"/>
                </a:lnTo>
                <a:cubicBezTo>
                  <a:pt x="212536" y="321442"/>
                  <a:pt x="224746" y="313016"/>
                  <a:pt x="237751" y="294083"/>
                </a:cubicBezTo>
                <a:cubicBezTo>
                  <a:pt x="248075" y="279213"/>
                  <a:pt x="255222" y="262758"/>
                  <a:pt x="256910" y="250069"/>
                </a:cubicBezTo>
                <a:lnTo>
                  <a:pt x="257207" y="247888"/>
                </a:lnTo>
                <a:lnTo>
                  <a:pt x="262369" y="244518"/>
                </a:lnTo>
                <a:cubicBezTo>
                  <a:pt x="263858" y="243527"/>
                  <a:pt x="264752" y="241842"/>
                  <a:pt x="264752" y="240057"/>
                </a:cubicBezTo>
                <a:lnTo>
                  <a:pt x="264752" y="231334"/>
                </a:lnTo>
                <a:cubicBezTo>
                  <a:pt x="264752" y="228360"/>
                  <a:pt x="262369" y="225981"/>
                  <a:pt x="259391" y="225981"/>
                </a:cubicBezTo>
                <a:lnTo>
                  <a:pt x="256513" y="225981"/>
                </a:lnTo>
                <a:cubicBezTo>
                  <a:pt x="256115" y="225287"/>
                  <a:pt x="255520" y="224692"/>
                  <a:pt x="254825" y="224197"/>
                </a:cubicBezTo>
                <a:cubicBezTo>
                  <a:pt x="253336" y="223205"/>
                  <a:pt x="251450" y="223106"/>
                  <a:pt x="249762" y="223800"/>
                </a:cubicBezTo>
                <a:cubicBezTo>
                  <a:pt x="242615" y="226972"/>
                  <a:pt x="235567" y="228657"/>
                  <a:pt x="228717" y="228657"/>
                </a:cubicBezTo>
                <a:cubicBezTo>
                  <a:pt x="216606" y="228657"/>
                  <a:pt x="205587" y="223602"/>
                  <a:pt x="196057" y="213788"/>
                </a:cubicBezTo>
                <a:cubicBezTo>
                  <a:pt x="188414" y="205957"/>
                  <a:pt x="178487" y="201992"/>
                  <a:pt x="166475" y="201992"/>
                </a:cubicBezTo>
                <a:close/>
                <a:moveTo>
                  <a:pt x="178487" y="100979"/>
                </a:moveTo>
                <a:lnTo>
                  <a:pt x="205389" y="100979"/>
                </a:lnTo>
                <a:cubicBezTo>
                  <a:pt x="251152" y="100979"/>
                  <a:pt x="288477" y="138152"/>
                  <a:pt x="288477" y="183950"/>
                </a:cubicBezTo>
                <a:lnTo>
                  <a:pt x="288477" y="210021"/>
                </a:lnTo>
                <a:cubicBezTo>
                  <a:pt x="291555" y="214383"/>
                  <a:pt x="293242" y="219537"/>
                  <a:pt x="293242" y="224890"/>
                </a:cubicBezTo>
                <a:lnTo>
                  <a:pt x="293242" y="243428"/>
                </a:lnTo>
                <a:cubicBezTo>
                  <a:pt x="293242" y="250961"/>
                  <a:pt x="289867" y="258198"/>
                  <a:pt x="284109" y="262956"/>
                </a:cubicBezTo>
                <a:cubicBezTo>
                  <a:pt x="282620" y="267615"/>
                  <a:pt x="280834" y="272373"/>
                  <a:pt x="278749" y="277132"/>
                </a:cubicBezTo>
                <a:cubicBezTo>
                  <a:pt x="274381" y="288234"/>
                  <a:pt x="268226" y="299832"/>
                  <a:pt x="260781" y="310637"/>
                </a:cubicBezTo>
                <a:cubicBezTo>
                  <a:pt x="257704" y="315197"/>
                  <a:pt x="253534" y="320649"/>
                  <a:pt x="248670" y="326101"/>
                </a:cubicBezTo>
                <a:cubicBezTo>
                  <a:pt x="253137" y="329273"/>
                  <a:pt x="256314" y="332941"/>
                  <a:pt x="257704" y="337303"/>
                </a:cubicBezTo>
                <a:lnTo>
                  <a:pt x="316968" y="355245"/>
                </a:lnTo>
                <a:cubicBezTo>
                  <a:pt x="358661" y="367240"/>
                  <a:pt x="383875" y="542104"/>
                  <a:pt x="383875" y="549638"/>
                </a:cubicBezTo>
                <a:cubicBezTo>
                  <a:pt x="383875" y="558262"/>
                  <a:pt x="376827" y="565300"/>
                  <a:pt x="368091" y="565300"/>
                </a:cubicBezTo>
                <a:lnTo>
                  <a:pt x="15685" y="565300"/>
                </a:lnTo>
                <a:cubicBezTo>
                  <a:pt x="7048" y="565300"/>
                  <a:pt x="0" y="558262"/>
                  <a:pt x="0" y="549638"/>
                </a:cubicBezTo>
                <a:cubicBezTo>
                  <a:pt x="0" y="548745"/>
                  <a:pt x="100" y="547952"/>
                  <a:pt x="199" y="547159"/>
                </a:cubicBezTo>
                <a:cubicBezTo>
                  <a:pt x="199" y="547159"/>
                  <a:pt x="25215" y="367240"/>
                  <a:pt x="66908" y="355245"/>
                </a:cubicBezTo>
                <a:lnTo>
                  <a:pt x="126172" y="337303"/>
                </a:lnTo>
                <a:cubicBezTo>
                  <a:pt x="127562" y="332941"/>
                  <a:pt x="130738" y="329273"/>
                  <a:pt x="135205" y="326101"/>
                </a:cubicBezTo>
                <a:cubicBezTo>
                  <a:pt x="130341" y="320649"/>
                  <a:pt x="126172" y="315197"/>
                  <a:pt x="123094" y="310637"/>
                </a:cubicBezTo>
                <a:cubicBezTo>
                  <a:pt x="115649" y="299832"/>
                  <a:pt x="109395" y="288234"/>
                  <a:pt x="105127" y="277132"/>
                </a:cubicBezTo>
                <a:cubicBezTo>
                  <a:pt x="103042" y="272373"/>
                  <a:pt x="101255" y="267615"/>
                  <a:pt x="99766" y="262956"/>
                </a:cubicBezTo>
                <a:cubicBezTo>
                  <a:pt x="94008" y="258099"/>
                  <a:pt x="90633" y="250961"/>
                  <a:pt x="90633" y="243428"/>
                </a:cubicBezTo>
                <a:lnTo>
                  <a:pt x="90633" y="224890"/>
                </a:lnTo>
                <a:cubicBezTo>
                  <a:pt x="90633" y="219537"/>
                  <a:pt x="92321" y="214383"/>
                  <a:pt x="95398" y="210021"/>
                </a:cubicBezTo>
                <a:lnTo>
                  <a:pt x="95398" y="183950"/>
                </a:lnTo>
                <a:cubicBezTo>
                  <a:pt x="95398" y="138152"/>
                  <a:pt x="132624" y="100979"/>
                  <a:pt x="178487" y="100979"/>
                </a:cubicBezTo>
                <a:close/>
                <a:moveTo>
                  <a:pt x="479606" y="93305"/>
                </a:moveTo>
                <a:cubicBezTo>
                  <a:pt x="488144" y="92017"/>
                  <a:pt x="496086" y="97962"/>
                  <a:pt x="497278" y="106483"/>
                </a:cubicBezTo>
                <a:lnTo>
                  <a:pt x="506710" y="172472"/>
                </a:lnTo>
                <a:cubicBezTo>
                  <a:pt x="508000" y="180993"/>
                  <a:pt x="502043" y="188821"/>
                  <a:pt x="493505" y="190109"/>
                </a:cubicBezTo>
                <a:cubicBezTo>
                  <a:pt x="492711" y="190208"/>
                  <a:pt x="492016" y="190208"/>
                  <a:pt x="491222" y="190208"/>
                </a:cubicBezTo>
                <a:cubicBezTo>
                  <a:pt x="483676" y="190208"/>
                  <a:pt x="476925" y="184659"/>
                  <a:pt x="475833" y="176832"/>
                </a:cubicBezTo>
                <a:lnTo>
                  <a:pt x="471862" y="148989"/>
                </a:lnTo>
                <a:lnTo>
                  <a:pt x="424107" y="213789"/>
                </a:lnTo>
                <a:cubicBezTo>
                  <a:pt x="419739" y="219635"/>
                  <a:pt x="411896" y="221716"/>
                  <a:pt x="405244" y="218843"/>
                </a:cubicBezTo>
                <a:lnTo>
                  <a:pt x="327506" y="184758"/>
                </a:lnTo>
                <a:lnTo>
                  <a:pt x="323237" y="189415"/>
                </a:lnTo>
                <a:cubicBezTo>
                  <a:pt x="322940" y="176336"/>
                  <a:pt x="320557" y="163753"/>
                  <a:pt x="316486" y="152061"/>
                </a:cubicBezTo>
                <a:cubicBezTo>
                  <a:pt x="320557" y="149980"/>
                  <a:pt x="325422" y="149782"/>
                  <a:pt x="329790" y="151665"/>
                </a:cubicBezTo>
                <a:lnTo>
                  <a:pt x="406336" y="185254"/>
                </a:lnTo>
                <a:lnTo>
                  <a:pt x="447538" y="129371"/>
                </a:lnTo>
                <a:lnTo>
                  <a:pt x="417952" y="133632"/>
                </a:lnTo>
                <a:cubicBezTo>
                  <a:pt x="409414" y="134821"/>
                  <a:pt x="401471" y="128876"/>
                  <a:pt x="400280" y="120355"/>
                </a:cubicBezTo>
                <a:cubicBezTo>
                  <a:pt x="398989" y="111834"/>
                  <a:pt x="404946" y="104006"/>
                  <a:pt x="413484" y="102718"/>
                </a:cubicBezTo>
                <a:close/>
                <a:moveTo>
                  <a:pt x="183273" y="0"/>
                </a:moveTo>
                <a:lnTo>
                  <a:pt x="580456" y="0"/>
                </a:lnTo>
                <a:cubicBezTo>
                  <a:pt x="595049" y="0"/>
                  <a:pt x="606862" y="11896"/>
                  <a:pt x="606862" y="26468"/>
                </a:cubicBezTo>
                <a:cubicBezTo>
                  <a:pt x="606862" y="35687"/>
                  <a:pt x="602097" y="43816"/>
                  <a:pt x="594850" y="48575"/>
                </a:cubicBezTo>
                <a:lnTo>
                  <a:pt x="594850" y="299675"/>
                </a:lnTo>
                <a:cubicBezTo>
                  <a:pt x="594850" y="308994"/>
                  <a:pt x="587207" y="316627"/>
                  <a:pt x="577776" y="316627"/>
                </a:cubicBezTo>
                <a:lnTo>
                  <a:pt x="304086" y="316627"/>
                </a:lnTo>
                <a:cubicBezTo>
                  <a:pt x="306468" y="311770"/>
                  <a:pt x="308652" y="306912"/>
                  <a:pt x="310439" y="302154"/>
                </a:cubicBezTo>
                <a:cubicBezTo>
                  <a:pt x="311928" y="298882"/>
                  <a:pt x="313219" y="295611"/>
                  <a:pt x="314410" y="292340"/>
                </a:cubicBezTo>
                <a:cubicBezTo>
                  <a:pt x="316991" y="289267"/>
                  <a:pt x="319175" y="285995"/>
                  <a:pt x="320962" y="282625"/>
                </a:cubicBezTo>
                <a:lnTo>
                  <a:pt x="560801" y="282625"/>
                </a:lnTo>
                <a:lnTo>
                  <a:pt x="560801" y="52837"/>
                </a:lnTo>
                <a:lnTo>
                  <a:pt x="203028" y="52837"/>
                </a:lnTo>
                <a:lnTo>
                  <a:pt x="203028" y="71871"/>
                </a:lnTo>
                <a:lnTo>
                  <a:pt x="174835" y="71871"/>
                </a:lnTo>
                <a:cubicBezTo>
                  <a:pt x="172850" y="71871"/>
                  <a:pt x="170864" y="71970"/>
                  <a:pt x="168879" y="72069"/>
                </a:cubicBezTo>
                <a:lnTo>
                  <a:pt x="168879" y="48575"/>
                </a:lnTo>
                <a:cubicBezTo>
                  <a:pt x="161632" y="43816"/>
                  <a:pt x="156867" y="35687"/>
                  <a:pt x="156867" y="26468"/>
                </a:cubicBezTo>
                <a:cubicBezTo>
                  <a:pt x="156867" y="11896"/>
                  <a:pt x="168680" y="0"/>
                  <a:pt x="18327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vert="horz" anchor="ctr" wrap="square" tIns="45720" lIns="91440" bIns="45720" rIns="91440">
            <a:normAutofit/>
          </a:bodyPr>
          <a:p>
            <a:pPr algn="ctr" marL="0"/>
          </a:p>
        </p:txBody>
      </p:sp>
      <p:sp>
        <p:nvSpPr>
          <p:cNvPr name="TextBox 7" id="7"/>
          <p:cNvSpPr txBox="true"/>
          <p:nvPr/>
        </p:nvSpPr>
        <p:spPr>
          <a:xfrm>
            <a:off x="755948" y="2369249"/>
            <a:ext cx="33432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Continuous Updates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>
            <a:off x="755948" y="2956981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MoleculeNet will be maintained and updated with new datasets and methods.</a:t>
            </a:r>
          </a:p>
        </p:txBody>
      </p:sp>
      <p:sp>
        <p:nvSpPr>
          <p:cNvPr name="Freeform 9" id="9"/>
          <p:cNvSpPr/>
          <p:nvPr/>
        </p:nvSpPr>
        <p:spPr>
          <a:xfrm>
            <a:off x="5245582" y="1831268"/>
            <a:ext cx="1700413" cy="880638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7317"/>
                </a:moveTo>
                <a:lnTo>
                  <a:pt x="6301" y="21600"/>
                </a:lnTo>
                <a:lnTo>
                  <a:pt x="21600" y="0"/>
                </a:lnTo>
                <a:lnTo>
                  <a:pt x="0" y="17317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10" id="10"/>
          <p:cNvSpPr/>
          <p:nvPr/>
        </p:nvSpPr>
        <p:spPr>
          <a:xfrm>
            <a:off x="5866064" y="1831437"/>
            <a:ext cx="1080065" cy="1336259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15166"/>
                </a:moveTo>
                <a:lnTo>
                  <a:pt x="14073" y="21600"/>
                </a:lnTo>
                <a:lnTo>
                  <a:pt x="21600" y="0"/>
                </a:lnTo>
                <a:lnTo>
                  <a:pt x="0" y="15166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Freeform 11" id="11"/>
          <p:cNvSpPr/>
          <p:nvPr/>
        </p:nvSpPr>
        <p:spPr>
          <a:xfrm>
            <a:off x="5247270" y="1830797"/>
            <a:ext cx="1699148" cy="705154"/>
          </a:xfrm>
          <a:custGeom>
            <a:avLst/>
            <a:gdLst/>
            <a:ahLst/>
            <a:cxnLst/>
            <a:rect r="r" b="b" t="t" l="l"/>
            <a:pathLst>
              <a:path w="21600" h="21600" stroke="true" fill="norm" extrusionOk="false">
                <a:moveTo>
                  <a:pt x="0" y="21600"/>
                </a:moveTo>
                <a:lnTo>
                  <a:pt x="11443" y="17896"/>
                </a:lnTo>
                <a:lnTo>
                  <a:pt x="21600" y="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/>
          </a:solidFill>
          <a:ln w="25400" cap="flat">
            <a:solidFill>
              <a:srgbClr val="FFFFFF"/>
            </a:solidFill>
            <a:prstDash val="solid"/>
          </a:ln>
        </p:spPr>
        <p:txBody>
          <a:bodyPr vert="horz" anchor="ctr" wrap="square" tIns="45720" lIns="91440" bIns="45720" rIns="91440">
            <a:normAutofit/>
          </a:bodyPr>
          <a:p>
            <a:pPr fontAlgn="auto" algn="ctr" indent="0" marR="0" mar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</a:p>
        </p:txBody>
      </p:sp>
      <p:sp>
        <p:nvSpPr>
          <p:cNvPr name="AutoShape 12" id="12"/>
          <p:cNvSpPr/>
          <p:nvPr>
            <p:ph type="title"/>
          </p:nvPr>
        </p:nvSpPr>
        <p:spPr>
          <a:xfrm>
            <a:off x="669924" y="1"/>
            <a:ext cx="10850563" cy="1028699"/>
          </a:xfrm>
        </p:spPr>
        <p:txBody>
          <a:bodyPr vert="horz" anchor="b" tIns="45720" lIns="91440" bIns="45720" rIns="91440">
            <a:normAutofit/>
          </a:bodyPr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b="true" i="false" sz="2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Future Outlook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8182836" y="2358453"/>
            <a:ext cx="3343275" cy="338554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ctr" marL="0">
              <a:lnSpc>
                <a:spcPct val="100000"/>
              </a:lnSpc>
              <a:spcBef>
                <a:spcPct val="0"/>
              </a:spcBef>
              <a:defRPr/>
            </a:pPr>
            <a:r>
              <a:rPr lang="zh-CN" b="true" i="false" sz="16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Collaborative Growth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8182836" y="2946185"/>
            <a:ext cx="3343275" cy="3180294"/>
          </a:xfrm>
          <a:prstGeom prst="roundRect">
            <a:avLst>
              <a:gd name="adj" fmla="val 4685"/>
            </a:avLst>
          </a:prstGeom>
          <a:solidFill>
            <a:srgbClr val="FFFFFF">
              <a:lumMod val="95000"/>
            </a:srgbClr>
          </a:solidFill>
        </p:spPr>
        <p:txBody>
          <a:bodyPr vert="horz" anchor="t" wrap="square" tIns="406800" lIns="91440" bIns="45720" rIns="91440">
            <a:noAutofit/>
          </a:bodyPr>
          <a:p>
            <a:pPr algn="ctr" marL="0">
              <a:lnSpc>
                <a:spcPct val="150000"/>
              </a:lnSpc>
            </a:pPr>
            <a:r>
              <a:rPr lang="zh-CN" b="false" i="false" sz="14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The benchmark aims to foster collaboration and innovation in the field.
"""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type="ctrTitle"/>
          </p:nvPr>
        </p:nvSpPr>
        <p:spPr>
          <a:xfrm>
            <a:off x="1451001" y="1593965"/>
            <a:ext cx="5426076" cy="1621509"/>
          </a:xfrm>
        </p:spPr>
        <p:txBody>
          <a:bodyPr vert="horz" anchor="b" tIns="45720" lIns="91440" bIns="45720" rIns="91440">
            <a:normAutofit/>
          </a:bodyPr>
          <a:p>
            <a:pPr algn="l" indent="0" marL="0">
              <a:lnSpc>
                <a:spcPct val="90000"/>
              </a:lnSpc>
              <a:spcBef>
                <a:spcPct val="0"/>
              </a:spcBef>
            </a:pPr>
            <a:r>
              <a:rPr lang="zh-CN" b="true" i="false" sz="7200" baseline="0" u="none" altLang="en-US">
                <a:solidFill>
                  <a:schemeClr val="accent4"/>
                </a:solidFill>
                <a:latin typeface="+mn-ea"/>
                <a:ea typeface="+mn-ea"/>
              </a:rPr>
              <a:t>Thank you for listening.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596571" y="3275111"/>
            <a:ext cx="2438400" cy="369332"/>
          </a:xfrm>
          <a:prstGeom prst="rect">
            <a:avLst/>
          </a:prstGeom>
          <a:noFill/>
        </p:spPr>
        <p:txBody>
          <a:bodyPr anchor="t" rtlCol="false" vert="horz" wrap="square" tIns="45720" lIns="91440" bIns="45720" rIns="91440">
            <a:spAutoFit/>
          </a:bodyPr>
          <a:lstStyle/>
          <a:p>
            <a:pPr algn="l" marL="0">
              <a:defRPr/>
            </a:pPr>
            <a:r>
              <a:rPr lang="zh-CN" b="false" i="false" sz="1800" baseline="0" u="none" altLang="en-US">
                <a:solidFill>
                  <a:srgbClr val="000000"/>
                </a:solidFill>
                <a:latin typeface="微软雅黑"/>
                <a:ea typeface="微软雅黑"/>
              </a:rPr>
              <a:t>Reporter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08300"/>
      </a:accent1>
      <a:accent2>
        <a:srgbClr val="66B3E1"/>
      </a:accent2>
      <a:accent3>
        <a:srgbClr val="1165A0"/>
      </a:accent3>
      <a:accent4>
        <a:srgbClr val="EBA417"/>
      </a:accent4>
      <a:accent5>
        <a:srgbClr val="2E9EDA"/>
      </a:accent5>
      <a:accent6>
        <a:srgbClr val="053675"/>
      </a:accent6>
      <a:hlink>
        <a:srgbClr val="4472C4"/>
      </a:hlink>
      <a:folHlink>
        <a:srgbClr val="BFBFB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2" baseType="lpstr"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2025-04-07T13:06:54Z</dcterms:created>
  <cp:lastModifiedBy>user</cp:lastModifiedBy>
  <dcterms:modified xsi:type="dcterms:W3CDTF">2025-04-07T13:06:54Z</dcterms:modified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pid="2" fmtid="{D5CDD505-2E9C-101B-9397-08002B2CF9AE}" name="copyright">
    <vt:lpwstr>https://docmee.cn</vt:lpwstr>
  </property>
  <property pid="3" fmtid="{D5CDD505-2E9C-101B-9397-08002B2CF9AE}" name="developer">
    <vt:lpwstr>https://github.com/veasion</vt:lpwstr>
  </property>
</Properties>
</file>